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7" r:id="rId2"/>
  </p:sldMasterIdLst>
  <p:notesMasterIdLst>
    <p:notesMasterId r:id="rId34"/>
  </p:notesMasterIdLst>
  <p:sldIdLst>
    <p:sldId id="436" r:id="rId3"/>
    <p:sldId id="655" r:id="rId4"/>
    <p:sldId id="632" r:id="rId5"/>
    <p:sldId id="633" r:id="rId6"/>
    <p:sldId id="659" r:id="rId7"/>
    <p:sldId id="634" r:id="rId8"/>
    <p:sldId id="656" r:id="rId9"/>
    <p:sldId id="635" r:id="rId10"/>
    <p:sldId id="636" r:id="rId11"/>
    <p:sldId id="658" r:id="rId12"/>
    <p:sldId id="657" r:id="rId13"/>
    <p:sldId id="483" r:id="rId14"/>
    <p:sldId id="637" r:id="rId15"/>
    <p:sldId id="639" r:id="rId16"/>
    <p:sldId id="640" r:id="rId17"/>
    <p:sldId id="638" r:id="rId18"/>
    <p:sldId id="641" r:id="rId19"/>
    <p:sldId id="642" r:id="rId20"/>
    <p:sldId id="643" r:id="rId21"/>
    <p:sldId id="660" r:id="rId22"/>
    <p:sldId id="644" r:id="rId23"/>
    <p:sldId id="645" r:id="rId24"/>
    <p:sldId id="646" r:id="rId25"/>
    <p:sldId id="647" r:id="rId26"/>
    <p:sldId id="661" r:id="rId27"/>
    <p:sldId id="648" r:id="rId28"/>
    <p:sldId id="649" r:id="rId29"/>
    <p:sldId id="650" r:id="rId30"/>
    <p:sldId id="651" r:id="rId31"/>
    <p:sldId id="652" r:id="rId32"/>
    <p:sldId id="65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607"/>
  </p:normalViewPr>
  <p:slideViewPr>
    <p:cSldViewPr snapToGrid="0">
      <p:cViewPr>
        <p:scale>
          <a:sx n="79" d="100"/>
          <a:sy n="79" d="100"/>
        </p:scale>
        <p:origin x="3680" y="16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19ABA-709A-B342-8578-144AE103A6AD}" type="datetimeFigureOut">
              <a:rPr lang="en-US" smtClean="0"/>
              <a:t>2/23/26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409805-7358-0042-B2F1-347A346E74CB}" type="slidenum">
              <a:rPr lang="en-US" smtClean="0"/>
              <a:t>‹#›</a:t>
            </a:fld>
            <a:endParaRPr lang="en-US"/>
          </a:p>
        </p:txBody>
      </p:sp>
    </p:spTree>
    <p:extLst>
      <p:ext uri="{BB962C8B-B14F-4D97-AF65-F5344CB8AC3E}">
        <p14:creationId xmlns:p14="http://schemas.microsoft.com/office/powerpoint/2010/main" val="92879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073E54-D085-4E2E-B9A5-A53D7E51940E}"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783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409805-7358-0042-B2F1-347A346E74CB}" type="slidenum">
              <a:rPr lang="en-US" smtClean="0"/>
              <a:t>20</a:t>
            </a:fld>
            <a:endParaRPr lang="en-US"/>
          </a:p>
        </p:txBody>
      </p:sp>
    </p:spTree>
    <p:extLst>
      <p:ext uri="{BB962C8B-B14F-4D97-AF65-F5344CB8AC3E}">
        <p14:creationId xmlns:p14="http://schemas.microsoft.com/office/powerpoint/2010/main" val="3350242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409805-7358-0042-B2F1-347A346E74CB}" type="slidenum">
              <a:rPr lang="en-US" smtClean="0"/>
              <a:t>23</a:t>
            </a:fld>
            <a:endParaRPr lang="en-US"/>
          </a:p>
        </p:txBody>
      </p:sp>
    </p:spTree>
    <p:extLst>
      <p:ext uri="{BB962C8B-B14F-4D97-AF65-F5344CB8AC3E}">
        <p14:creationId xmlns:p14="http://schemas.microsoft.com/office/powerpoint/2010/main" val="140593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409805-7358-0042-B2F1-347A346E74CB}" type="slidenum">
              <a:rPr lang="en-US" smtClean="0"/>
              <a:t>26</a:t>
            </a:fld>
            <a:endParaRPr lang="en-US"/>
          </a:p>
        </p:txBody>
      </p:sp>
    </p:spTree>
    <p:extLst>
      <p:ext uri="{BB962C8B-B14F-4D97-AF65-F5344CB8AC3E}">
        <p14:creationId xmlns:p14="http://schemas.microsoft.com/office/powerpoint/2010/main" val="60591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11" name="Content Placeholder 10"/>
          <p:cNvSpPr>
            <a:spLocks noGrp="1"/>
          </p:cNvSpPr>
          <p:nvPr>
            <p:ph sz="quarter" idx="16"/>
          </p:nvPr>
        </p:nvSpPr>
        <p:spPr>
          <a:xfrm>
            <a:off x="406400" y="1752600"/>
            <a:ext cx="11379200" cy="32766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cNvSpPr>
            <a:spLocks noGrp="1"/>
          </p:cNvSpPr>
          <p:nvPr>
            <p:ph sz="quarter" idx="15" hasCustomPrompt="1"/>
          </p:nvPr>
        </p:nvSpPr>
        <p:spPr>
          <a:xfrm>
            <a:off x="406400" y="5029200"/>
            <a:ext cx="11379200" cy="1143000"/>
          </a:xfrm>
          <a:prstGeom prst="rect">
            <a:avLst/>
          </a:prstGeom>
        </p:spPr>
        <p:txBody>
          <a:bodyPr/>
          <a:lstStyle>
            <a:lvl1pPr marL="0" indent="0">
              <a:spcBef>
                <a:spcPts val="1000"/>
              </a:spcBef>
              <a:buFont typeface="Arial" charset="0"/>
              <a:buNone/>
              <a:defRPr sz="2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811400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52486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1291113" y="2290576"/>
            <a:ext cx="113792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89431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1973020"/>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406400" y="4339741"/>
            <a:ext cx="113792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0AC5F648-714F-41B3-B0A9-EFB467D0BFB2}"/>
              </a:ext>
            </a:extLst>
          </p:cNvPr>
          <p:cNvSpPr>
            <a:spLocks noGrp="1"/>
          </p:cNvSpPr>
          <p:nvPr>
            <p:ph sz="quarter" idx="14"/>
          </p:nvPr>
        </p:nvSpPr>
        <p:spPr>
          <a:xfrm>
            <a:off x="406400" y="5022851"/>
            <a:ext cx="11379200" cy="606425"/>
          </a:xfrm>
          <a:prstGeom prst="rect">
            <a:avLst/>
          </a:prstGeom>
        </p:spPr>
        <p:txBody>
          <a:bodyPr/>
          <a:lstStyle>
            <a:lvl1pPr>
              <a:buClr>
                <a:srgbClr val="911B21"/>
              </a:buClr>
              <a:defRPr sz="2600">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D94DD2EA-EA3F-4637-934F-678F8B946642}"/>
              </a:ext>
            </a:extLst>
          </p:cNvPr>
          <p:cNvSpPr>
            <a:spLocks noGrp="1"/>
          </p:cNvSpPr>
          <p:nvPr>
            <p:ph sz="quarter" idx="15"/>
          </p:nvPr>
        </p:nvSpPr>
        <p:spPr>
          <a:xfrm>
            <a:off x="406400" y="5781676"/>
            <a:ext cx="11379200" cy="606425"/>
          </a:xfrm>
          <a:prstGeom prst="rect">
            <a:avLst/>
          </a:prstGeom>
        </p:spPr>
        <p:txBody>
          <a:bodyPr/>
          <a:lstStyle>
            <a:lvl1pPr>
              <a:buClr>
                <a:srgbClr val="911B21"/>
              </a:buClr>
              <a:defRPr>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a:extLst>
              <a:ext uri="{FF2B5EF4-FFF2-40B4-BE49-F238E27FC236}">
                <a16:creationId xmlns:a16="http://schemas.microsoft.com/office/drawing/2014/main" id="{AB0A3D6A-283C-43F3-B8C1-9A067413E002}"/>
              </a:ext>
            </a:extLst>
          </p:cNvPr>
          <p:cNvSpPr txBox="1">
            <a:spLocks/>
          </p:cNvSpPr>
          <p:nvPr userDrawn="1"/>
        </p:nvSpPr>
        <p:spPr>
          <a:xfrm>
            <a:off x="8606769" y="6351500"/>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4" name="Footer Placeholder 4">
            <a:extLst>
              <a:ext uri="{FF2B5EF4-FFF2-40B4-BE49-F238E27FC236}">
                <a16:creationId xmlns:a16="http://schemas.microsoft.com/office/drawing/2014/main" id="{C0241161-D882-4165-B334-2C14A08BB8E0}"/>
              </a:ext>
            </a:extLst>
          </p:cNvPr>
          <p:cNvSpPr txBox="1">
            <a:spLocks/>
          </p:cNvSpPr>
          <p:nvPr userDrawn="1"/>
        </p:nvSpPr>
        <p:spPr>
          <a:xfrm>
            <a:off x="4034769" y="635150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Tree>
    <p:extLst>
      <p:ext uri="{BB962C8B-B14F-4D97-AF65-F5344CB8AC3E}">
        <p14:creationId xmlns:p14="http://schemas.microsoft.com/office/powerpoint/2010/main" val="1315809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lang="en-US" sz="2600" smtClean="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lang="en-US" smtClean="0">
                <a:latin typeface="Times New Roman" panose="02020603050405020304" pitchFamily="18" charset="0"/>
                <a:cs typeface="Times New Roman" panose="02020603050405020304" pitchFamily="18" charset="0"/>
              </a:defRPr>
            </a:lvl2pPr>
            <a:lvl3pPr>
              <a:lnSpc>
                <a:spcPct val="100000"/>
              </a:lnSpc>
              <a:spcBef>
                <a:spcPts val="624"/>
              </a:spcBef>
              <a:defRPr lang="en-US" smtClean="0">
                <a:latin typeface="Times New Roman" panose="02020603050405020304" pitchFamily="18" charset="0"/>
                <a:cs typeface="Times New Roman" panose="02020603050405020304" pitchFamily="18" charset="0"/>
              </a:defRPr>
            </a:lvl3pPr>
            <a:lvl4pPr>
              <a:lnSpc>
                <a:spcPct val="100000"/>
              </a:lnSpc>
              <a:spcBef>
                <a:spcPts val="624"/>
              </a:spcBef>
              <a:defRPr lang="en-US" smtClean="0">
                <a:latin typeface="Times New Roman" panose="02020603050405020304" pitchFamily="18" charset="0"/>
                <a:cs typeface="Times New Roman" panose="02020603050405020304" pitchFamily="18" charset="0"/>
              </a:defRPr>
            </a:lvl4pPr>
            <a:lvl5pPr>
              <a:lnSpc>
                <a:spcPct val="100000"/>
              </a:lnSpc>
              <a:spcBef>
                <a:spcPts val="624"/>
              </a:spcBef>
              <a:defRPr lang="en-US">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CE5805C8-4641-4DD9-8EEE-8E3542D17AA8}"/>
              </a:ext>
            </a:extLst>
          </p:cNvPr>
          <p:cNvSpPr>
            <a:spLocks noGrp="1"/>
          </p:cNvSpPr>
          <p:nvPr>
            <p:ph type="pic" sz="quarter" idx="13"/>
          </p:nvPr>
        </p:nvSpPr>
        <p:spPr>
          <a:xfrm>
            <a:off x="11154834" y="4035425"/>
            <a:ext cx="1113367" cy="1290638"/>
          </a:xfrm>
          <a:prstGeom prst="rect">
            <a:avLst/>
          </a:prstGeom>
        </p:spPr>
        <p:txBody>
          <a:bodyPr/>
          <a:lstStyle/>
          <a:p>
            <a:endParaRPr lang="en-US"/>
          </a:p>
        </p:txBody>
      </p:sp>
      <p:sp>
        <p:nvSpPr>
          <p:cNvPr id="4" name="Table Placeholder 3">
            <a:extLst>
              <a:ext uri="{FF2B5EF4-FFF2-40B4-BE49-F238E27FC236}">
                <a16:creationId xmlns:a16="http://schemas.microsoft.com/office/drawing/2014/main" id="{9A1B72CE-EF87-477F-BA79-2E8C1521179A}"/>
              </a:ext>
            </a:extLst>
          </p:cNvPr>
          <p:cNvSpPr>
            <a:spLocks noGrp="1"/>
          </p:cNvSpPr>
          <p:nvPr>
            <p:ph type="tbl" sz="quarter" idx="14"/>
          </p:nvPr>
        </p:nvSpPr>
        <p:spPr>
          <a:xfrm>
            <a:off x="11154834" y="3125789"/>
            <a:ext cx="912284" cy="682625"/>
          </a:xfrm>
          <a:prstGeom prst="rect">
            <a:avLst/>
          </a:prstGeom>
        </p:spPr>
        <p:txBody>
          <a:bodyPr/>
          <a:lstStyle/>
          <a:p>
            <a:endParaRPr lang="en-US"/>
          </a:p>
        </p:txBody>
      </p:sp>
      <p:sp>
        <p:nvSpPr>
          <p:cNvPr id="10" name="Picture Placeholder 9">
            <a:extLst>
              <a:ext uri="{FF2B5EF4-FFF2-40B4-BE49-F238E27FC236}">
                <a16:creationId xmlns:a16="http://schemas.microsoft.com/office/drawing/2014/main" id="{C4B1DF00-9DC3-492A-B100-4D3272B82AD0}"/>
              </a:ext>
            </a:extLst>
          </p:cNvPr>
          <p:cNvSpPr>
            <a:spLocks noGrp="1"/>
          </p:cNvSpPr>
          <p:nvPr>
            <p:ph type="pic" sz="quarter" idx="15"/>
          </p:nvPr>
        </p:nvSpPr>
        <p:spPr>
          <a:xfrm>
            <a:off x="11154834" y="2214564"/>
            <a:ext cx="1037167" cy="682625"/>
          </a:xfrm>
          <a:prstGeom prst="rect">
            <a:avLst/>
          </a:prstGeom>
        </p:spPr>
        <p:txBody>
          <a:bodyPr/>
          <a:lstStyle/>
          <a:p>
            <a:endParaRPr lang="en-US"/>
          </a:p>
        </p:txBody>
      </p:sp>
      <p:sp>
        <p:nvSpPr>
          <p:cNvPr id="12" name="Content Placeholder 11">
            <a:extLst>
              <a:ext uri="{FF2B5EF4-FFF2-40B4-BE49-F238E27FC236}">
                <a16:creationId xmlns:a16="http://schemas.microsoft.com/office/drawing/2014/main" id="{7776DD1F-6897-4F1A-BC22-7DBC28584A42}"/>
              </a:ext>
            </a:extLst>
          </p:cNvPr>
          <p:cNvSpPr>
            <a:spLocks noGrp="1"/>
          </p:cNvSpPr>
          <p:nvPr>
            <p:ph sz="quarter" idx="16"/>
          </p:nvPr>
        </p:nvSpPr>
        <p:spPr>
          <a:xfrm>
            <a:off x="366940" y="4768589"/>
            <a:ext cx="11379200" cy="75882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14" name="Content Placeholder 13">
            <a:extLst>
              <a:ext uri="{FF2B5EF4-FFF2-40B4-BE49-F238E27FC236}">
                <a16:creationId xmlns:a16="http://schemas.microsoft.com/office/drawing/2014/main" id="{98CFB20B-7480-4C5A-8DF1-F11AAD7E5605}"/>
              </a:ext>
            </a:extLst>
          </p:cNvPr>
          <p:cNvSpPr>
            <a:spLocks noGrp="1"/>
          </p:cNvSpPr>
          <p:nvPr>
            <p:ph sz="quarter" idx="17"/>
          </p:nvPr>
        </p:nvSpPr>
        <p:spPr>
          <a:xfrm>
            <a:off x="-1088727" y="5053134"/>
            <a:ext cx="11379200" cy="25717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5" name="Picture Placeholder 4">
            <a:extLst>
              <a:ext uri="{FF2B5EF4-FFF2-40B4-BE49-F238E27FC236}">
                <a16:creationId xmlns:a16="http://schemas.microsoft.com/office/drawing/2014/main" id="{EB687367-93D1-4521-BBD6-A0564CA4FC64}"/>
              </a:ext>
            </a:extLst>
          </p:cNvPr>
          <p:cNvSpPr>
            <a:spLocks noGrp="1"/>
          </p:cNvSpPr>
          <p:nvPr>
            <p:ph type="pic" sz="quarter" idx="18"/>
          </p:nvPr>
        </p:nvSpPr>
        <p:spPr>
          <a:xfrm>
            <a:off x="12268201" y="3049589"/>
            <a:ext cx="1113367" cy="985837"/>
          </a:xfrm>
          <a:prstGeom prst="rect">
            <a:avLst/>
          </a:prstGeom>
        </p:spPr>
        <p:txBody>
          <a:bodyPr/>
          <a:lstStyle/>
          <a:p>
            <a:endParaRPr lang="en-US"/>
          </a:p>
        </p:txBody>
      </p:sp>
    </p:spTree>
    <p:extLst>
      <p:ext uri="{BB962C8B-B14F-4D97-AF65-F5344CB8AC3E}">
        <p14:creationId xmlns:p14="http://schemas.microsoft.com/office/powerpoint/2010/main" val="1648546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15240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3429000"/>
            <a:ext cx="11379200" cy="15240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5029200"/>
            <a:ext cx="11379200" cy="9906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Slide Number Placeholder 3">
            <a:extLst>
              <a:ext uri="{FF2B5EF4-FFF2-40B4-BE49-F238E27FC236}">
                <a16:creationId xmlns:a16="http://schemas.microsoft.com/office/drawing/2014/main" id="{A72BACE4-69FF-4409-99CE-9BCD2C9878D8}"/>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0" name="Footer Placeholder 4">
            <a:extLst>
              <a:ext uri="{FF2B5EF4-FFF2-40B4-BE49-F238E27FC236}">
                <a16:creationId xmlns:a16="http://schemas.microsoft.com/office/drawing/2014/main" id="{277DF617-D7C9-4AAC-ABB4-DFF0A77AE8FF}"/>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142806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973631"/>
            <a:ext cx="113792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41184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0" y="4953305"/>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0" y="5766107"/>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Slide Number Placeholder 3">
            <a:extLst>
              <a:ext uri="{FF2B5EF4-FFF2-40B4-BE49-F238E27FC236}">
                <a16:creationId xmlns:a16="http://schemas.microsoft.com/office/drawing/2014/main" id="{C3A17AB6-8208-4636-B70A-4B280921E8E8}"/>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2" name="Footer Placeholder 4">
            <a:extLst>
              <a:ext uri="{FF2B5EF4-FFF2-40B4-BE49-F238E27FC236}">
                <a16:creationId xmlns:a16="http://schemas.microsoft.com/office/drawing/2014/main" id="{9D48A4B4-62FA-47D4-A8EC-046A13201B68}"/>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2886660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1"/>
            <a:ext cx="11379200" cy="68976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518260"/>
            <a:ext cx="11379200" cy="75895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3353105"/>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0" y="40361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0" y="479511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406400" y="55540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Slide Number Placeholder 3">
            <a:extLst>
              <a:ext uri="{FF2B5EF4-FFF2-40B4-BE49-F238E27FC236}">
                <a16:creationId xmlns:a16="http://schemas.microsoft.com/office/drawing/2014/main" id="{3FC7C8C2-8E53-4648-8149-C8D83CA97CE9}"/>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3" name="Footer Placeholder 4">
            <a:extLst>
              <a:ext uri="{FF2B5EF4-FFF2-40B4-BE49-F238E27FC236}">
                <a16:creationId xmlns:a16="http://schemas.microsoft.com/office/drawing/2014/main" id="{37BE712D-A6E6-4E02-9B94-8A539F732706}"/>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3698540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973631"/>
            <a:ext cx="113792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41184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1" y="4953305"/>
            <a:ext cx="326096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1" y="5766107"/>
            <a:ext cx="326096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4173327" y="4948654"/>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Content Placeholder 8">
            <a:extLst>
              <a:ext uri="{FF2B5EF4-FFF2-40B4-BE49-F238E27FC236}">
                <a16:creationId xmlns:a16="http://schemas.microsoft.com/office/drawing/2014/main" id="{F641CCC3-3BAF-49BA-81A2-3696342DF5C5}"/>
              </a:ext>
            </a:extLst>
          </p:cNvPr>
          <p:cNvSpPr>
            <a:spLocks noGrp="1"/>
          </p:cNvSpPr>
          <p:nvPr>
            <p:ph sz="quarter" idx="22"/>
          </p:nvPr>
        </p:nvSpPr>
        <p:spPr>
          <a:xfrm>
            <a:off x="4173327" y="5761456"/>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8">
            <a:extLst>
              <a:ext uri="{FF2B5EF4-FFF2-40B4-BE49-F238E27FC236}">
                <a16:creationId xmlns:a16="http://schemas.microsoft.com/office/drawing/2014/main" id="{F641CCC3-3BAF-49BA-81A2-3696342DF5C5}"/>
              </a:ext>
            </a:extLst>
          </p:cNvPr>
          <p:cNvSpPr>
            <a:spLocks noGrp="1"/>
          </p:cNvSpPr>
          <p:nvPr>
            <p:ph sz="quarter" idx="23"/>
          </p:nvPr>
        </p:nvSpPr>
        <p:spPr>
          <a:xfrm>
            <a:off x="8153401" y="4948654"/>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4" name="Content Placeholder 8">
            <a:extLst>
              <a:ext uri="{FF2B5EF4-FFF2-40B4-BE49-F238E27FC236}">
                <a16:creationId xmlns:a16="http://schemas.microsoft.com/office/drawing/2014/main" id="{F641CCC3-3BAF-49BA-81A2-3696342DF5C5}"/>
              </a:ext>
            </a:extLst>
          </p:cNvPr>
          <p:cNvSpPr>
            <a:spLocks noGrp="1"/>
          </p:cNvSpPr>
          <p:nvPr>
            <p:ph sz="quarter" idx="24"/>
          </p:nvPr>
        </p:nvSpPr>
        <p:spPr>
          <a:xfrm>
            <a:off x="8153401" y="5761456"/>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4BE15919-8751-4BE4-AA33-50DF1CCA64E4}"/>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6" name="Footer Placeholder 4">
            <a:extLst>
              <a:ext uri="{FF2B5EF4-FFF2-40B4-BE49-F238E27FC236}">
                <a16:creationId xmlns:a16="http://schemas.microsoft.com/office/drawing/2014/main" id="{35B39872-5D7C-431B-B547-3FC6F0E6034C}"/>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3423440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533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375848"/>
            <a:ext cx="113792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88203" y="2764808"/>
            <a:ext cx="113792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406400" y="3298208"/>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406400" y="3831608"/>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406400" y="4365008"/>
            <a:ext cx="113792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406400" y="4822208"/>
            <a:ext cx="113792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406400" y="5279408"/>
            <a:ext cx="113792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508000" y="5660408"/>
            <a:ext cx="11277600" cy="228600"/>
          </a:xfrm>
          <a:prstGeom prst="rect">
            <a:avLst/>
          </a:prstGeom>
        </p:spPr>
        <p:txBody>
          <a:bodyPr/>
          <a:lstStyle>
            <a:lvl1pPr>
              <a:buNone/>
              <a:defRPr baseline="0">
                <a:latin typeface="Times New Roman"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78EB9964-3E34-4002-B0B3-CA179067C39A}"/>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7" name="Footer Placeholder 4">
            <a:extLst>
              <a:ext uri="{FF2B5EF4-FFF2-40B4-BE49-F238E27FC236}">
                <a16:creationId xmlns:a16="http://schemas.microsoft.com/office/drawing/2014/main" id="{6F53CD61-F10A-4FD0-B019-99E2468A5F8E}"/>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1334582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408709"/>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214680"/>
            <a:ext cx="113792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88203" y="2594155"/>
            <a:ext cx="113792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406400" y="3049525"/>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406400" y="3504895"/>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406400" y="3960265"/>
            <a:ext cx="113792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406400" y="4415635"/>
            <a:ext cx="113792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406400" y="4871005"/>
            <a:ext cx="113792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508000" y="5326375"/>
            <a:ext cx="11277600" cy="228600"/>
          </a:xfrm>
          <a:prstGeom prst="rect">
            <a:avLst/>
          </a:prstGeom>
        </p:spPr>
        <p:txBody>
          <a:bodyPr/>
          <a:lstStyle>
            <a:lvl1pPr>
              <a:buNone/>
              <a:defRPr baseline="0">
                <a:latin typeface="Times New Roman" pitchFamily="18" charset="0"/>
              </a:defRPr>
            </a:lvl1pPr>
          </a:lstStyle>
          <a:p>
            <a:pPr lvl="0"/>
            <a:endParaRPr lang="en-US" dirty="0"/>
          </a:p>
        </p:txBody>
      </p:sp>
      <p:sp>
        <p:nvSpPr>
          <p:cNvPr id="8" name="Content Placeholder 7">
            <a:extLst>
              <a:ext uri="{FF2B5EF4-FFF2-40B4-BE49-F238E27FC236}">
                <a16:creationId xmlns:a16="http://schemas.microsoft.com/office/drawing/2014/main" id="{58E4D1A0-6F20-4C86-8185-E1F69676C220}"/>
              </a:ext>
            </a:extLst>
          </p:cNvPr>
          <p:cNvSpPr>
            <a:spLocks noGrp="1"/>
          </p:cNvSpPr>
          <p:nvPr>
            <p:ph sz="quarter" idx="25"/>
          </p:nvPr>
        </p:nvSpPr>
        <p:spPr>
          <a:xfrm>
            <a:off x="429684" y="5781745"/>
            <a:ext cx="6475863" cy="304800"/>
          </a:xfrm>
          <a:prstGeom prst="rect">
            <a:avLst/>
          </a:prstGeom>
        </p:spPr>
        <p:txBody>
          <a:bodyPr/>
          <a:lstStyle>
            <a:lvl1pPr marL="0" indent="0">
              <a:buNone/>
              <a:defRPr/>
            </a:lvl1pPr>
          </a:lstStyle>
          <a:p>
            <a:pPr lvl="0"/>
            <a:endParaRPr lang="en-US" dirty="0"/>
          </a:p>
        </p:txBody>
      </p:sp>
      <p:sp>
        <p:nvSpPr>
          <p:cNvPr id="15" name="Content Placeholder 7">
            <a:extLst>
              <a:ext uri="{FF2B5EF4-FFF2-40B4-BE49-F238E27FC236}">
                <a16:creationId xmlns:a16="http://schemas.microsoft.com/office/drawing/2014/main" id="{58E4D1A0-6F20-4C86-8185-E1F69676C220}"/>
              </a:ext>
            </a:extLst>
          </p:cNvPr>
          <p:cNvSpPr>
            <a:spLocks noGrp="1"/>
          </p:cNvSpPr>
          <p:nvPr>
            <p:ph sz="quarter" idx="26"/>
          </p:nvPr>
        </p:nvSpPr>
        <p:spPr>
          <a:xfrm>
            <a:off x="5185261" y="5764248"/>
            <a:ext cx="6475863" cy="30480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399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46ACF59F-042B-4CE1-AAE4-2FA4499AB366}"/>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7642CDE9-7E9A-40FF-9BB8-77380C68654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31518029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3048000" y="4724401"/>
            <a:ext cx="6096000" cy="148907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Tree>
    <p:extLst>
      <p:ext uri="{BB962C8B-B14F-4D97-AF65-F5344CB8AC3E}">
        <p14:creationId xmlns:p14="http://schemas.microsoft.com/office/powerpoint/2010/main" val="33222247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429174" y="3808475"/>
            <a:ext cx="5565633" cy="83484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8" name="Content Placeholder 7">
            <a:extLst>
              <a:ext uri="{FF2B5EF4-FFF2-40B4-BE49-F238E27FC236}">
                <a16:creationId xmlns:a16="http://schemas.microsoft.com/office/drawing/2014/main" id="{ECAAD719-5BF0-4C5E-BE8A-5C3956869DF9}"/>
              </a:ext>
            </a:extLst>
          </p:cNvPr>
          <p:cNvSpPr>
            <a:spLocks noGrp="1"/>
          </p:cNvSpPr>
          <p:nvPr>
            <p:ph sz="quarter" idx="19"/>
          </p:nvPr>
        </p:nvSpPr>
        <p:spPr>
          <a:xfrm>
            <a:off x="6299200" y="3808414"/>
            <a:ext cx="5463117" cy="83502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10">
            <a:extLst>
              <a:ext uri="{FF2B5EF4-FFF2-40B4-BE49-F238E27FC236}">
                <a16:creationId xmlns:a16="http://schemas.microsoft.com/office/drawing/2014/main" id="{DA815FFC-5DD1-44FE-91D7-17E9AFE9E701}"/>
              </a:ext>
            </a:extLst>
          </p:cNvPr>
          <p:cNvSpPr>
            <a:spLocks noGrp="1"/>
          </p:cNvSpPr>
          <p:nvPr>
            <p:ph sz="quarter" idx="20"/>
          </p:nvPr>
        </p:nvSpPr>
        <p:spPr>
          <a:xfrm>
            <a:off x="429683" y="4795839"/>
            <a:ext cx="5666317" cy="682327"/>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12">
            <a:extLst>
              <a:ext uri="{FF2B5EF4-FFF2-40B4-BE49-F238E27FC236}">
                <a16:creationId xmlns:a16="http://schemas.microsoft.com/office/drawing/2014/main" id="{5C82916B-0585-4B7E-9C9B-A7650469BF47}"/>
              </a:ext>
            </a:extLst>
          </p:cNvPr>
          <p:cNvSpPr>
            <a:spLocks noGrp="1"/>
          </p:cNvSpPr>
          <p:nvPr>
            <p:ph sz="quarter" idx="21"/>
          </p:nvPr>
        </p:nvSpPr>
        <p:spPr>
          <a:xfrm>
            <a:off x="6197600" y="4795839"/>
            <a:ext cx="5362840" cy="758222"/>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Tree>
    <p:extLst>
      <p:ext uri="{BB962C8B-B14F-4D97-AF65-F5344CB8AC3E}">
        <p14:creationId xmlns:p14="http://schemas.microsoft.com/office/powerpoint/2010/main" val="18775782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Image Slide: Version A">
    <p:spTree>
      <p:nvGrpSpPr>
        <p:cNvPr id="1" name=""/>
        <p:cNvGrpSpPr/>
        <p:nvPr/>
      </p:nvGrpSpPr>
      <p:grpSpPr>
        <a:xfrm>
          <a:off x="0" y="0"/>
          <a:ext cx="0" cy="0"/>
          <a:chOff x="0" y="0"/>
          <a:chExt cx="0" cy="0"/>
        </a:xfrm>
      </p:grpSpPr>
      <p:sp>
        <p:nvSpPr>
          <p:cNvPr id="6" name="Title 1"/>
          <p:cNvSpPr>
            <a:spLocks noGrp="1"/>
          </p:cNvSpPr>
          <p:nvPr>
            <p:ph type="title"/>
          </p:nvPr>
        </p:nvSpPr>
        <p:spPr>
          <a:xfrm>
            <a:off x="406400" y="5410202"/>
            <a:ext cx="11379200" cy="380999"/>
          </a:xfrm>
          <a:prstGeom prst="rect">
            <a:avLst/>
          </a:prstGeom>
        </p:spPr>
        <p:txBody>
          <a:bodyPr/>
          <a:lstStyle>
            <a:lvl1pPr>
              <a:defRPr sz="2000">
                <a:latin typeface="Times New Roman" charset="0"/>
                <a:ea typeface="Times New Roman" charset="0"/>
                <a:cs typeface="Times New Roman" charset="0"/>
              </a:defRPr>
            </a:lvl1pPr>
          </a:lstStyle>
          <a:p>
            <a:r>
              <a:rPr lang="en-US" dirty="0"/>
              <a:t>Click to edit Master title style</a:t>
            </a:r>
          </a:p>
        </p:txBody>
      </p:sp>
      <p:sp>
        <p:nvSpPr>
          <p:cNvPr id="5" name="Content Placeholder 2"/>
          <p:cNvSpPr>
            <a:spLocks noGrp="1"/>
          </p:cNvSpPr>
          <p:nvPr>
            <p:ph idx="1"/>
          </p:nvPr>
        </p:nvSpPr>
        <p:spPr>
          <a:xfrm>
            <a:off x="406400" y="609602"/>
            <a:ext cx="11379200" cy="4726179"/>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8" name="Content Placeholder 7"/>
          <p:cNvSpPr>
            <a:spLocks noGrp="1"/>
          </p:cNvSpPr>
          <p:nvPr>
            <p:ph sz="quarter" idx="12"/>
          </p:nvPr>
        </p:nvSpPr>
        <p:spPr>
          <a:xfrm>
            <a:off x="406400" y="5791201"/>
            <a:ext cx="11379200" cy="457199"/>
          </a:xfrm>
          <a:prstGeom prst="rect">
            <a:avLst/>
          </a:prstGeom>
        </p:spPr>
        <p:txBody>
          <a:bodyPr/>
          <a:lstStyle>
            <a:lvl1pPr marL="0" indent="0">
              <a:buNone/>
              <a:defRPr sz="2000" b="0" i="0">
                <a:latin typeface="Times New Roman" charset="0"/>
                <a:ea typeface="Times New Roman" charset="0"/>
                <a:cs typeface="Times New Roman" charset="0"/>
              </a:defRPr>
            </a:lvl1pPr>
          </a:lstStyle>
          <a:p>
            <a:pPr lvl="0"/>
            <a:endParaRPr lang="en-US" dirty="0"/>
          </a:p>
        </p:txBody>
      </p:sp>
      <p:sp>
        <p:nvSpPr>
          <p:cNvPr id="4" name="Slide Number Placeholder 3"/>
          <p:cNvSpPr>
            <a:spLocks noGrp="1"/>
          </p:cNvSpPr>
          <p:nvPr>
            <p:ph type="sldNum" sz="quarter" idx="11"/>
          </p:nvPr>
        </p:nvSpPr>
        <p:spPr>
          <a:xfrm>
            <a:off x="8610600" y="6356351"/>
            <a:ext cx="3175000" cy="365125"/>
          </a:xfrm>
        </p:spPr>
        <p:txBody>
          <a:bodyPr/>
          <a:lstStyle/>
          <a:p>
            <a:fld id="{43DD970A-8A59-5645-997B-8F1EF841716D}" type="slidenum">
              <a:rPr lang="en-US" smtClean="0"/>
              <a:pPr/>
              <a:t>‹#›</a:t>
            </a:fld>
            <a:endParaRPr lang="en-US" dirty="0"/>
          </a:p>
        </p:txBody>
      </p:sp>
      <p:sp>
        <p:nvSpPr>
          <p:cNvPr id="3" name="Footer Placeholder 2"/>
          <p:cNvSpPr>
            <a:spLocks noGrp="1"/>
          </p:cNvSpPr>
          <p:nvPr>
            <p:ph type="ftr" sz="quarter" idx="10"/>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4670105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4D96-C503-4BE0-9F48-7B0E0326CE62}"/>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E78F8EB2-C64A-42B7-AC64-C10457D985C9}"/>
              </a:ext>
            </a:extLst>
          </p:cNvP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a:extLst>
              <a:ext uri="{FF2B5EF4-FFF2-40B4-BE49-F238E27FC236}">
                <a16:creationId xmlns:a16="http://schemas.microsoft.com/office/drawing/2014/main" id="{1FA8BEA2-6D75-4F5A-A26E-60D47B7D78ED}"/>
              </a:ext>
            </a:extLst>
          </p:cNvPr>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3697419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497149E-2C4D-4F23-9B0B-AB7C708B8462}" type="slidenum">
              <a:rPr lang="en-US" smtClean="0"/>
              <a:pPr/>
              <a:t>‹#›</a:t>
            </a:fld>
            <a:endParaRPr lang="en-US" dirty="0"/>
          </a:p>
        </p:txBody>
      </p:sp>
    </p:spTree>
    <p:extLst>
      <p:ext uri="{BB962C8B-B14F-4D97-AF65-F5344CB8AC3E}">
        <p14:creationId xmlns:p14="http://schemas.microsoft.com/office/powerpoint/2010/main" val="422159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203200" y="365125"/>
            <a:ext cx="117856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203200" y="1828800"/>
            <a:ext cx="11785600" cy="4572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203200" y="2363724"/>
            <a:ext cx="117856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203200" y="3733800"/>
            <a:ext cx="117856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203200" y="4419600"/>
            <a:ext cx="11785600" cy="22860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2539260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203200" y="228600"/>
            <a:ext cx="117856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14" name="CT"/>
          <p:cNvSpPr>
            <a:spLocks noGrp="1"/>
          </p:cNvSpPr>
          <p:nvPr>
            <p:ph sz="quarter" idx="20" hasCustomPrompt="1"/>
          </p:nvPr>
        </p:nvSpPr>
        <p:spPr>
          <a:xfrm>
            <a:off x="203200" y="838200"/>
            <a:ext cx="11785600" cy="22098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203200" y="3505200"/>
            <a:ext cx="11785600" cy="1447800"/>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15" name="Edition"/>
          <p:cNvSpPr>
            <a:spLocks noGrp="1"/>
          </p:cNvSpPr>
          <p:nvPr>
            <p:ph sz="quarter" idx="17" hasCustomPrompt="1"/>
          </p:nvPr>
        </p:nvSpPr>
        <p:spPr>
          <a:xfrm>
            <a:off x="203200" y="5029200"/>
            <a:ext cx="11785600" cy="762000"/>
          </a:xfrm>
          <a:prstGeom prst="rect">
            <a:avLst/>
          </a:prstGeom>
        </p:spPr>
        <p:txBody>
          <a:bodyPr/>
          <a:lstStyle>
            <a:lvl1pPr marL="0" indent="0" algn="ctr">
              <a:buNone/>
              <a:defRPr sz="2900" b="1" i="0" baseline="0">
                <a:latin typeface="Times New Roman" charset="0"/>
                <a:ea typeface="Times New Roman" charset="0"/>
                <a:cs typeface="Times New Roman" charset="0"/>
              </a:defRPr>
            </a:lvl1pPr>
          </a:lstStyle>
          <a:p>
            <a:pPr lvl="0"/>
            <a:r>
              <a:rPr lang="en-US" dirty="0"/>
              <a:t>Third Edition</a:t>
            </a:r>
          </a:p>
        </p:txBody>
      </p:sp>
      <p:sp>
        <p:nvSpPr>
          <p:cNvPr id="16" name="Author"/>
          <p:cNvSpPr>
            <a:spLocks noGrp="1"/>
          </p:cNvSpPr>
          <p:nvPr>
            <p:ph sz="quarter" idx="18" hasCustomPrompt="1"/>
          </p:nvPr>
        </p:nvSpPr>
        <p:spPr>
          <a:xfrm>
            <a:off x="203200" y="6096000"/>
            <a:ext cx="11785600" cy="533400"/>
          </a:xfrm>
          <a:prstGeom prst="rect">
            <a:avLst/>
          </a:prstGeom>
        </p:spPr>
        <p:txBody>
          <a:bodyPr/>
          <a:lstStyle>
            <a:lvl1pPr marL="0" indent="0" algn="ctr">
              <a:buNone/>
              <a:defRPr b="0" i="0" baseline="0">
                <a:solidFill>
                  <a:schemeClr val="accent2"/>
                </a:solidFill>
                <a:latin typeface="STIX" charset="0"/>
                <a:ea typeface="STIX" charset="0"/>
                <a:cs typeface="STIX" charset="0"/>
              </a:defRPr>
            </a:lvl1pPr>
          </a:lstStyle>
          <a:p>
            <a:pPr lvl="0"/>
            <a:r>
              <a:rPr lang="en-US" dirty="0"/>
              <a:t>David Klein</a:t>
            </a:r>
          </a:p>
        </p:txBody>
      </p:sp>
    </p:spTree>
    <p:extLst>
      <p:ext uri="{BB962C8B-B14F-4D97-AF65-F5344CB8AC3E}">
        <p14:creationId xmlns:p14="http://schemas.microsoft.com/office/powerpoint/2010/main" val="26513743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203200" y="365125"/>
            <a:ext cx="117856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203200" y="1755648"/>
            <a:ext cx="11785600" cy="6096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203200" y="2363724"/>
            <a:ext cx="117856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203200" y="3733800"/>
            <a:ext cx="11785600" cy="533400"/>
          </a:xfrm>
          <a:prstGeom prst="rect">
            <a:avLst/>
          </a:prstGeom>
        </p:spPr>
        <p:txBody>
          <a:bodyPr/>
          <a:lstStyle>
            <a:lvl1pPr marL="0" indent="0" algn="ctr">
              <a:buNone/>
              <a:defRPr sz="4000" b="1" i="0" baseline="0">
                <a:solidFill>
                  <a:srgbClr val="007787"/>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203200" y="4267200"/>
            <a:ext cx="11785600" cy="24384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4" name="Content Placeholder 3"/>
          <p:cNvSpPr>
            <a:spLocks noGrp="1"/>
          </p:cNvSpPr>
          <p:nvPr>
            <p:ph sz="quarter" idx="23" hasCustomPrompt="1"/>
          </p:nvPr>
        </p:nvSpPr>
        <p:spPr>
          <a:xfrm>
            <a:off x="2091891" y="6248400"/>
            <a:ext cx="8779309" cy="457200"/>
          </a:xfrm>
          <a:prstGeom prst="rect">
            <a:avLst/>
          </a:prstGeom>
        </p:spPr>
        <p:txBody>
          <a:bodyPr/>
          <a:lstStyle>
            <a:lvl1pPr marL="0" indent="0">
              <a:buNone/>
              <a:defRPr/>
            </a:lvl1pPr>
          </a:lstStyle>
          <a:p>
            <a:pPr lvl="0"/>
            <a:r>
              <a:rPr lang="en-US" dirty="0"/>
              <a:t>Copyright ©2019 John Wiley &amp; Sons, Inc.</a:t>
            </a:r>
          </a:p>
        </p:txBody>
      </p:sp>
      <p:sp>
        <p:nvSpPr>
          <p:cNvPr id="6" name="Content Placeholder 5"/>
          <p:cNvSpPr>
            <a:spLocks noGrp="1"/>
          </p:cNvSpPr>
          <p:nvPr>
            <p:ph sz="quarter" idx="24"/>
          </p:nvPr>
        </p:nvSpPr>
        <p:spPr>
          <a:xfrm>
            <a:off x="203200" y="6092825"/>
            <a:ext cx="11785600" cy="27305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3768903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6400" y="762001"/>
            <a:ext cx="11379200" cy="838198"/>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1759229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81" r:id="rId17"/>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03607604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4.x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6.bin"/><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12.wmf"/><Relationship Id="rId4"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4.wmf"/><Relationship Id="rId5" Type="http://schemas.openxmlformats.org/officeDocument/2006/relationships/oleObject" Target="../embeddings/oleObject9.bin"/><Relationship Id="rId4" Type="http://schemas.openxmlformats.org/officeDocument/2006/relationships/image" Target="../media/image13.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0.bin"/><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1.bin"/><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chor="ctr"/>
          <a:lstStyle/>
          <a:p>
            <a:r>
              <a:rPr lang="en-US" sz="4000" dirty="0"/>
              <a:t>Introduction to Statistical Investigations</a:t>
            </a:r>
            <a:endParaRPr lang="en-US" sz="4000" dirty="0">
              <a:latin typeface="Times New Roman" panose="02020603050405020304" pitchFamily="18" charset="0"/>
              <a:cs typeface="Times New Roman" panose="02020603050405020304" pitchFamily="18" charset="0"/>
            </a:endParaRPr>
          </a:p>
        </p:txBody>
      </p:sp>
      <p:sp>
        <p:nvSpPr>
          <p:cNvPr id="4" name="Author"/>
          <p:cNvSpPr>
            <a:spLocks noGrp="1"/>
          </p:cNvSpPr>
          <p:nvPr>
            <p:ph sz="quarter" idx="21"/>
          </p:nvPr>
        </p:nvSpPr>
        <p:spPr>
          <a:prstGeom prst="rect">
            <a:avLst/>
          </a:prstGeom>
        </p:spPr>
        <p:txBody>
          <a:bodyPr/>
          <a:lstStyle/>
          <a:p>
            <a:r>
              <a:rPr lang="en-US" dirty="0">
                <a:latin typeface="Times New Roman" panose="02020603050405020304" pitchFamily="18" charset="0"/>
                <a:cs typeface="Times New Roman" panose="02020603050405020304" pitchFamily="18" charset="0"/>
              </a:rPr>
              <a:t>Second Edition</a:t>
            </a:r>
          </a:p>
        </p:txBody>
      </p:sp>
      <p:sp>
        <p:nvSpPr>
          <p:cNvPr id="3" name="Edition"/>
          <p:cNvSpPr>
            <a:spLocks noGrp="1"/>
          </p:cNvSpPr>
          <p:nvPr>
            <p:ph sz="quarter" idx="22"/>
          </p:nvPr>
        </p:nvSpPr>
        <p:spPr>
          <a:xfrm>
            <a:off x="1752600" y="2363724"/>
            <a:ext cx="8686800" cy="685800"/>
          </a:xfrm>
          <a:prstGeom prst="rect">
            <a:avLst/>
          </a:prstGeom>
        </p:spPr>
        <p:txBody>
          <a:bodyPr anchor="ctr"/>
          <a:lstStyle/>
          <a:p>
            <a:r>
              <a:rPr lang="en-US" sz="2600" dirty="0">
                <a:latin typeface="Times New Roman" panose="02020603050405020304" pitchFamily="18" charset="0"/>
                <a:cs typeface="Times New Roman" panose="02020603050405020304" pitchFamily="18" charset="0"/>
              </a:rPr>
              <a:t>Tintle, Chance, Cobb, Rossman, Roy, Swanson, VanderStoep</a:t>
            </a:r>
            <a:endParaRPr lang="en-US" sz="2600" baseline="30000" dirty="0">
              <a:latin typeface="Times New Roman" panose="02020603050405020304" pitchFamily="18" charset="0"/>
              <a:cs typeface="Times New Roman" panose="02020603050405020304" pitchFamily="18" charset="0"/>
            </a:endParaRPr>
          </a:p>
        </p:txBody>
      </p:sp>
      <p:sp>
        <p:nvSpPr>
          <p:cNvPr id="5" name="CN"/>
          <p:cNvSpPr>
            <a:spLocks noGrp="1"/>
          </p:cNvSpPr>
          <p:nvPr>
            <p:ph sz="quarter" idx="19"/>
          </p:nvPr>
        </p:nvSpPr>
        <p:spPr>
          <a:xfrm>
            <a:off x="1676400" y="3657600"/>
            <a:ext cx="8839200" cy="533400"/>
          </a:xfrm>
        </p:spPr>
        <p:txBody>
          <a:bodyPr anchor="ctr"/>
          <a:lstStyle/>
          <a:p>
            <a:r>
              <a:rPr lang="en-US" dirty="0">
                <a:latin typeface="Times New Roman" panose="02020603050405020304" pitchFamily="18" charset="0"/>
                <a:cs typeface="Times New Roman" panose="02020603050405020304" pitchFamily="18" charset="0"/>
              </a:rPr>
              <a:t>Chapter 1.4</a:t>
            </a:r>
          </a:p>
        </p:txBody>
      </p:sp>
      <p:sp>
        <p:nvSpPr>
          <p:cNvPr id="6" name="CT"/>
          <p:cNvSpPr>
            <a:spLocks noGrp="1"/>
          </p:cNvSpPr>
          <p:nvPr>
            <p:ph sz="quarter" idx="20"/>
          </p:nvPr>
        </p:nvSpPr>
        <p:spPr>
          <a:xfrm>
            <a:off x="1676400" y="4572000"/>
            <a:ext cx="8839200" cy="1437430"/>
          </a:xfrm>
        </p:spPr>
        <p:txBody>
          <a:bodyPr anchor="t"/>
          <a:lstStyle/>
          <a:p>
            <a:r>
              <a:rPr lang="en-US" sz="4000" dirty="0"/>
              <a:t>Significance: How Strong is the Evidence?</a:t>
            </a:r>
          </a:p>
          <a:p>
            <a:r>
              <a:rPr lang="en-US" sz="4000" dirty="0">
                <a:solidFill>
                  <a:srgbClr val="00007F"/>
                </a:solidFill>
              </a:rPr>
              <a:t>1.4: What Impacts Strength of Evidence?</a:t>
            </a:r>
          </a:p>
          <a:p>
            <a:endParaRPr lang="en-US" sz="4000" b="1" dirty="0"/>
          </a:p>
        </p:txBody>
      </p:sp>
      <p:sp>
        <p:nvSpPr>
          <p:cNvPr id="14" name="Content Placeholder 13"/>
          <p:cNvSpPr>
            <a:spLocks noGrp="1"/>
          </p:cNvSpPr>
          <p:nvPr>
            <p:ph sz="quarter" idx="24"/>
          </p:nvPr>
        </p:nvSpPr>
        <p:spPr>
          <a:xfrm>
            <a:off x="1676400" y="6156325"/>
            <a:ext cx="8839200" cy="273050"/>
          </a:xfrm>
        </p:spPr>
        <p:txBody>
          <a:bodyPr/>
          <a:lstStyle/>
          <a:p>
            <a:r>
              <a:rPr lang="en-IN" sz="1200" dirty="0">
                <a:solidFill>
                  <a:schemeClr val="bg1"/>
                </a:solidFill>
                <a:latin typeface="Times New Roman" panose="02020603050405020304" pitchFamily="18" charset="0"/>
                <a:cs typeface="Times New Roman" panose="02020603050405020304" pitchFamily="18" charset="0"/>
              </a:rPr>
              <a:t>This slide deck contains animations. Please disable animations if they cause issues with your device.</a:t>
            </a:r>
          </a:p>
        </p:txBody>
      </p:sp>
      <p:sp>
        <p:nvSpPr>
          <p:cNvPr id="10" name="Content Placeholder 9"/>
          <p:cNvSpPr>
            <a:spLocks noGrp="1"/>
          </p:cNvSpPr>
          <p:nvPr>
            <p:ph sz="quarter" idx="23"/>
          </p:nvPr>
        </p:nvSpPr>
        <p:spPr>
          <a:xfrm>
            <a:off x="2815735" y="6340626"/>
            <a:ext cx="6584482" cy="457200"/>
          </a:xfrm>
          <a:prstGeom prst="rect">
            <a:avLst/>
          </a:prstGeom>
        </p:spPr>
        <p:txBody>
          <a:bodyPr anchor="ctr"/>
          <a:lstStyle/>
          <a:p>
            <a:pPr algn="ctr"/>
            <a:r>
              <a:rPr lang="en-US" sz="1200" dirty="0">
                <a:solidFill>
                  <a:schemeClr val="tx1">
                    <a:tint val="75000"/>
                  </a:schemeClr>
                </a:solidFill>
                <a:latin typeface="Times New Roman" panose="02020603050405020304" pitchFamily="18" charset="0"/>
                <a:ea typeface="Times New Roman" charset="0"/>
                <a:cs typeface="Times New Roman" panose="02020603050405020304" pitchFamily="18" charset="0"/>
              </a:rPr>
              <a:t>Copyright ©2021 John Wiley &amp; Sons, Inc.</a:t>
            </a:r>
          </a:p>
        </p:txBody>
      </p:sp>
    </p:spTree>
    <p:extLst>
      <p:ext uri="{BB962C8B-B14F-4D97-AF65-F5344CB8AC3E}">
        <p14:creationId xmlns:p14="http://schemas.microsoft.com/office/powerpoint/2010/main" val="1261288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C187-3E14-634A-0804-5093CA14095C}"/>
              </a:ext>
            </a:extLst>
          </p:cNvPr>
          <p:cNvSpPr>
            <a:spLocks noGrp="1"/>
          </p:cNvSpPr>
          <p:nvPr>
            <p:ph type="title"/>
          </p:nvPr>
        </p:nvSpPr>
        <p:spPr/>
        <p:txBody>
          <a:bodyPr/>
          <a:lstStyle/>
          <a:p>
            <a:r>
              <a:rPr lang="en-US" dirty="0"/>
              <a:t>Quizzes</a:t>
            </a:r>
          </a:p>
        </p:txBody>
      </p:sp>
      <p:sp>
        <p:nvSpPr>
          <p:cNvPr id="3" name="Slide Number Placeholder 2">
            <a:extLst>
              <a:ext uri="{FF2B5EF4-FFF2-40B4-BE49-F238E27FC236}">
                <a16:creationId xmlns:a16="http://schemas.microsoft.com/office/drawing/2014/main" id="{81807E0C-3B50-4405-CA55-0690CC588E54}"/>
              </a:ext>
            </a:extLst>
          </p:cNvPr>
          <p:cNvSpPr>
            <a:spLocks noGrp="1"/>
          </p:cNvSpPr>
          <p:nvPr>
            <p:ph type="sldNum" sz="quarter" idx="10"/>
          </p:nvPr>
        </p:nvSpPr>
        <p:spPr/>
        <p:txBody>
          <a:bodyPr/>
          <a:lstStyle/>
          <a:p>
            <a:fld id="{67B19427-F580-D146-B60E-4CADEE75497F}" type="slidenum">
              <a:rPr lang="en-US" smtClean="0"/>
              <a:pPr/>
              <a:t>2</a:t>
            </a:fld>
            <a:endParaRPr lang="en-US" dirty="0"/>
          </a:p>
        </p:txBody>
      </p:sp>
      <p:sp>
        <p:nvSpPr>
          <p:cNvPr id="4" name="Footer Placeholder 3">
            <a:extLst>
              <a:ext uri="{FF2B5EF4-FFF2-40B4-BE49-F238E27FC236}">
                <a16:creationId xmlns:a16="http://schemas.microsoft.com/office/drawing/2014/main" id="{EF229F46-C3A7-6BE7-1320-44196B7F8DF2}"/>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2DDE7297-0AF0-A364-1FB6-753EB3902C78}"/>
              </a:ext>
            </a:extLst>
          </p:cNvPr>
          <p:cNvSpPr>
            <a:spLocks noGrp="1"/>
          </p:cNvSpPr>
          <p:nvPr>
            <p:ph sz="quarter" idx="12"/>
          </p:nvPr>
        </p:nvSpPr>
        <p:spPr/>
        <p:txBody>
          <a:bodyPr/>
          <a:lstStyle/>
          <a:p>
            <a:r>
              <a:rPr lang="en-US" dirty="0"/>
              <a:t>Study your quiz and figure out what the correct answers/processes are</a:t>
            </a:r>
          </a:p>
          <a:p>
            <a:r>
              <a:rPr lang="en-US" dirty="0"/>
              <a:t>You can correct your quiz, from now until March 5</a:t>
            </a:r>
            <a:r>
              <a:rPr lang="en-US" baseline="30000" dirty="0"/>
              <a:t>th </a:t>
            </a:r>
          </a:p>
          <a:p>
            <a:r>
              <a:rPr lang="en-US" dirty="0"/>
              <a:t>You can attempt up to two times</a:t>
            </a:r>
          </a:p>
          <a:p>
            <a:r>
              <a:rPr lang="en-US" dirty="0"/>
              <a:t>You get to see your previous attempts, and a calculator. </a:t>
            </a:r>
          </a:p>
          <a:p>
            <a:r>
              <a:rPr lang="en-US" dirty="0"/>
              <a:t>You'll have at most 25 minutes to do complete it.</a:t>
            </a:r>
          </a:p>
        </p:txBody>
      </p:sp>
    </p:spTree>
    <p:extLst>
      <p:ext uri="{BB962C8B-B14F-4D97-AF65-F5344CB8AC3E}">
        <p14:creationId xmlns:p14="http://schemas.microsoft.com/office/powerpoint/2010/main" val="2680100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0BDCE4-ED79-4508-B9A5-B45ADC2CCB70}"/>
              </a:ext>
            </a:extLst>
          </p:cNvPr>
          <p:cNvSpPr>
            <a:spLocks noGrp="1"/>
          </p:cNvSpPr>
          <p:nvPr>
            <p:ph type="title"/>
          </p:nvPr>
        </p:nvSpPr>
        <p:spPr>
          <a:xfrm>
            <a:off x="1828800" y="620885"/>
            <a:ext cx="8534400" cy="1062530"/>
          </a:xfrm>
        </p:spPr>
        <p:txBody>
          <a:bodyPr>
            <a:normAutofit/>
          </a:bodyPr>
          <a:lstStyle/>
          <a:p>
            <a:r>
              <a:rPr lang="en-US" sz="3600" dirty="0"/>
              <a:t>Example 1.4: Predicting Elections</a:t>
            </a:r>
          </a:p>
        </p:txBody>
      </p:sp>
      <p:sp>
        <p:nvSpPr>
          <p:cNvPr id="8" name="Content Placeholder 7">
            <a:extLst>
              <a:ext uri="{FF2B5EF4-FFF2-40B4-BE49-F238E27FC236}">
                <a16:creationId xmlns:a16="http://schemas.microsoft.com/office/drawing/2014/main" id="{DE5E7F24-D6C8-432C-8E6F-FA141678CE5A}"/>
              </a:ext>
            </a:extLst>
          </p:cNvPr>
          <p:cNvSpPr>
            <a:spLocks noGrp="1"/>
          </p:cNvSpPr>
          <p:nvPr>
            <p:ph sz="quarter" idx="12"/>
          </p:nvPr>
        </p:nvSpPr>
        <p:spPr>
          <a:xfrm>
            <a:off x="1828800" y="1911351"/>
            <a:ext cx="8534400" cy="4325765"/>
          </a:xfrm>
        </p:spPr>
        <p:txBody>
          <a:bodyPr/>
          <a:lstStyle/>
          <a:p>
            <a:pPr marL="292608" indent="-292608">
              <a:buClr>
                <a:schemeClr val="accent2"/>
              </a:buClr>
              <a:buFont typeface="Arial" panose="020B0604020202020204" pitchFamily="34" charset="0"/>
              <a:buChar char="•"/>
            </a:pPr>
            <a:r>
              <a:rPr lang="en-US" dirty="0"/>
              <a:t>Do voters make judgments about candidates based on facial appearances? </a:t>
            </a:r>
          </a:p>
          <a:p>
            <a:pPr marL="292608" indent="-292608">
              <a:buClr>
                <a:schemeClr val="accent2"/>
              </a:buClr>
              <a:buFont typeface="Arial" panose="020B0604020202020204" pitchFamily="34" charset="0"/>
              <a:buChar char="•"/>
            </a:pPr>
            <a:r>
              <a:rPr lang="en-US" dirty="0"/>
              <a:t>More specifically, can you predict an election by choosing the candidate whose face is more competent-looking? </a:t>
            </a:r>
          </a:p>
          <a:p>
            <a:pPr marL="292608" indent="-292608">
              <a:buClr>
                <a:schemeClr val="accent2"/>
              </a:buClr>
              <a:buFont typeface="Arial" panose="020B0604020202020204" pitchFamily="34" charset="0"/>
              <a:buChar char="•"/>
            </a:pPr>
            <a:r>
              <a:rPr lang="en-US" dirty="0"/>
              <a:t>Participants were shown two candidates and asked who has the more competent-looking face.</a:t>
            </a:r>
          </a:p>
        </p:txBody>
      </p:sp>
    </p:spTree>
    <p:extLst>
      <p:ext uri="{BB962C8B-B14F-4D97-AF65-F5344CB8AC3E}">
        <p14:creationId xmlns:p14="http://schemas.microsoft.com/office/powerpoint/2010/main" val="1315866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D2730F7-0BAA-45C8-91CC-1CCC93DD83A5}"/>
              </a:ext>
            </a:extLst>
          </p:cNvPr>
          <p:cNvSpPr>
            <a:spLocks noGrp="1"/>
          </p:cNvSpPr>
          <p:nvPr>
            <p:ph type="title"/>
          </p:nvPr>
        </p:nvSpPr>
        <p:spPr>
          <a:xfrm>
            <a:off x="1828800" y="620886"/>
            <a:ext cx="8534400" cy="1138425"/>
          </a:xfrm>
        </p:spPr>
        <p:txBody>
          <a:bodyPr>
            <a:normAutofit fontScale="90000"/>
          </a:bodyPr>
          <a:lstStyle/>
          <a:p>
            <a:r>
              <a:rPr lang="en-IN" dirty="0"/>
              <a:t>Who Has the More Competent Looking Face?</a:t>
            </a:r>
            <a:endParaRPr lang="en-US" dirty="0"/>
          </a:p>
        </p:txBody>
      </p:sp>
      <p:sp>
        <p:nvSpPr>
          <p:cNvPr id="8" name="Content Placeholder 7">
            <a:extLst>
              <a:ext uri="{FF2B5EF4-FFF2-40B4-BE49-F238E27FC236}">
                <a16:creationId xmlns:a16="http://schemas.microsoft.com/office/drawing/2014/main" id="{58A5F0C8-C68A-4DEB-8584-0F54FE37974C}"/>
              </a:ext>
            </a:extLst>
          </p:cNvPr>
          <p:cNvSpPr>
            <a:spLocks noGrp="1"/>
          </p:cNvSpPr>
          <p:nvPr>
            <p:ph sz="quarter" idx="12"/>
          </p:nvPr>
        </p:nvSpPr>
        <p:spPr>
          <a:xfrm>
            <a:off x="1828800" y="1911351"/>
            <a:ext cx="8534400" cy="455120"/>
          </a:xfrm>
        </p:spPr>
        <p:txBody>
          <a:bodyPr/>
          <a:lstStyle/>
          <a:p>
            <a:r>
              <a:rPr lang="en-US" dirty="0"/>
              <a:t>2004 Senate Candidates from Wisconsin</a:t>
            </a:r>
          </a:p>
        </p:txBody>
      </p:sp>
      <p:pic>
        <p:nvPicPr>
          <p:cNvPr id="13" name="Picture Placeholder 2" descr="Two photos placed side by side show faces of two smiling candidates in suit and tie. The photo on the left shows a candidate with matured look, clean shaved square face and small forehead with good amount of hair on head. The photo on the right shows a candidate with baby face, clean shaved round face and high forehead with decent amount of hair on head. ">
            <a:extLst>
              <a:ext uri="{FF2B5EF4-FFF2-40B4-BE49-F238E27FC236}">
                <a16:creationId xmlns:a16="http://schemas.microsoft.com/office/drawing/2014/main" id="{74089E0F-7F8F-4AB7-A0B8-C97AC68496E6}"/>
              </a:ext>
            </a:extLst>
          </p:cNvPr>
          <p:cNvPicPr>
            <a:picLocks noGrp="1" noChangeAspect="1" noChangeArrowheads="1"/>
          </p:cNvPicPr>
          <p:nvPr>
            <p:ph type="pic" sz="quarter" idx="15"/>
          </p:nvPr>
        </p:nvPicPr>
        <p:blipFill>
          <a:blip r:embed="rId2">
            <a:extLst>
              <a:ext uri="{28A0092B-C50C-407E-A947-70E740481C1C}">
                <a14:useLocalDpi xmlns:a14="http://schemas.microsoft.com/office/drawing/2010/main" val="0"/>
              </a:ext>
            </a:extLst>
          </a:blip>
          <a:stretch>
            <a:fillRect/>
          </a:stretch>
        </p:blipFill>
        <p:spPr bwMode="auto">
          <a:xfrm>
            <a:off x="2731563" y="2533075"/>
            <a:ext cx="6728874" cy="322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a:extLst>
              <a:ext uri="{FF2B5EF4-FFF2-40B4-BE49-F238E27FC236}">
                <a16:creationId xmlns:a16="http://schemas.microsoft.com/office/drawing/2014/main" id="{110F28EA-C3AA-8CD1-B140-2F4C2A28864A}"/>
              </a:ext>
            </a:extLst>
          </p:cNvPr>
          <p:cNvSpPr>
            <a:spLocks noGrp="1"/>
          </p:cNvSpPr>
          <p:nvPr>
            <p:ph sz="quarter" idx="16"/>
          </p:nvPr>
        </p:nvSpPr>
        <p:spPr/>
        <p:txBody>
          <a:bodyPr/>
          <a:lstStyle/>
          <a:p>
            <a:endParaRPr lang="en-US"/>
          </a:p>
        </p:txBody>
      </p:sp>
      <p:sp>
        <p:nvSpPr>
          <p:cNvPr id="5" name="Content Placeholder 4">
            <a:extLst>
              <a:ext uri="{FF2B5EF4-FFF2-40B4-BE49-F238E27FC236}">
                <a16:creationId xmlns:a16="http://schemas.microsoft.com/office/drawing/2014/main" id="{0031F835-7AAB-82C0-B3EB-8D60AEE0D2B7}"/>
              </a:ext>
            </a:extLst>
          </p:cNvPr>
          <p:cNvSpPr>
            <a:spLocks noGrp="1"/>
          </p:cNvSpPr>
          <p:nvPr>
            <p:ph sz="quarter" idx="17"/>
          </p:nvPr>
        </p:nvSpPr>
        <p:spPr/>
        <p:txBody>
          <a:bodyPr/>
          <a:lstStyle/>
          <a:p>
            <a:endParaRPr lang="en-US"/>
          </a:p>
        </p:txBody>
      </p:sp>
    </p:spTree>
    <p:extLst>
      <p:ext uri="{BB962C8B-B14F-4D97-AF65-F5344CB8AC3E}">
        <p14:creationId xmlns:p14="http://schemas.microsoft.com/office/powerpoint/2010/main" val="3708431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F72AC-889B-5DC9-6CCB-2C014B5BA46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E8DC8F4-960A-F0CC-53F2-BE360E346C30}"/>
              </a:ext>
            </a:extLst>
          </p:cNvPr>
          <p:cNvSpPr>
            <a:spLocks noGrp="1"/>
          </p:cNvSpPr>
          <p:nvPr>
            <p:ph type="title"/>
          </p:nvPr>
        </p:nvSpPr>
        <p:spPr>
          <a:xfrm>
            <a:off x="1828800" y="620886"/>
            <a:ext cx="8534400" cy="1138425"/>
          </a:xfrm>
        </p:spPr>
        <p:txBody>
          <a:bodyPr>
            <a:normAutofit fontScale="90000"/>
          </a:bodyPr>
          <a:lstStyle/>
          <a:p>
            <a:r>
              <a:rPr lang="en-IN" dirty="0"/>
              <a:t>Who Has the More Competent Looking Face?</a:t>
            </a:r>
            <a:endParaRPr lang="en-US" dirty="0"/>
          </a:p>
        </p:txBody>
      </p:sp>
      <p:sp>
        <p:nvSpPr>
          <p:cNvPr id="8" name="Content Placeholder 7">
            <a:extLst>
              <a:ext uri="{FF2B5EF4-FFF2-40B4-BE49-F238E27FC236}">
                <a16:creationId xmlns:a16="http://schemas.microsoft.com/office/drawing/2014/main" id="{99962AC1-412A-7824-5412-B49216168A91}"/>
              </a:ext>
            </a:extLst>
          </p:cNvPr>
          <p:cNvSpPr>
            <a:spLocks noGrp="1"/>
          </p:cNvSpPr>
          <p:nvPr>
            <p:ph sz="quarter" idx="12"/>
          </p:nvPr>
        </p:nvSpPr>
        <p:spPr>
          <a:xfrm>
            <a:off x="1828800" y="1911351"/>
            <a:ext cx="8534400" cy="455120"/>
          </a:xfrm>
        </p:spPr>
        <p:txBody>
          <a:bodyPr/>
          <a:lstStyle/>
          <a:p>
            <a:r>
              <a:rPr lang="en-US" dirty="0"/>
              <a:t>2004 Senate Candidates from Wisconsin</a:t>
            </a:r>
          </a:p>
        </p:txBody>
      </p:sp>
      <p:pic>
        <p:nvPicPr>
          <p:cNvPr id="13" name="Picture Placeholder 2" descr="Two photos placed side by side show faces of two smiling candidates in suit and tie. The photo on the left shows a candidate with matured look, clean shaved square face and small forehead with good amount of hair on head. The photo on the right shows a candidate with baby face, clean shaved round face and high forehead with decent amount of hair on head. ">
            <a:extLst>
              <a:ext uri="{FF2B5EF4-FFF2-40B4-BE49-F238E27FC236}">
                <a16:creationId xmlns:a16="http://schemas.microsoft.com/office/drawing/2014/main" id="{96D927DA-788F-C699-163A-A44B2538BE4D}"/>
              </a:ext>
            </a:extLst>
          </p:cNvPr>
          <p:cNvPicPr>
            <a:picLocks noGrp="1" noChangeAspect="1" noChangeArrowheads="1"/>
          </p:cNvPicPr>
          <p:nvPr>
            <p:ph type="pic" sz="quarter" idx="15"/>
          </p:nvPr>
        </p:nvPicPr>
        <p:blipFill>
          <a:blip r:embed="rId2">
            <a:extLst>
              <a:ext uri="{28A0092B-C50C-407E-A947-70E740481C1C}">
                <a14:useLocalDpi xmlns:a14="http://schemas.microsoft.com/office/drawing/2010/main" val="0"/>
              </a:ext>
            </a:extLst>
          </a:blip>
          <a:stretch>
            <a:fillRect/>
          </a:stretch>
        </p:blipFill>
        <p:spPr bwMode="auto">
          <a:xfrm>
            <a:off x="2731563" y="2533075"/>
            <a:ext cx="6728874" cy="322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Content Placeholder 15">
            <a:extLst>
              <a:ext uri="{FF2B5EF4-FFF2-40B4-BE49-F238E27FC236}">
                <a16:creationId xmlns:a16="http://schemas.microsoft.com/office/drawing/2014/main" id="{25053B0D-5508-7CFD-03E1-02C046617E3C}"/>
              </a:ext>
            </a:extLst>
          </p:cNvPr>
          <p:cNvSpPr>
            <a:spLocks noGrp="1"/>
          </p:cNvSpPr>
          <p:nvPr>
            <p:ph sz="quarter" idx="16"/>
          </p:nvPr>
        </p:nvSpPr>
        <p:spPr>
          <a:xfrm>
            <a:off x="3346700" y="5782043"/>
            <a:ext cx="1231400" cy="455072"/>
          </a:xfrm>
        </p:spPr>
        <p:txBody>
          <a:bodyPr/>
          <a:lstStyle/>
          <a:p>
            <a:pPr marL="0" indent="0">
              <a:buNone/>
            </a:pPr>
            <a:r>
              <a:rPr lang="en-US" dirty="0"/>
              <a:t>Winner</a:t>
            </a:r>
          </a:p>
        </p:txBody>
      </p:sp>
      <p:sp>
        <p:nvSpPr>
          <p:cNvPr id="17" name="Content Placeholder 16">
            <a:extLst>
              <a:ext uri="{FF2B5EF4-FFF2-40B4-BE49-F238E27FC236}">
                <a16:creationId xmlns:a16="http://schemas.microsoft.com/office/drawing/2014/main" id="{BF8E9C55-D1E4-6ADD-06F6-3448AF290C6C}"/>
              </a:ext>
            </a:extLst>
          </p:cNvPr>
          <p:cNvSpPr>
            <a:spLocks noGrp="1"/>
          </p:cNvSpPr>
          <p:nvPr>
            <p:ph sz="quarter" idx="17"/>
          </p:nvPr>
        </p:nvSpPr>
        <p:spPr>
          <a:xfrm>
            <a:off x="7462110" y="5782043"/>
            <a:ext cx="1079610" cy="455072"/>
          </a:xfrm>
        </p:spPr>
        <p:txBody>
          <a:bodyPr/>
          <a:lstStyle/>
          <a:p>
            <a:pPr marL="0" indent="0">
              <a:buNone/>
            </a:pPr>
            <a:r>
              <a:rPr lang="en-US" dirty="0"/>
              <a:t>Loser</a:t>
            </a:r>
          </a:p>
        </p:txBody>
      </p:sp>
    </p:spTree>
    <p:extLst>
      <p:ext uri="{BB962C8B-B14F-4D97-AF65-F5344CB8AC3E}">
        <p14:creationId xmlns:p14="http://schemas.microsoft.com/office/powerpoint/2010/main" val="2342981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1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0BDCE4-ED79-4508-B9A5-B45ADC2CCB70}"/>
              </a:ext>
            </a:extLst>
          </p:cNvPr>
          <p:cNvSpPr>
            <a:spLocks noGrp="1"/>
          </p:cNvSpPr>
          <p:nvPr>
            <p:ph type="title"/>
          </p:nvPr>
        </p:nvSpPr>
        <p:spPr>
          <a:xfrm>
            <a:off x="1828800" y="620885"/>
            <a:ext cx="8534400" cy="1062530"/>
          </a:xfrm>
        </p:spPr>
        <p:txBody>
          <a:bodyPr>
            <a:normAutofit/>
          </a:bodyPr>
          <a:lstStyle/>
          <a:p>
            <a:r>
              <a:rPr lang="en-US" dirty="0"/>
              <a:t>Example 1.4: Predicting Elections </a:t>
            </a:r>
            <a:r>
              <a:rPr lang="en-US" sz="2000" b="0" dirty="0"/>
              <a:t>(1 of 4)</a:t>
            </a:r>
            <a:endParaRPr lang="en-US" dirty="0"/>
          </a:p>
        </p:txBody>
      </p:sp>
      <p:sp>
        <p:nvSpPr>
          <p:cNvPr id="8" name="Content Placeholder 7">
            <a:extLst>
              <a:ext uri="{FF2B5EF4-FFF2-40B4-BE49-F238E27FC236}">
                <a16:creationId xmlns:a16="http://schemas.microsoft.com/office/drawing/2014/main" id="{DE5E7F24-D6C8-432C-8E6F-FA141678CE5A}"/>
              </a:ext>
            </a:extLst>
          </p:cNvPr>
          <p:cNvSpPr>
            <a:spLocks noGrp="1"/>
          </p:cNvSpPr>
          <p:nvPr>
            <p:ph sz="quarter" idx="12"/>
          </p:nvPr>
        </p:nvSpPr>
        <p:spPr>
          <a:xfrm>
            <a:off x="1828800" y="1911351"/>
            <a:ext cx="8534400" cy="4325765"/>
          </a:xfrm>
        </p:spPr>
        <p:txBody>
          <a:bodyPr/>
          <a:lstStyle/>
          <a:p>
            <a:pPr marL="292608" indent="-292608">
              <a:buClr>
                <a:schemeClr val="accent2"/>
              </a:buClr>
              <a:buFont typeface="Arial" panose="020B0604020202020204" pitchFamily="34" charset="0"/>
              <a:buChar char="•"/>
            </a:pPr>
            <a:r>
              <a:rPr lang="en-US" dirty="0"/>
              <a:t>They determined which face was the more competent for the 32 Senate races in 2004.</a:t>
            </a:r>
          </a:p>
          <a:p>
            <a:pPr marL="292608" indent="-292608">
              <a:buClr>
                <a:schemeClr val="accent2"/>
              </a:buClr>
              <a:buFont typeface="Arial" panose="020B0604020202020204" pitchFamily="34" charset="0"/>
              <a:buChar char="•"/>
            </a:pPr>
            <a:r>
              <a:rPr lang="en-US" dirty="0"/>
              <a:t>What are the observational units? </a:t>
            </a:r>
          </a:p>
          <a:p>
            <a:pPr marL="621792" lvl="1" indent="-320040">
              <a:buClr>
                <a:schemeClr val="accent2"/>
              </a:buClr>
            </a:pPr>
            <a:endParaRPr lang="en-US" dirty="0"/>
          </a:p>
          <a:p>
            <a:pPr marL="292608" indent="-292608">
              <a:buClr>
                <a:schemeClr val="accent2"/>
              </a:buClr>
              <a:buFont typeface="Arial" panose="020B0604020202020204" pitchFamily="34" charset="0"/>
              <a:buChar char="•"/>
            </a:pPr>
            <a:r>
              <a:rPr lang="en-US" dirty="0"/>
              <a:t>What is the variable measured? </a:t>
            </a:r>
          </a:p>
          <a:p>
            <a:pPr marL="621792" lvl="1" indent="-320040">
              <a:buClr>
                <a:schemeClr val="accent2"/>
              </a:buClr>
            </a:pPr>
            <a:endParaRPr lang="en-US" dirty="0"/>
          </a:p>
        </p:txBody>
      </p:sp>
    </p:spTree>
    <p:extLst>
      <p:ext uri="{BB962C8B-B14F-4D97-AF65-F5344CB8AC3E}">
        <p14:creationId xmlns:p14="http://schemas.microsoft.com/office/powerpoint/2010/main" val="1878263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0C0A0-441F-AB63-BEC7-2AFA33A0494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35FDB34-459C-53F7-F209-AE3CBE210322}"/>
              </a:ext>
            </a:extLst>
          </p:cNvPr>
          <p:cNvSpPr>
            <a:spLocks noGrp="1"/>
          </p:cNvSpPr>
          <p:nvPr>
            <p:ph type="title"/>
          </p:nvPr>
        </p:nvSpPr>
        <p:spPr>
          <a:xfrm>
            <a:off x="1828800" y="620885"/>
            <a:ext cx="8534400" cy="1062530"/>
          </a:xfrm>
        </p:spPr>
        <p:txBody>
          <a:bodyPr>
            <a:normAutofit/>
          </a:bodyPr>
          <a:lstStyle/>
          <a:p>
            <a:r>
              <a:rPr lang="en-US" dirty="0"/>
              <a:t>Example 1.4: Predicting Elections </a:t>
            </a:r>
            <a:r>
              <a:rPr lang="en-US" sz="2000" b="0" dirty="0"/>
              <a:t>(1 of 4)</a:t>
            </a:r>
            <a:endParaRPr lang="en-US" dirty="0"/>
          </a:p>
        </p:txBody>
      </p:sp>
      <p:sp>
        <p:nvSpPr>
          <p:cNvPr id="8" name="Content Placeholder 7">
            <a:extLst>
              <a:ext uri="{FF2B5EF4-FFF2-40B4-BE49-F238E27FC236}">
                <a16:creationId xmlns:a16="http://schemas.microsoft.com/office/drawing/2014/main" id="{74926A7E-1AE6-91C6-452E-D804D1CE0722}"/>
              </a:ext>
            </a:extLst>
          </p:cNvPr>
          <p:cNvSpPr>
            <a:spLocks noGrp="1"/>
          </p:cNvSpPr>
          <p:nvPr>
            <p:ph sz="quarter" idx="12"/>
          </p:nvPr>
        </p:nvSpPr>
        <p:spPr>
          <a:xfrm>
            <a:off x="1828800" y="1911351"/>
            <a:ext cx="8534400" cy="4325765"/>
          </a:xfrm>
        </p:spPr>
        <p:txBody>
          <a:bodyPr/>
          <a:lstStyle/>
          <a:p>
            <a:pPr marL="292608" indent="-292608">
              <a:buClr>
                <a:schemeClr val="accent2"/>
              </a:buClr>
              <a:buFont typeface="Arial" panose="020B0604020202020204" pitchFamily="34" charset="0"/>
              <a:buChar char="•"/>
            </a:pPr>
            <a:r>
              <a:rPr lang="en-US" dirty="0"/>
              <a:t>They determined which face was the more competent for the 32 Senate races in 2004.</a:t>
            </a:r>
          </a:p>
          <a:p>
            <a:pPr marL="292608" indent="-292608">
              <a:buClr>
                <a:schemeClr val="accent2"/>
              </a:buClr>
              <a:buFont typeface="Arial" panose="020B0604020202020204" pitchFamily="34" charset="0"/>
              <a:buChar char="•"/>
            </a:pPr>
            <a:r>
              <a:rPr lang="en-US" dirty="0"/>
              <a:t>What are the observational units? </a:t>
            </a:r>
          </a:p>
          <a:p>
            <a:pPr marL="621792" lvl="1" indent="-320040">
              <a:buClr>
                <a:schemeClr val="accent2"/>
              </a:buClr>
            </a:pPr>
            <a:r>
              <a:rPr lang="en-US" dirty="0"/>
              <a:t>The 32 Senate races</a:t>
            </a:r>
          </a:p>
          <a:p>
            <a:pPr marL="292608" indent="-292608">
              <a:buClr>
                <a:schemeClr val="accent2"/>
              </a:buClr>
              <a:buFont typeface="Arial" panose="020B0604020202020204" pitchFamily="34" charset="0"/>
              <a:buChar char="•"/>
            </a:pPr>
            <a:r>
              <a:rPr lang="en-US" dirty="0"/>
              <a:t>What is the variable measured? </a:t>
            </a:r>
          </a:p>
          <a:p>
            <a:pPr marL="621792" lvl="1" indent="-320040">
              <a:buClr>
                <a:schemeClr val="accent2"/>
              </a:buClr>
            </a:pPr>
            <a:r>
              <a:rPr lang="en-US" dirty="0"/>
              <a:t>Whether the method predicted the winner correctly</a:t>
            </a:r>
          </a:p>
        </p:txBody>
      </p:sp>
    </p:spTree>
    <p:extLst>
      <p:ext uri="{BB962C8B-B14F-4D97-AF65-F5344CB8AC3E}">
        <p14:creationId xmlns:p14="http://schemas.microsoft.com/office/powerpoint/2010/main" val="4067118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0BDCE4-ED79-4508-B9A5-B45ADC2CCB70}"/>
              </a:ext>
            </a:extLst>
          </p:cNvPr>
          <p:cNvSpPr>
            <a:spLocks noGrp="1"/>
          </p:cNvSpPr>
          <p:nvPr>
            <p:ph type="title"/>
          </p:nvPr>
        </p:nvSpPr>
        <p:spPr>
          <a:xfrm>
            <a:off x="1828800" y="620885"/>
            <a:ext cx="8534400" cy="1062530"/>
          </a:xfrm>
        </p:spPr>
        <p:txBody>
          <a:bodyPr>
            <a:normAutofit/>
          </a:bodyPr>
          <a:lstStyle/>
          <a:p>
            <a:r>
              <a:rPr lang="en-US" dirty="0"/>
              <a:t>Example 1.4: Predicting Elections </a:t>
            </a:r>
            <a:r>
              <a:rPr lang="en-US" sz="2000" b="0" dirty="0"/>
              <a:t>(2 of 4)</a:t>
            </a:r>
            <a:endParaRPr lang="en-US" dirty="0"/>
          </a:p>
        </p:txBody>
      </p:sp>
      <p:sp>
        <p:nvSpPr>
          <p:cNvPr id="8" name="Content Placeholder 7">
            <a:extLst>
              <a:ext uri="{FF2B5EF4-FFF2-40B4-BE49-F238E27FC236}">
                <a16:creationId xmlns:a16="http://schemas.microsoft.com/office/drawing/2014/main" id="{DE5E7F24-D6C8-432C-8E6F-FA141678CE5A}"/>
              </a:ext>
            </a:extLst>
          </p:cNvPr>
          <p:cNvSpPr>
            <a:spLocks noGrp="1"/>
          </p:cNvSpPr>
          <p:nvPr>
            <p:ph sz="quarter" idx="12"/>
          </p:nvPr>
        </p:nvSpPr>
        <p:spPr>
          <a:xfrm>
            <a:off x="1828800" y="1911351"/>
            <a:ext cx="8534400" cy="2352495"/>
          </a:xfrm>
        </p:spPr>
        <p:txBody>
          <a:bodyPr/>
          <a:lstStyle/>
          <a:p>
            <a:pPr marL="292608" indent="-292608">
              <a:buClr>
                <a:schemeClr val="accent2"/>
              </a:buClr>
              <a:buFont typeface="Arial" panose="020B0604020202020204" pitchFamily="34" charset="0"/>
              <a:buChar char="•"/>
            </a:pPr>
            <a:r>
              <a:rPr lang="en-US" dirty="0"/>
              <a:t>Null hypothesis: The probability this method predicts the winner equals 0.50. (H</a:t>
            </a:r>
            <a:r>
              <a:rPr lang="en-US" baseline="-25000" dirty="0"/>
              <a:t>0 </a:t>
            </a:r>
            <a:r>
              <a:rPr lang="en-US" dirty="0"/>
              <a:t>: </a:t>
            </a:r>
            <a:r>
              <a:rPr lang="el-GR" i="1" dirty="0"/>
              <a:t>π</a:t>
            </a:r>
            <a:r>
              <a:rPr lang="en-US" dirty="0"/>
              <a:t> = 0.50)</a:t>
            </a:r>
          </a:p>
          <a:p>
            <a:pPr marL="292608" indent="-292608">
              <a:buClr>
                <a:schemeClr val="accent2"/>
              </a:buClr>
              <a:buFont typeface="Arial" panose="020B0604020202020204" pitchFamily="34" charset="0"/>
              <a:buChar char="•"/>
            </a:pPr>
            <a:r>
              <a:rPr lang="en-US" dirty="0"/>
              <a:t>Alternative hypothesis: The probability this method predicts the winner is greater than 0.50. (H</a:t>
            </a:r>
            <a:r>
              <a:rPr lang="en-US" baseline="-25000" dirty="0"/>
              <a:t>0 </a:t>
            </a:r>
            <a:r>
              <a:rPr lang="en-US" dirty="0"/>
              <a:t>: </a:t>
            </a:r>
            <a:r>
              <a:rPr lang="el-GR" i="1" dirty="0"/>
              <a:t>π</a:t>
            </a:r>
            <a:r>
              <a:rPr lang="en-US" dirty="0"/>
              <a:t> &gt; 0.50)</a:t>
            </a:r>
          </a:p>
          <a:p>
            <a:pPr marL="292608" indent="-292608">
              <a:buClr>
                <a:schemeClr val="accent2"/>
              </a:buClr>
              <a:buFont typeface="Arial" panose="020B0604020202020204" pitchFamily="34" charset="0"/>
              <a:buChar char="•"/>
            </a:pPr>
            <a:r>
              <a:rPr lang="en-US" dirty="0"/>
              <a:t>This method correctly predicted 23 of 32 races, hence</a:t>
            </a:r>
          </a:p>
        </p:txBody>
      </p:sp>
      <p:graphicFrame>
        <p:nvGraphicFramePr>
          <p:cNvPr id="2" name="Object 1" descr="hat over p equals start frac 23 over 32 end frac almost equals 0.719 full stop">
            <a:extLst>
              <a:ext uri="{FF2B5EF4-FFF2-40B4-BE49-F238E27FC236}">
                <a16:creationId xmlns:a16="http://schemas.microsoft.com/office/drawing/2014/main" id="{A46817A6-02FE-47F5-80B7-C6FEE26184F2}"/>
              </a:ext>
            </a:extLst>
          </p:cNvPr>
          <p:cNvGraphicFramePr>
            <a:graphicFrameLocks noChangeAspect="1"/>
          </p:cNvGraphicFramePr>
          <p:nvPr/>
        </p:nvGraphicFramePr>
        <p:xfrm>
          <a:off x="2203384" y="4093484"/>
          <a:ext cx="2116688" cy="804589"/>
        </p:xfrm>
        <a:graphic>
          <a:graphicData uri="http://schemas.openxmlformats.org/presentationml/2006/ole">
            <mc:AlternateContent xmlns:mc="http://schemas.openxmlformats.org/markup-compatibility/2006">
              <mc:Choice xmlns:v="urn:schemas-microsoft-com:vml" Requires="v">
                <p:oleObj name="Equation" r:id="rId2" imgW="2171520" imgH="825480" progId="Equation.DSMT4">
                  <p:embed/>
                </p:oleObj>
              </mc:Choice>
              <mc:Fallback>
                <p:oleObj name="Equation" r:id="rId2" imgW="2171520" imgH="825480" progId="Equation.DSMT4">
                  <p:embed/>
                  <p:pic>
                    <p:nvPicPr>
                      <p:cNvPr id="2" name="Object 1" descr="hat over p equals start frac 23 over 32 end frac almost equals 0.719 full stop">
                        <a:extLst>
                          <a:ext uri="{FF2B5EF4-FFF2-40B4-BE49-F238E27FC236}">
                            <a16:creationId xmlns:a16="http://schemas.microsoft.com/office/drawing/2014/main" id="{A46817A6-02FE-47F5-80B7-C6FEE26184F2}"/>
                          </a:ext>
                        </a:extLst>
                      </p:cNvPr>
                      <p:cNvPicPr/>
                      <p:nvPr/>
                    </p:nvPicPr>
                    <p:blipFill>
                      <a:blip r:embed="rId3"/>
                      <a:stretch>
                        <a:fillRect/>
                      </a:stretch>
                    </p:blipFill>
                    <p:spPr>
                      <a:xfrm>
                        <a:off x="2203384" y="4093484"/>
                        <a:ext cx="2116688" cy="804589"/>
                      </a:xfrm>
                      <a:prstGeom prst="rect">
                        <a:avLst/>
                      </a:prstGeom>
                    </p:spPr>
                  </p:pic>
                </p:oleObj>
              </mc:Fallback>
            </mc:AlternateContent>
          </a:graphicData>
        </a:graphic>
      </p:graphicFrame>
    </p:spTree>
    <p:extLst>
      <p:ext uri="{BB962C8B-B14F-4D97-AF65-F5344CB8AC3E}">
        <p14:creationId xmlns:p14="http://schemas.microsoft.com/office/powerpoint/2010/main" val="2111840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031D57B-22F7-4B02-A276-52A467021FDA}"/>
              </a:ext>
            </a:extLst>
          </p:cNvPr>
          <p:cNvSpPr>
            <a:spLocks noGrp="1"/>
          </p:cNvSpPr>
          <p:nvPr>
            <p:ph type="title"/>
          </p:nvPr>
        </p:nvSpPr>
        <p:spPr/>
        <p:txBody>
          <a:bodyPr/>
          <a:lstStyle/>
          <a:p>
            <a:r>
              <a:rPr lang="en-US" dirty="0"/>
              <a:t>Example 1.4: Predicting Elections </a:t>
            </a:r>
            <a:r>
              <a:rPr lang="en-US" sz="2000" b="0" dirty="0"/>
              <a:t>(3 of 4)</a:t>
            </a:r>
            <a:endParaRPr lang="en-US" dirty="0"/>
          </a:p>
        </p:txBody>
      </p:sp>
      <p:sp>
        <p:nvSpPr>
          <p:cNvPr id="11" name="Content Placeholder 10">
            <a:extLst>
              <a:ext uri="{FF2B5EF4-FFF2-40B4-BE49-F238E27FC236}">
                <a16:creationId xmlns:a16="http://schemas.microsoft.com/office/drawing/2014/main" id="{0778937C-DD54-414A-8B50-1F2A4CCDB5A6}"/>
              </a:ext>
            </a:extLst>
          </p:cNvPr>
          <p:cNvSpPr>
            <a:spLocks noGrp="1"/>
          </p:cNvSpPr>
          <p:nvPr>
            <p:ph sz="quarter" idx="12"/>
          </p:nvPr>
        </p:nvSpPr>
        <p:spPr>
          <a:xfrm>
            <a:off x="1828800" y="1745874"/>
            <a:ext cx="8534400" cy="913809"/>
          </a:xfrm>
        </p:spPr>
        <p:txBody>
          <a:bodyPr/>
          <a:lstStyle/>
          <a:p>
            <a:pPr marL="0" indent="0">
              <a:buNone/>
            </a:pPr>
            <a:r>
              <a:rPr lang="en-US" dirty="0"/>
              <a:t>1,000 simulated sets of 32 races using the One Proportion applet.</a:t>
            </a:r>
          </a:p>
        </p:txBody>
      </p:sp>
      <p:pic>
        <p:nvPicPr>
          <p:cNvPr id="6" name="Picture Placeholder 2" descr="A bar graph describes the probability of successes when 1000 sets of 32 coins tossed. The horizontal axis is labeled Proportion of successes and has markings from 0.12 to 0.81 in varying increments of 0.07 and 0.06. The vertical axis ranges from 0 to 160 in increments of 40. The heights of the bars for each marking are as follows: 0.25, 5; 0.29, 7; 0.31, 25; 0.34, 38; 0.38, 42; 0.41, 60; 0.44, 120; 0.47, 125; 0.50, 135; 0.53, 130; 0.56, 110; 0.59, 70; 0.62, 60; 0.65, 30; 0.69, 28; 0.72, 12; 0.75, 3; and 0.78, 8. There are no bars above 0.12, 0.19, and 0.81. A red vertical line extends from 0.7188 and covers the whole range of the vertical axis and it is marked with an expression p (hat) greater than or equal to 0.7188 at the bottom (highlighted). The bars above 0.72, 0.75, and 0.78 are highlighted. The mean is 0.501, the standard deviation is 0.09, and the proportion is 0.009 which is highlighted. All values are approximate.">
            <a:extLst>
              <a:ext uri="{FF2B5EF4-FFF2-40B4-BE49-F238E27FC236}">
                <a16:creationId xmlns:a16="http://schemas.microsoft.com/office/drawing/2014/main" id="{3218717D-C06A-475B-B5D1-DBFB4AD34E2B}"/>
              </a:ext>
            </a:extLst>
          </p:cNvPr>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tretch>
            <a:fillRect/>
          </a:stretch>
        </p:blipFill>
        <p:spPr bwMode="auto">
          <a:xfrm>
            <a:off x="3155286" y="2831996"/>
            <a:ext cx="5881428" cy="3369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33498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B6B00-DFEA-53C4-F2D7-F7265A5B513D}"/>
              </a:ext>
            </a:extLst>
          </p:cNvPr>
          <p:cNvSpPr>
            <a:spLocks noGrp="1"/>
          </p:cNvSpPr>
          <p:nvPr>
            <p:ph type="title"/>
          </p:nvPr>
        </p:nvSpPr>
        <p:spPr/>
        <p:txBody>
          <a:bodyPr/>
          <a:lstStyle/>
          <a:p>
            <a:r>
              <a:rPr lang="en-US" dirty="0"/>
              <a:t>What is the </a:t>
            </a:r>
            <a:r>
              <a:rPr lang="en-US" i="1" dirty="0"/>
              <a:t>p</a:t>
            </a:r>
            <a:r>
              <a:rPr lang="en-US" dirty="0"/>
              <a:t>-value? What is the z-score?</a:t>
            </a:r>
          </a:p>
        </p:txBody>
      </p:sp>
      <p:sp>
        <p:nvSpPr>
          <p:cNvPr id="3" name="Slide Number Placeholder 2">
            <a:extLst>
              <a:ext uri="{FF2B5EF4-FFF2-40B4-BE49-F238E27FC236}">
                <a16:creationId xmlns:a16="http://schemas.microsoft.com/office/drawing/2014/main" id="{EB36DBC3-DCF8-676A-B6B7-4F146D94F1E8}"/>
              </a:ext>
            </a:extLst>
          </p:cNvPr>
          <p:cNvSpPr>
            <a:spLocks noGrp="1"/>
          </p:cNvSpPr>
          <p:nvPr>
            <p:ph type="sldNum" sz="quarter" idx="10"/>
          </p:nvPr>
        </p:nvSpPr>
        <p:spPr/>
        <p:txBody>
          <a:bodyPr/>
          <a:lstStyle/>
          <a:p>
            <a:fld id="{67B19427-F580-D146-B60E-4CADEE75497F}" type="slidenum">
              <a:rPr lang="en-US" smtClean="0"/>
              <a:pPr/>
              <a:t>10</a:t>
            </a:fld>
            <a:endParaRPr lang="en-US" dirty="0"/>
          </a:p>
        </p:txBody>
      </p:sp>
      <p:sp>
        <p:nvSpPr>
          <p:cNvPr id="4" name="Footer Placeholder 3">
            <a:extLst>
              <a:ext uri="{FF2B5EF4-FFF2-40B4-BE49-F238E27FC236}">
                <a16:creationId xmlns:a16="http://schemas.microsoft.com/office/drawing/2014/main" id="{03E46B6F-04CB-D314-604A-CA876F949248}"/>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7D440C6C-F494-FDC9-7C51-114835925F08}"/>
              </a:ext>
            </a:extLst>
          </p:cNvPr>
          <p:cNvSpPr>
            <a:spLocks noGrp="1"/>
          </p:cNvSpPr>
          <p:nvPr>
            <p:ph sz="quarter" idx="12"/>
          </p:nvPr>
        </p:nvSpPr>
        <p:spPr/>
        <p:txBody>
          <a:bodyPr/>
          <a:lstStyle/>
          <a:p>
            <a:endParaRPr lang="en-US"/>
          </a:p>
        </p:txBody>
      </p:sp>
      <p:pic>
        <p:nvPicPr>
          <p:cNvPr id="6" name="Picture 5">
            <a:extLst>
              <a:ext uri="{FF2B5EF4-FFF2-40B4-BE49-F238E27FC236}">
                <a16:creationId xmlns:a16="http://schemas.microsoft.com/office/drawing/2014/main" id="{AFF978CE-58ED-BE4E-47EE-F67C80C4D569}"/>
              </a:ext>
            </a:extLst>
          </p:cNvPr>
          <p:cNvPicPr>
            <a:picLocks noChangeAspect="1"/>
          </p:cNvPicPr>
          <p:nvPr/>
        </p:nvPicPr>
        <p:blipFill>
          <a:blip r:embed="rId2"/>
          <a:stretch>
            <a:fillRect/>
          </a:stretch>
        </p:blipFill>
        <p:spPr>
          <a:xfrm>
            <a:off x="1817915" y="1407220"/>
            <a:ext cx="8026400" cy="1130300"/>
          </a:xfrm>
          <a:prstGeom prst="rect">
            <a:avLst/>
          </a:prstGeom>
        </p:spPr>
      </p:pic>
      <p:pic>
        <p:nvPicPr>
          <p:cNvPr id="7" name="Picture Placeholder 2" descr="A bar graph describes the probability of successes when 1000 sets of 32 coins tossed. The horizontal axis is labeled Proportion of successes and has markings from 0.12 to 0.81 in varying increments of 0.07 and 0.06. The vertical axis ranges from 0 to 160 in increments of 40. The heights of the bars for each marking are as follows: 0.25, 5; 0.29, 7; 0.31, 25; 0.34, 38; 0.38, 42; 0.41, 60; 0.44, 120; 0.47, 125; 0.50, 135; 0.53, 130; 0.56, 110; 0.59, 70; 0.62, 60; 0.65, 30; 0.69, 28; 0.72, 12; 0.75, 3; and 0.78, 8. There are no bars above 0.12, 0.19, and 0.81. A red vertical line extends from 0.7188 and covers the whole range of the vertical axis and it is marked with an expression p (hat) greater than or equal to 0.7188 at the bottom (highlighted). The bars above 0.72, 0.75, and 0.78 are highlighted. The mean is 0.501, the standard deviation is 0.09, and the proportion is 0.009 which is highlighted. All values are approximate.">
            <a:extLst>
              <a:ext uri="{FF2B5EF4-FFF2-40B4-BE49-F238E27FC236}">
                <a16:creationId xmlns:a16="http://schemas.microsoft.com/office/drawing/2014/main" id="{20ABEF66-3E54-48DD-CFC2-C687C777DA7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155286" y="3351907"/>
            <a:ext cx="5881428" cy="3369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75070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39870-8F5A-3158-86D4-33215797B137}"/>
              </a:ext>
            </a:extLst>
          </p:cNvPr>
          <p:cNvSpPr>
            <a:spLocks noGrp="1"/>
          </p:cNvSpPr>
          <p:nvPr>
            <p:ph type="title"/>
          </p:nvPr>
        </p:nvSpPr>
        <p:spPr/>
        <p:txBody>
          <a:bodyPr/>
          <a:lstStyle/>
          <a:p>
            <a:r>
              <a:rPr lang="en-US" dirty="0"/>
              <a:t>Is it good? – </a:t>
            </a:r>
            <a:r>
              <a:rPr lang="en-US" i="1" dirty="0"/>
              <a:t>p</a:t>
            </a:r>
            <a:r>
              <a:rPr lang="en-US" dirty="0"/>
              <a:t>-value</a:t>
            </a:r>
          </a:p>
        </p:txBody>
      </p:sp>
      <p:sp>
        <p:nvSpPr>
          <p:cNvPr id="3" name="Footer Placeholder 2">
            <a:extLst>
              <a:ext uri="{FF2B5EF4-FFF2-40B4-BE49-F238E27FC236}">
                <a16:creationId xmlns:a16="http://schemas.microsoft.com/office/drawing/2014/main" id="{5985708A-A1E8-37BC-AF2C-A8760DD769F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24D0A21-C627-A6D6-5BB7-4A58830648D9}"/>
              </a:ext>
            </a:extLst>
          </p:cNvPr>
          <p:cNvSpPr>
            <a:spLocks noGrp="1"/>
          </p:cNvSpPr>
          <p:nvPr>
            <p:ph type="sldNum" sz="quarter" idx="12"/>
          </p:nvPr>
        </p:nvSpPr>
        <p:spPr/>
        <p:txBody>
          <a:bodyPr/>
          <a:lstStyle/>
          <a:p>
            <a:fld id="{2497149E-2C4D-4F23-9B0B-AB7C708B8462}" type="slidenum">
              <a:rPr lang="en-US" smtClean="0"/>
              <a:pPr/>
              <a:t>11</a:t>
            </a:fld>
            <a:endParaRPr lang="en-US" dirty="0"/>
          </a:p>
        </p:txBody>
      </p:sp>
      <p:graphicFrame>
        <p:nvGraphicFramePr>
          <p:cNvPr id="5" name="Table Placeholder 8" descr="Table is accessible to screenreaders">
            <a:extLst>
              <a:ext uri="{FF2B5EF4-FFF2-40B4-BE49-F238E27FC236}">
                <a16:creationId xmlns:a16="http://schemas.microsoft.com/office/drawing/2014/main" id="{930F0C57-66FB-55A9-8133-D38372FAECE0}"/>
              </a:ext>
            </a:extLst>
          </p:cNvPr>
          <p:cNvGraphicFramePr>
            <a:graphicFrameLocks/>
          </p:cNvGraphicFramePr>
          <p:nvPr>
            <p:extLst>
              <p:ext uri="{D42A27DB-BD31-4B8C-83A1-F6EECF244321}">
                <p14:modId xmlns:p14="http://schemas.microsoft.com/office/powerpoint/2010/main" val="1988916622"/>
              </p:ext>
            </p:extLst>
          </p:nvPr>
        </p:nvGraphicFramePr>
        <p:xfrm>
          <a:off x="1872307" y="1930400"/>
          <a:ext cx="8044870" cy="2133600"/>
        </p:xfrm>
        <a:graphic>
          <a:graphicData uri="http://schemas.openxmlformats.org/drawingml/2006/table">
            <a:tbl>
              <a:tblPr firstRow="1" bandRow="1">
                <a:tableStyleId>{5C22544A-7EE6-4342-B048-85BDC9FD1C3A}</a:tableStyleId>
              </a:tblPr>
              <a:tblGrid>
                <a:gridCol w="4022435">
                  <a:extLst>
                    <a:ext uri="{9D8B030D-6E8A-4147-A177-3AD203B41FA5}">
                      <a16:colId xmlns:a16="http://schemas.microsoft.com/office/drawing/2014/main" val="3477562137"/>
                    </a:ext>
                  </a:extLst>
                </a:gridCol>
                <a:gridCol w="4022435">
                  <a:extLst>
                    <a:ext uri="{9D8B030D-6E8A-4147-A177-3AD203B41FA5}">
                      <a16:colId xmlns:a16="http://schemas.microsoft.com/office/drawing/2014/main" val="34655447"/>
                    </a:ext>
                  </a:extLst>
                </a:gridCol>
              </a:tblGrid>
              <a:tr h="370840">
                <a:tc>
                  <a:txBody>
                    <a:bodyPr/>
                    <a:lstStyle/>
                    <a:p>
                      <a:pPr marL="0" marR="0" algn="ctr">
                        <a:spcBef>
                          <a:spcPts val="0"/>
                        </a:spcBef>
                        <a:spcAft>
                          <a:spcPts val="0"/>
                        </a:spcAft>
                      </a:pPr>
                      <a:r>
                        <a:rPr lang="en-US" sz="2800" b="1" i="1" dirty="0">
                          <a:solidFill>
                            <a:schemeClr val="bg1"/>
                          </a:solidFill>
                          <a:effectLst/>
                          <a:latin typeface="Times New Roman" panose="02020603050405020304" pitchFamily="18" charset="0"/>
                          <a:ea typeface="Times New Roman"/>
                          <a:cs typeface="Times New Roman" panose="02020603050405020304" pitchFamily="18" charset="0"/>
                        </a:rPr>
                        <a:t>p</a:t>
                      </a:r>
                      <a:r>
                        <a:rPr lang="en-US" sz="2800" b="1" dirty="0">
                          <a:solidFill>
                            <a:schemeClr val="bg1"/>
                          </a:solidFill>
                          <a:effectLst/>
                          <a:latin typeface="Times New Roman" panose="02020603050405020304" pitchFamily="18" charset="0"/>
                          <a:ea typeface="Times New Roman"/>
                          <a:cs typeface="Times New Roman" panose="02020603050405020304" pitchFamily="18" charset="0"/>
                        </a:rPr>
                        <a:t>-value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800" b="1" dirty="0">
                          <a:solidFill>
                            <a:schemeClr val="bg1"/>
                          </a:solidFill>
                          <a:effectLst/>
                          <a:latin typeface="Times New Roman" panose="02020603050405020304" pitchFamily="18" charset="0"/>
                          <a:cs typeface="Times New Roman" panose="02020603050405020304" pitchFamily="18" charset="0"/>
                        </a:rPr>
                        <a:t>Evidence Against Null</a:t>
                      </a:r>
                      <a:endParaRPr lang="en-US" sz="2800" b="1" dirty="0">
                        <a:solidFill>
                          <a:schemeClr val="bg1"/>
                        </a:solidFill>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6387190"/>
                  </a:ext>
                </a:extLst>
              </a:tr>
              <a:tr h="370840">
                <a:tc>
                  <a:txBody>
                    <a:bodyPr/>
                    <a:lstStyle/>
                    <a:p>
                      <a:pPr marL="0" marR="0" algn="ctr">
                        <a:spcBef>
                          <a:spcPts val="0"/>
                        </a:spcBef>
                        <a:spcAft>
                          <a:spcPts val="0"/>
                        </a:spcAft>
                      </a:pPr>
                      <a:r>
                        <a:rPr lang="en-US" sz="2800" dirty="0">
                          <a:effectLst/>
                          <a:latin typeface="Times New Roman" panose="02020603050405020304" pitchFamily="18" charset="0"/>
                          <a:ea typeface="Times New Roman"/>
                          <a:cs typeface="Times New Roman" panose="02020603050405020304" pitchFamily="18" charset="0"/>
                        </a:rPr>
                        <a:t>above 0.10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effectLst/>
                          <a:latin typeface="Times New Roman" panose="02020603050405020304" pitchFamily="18" charset="0"/>
                          <a:cs typeface="Times New Roman" panose="02020603050405020304" pitchFamily="18" charset="0"/>
                        </a:rPr>
                        <a:t>not much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4334622"/>
                  </a:ext>
                </a:extLst>
              </a:tr>
              <a:tr h="370840">
                <a:tc>
                  <a:txBody>
                    <a:bodyPr/>
                    <a:lstStyle/>
                    <a:p>
                      <a:pPr marL="0" marR="0" algn="ctr">
                        <a:spcBef>
                          <a:spcPts val="0"/>
                        </a:spcBef>
                        <a:spcAft>
                          <a:spcPts val="0"/>
                        </a:spcAft>
                      </a:pPr>
                      <a:r>
                        <a:rPr lang="en-US" sz="2800" dirty="0">
                          <a:effectLst/>
                          <a:latin typeface="Times New Roman" panose="02020603050405020304" pitchFamily="18" charset="0"/>
                          <a:ea typeface="Times New Roman"/>
                          <a:cs typeface="Times New Roman" panose="02020603050405020304" pitchFamily="18" charset="0"/>
                        </a:rPr>
                        <a:t>between 0.5 and 0.10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800" dirty="0">
                          <a:effectLst/>
                          <a:latin typeface="Times New Roman" panose="02020603050405020304" pitchFamily="18" charset="0"/>
                          <a:cs typeface="Times New Roman" panose="02020603050405020304" pitchFamily="18" charset="0"/>
                        </a:rPr>
                        <a:t>moderate</a:t>
                      </a:r>
                      <a:endParaRPr lang="en-US" sz="2800" dirty="0">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6190008"/>
                  </a:ext>
                </a:extLst>
              </a:tr>
              <a:tr h="370840">
                <a:tc>
                  <a:txBody>
                    <a:bodyPr/>
                    <a:lstStyle/>
                    <a:p>
                      <a:pPr marL="0" marR="0" algn="ctr">
                        <a:spcBef>
                          <a:spcPts val="0"/>
                        </a:spcBef>
                        <a:spcAft>
                          <a:spcPts val="0"/>
                        </a:spcAft>
                      </a:pPr>
                      <a:r>
                        <a:rPr lang="en-US" sz="2800" b="0" dirty="0">
                          <a:solidFill>
                            <a:schemeClr val="accent2"/>
                          </a:solidFill>
                          <a:effectLst/>
                          <a:latin typeface="Times New Roman" panose="02020603050405020304" pitchFamily="18" charset="0"/>
                          <a:cs typeface="Times New Roman" panose="02020603050405020304" pitchFamily="18" charset="0"/>
                        </a:rPr>
                        <a:t>between 0.01 and 0.05</a:t>
                      </a:r>
                      <a:endParaRPr lang="en-US" sz="2800" b="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800" dirty="0">
                          <a:solidFill>
                            <a:schemeClr val="accent2"/>
                          </a:solidFill>
                          <a:effectLst/>
                          <a:latin typeface="Times New Roman" panose="02020603050405020304" pitchFamily="18" charset="0"/>
                          <a:cs typeface="Times New Roman" panose="02020603050405020304" pitchFamily="18" charset="0"/>
                        </a:rPr>
                        <a:t>strong</a:t>
                      </a:r>
                      <a:endParaRPr lang="en-US" sz="280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433009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chemeClr val="accent2"/>
                          </a:solidFill>
                          <a:effectLst/>
                          <a:latin typeface="Times New Roman" panose="02020603050405020304" pitchFamily="18" charset="0"/>
                          <a:ea typeface="Times New Roman"/>
                          <a:cs typeface="Times New Roman" panose="02020603050405020304" pitchFamily="18" charset="0"/>
                        </a:rPr>
                        <a:t>below 0.01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chemeClr val="accent2"/>
                          </a:solidFill>
                          <a:effectLst/>
                          <a:latin typeface="Times New Roman" panose="02020603050405020304" pitchFamily="18" charset="0"/>
                          <a:cs typeface="Times New Roman" panose="02020603050405020304" pitchFamily="18" charset="0"/>
                        </a:rPr>
                        <a:t>very strong</a:t>
                      </a:r>
                      <a:endParaRPr lang="en-US" sz="280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1992051"/>
                  </a:ext>
                </a:extLst>
              </a:tr>
            </a:tbl>
          </a:graphicData>
        </a:graphic>
      </p:graphicFrame>
    </p:spTree>
    <p:extLst>
      <p:ext uri="{BB962C8B-B14F-4D97-AF65-F5344CB8AC3E}">
        <p14:creationId xmlns:p14="http://schemas.microsoft.com/office/powerpoint/2010/main" val="1265201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it good? – standardized statistic</a:t>
            </a:r>
            <a:endParaRPr lang="en-US" dirty="0">
              <a:solidFill>
                <a:schemeClr val="accent1"/>
              </a:solidFill>
            </a:endParaRPr>
          </a:p>
        </p:txBody>
      </p:sp>
      <p:sp>
        <p:nvSpPr>
          <p:cNvPr id="3" name="TextBox 2"/>
          <p:cNvSpPr txBox="1"/>
          <p:nvPr/>
        </p:nvSpPr>
        <p:spPr>
          <a:xfrm>
            <a:off x="2209800" y="4648200"/>
            <a:ext cx="266420" cy="369332"/>
          </a:xfrm>
          <a:prstGeom prst="rect">
            <a:avLst/>
          </a:prstGeom>
          <a:noFill/>
        </p:spPr>
        <p:txBody>
          <a:bodyPr wrap="none" rtlCol="0">
            <a:spAutoFit/>
          </a:bodyPr>
          <a:lstStyle/>
          <a:p>
            <a:pPr eaLnBrk="0" fontAlgn="base" hangingPunct="0">
              <a:spcBef>
                <a:spcPct val="0"/>
              </a:spcBef>
              <a:spcAft>
                <a:spcPct val="0"/>
              </a:spcAft>
              <a:defRPr/>
            </a:pPr>
            <a:r>
              <a:rPr lang="en-US" dirty="0">
                <a:solidFill>
                  <a:prstClr val="black"/>
                </a:solidFill>
                <a:latin typeface="Verdana" pitchFamily="34" charset="0"/>
              </a:rPr>
              <a:t> </a:t>
            </a:r>
          </a:p>
        </p:txBody>
      </p:sp>
      <p:cxnSp>
        <p:nvCxnSpPr>
          <p:cNvPr id="6" name="Straight Connector 5">
            <a:extLst>
              <a:ext uri="{FF2B5EF4-FFF2-40B4-BE49-F238E27FC236}">
                <a16:creationId xmlns:a16="http://schemas.microsoft.com/office/drawing/2014/main" id="{897AE0B2-0680-6746-B274-E20DBAEE94A1}"/>
              </a:ext>
            </a:extLst>
          </p:cNvPr>
          <p:cNvCxnSpPr/>
          <p:nvPr/>
        </p:nvCxnSpPr>
        <p:spPr>
          <a:xfrm>
            <a:off x="2590800" y="5181600"/>
            <a:ext cx="64008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199D9C6-643F-4348-A922-3480EFCCCB92}"/>
              </a:ext>
            </a:extLst>
          </p:cNvPr>
          <p:cNvCxnSpPr/>
          <p:nvPr/>
        </p:nvCxnSpPr>
        <p:spPr>
          <a:xfrm>
            <a:off x="5715000" y="5017532"/>
            <a:ext cx="0" cy="31646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E16047-9A26-D743-89D8-DB68D7057BA0}"/>
              </a:ext>
            </a:extLst>
          </p:cNvPr>
          <p:cNvCxnSpPr/>
          <p:nvPr/>
        </p:nvCxnSpPr>
        <p:spPr>
          <a:xfrm>
            <a:off x="6553200" y="5017532"/>
            <a:ext cx="0" cy="3164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E19AFFB-DAAA-E94E-862B-3DCC5D875F23}"/>
              </a:ext>
            </a:extLst>
          </p:cNvPr>
          <p:cNvCxnSpPr/>
          <p:nvPr/>
        </p:nvCxnSpPr>
        <p:spPr>
          <a:xfrm>
            <a:off x="6553200" y="4953000"/>
            <a:ext cx="0" cy="3164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6FD7995-A848-3143-9261-7C560A1E19F1}"/>
              </a:ext>
            </a:extLst>
          </p:cNvPr>
          <p:cNvCxnSpPr/>
          <p:nvPr/>
        </p:nvCxnSpPr>
        <p:spPr>
          <a:xfrm>
            <a:off x="7391400" y="4953000"/>
            <a:ext cx="0" cy="3164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30F9DBD-01BF-394A-9E62-72AC15D56E95}"/>
              </a:ext>
            </a:extLst>
          </p:cNvPr>
          <p:cNvCxnSpPr/>
          <p:nvPr/>
        </p:nvCxnSpPr>
        <p:spPr>
          <a:xfrm>
            <a:off x="7391400" y="5017532"/>
            <a:ext cx="0" cy="3164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244E53-84E5-494C-B236-D53BA25CE61E}"/>
              </a:ext>
            </a:extLst>
          </p:cNvPr>
          <p:cNvCxnSpPr/>
          <p:nvPr/>
        </p:nvCxnSpPr>
        <p:spPr>
          <a:xfrm>
            <a:off x="8229600" y="5017532"/>
            <a:ext cx="0" cy="3164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11F0A86-7550-B347-BFCD-12E2CDA0B000}"/>
              </a:ext>
            </a:extLst>
          </p:cNvPr>
          <p:cNvCxnSpPr/>
          <p:nvPr/>
        </p:nvCxnSpPr>
        <p:spPr>
          <a:xfrm>
            <a:off x="4876800" y="5017532"/>
            <a:ext cx="0" cy="3164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B0204A-E4C2-494F-A506-D57B2736E407}"/>
              </a:ext>
            </a:extLst>
          </p:cNvPr>
          <p:cNvCxnSpPr/>
          <p:nvPr/>
        </p:nvCxnSpPr>
        <p:spPr>
          <a:xfrm>
            <a:off x="5715000" y="5017532"/>
            <a:ext cx="0" cy="3164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7623F8C-6B7D-204A-8C0A-6A13A02230E5}"/>
              </a:ext>
            </a:extLst>
          </p:cNvPr>
          <p:cNvCxnSpPr/>
          <p:nvPr/>
        </p:nvCxnSpPr>
        <p:spPr>
          <a:xfrm>
            <a:off x="4038600" y="5017532"/>
            <a:ext cx="0" cy="3164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E30FEEB-4AAD-AE40-8FB2-7103E2083996}"/>
              </a:ext>
            </a:extLst>
          </p:cNvPr>
          <p:cNvCxnSpPr/>
          <p:nvPr/>
        </p:nvCxnSpPr>
        <p:spPr>
          <a:xfrm>
            <a:off x="4876800" y="5017532"/>
            <a:ext cx="0" cy="3164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18D679-FF77-AE49-9371-E3F39BA142E9}"/>
              </a:ext>
            </a:extLst>
          </p:cNvPr>
          <p:cNvCxnSpPr/>
          <p:nvPr/>
        </p:nvCxnSpPr>
        <p:spPr>
          <a:xfrm>
            <a:off x="3200400" y="5017532"/>
            <a:ext cx="0" cy="3164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1F61CE0-9553-D045-B4EF-A8F53207EB01}"/>
              </a:ext>
            </a:extLst>
          </p:cNvPr>
          <p:cNvCxnSpPr/>
          <p:nvPr/>
        </p:nvCxnSpPr>
        <p:spPr>
          <a:xfrm>
            <a:off x="4038600" y="5017532"/>
            <a:ext cx="0" cy="31646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8F29B96-89D9-834A-973D-BB0941366716}"/>
              </a:ext>
            </a:extLst>
          </p:cNvPr>
          <p:cNvSpPr txBox="1"/>
          <p:nvPr/>
        </p:nvSpPr>
        <p:spPr>
          <a:xfrm>
            <a:off x="5562600" y="5334000"/>
            <a:ext cx="332142" cy="369332"/>
          </a:xfrm>
          <a:prstGeom prst="rect">
            <a:avLst/>
          </a:prstGeom>
          <a:noFill/>
        </p:spPr>
        <p:txBody>
          <a:bodyPr wrap="none" rtlCol="0">
            <a:spAutoFit/>
          </a:bodyPr>
          <a:lstStyle/>
          <a:p>
            <a:pPr eaLnBrk="0" fontAlgn="base" hangingPunct="0">
              <a:spcBef>
                <a:spcPct val="0"/>
              </a:spcBef>
              <a:spcAft>
                <a:spcPct val="0"/>
              </a:spcAft>
              <a:defRPr/>
            </a:pPr>
            <a:r>
              <a:rPr lang="en-US" dirty="0">
                <a:latin typeface="Verdana" pitchFamily="34" charset="0"/>
              </a:rPr>
              <a:t>0</a:t>
            </a:r>
          </a:p>
        </p:txBody>
      </p:sp>
      <p:sp>
        <p:nvSpPr>
          <p:cNvPr id="28" name="TextBox 27">
            <a:extLst>
              <a:ext uri="{FF2B5EF4-FFF2-40B4-BE49-F238E27FC236}">
                <a16:creationId xmlns:a16="http://schemas.microsoft.com/office/drawing/2014/main" id="{29074CB8-E3D2-544E-B5FC-2859F59B82EE}"/>
              </a:ext>
            </a:extLst>
          </p:cNvPr>
          <p:cNvSpPr txBox="1"/>
          <p:nvPr/>
        </p:nvSpPr>
        <p:spPr>
          <a:xfrm>
            <a:off x="6386688" y="5334000"/>
            <a:ext cx="332142" cy="369332"/>
          </a:xfrm>
          <a:prstGeom prst="rect">
            <a:avLst/>
          </a:prstGeom>
          <a:noFill/>
        </p:spPr>
        <p:txBody>
          <a:bodyPr wrap="none" rtlCol="0">
            <a:spAutoFit/>
          </a:bodyPr>
          <a:lstStyle/>
          <a:p>
            <a:pPr eaLnBrk="0" fontAlgn="base" hangingPunct="0">
              <a:spcBef>
                <a:spcPct val="0"/>
              </a:spcBef>
              <a:spcAft>
                <a:spcPct val="0"/>
              </a:spcAft>
              <a:defRPr/>
            </a:pPr>
            <a:r>
              <a:rPr lang="en-US" dirty="0">
                <a:latin typeface="Verdana" pitchFamily="34" charset="0"/>
              </a:rPr>
              <a:t>1</a:t>
            </a:r>
          </a:p>
        </p:txBody>
      </p:sp>
      <p:sp>
        <p:nvSpPr>
          <p:cNvPr id="29" name="TextBox 28">
            <a:extLst>
              <a:ext uri="{FF2B5EF4-FFF2-40B4-BE49-F238E27FC236}">
                <a16:creationId xmlns:a16="http://schemas.microsoft.com/office/drawing/2014/main" id="{6E59D39B-CEE7-DC48-A6D7-B71969D60247}"/>
              </a:ext>
            </a:extLst>
          </p:cNvPr>
          <p:cNvSpPr txBox="1"/>
          <p:nvPr/>
        </p:nvSpPr>
        <p:spPr>
          <a:xfrm>
            <a:off x="7252670" y="5334000"/>
            <a:ext cx="332142" cy="369332"/>
          </a:xfrm>
          <a:prstGeom prst="rect">
            <a:avLst/>
          </a:prstGeom>
          <a:noFill/>
        </p:spPr>
        <p:txBody>
          <a:bodyPr wrap="none" rtlCol="0">
            <a:spAutoFit/>
          </a:bodyPr>
          <a:lstStyle/>
          <a:p>
            <a:pPr eaLnBrk="0" fontAlgn="base" hangingPunct="0">
              <a:spcBef>
                <a:spcPct val="0"/>
              </a:spcBef>
              <a:spcAft>
                <a:spcPct val="0"/>
              </a:spcAft>
              <a:defRPr/>
            </a:pPr>
            <a:r>
              <a:rPr lang="en-US" dirty="0">
                <a:latin typeface="Verdana" pitchFamily="34" charset="0"/>
              </a:rPr>
              <a:t>2</a:t>
            </a:r>
          </a:p>
        </p:txBody>
      </p:sp>
      <p:sp>
        <p:nvSpPr>
          <p:cNvPr id="30" name="TextBox 29">
            <a:extLst>
              <a:ext uri="{FF2B5EF4-FFF2-40B4-BE49-F238E27FC236}">
                <a16:creationId xmlns:a16="http://schemas.microsoft.com/office/drawing/2014/main" id="{D6EC6172-22F5-DF4C-A0BE-CCAB80F94DF1}"/>
              </a:ext>
            </a:extLst>
          </p:cNvPr>
          <p:cNvSpPr txBox="1"/>
          <p:nvPr/>
        </p:nvSpPr>
        <p:spPr>
          <a:xfrm>
            <a:off x="8090870" y="5334000"/>
            <a:ext cx="332142" cy="369332"/>
          </a:xfrm>
          <a:prstGeom prst="rect">
            <a:avLst/>
          </a:prstGeom>
          <a:noFill/>
        </p:spPr>
        <p:txBody>
          <a:bodyPr wrap="none" rtlCol="0">
            <a:spAutoFit/>
          </a:bodyPr>
          <a:lstStyle/>
          <a:p>
            <a:pPr eaLnBrk="0" fontAlgn="base" hangingPunct="0">
              <a:spcBef>
                <a:spcPct val="0"/>
              </a:spcBef>
              <a:spcAft>
                <a:spcPct val="0"/>
              </a:spcAft>
              <a:defRPr/>
            </a:pPr>
            <a:r>
              <a:rPr lang="en-US" dirty="0">
                <a:latin typeface="Verdana" pitchFamily="34" charset="0"/>
              </a:rPr>
              <a:t>3</a:t>
            </a:r>
          </a:p>
        </p:txBody>
      </p:sp>
      <p:sp>
        <p:nvSpPr>
          <p:cNvPr id="31" name="TextBox 30">
            <a:extLst>
              <a:ext uri="{FF2B5EF4-FFF2-40B4-BE49-F238E27FC236}">
                <a16:creationId xmlns:a16="http://schemas.microsoft.com/office/drawing/2014/main" id="{AFB7FC7C-44D3-6649-BA4E-39E3BB541DA1}"/>
              </a:ext>
            </a:extLst>
          </p:cNvPr>
          <p:cNvSpPr txBox="1"/>
          <p:nvPr/>
        </p:nvSpPr>
        <p:spPr>
          <a:xfrm>
            <a:off x="4641173" y="5334000"/>
            <a:ext cx="436338" cy="369332"/>
          </a:xfrm>
          <a:prstGeom prst="rect">
            <a:avLst/>
          </a:prstGeom>
          <a:noFill/>
        </p:spPr>
        <p:txBody>
          <a:bodyPr wrap="none" rtlCol="0">
            <a:spAutoFit/>
          </a:bodyPr>
          <a:lstStyle/>
          <a:p>
            <a:pPr eaLnBrk="0" fontAlgn="base" hangingPunct="0">
              <a:spcBef>
                <a:spcPct val="0"/>
              </a:spcBef>
              <a:spcAft>
                <a:spcPct val="0"/>
              </a:spcAft>
              <a:defRPr/>
            </a:pPr>
            <a:r>
              <a:rPr lang="en-US" dirty="0">
                <a:latin typeface="Verdana" pitchFamily="34" charset="0"/>
              </a:rPr>
              <a:t>-1</a:t>
            </a:r>
          </a:p>
        </p:txBody>
      </p:sp>
      <p:sp>
        <p:nvSpPr>
          <p:cNvPr id="32" name="TextBox 31">
            <a:extLst>
              <a:ext uri="{FF2B5EF4-FFF2-40B4-BE49-F238E27FC236}">
                <a16:creationId xmlns:a16="http://schemas.microsoft.com/office/drawing/2014/main" id="{38E05FAD-83ED-9448-89D4-2C2B554BE94C}"/>
              </a:ext>
            </a:extLst>
          </p:cNvPr>
          <p:cNvSpPr txBox="1"/>
          <p:nvPr/>
        </p:nvSpPr>
        <p:spPr>
          <a:xfrm>
            <a:off x="3820431" y="5345669"/>
            <a:ext cx="436338" cy="369332"/>
          </a:xfrm>
          <a:prstGeom prst="rect">
            <a:avLst/>
          </a:prstGeom>
          <a:noFill/>
        </p:spPr>
        <p:txBody>
          <a:bodyPr wrap="none" rtlCol="0">
            <a:spAutoFit/>
          </a:bodyPr>
          <a:lstStyle/>
          <a:p>
            <a:pPr eaLnBrk="0" fontAlgn="base" hangingPunct="0">
              <a:spcBef>
                <a:spcPct val="0"/>
              </a:spcBef>
              <a:spcAft>
                <a:spcPct val="0"/>
              </a:spcAft>
              <a:defRPr/>
            </a:pPr>
            <a:r>
              <a:rPr lang="en-US" dirty="0">
                <a:latin typeface="Verdana" pitchFamily="34" charset="0"/>
              </a:rPr>
              <a:t>-2</a:t>
            </a:r>
          </a:p>
        </p:txBody>
      </p:sp>
      <p:sp>
        <p:nvSpPr>
          <p:cNvPr id="33" name="TextBox 32">
            <a:extLst>
              <a:ext uri="{FF2B5EF4-FFF2-40B4-BE49-F238E27FC236}">
                <a16:creationId xmlns:a16="http://schemas.microsoft.com/office/drawing/2014/main" id="{E595D71C-0B6A-D747-BB6E-999C9E42D46D}"/>
              </a:ext>
            </a:extLst>
          </p:cNvPr>
          <p:cNvSpPr txBox="1"/>
          <p:nvPr/>
        </p:nvSpPr>
        <p:spPr>
          <a:xfrm>
            <a:off x="2930575" y="5334000"/>
            <a:ext cx="436338" cy="369332"/>
          </a:xfrm>
          <a:prstGeom prst="rect">
            <a:avLst/>
          </a:prstGeom>
          <a:noFill/>
        </p:spPr>
        <p:txBody>
          <a:bodyPr wrap="none" rtlCol="0">
            <a:spAutoFit/>
          </a:bodyPr>
          <a:lstStyle/>
          <a:p>
            <a:pPr eaLnBrk="0" fontAlgn="base" hangingPunct="0">
              <a:spcBef>
                <a:spcPct val="0"/>
              </a:spcBef>
              <a:spcAft>
                <a:spcPct val="0"/>
              </a:spcAft>
              <a:defRPr/>
            </a:pPr>
            <a:r>
              <a:rPr lang="en-US" dirty="0">
                <a:latin typeface="Verdana" pitchFamily="34" charset="0"/>
              </a:rPr>
              <a:t>-3</a:t>
            </a:r>
          </a:p>
        </p:txBody>
      </p:sp>
      <p:sp>
        <p:nvSpPr>
          <p:cNvPr id="34" name="TextBox 33">
            <a:extLst>
              <a:ext uri="{FF2B5EF4-FFF2-40B4-BE49-F238E27FC236}">
                <a16:creationId xmlns:a16="http://schemas.microsoft.com/office/drawing/2014/main" id="{18886EAA-1627-8E4A-A4DF-5A3FBCB2F7EE}"/>
              </a:ext>
            </a:extLst>
          </p:cNvPr>
          <p:cNvSpPr txBox="1"/>
          <p:nvPr/>
        </p:nvSpPr>
        <p:spPr>
          <a:xfrm>
            <a:off x="7359136" y="4611470"/>
            <a:ext cx="923651" cy="646331"/>
          </a:xfrm>
          <a:prstGeom prst="rect">
            <a:avLst/>
          </a:prstGeom>
          <a:noFill/>
        </p:spPr>
        <p:txBody>
          <a:bodyPr wrap="none" rtlCol="0">
            <a:spAutoFit/>
          </a:bodyPr>
          <a:lstStyle/>
          <a:p>
            <a:pPr eaLnBrk="0" fontAlgn="base" hangingPunct="0">
              <a:spcBef>
                <a:spcPct val="0"/>
              </a:spcBef>
              <a:spcAft>
                <a:spcPct val="0"/>
              </a:spcAft>
              <a:defRPr/>
            </a:pPr>
            <a:r>
              <a:rPr lang="en-US" dirty="0">
                <a:solidFill>
                  <a:srgbClr val="FF0000"/>
                </a:solidFill>
                <a:latin typeface="Verdana" pitchFamily="34" charset="0"/>
              </a:rPr>
              <a:t>strong</a:t>
            </a:r>
            <a:endParaRPr lang="en-US" dirty="0">
              <a:solidFill>
                <a:srgbClr val="FF0000"/>
              </a:solidFill>
              <a:latin typeface="Times New Roman"/>
              <a:ea typeface="Times New Roman"/>
            </a:endParaRPr>
          </a:p>
          <a:p>
            <a:pPr eaLnBrk="0" fontAlgn="base" hangingPunct="0">
              <a:spcBef>
                <a:spcPct val="0"/>
              </a:spcBef>
              <a:spcAft>
                <a:spcPct val="0"/>
              </a:spcAft>
              <a:defRPr/>
            </a:pPr>
            <a:endParaRPr lang="en-US" dirty="0">
              <a:solidFill>
                <a:prstClr val="black"/>
              </a:solidFill>
              <a:latin typeface="Verdana" pitchFamily="34" charset="0"/>
            </a:endParaRPr>
          </a:p>
        </p:txBody>
      </p:sp>
      <p:sp>
        <p:nvSpPr>
          <p:cNvPr id="37" name="TextBox 36">
            <a:extLst>
              <a:ext uri="{FF2B5EF4-FFF2-40B4-BE49-F238E27FC236}">
                <a16:creationId xmlns:a16="http://schemas.microsoft.com/office/drawing/2014/main" id="{B00E0F13-9A59-C04E-AA53-14972518167E}"/>
              </a:ext>
            </a:extLst>
          </p:cNvPr>
          <p:cNvSpPr txBox="1"/>
          <p:nvPr/>
        </p:nvSpPr>
        <p:spPr>
          <a:xfrm>
            <a:off x="3166329" y="4605636"/>
            <a:ext cx="923651" cy="646331"/>
          </a:xfrm>
          <a:prstGeom prst="rect">
            <a:avLst/>
          </a:prstGeom>
          <a:noFill/>
        </p:spPr>
        <p:txBody>
          <a:bodyPr wrap="none" rtlCol="0">
            <a:spAutoFit/>
          </a:bodyPr>
          <a:lstStyle/>
          <a:p>
            <a:pPr eaLnBrk="0" fontAlgn="base" hangingPunct="0">
              <a:spcBef>
                <a:spcPct val="0"/>
              </a:spcBef>
              <a:spcAft>
                <a:spcPct val="0"/>
              </a:spcAft>
              <a:defRPr/>
            </a:pPr>
            <a:r>
              <a:rPr lang="en-US" dirty="0">
                <a:solidFill>
                  <a:srgbClr val="FF0000"/>
                </a:solidFill>
                <a:latin typeface="Verdana" pitchFamily="34" charset="0"/>
              </a:rPr>
              <a:t>strong</a:t>
            </a:r>
            <a:endParaRPr lang="en-US" dirty="0">
              <a:solidFill>
                <a:srgbClr val="FF0000"/>
              </a:solidFill>
              <a:latin typeface="Times New Roman"/>
              <a:ea typeface="Times New Roman"/>
            </a:endParaRPr>
          </a:p>
          <a:p>
            <a:pPr eaLnBrk="0" fontAlgn="base" hangingPunct="0">
              <a:spcBef>
                <a:spcPct val="0"/>
              </a:spcBef>
              <a:spcAft>
                <a:spcPct val="0"/>
              </a:spcAft>
              <a:defRPr/>
            </a:pPr>
            <a:endParaRPr lang="en-US" dirty="0">
              <a:solidFill>
                <a:prstClr val="black"/>
              </a:solidFill>
              <a:latin typeface="Verdana" pitchFamily="34" charset="0"/>
            </a:endParaRPr>
          </a:p>
        </p:txBody>
      </p:sp>
      <p:sp>
        <p:nvSpPr>
          <p:cNvPr id="38" name="TextBox 37">
            <a:extLst>
              <a:ext uri="{FF2B5EF4-FFF2-40B4-BE49-F238E27FC236}">
                <a16:creationId xmlns:a16="http://schemas.microsoft.com/office/drawing/2014/main" id="{620ADEC0-9FF5-F945-9BC5-48749D029A49}"/>
              </a:ext>
            </a:extLst>
          </p:cNvPr>
          <p:cNvSpPr txBox="1"/>
          <p:nvPr/>
        </p:nvSpPr>
        <p:spPr>
          <a:xfrm>
            <a:off x="8294709" y="4467134"/>
            <a:ext cx="923651" cy="923330"/>
          </a:xfrm>
          <a:prstGeom prst="rect">
            <a:avLst/>
          </a:prstGeom>
          <a:noFill/>
        </p:spPr>
        <p:txBody>
          <a:bodyPr wrap="none" rtlCol="0">
            <a:spAutoFit/>
          </a:bodyPr>
          <a:lstStyle/>
          <a:p>
            <a:pPr algn="ctr" eaLnBrk="0" fontAlgn="base" hangingPunct="0">
              <a:spcBef>
                <a:spcPct val="0"/>
              </a:spcBef>
              <a:spcAft>
                <a:spcPct val="0"/>
              </a:spcAft>
              <a:defRPr/>
            </a:pPr>
            <a:r>
              <a:rPr lang="en-US" dirty="0">
                <a:solidFill>
                  <a:srgbClr val="FF0000"/>
                </a:solidFill>
                <a:latin typeface="Verdana" pitchFamily="34" charset="0"/>
              </a:rPr>
              <a:t>very </a:t>
            </a:r>
          </a:p>
          <a:p>
            <a:pPr algn="ctr" eaLnBrk="0" fontAlgn="base" hangingPunct="0">
              <a:spcBef>
                <a:spcPct val="0"/>
              </a:spcBef>
              <a:spcAft>
                <a:spcPct val="0"/>
              </a:spcAft>
              <a:defRPr/>
            </a:pPr>
            <a:r>
              <a:rPr lang="en-US" dirty="0">
                <a:solidFill>
                  <a:srgbClr val="FF0000"/>
                </a:solidFill>
                <a:latin typeface="Verdana" pitchFamily="34" charset="0"/>
              </a:rPr>
              <a:t>strong</a:t>
            </a:r>
            <a:endParaRPr lang="en-US" dirty="0">
              <a:solidFill>
                <a:srgbClr val="FF0000"/>
              </a:solidFill>
              <a:latin typeface="Times New Roman"/>
              <a:ea typeface="Times New Roman"/>
            </a:endParaRPr>
          </a:p>
          <a:p>
            <a:pPr algn="ctr" eaLnBrk="0" fontAlgn="base" hangingPunct="0">
              <a:spcBef>
                <a:spcPct val="0"/>
              </a:spcBef>
              <a:spcAft>
                <a:spcPct val="0"/>
              </a:spcAft>
              <a:defRPr/>
            </a:pPr>
            <a:endParaRPr lang="en-US" dirty="0">
              <a:solidFill>
                <a:prstClr val="black"/>
              </a:solidFill>
              <a:latin typeface="Verdana" pitchFamily="34" charset="0"/>
            </a:endParaRPr>
          </a:p>
        </p:txBody>
      </p:sp>
      <p:sp>
        <p:nvSpPr>
          <p:cNvPr id="39" name="TextBox 38">
            <a:extLst>
              <a:ext uri="{FF2B5EF4-FFF2-40B4-BE49-F238E27FC236}">
                <a16:creationId xmlns:a16="http://schemas.microsoft.com/office/drawing/2014/main" id="{E1E540D7-456B-A144-A9C9-4F7665DC9507}"/>
              </a:ext>
            </a:extLst>
          </p:cNvPr>
          <p:cNvSpPr txBox="1"/>
          <p:nvPr/>
        </p:nvSpPr>
        <p:spPr>
          <a:xfrm>
            <a:off x="2173640" y="4467134"/>
            <a:ext cx="923651" cy="923330"/>
          </a:xfrm>
          <a:prstGeom prst="rect">
            <a:avLst/>
          </a:prstGeom>
          <a:noFill/>
        </p:spPr>
        <p:txBody>
          <a:bodyPr wrap="none" rtlCol="0">
            <a:spAutoFit/>
          </a:bodyPr>
          <a:lstStyle/>
          <a:p>
            <a:pPr algn="ctr" eaLnBrk="0" fontAlgn="base" hangingPunct="0">
              <a:spcBef>
                <a:spcPct val="0"/>
              </a:spcBef>
              <a:spcAft>
                <a:spcPct val="0"/>
              </a:spcAft>
              <a:defRPr/>
            </a:pPr>
            <a:r>
              <a:rPr lang="en-US" dirty="0">
                <a:solidFill>
                  <a:srgbClr val="FF0000"/>
                </a:solidFill>
                <a:latin typeface="Verdana" pitchFamily="34" charset="0"/>
              </a:rPr>
              <a:t>very </a:t>
            </a:r>
          </a:p>
          <a:p>
            <a:pPr algn="ctr" eaLnBrk="0" fontAlgn="base" hangingPunct="0">
              <a:spcBef>
                <a:spcPct val="0"/>
              </a:spcBef>
              <a:spcAft>
                <a:spcPct val="0"/>
              </a:spcAft>
              <a:defRPr/>
            </a:pPr>
            <a:r>
              <a:rPr lang="en-US" dirty="0">
                <a:solidFill>
                  <a:srgbClr val="FF0000"/>
                </a:solidFill>
                <a:latin typeface="Verdana" pitchFamily="34" charset="0"/>
              </a:rPr>
              <a:t>strong</a:t>
            </a:r>
            <a:endParaRPr lang="en-US" dirty="0">
              <a:solidFill>
                <a:srgbClr val="FF0000"/>
              </a:solidFill>
              <a:latin typeface="Times New Roman"/>
              <a:ea typeface="Times New Roman"/>
            </a:endParaRPr>
          </a:p>
          <a:p>
            <a:pPr algn="ctr" eaLnBrk="0" fontAlgn="base" hangingPunct="0">
              <a:spcBef>
                <a:spcPct val="0"/>
              </a:spcBef>
              <a:spcAft>
                <a:spcPct val="0"/>
              </a:spcAft>
              <a:defRPr/>
            </a:pPr>
            <a:endParaRPr lang="en-US" dirty="0">
              <a:solidFill>
                <a:prstClr val="black"/>
              </a:solidFill>
              <a:latin typeface="Verdana" pitchFamily="34" charset="0"/>
            </a:endParaRPr>
          </a:p>
        </p:txBody>
      </p:sp>
      <p:sp>
        <p:nvSpPr>
          <p:cNvPr id="40" name="TextBox 39">
            <a:extLst>
              <a:ext uri="{FF2B5EF4-FFF2-40B4-BE49-F238E27FC236}">
                <a16:creationId xmlns:a16="http://schemas.microsoft.com/office/drawing/2014/main" id="{7CF265B3-5240-4747-A8BF-D5E7D5A92BCE}"/>
              </a:ext>
            </a:extLst>
          </p:cNvPr>
          <p:cNvSpPr txBox="1"/>
          <p:nvPr/>
        </p:nvSpPr>
        <p:spPr>
          <a:xfrm>
            <a:off x="4857688" y="4583668"/>
            <a:ext cx="785793" cy="369332"/>
          </a:xfrm>
          <a:prstGeom prst="rect">
            <a:avLst/>
          </a:prstGeom>
          <a:noFill/>
        </p:spPr>
        <p:txBody>
          <a:bodyPr wrap="none" rtlCol="0">
            <a:spAutoFit/>
          </a:bodyPr>
          <a:lstStyle/>
          <a:p>
            <a:pPr eaLnBrk="0" fontAlgn="base" hangingPunct="0">
              <a:spcBef>
                <a:spcPct val="0"/>
              </a:spcBef>
              <a:spcAft>
                <a:spcPct val="0"/>
              </a:spcAft>
              <a:defRPr/>
            </a:pPr>
            <a:r>
              <a:rPr lang="en-US" dirty="0">
                <a:latin typeface="Verdana" pitchFamily="34" charset="0"/>
              </a:rPr>
              <a:t>weak</a:t>
            </a:r>
          </a:p>
        </p:txBody>
      </p:sp>
      <p:sp>
        <p:nvSpPr>
          <p:cNvPr id="41" name="TextBox 40">
            <a:extLst>
              <a:ext uri="{FF2B5EF4-FFF2-40B4-BE49-F238E27FC236}">
                <a16:creationId xmlns:a16="http://schemas.microsoft.com/office/drawing/2014/main" id="{C88DD629-0A76-904D-B5F7-21F33EFBFEF9}"/>
              </a:ext>
            </a:extLst>
          </p:cNvPr>
          <p:cNvSpPr txBox="1"/>
          <p:nvPr/>
        </p:nvSpPr>
        <p:spPr>
          <a:xfrm>
            <a:off x="5728672" y="4583668"/>
            <a:ext cx="785793" cy="369332"/>
          </a:xfrm>
          <a:prstGeom prst="rect">
            <a:avLst/>
          </a:prstGeom>
          <a:noFill/>
        </p:spPr>
        <p:txBody>
          <a:bodyPr wrap="none" rtlCol="0">
            <a:spAutoFit/>
          </a:bodyPr>
          <a:lstStyle/>
          <a:p>
            <a:pPr eaLnBrk="0" fontAlgn="base" hangingPunct="0">
              <a:spcBef>
                <a:spcPct val="0"/>
              </a:spcBef>
              <a:spcAft>
                <a:spcPct val="0"/>
              </a:spcAft>
              <a:defRPr/>
            </a:pPr>
            <a:r>
              <a:rPr lang="en-US" dirty="0">
                <a:latin typeface="Verdana" pitchFamily="34" charset="0"/>
              </a:rPr>
              <a:t>weak</a:t>
            </a:r>
          </a:p>
        </p:txBody>
      </p:sp>
      <p:sp>
        <p:nvSpPr>
          <p:cNvPr id="42" name="TextBox 41">
            <a:extLst>
              <a:ext uri="{FF2B5EF4-FFF2-40B4-BE49-F238E27FC236}">
                <a16:creationId xmlns:a16="http://schemas.microsoft.com/office/drawing/2014/main" id="{810095E8-46F3-904F-9E13-65D2AD102FD2}"/>
              </a:ext>
            </a:extLst>
          </p:cNvPr>
          <p:cNvSpPr txBox="1"/>
          <p:nvPr/>
        </p:nvSpPr>
        <p:spPr>
          <a:xfrm>
            <a:off x="2590472" y="5739684"/>
            <a:ext cx="6608540" cy="369332"/>
          </a:xfrm>
          <a:prstGeom prst="rect">
            <a:avLst/>
          </a:prstGeom>
          <a:noFill/>
        </p:spPr>
        <p:txBody>
          <a:bodyPr wrap="none" rtlCol="0">
            <a:spAutoFit/>
          </a:bodyPr>
          <a:lstStyle/>
          <a:p>
            <a:pPr eaLnBrk="0" fontAlgn="base" hangingPunct="0">
              <a:spcBef>
                <a:spcPct val="0"/>
              </a:spcBef>
              <a:spcAft>
                <a:spcPct val="0"/>
              </a:spcAft>
              <a:defRPr/>
            </a:pPr>
            <a:r>
              <a:rPr lang="en-US" dirty="0">
                <a:latin typeface="Verdana" pitchFamily="34" charset="0"/>
              </a:rPr>
              <a:t>Strength of evidence against H</a:t>
            </a:r>
            <a:r>
              <a:rPr lang="en-US" baseline="-25000" dirty="0">
                <a:latin typeface="Verdana" pitchFamily="34" charset="0"/>
              </a:rPr>
              <a:t>0</a:t>
            </a:r>
            <a:r>
              <a:rPr lang="en-US" dirty="0">
                <a:latin typeface="Verdana" pitchFamily="34" charset="0"/>
              </a:rPr>
              <a:t> for various values of z </a:t>
            </a:r>
          </a:p>
        </p:txBody>
      </p:sp>
      <p:graphicFrame>
        <p:nvGraphicFramePr>
          <p:cNvPr id="4" name="Table Placeholder 8" descr="Table is accessible to screenreaders">
            <a:extLst>
              <a:ext uri="{FF2B5EF4-FFF2-40B4-BE49-F238E27FC236}">
                <a16:creationId xmlns:a16="http://schemas.microsoft.com/office/drawing/2014/main" id="{42E23C86-49E4-184F-A69C-F92F9DA13932}"/>
              </a:ext>
            </a:extLst>
          </p:cNvPr>
          <p:cNvGraphicFramePr>
            <a:graphicFrameLocks/>
          </p:cNvGraphicFramePr>
          <p:nvPr/>
        </p:nvGraphicFramePr>
        <p:xfrm>
          <a:off x="1872307" y="1930400"/>
          <a:ext cx="8044870" cy="2133600"/>
        </p:xfrm>
        <a:graphic>
          <a:graphicData uri="http://schemas.openxmlformats.org/drawingml/2006/table">
            <a:tbl>
              <a:tblPr firstRow="1" bandRow="1">
                <a:tableStyleId>{5C22544A-7EE6-4342-B048-85BDC9FD1C3A}</a:tableStyleId>
              </a:tblPr>
              <a:tblGrid>
                <a:gridCol w="4022435">
                  <a:extLst>
                    <a:ext uri="{9D8B030D-6E8A-4147-A177-3AD203B41FA5}">
                      <a16:colId xmlns:a16="http://schemas.microsoft.com/office/drawing/2014/main" val="3477562137"/>
                    </a:ext>
                  </a:extLst>
                </a:gridCol>
                <a:gridCol w="4022435">
                  <a:extLst>
                    <a:ext uri="{9D8B030D-6E8A-4147-A177-3AD203B41FA5}">
                      <a16:colId xmlns:a16="http://schemas.microsoft.com/office/drawing/2014/main" val="34655447"/>
                    </a:ext>
                  </a:extLst>
                </a:gridCol>
              </a:tblGrid>
              <a:tr h="370840">
                <a:tc>
                  <a:txBody>
                    <a:bodyPr/>
                    <a:lstStyle/>
                    <a:p>
                      <a:pPr marL="0" marR="0" algn="ctr">
                        <a:spcBef>
                          <a:spcPts val="0"/>
                        </a:spcBef>
                        <a:spcAft>
                          <a:spcPts val="0"/>
                        </a:spcAft>
                      </a:pPr>
                      <a:r>
                        <a:rPr lang="en-US" sz="2800" b="1" dirty="0">
                          <a:solidFill>
                            <a:schemeClr val="bg1"/>
                          </a:solidFill>
                          <a:effectLst/>
                          <a:latin typeface="Times New Roman" panose="02020603050405020304" pitchFamily="18" charset="0"/>
                          <a:cs typeface="Times New Roman" panose="02020603050405020304" pitchFamily="18" charset="0"/>
                        </a:rPr>
                        <a:t>Standardized Statistic</a:t>
                      </a:r>
                      <a:endParaRPr lang="en-US" sz="2800" b="1" dirty="0">
                        <a:solidFill>
                          <a:schemeClr val="bg1"/>
                        </a:solidFill>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800" b="1" dirty="0">
                          <a:solidFill>
                            <a:schemeClr val="bg1"/>
                          </a:solidFill>
                          <a:effectLst/>
                          <a:latin typeface="Times New Roman" panose="02020603050405020304" pitchFamily="18" charset="0"/>
                          <a:cs typeface="Times New Roman" panose="02020603050405020304" pitchFamily="18" charset="0"/>
                        </a:rPr>
                        <a:t>Evidence Against Null</a:t>
                      </a:r>
                      <a:endParaRPr lang="en-US" sz="2800" b="1" dirty="0">
                        <a:solidFill>
                          <a:schemeClr val="bg1"/>
                        </a:solidFill>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6387190"/>
                  </a:ext>
                </a:extLst>
              </a:tr>
              <a:tr h="370840">
                <a:tc>
                  <a:txBody>
                    <a:bodyPr/>
                    <a:lstStyle/>
                    <a:p>
                      <a:pPr marL="0" marR="0" algn="ctr">
                        <a:spcBef>
                          <a:spcPts val="0"/>
                        </a:spcBef>
                        <a:spcAft>
                          <a:spcPts val="0"/>
                        </a:spcAft>
                      </a:pPr>
                      <a:r>
                        <a:rPr lang="en-US" sz="2800" dirty="0">
                          <a:effectLst/>
                          <a:latin typeface="Times New Roman" panose="02020603050405020304" pitchFamily="18" charset="0"/>
                          <a:cs typeface="Times New Roman" panose="02020603050405020304" pitchFamily="18" charset="0"/>
                        </a:rPr>
                        <a:t>between</a:t>
                      </a:r>
                      <a:r>
                        <a:rPr lang="en-US" sz="2800" baseline="0" dirty="0">
                          <a:effectLst/>
                          <a:latin typeface="Times New Roman" panose="02020603050405020304" pitchFamily="18" charset="0"/>
                          <a:cs typeface="Times New Roman" panose="02020603050405020304" pitchFamily="18" charset="0"/>
                        </a:rPr>
                        <a:t> −</a:t>
                      </a:r>
                      <a:r>
                        <a:rPr lang="en-US" sz="2800" dirty="0">
                          <a:effectLst/>
                          <a:latin typeface="Times New Roman" panose="02020603050405020304" pitchFamily="18" charset="0"/>
                          <a:cs typeface="Times New Roman" panose="02020603050405020304" pitchFamily="18" charset="0"/>
                        </a:rPr>
                        <a:t>1.5 and 1.5 </a:t>
                      </a:r>
                      <a:endParaRPr lang="en-US" sz="2800" dirty="0">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effectLst/>
                          <a:latin typeface="Times New Roman" panose="02020603050405020304" pitchFamily="18" charset="0"/>
                          <a:cs typeface="Times New Roman" panose="02020603050405020304" pitchFamily="18" charset="0"/>
                        </a:rPr>
                        <a:t>not much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4334622"/>
                  </a:ext>
                </a:extLst>
              </a:tr>
              <a:tr h="370840">
                <a:tc>
                  <a:txBody>
                    <a:bodyPr/>
                    <a:lstStyle/>
                    <a:p>
                      <a:pPr marL="0" marR="0" algn="ctr">
                        <a:spcBef>
                          <a:spcPts val="0"/>
                        </a:spcBef>
                        <a:spcAft>
                          <a:spcPts val="0"/>
                        </a:spcAft>
                      </a:pPr>
                      <a:r>
                        <a:rPr lang="en-US" sz="2800" dirty="0">
                          <a:effectLst/>
                          <a:latin typeface="Times New Roman" panose="02020603050405020304" pitchFamily="18" charset="0"/>
                          <a:cs typeface="Times New Roman" panose="02020603050405020304" pitchFamily="18" charset="0"/>
                        </a:rPr>
                        <a:t>below −1.5 or above 1.5</a:t>
                      </a:r>
                      <a:endParaRPr lang="en-US" sz="2800" dirty="0">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800" dirty="0">
                          <a:effectLst/>
                          <a:latin typeface="Times New Roman" panose="02020603050405020304" pitchFamily="18" charset="0"/>
                          <a:cs typeface="Times New Roman" panose="02020603050405020304" pitchFamily="18" charset="0"/>
                        </a:rPr>
                        <a:t>moderate</a:t>
                      </a:r>
                      <a:endParaRPr lang="en-US" sz="2800" dirty="0">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6190008"/>
                  </a:ext>
                </a:extLst>
              </a:tr>
              <a:tr h="370840">
                <a:tc>
                  <a:txBody>
                    <a:bodyPr/>
                    <a:lstStyle/>
                    <a:p>
                      <a:pPr marL="0" marR="0" algn="ctr">
                        <a:spcBef>
                          <a:spcPts val="0"/>
                        </a:spcBef>
                        <a:spcAft>
                          <a:spcPts val="0"/>
                        </a:spcAft>
                      </a:pPr>
                      <a:r>
                        <a:rPr lang="en-US" sz="2800" b="0" dirty="0">
                          <a:solidFill>
                            <a:schemeClr val="accent2"/>
                          </a:solidFill>
                          <a:effectLst/>
                          <a:latin typeface="Times New Roman" panose="02020603050405020304" pitchFamily="18" charset="0"/>
                          <a:cs typeface="Times New Roman" panose="02020603050405020304" pitchFamily="18" charset="0"/>
                        </a:rPr>
                        <a:t>below −2 or</a:t>
                      </a:r>
                      <a:r>
                        <a:rPr lang="en-US" sz="2800" b="0" baseline="0" dirty="0">
                          <a:solidFill>
                            <a:schemeClr val="accent2"/>
                          </a:solidFill>
                          <a:effectLst/>
                          <a:latin typeface="Times New Roman" panose="02020603050405020304" pitchFamily="18" charset="0"/>
                          <a:cs typeface="Times New Roman" panose="02020603050405020304" pitchFamily="18" charset="0"/>
                        </a:rPr>
                        <a:t> above 2</a:t>
                      </a:r>
                      <a:endParaRPr lang="en-US" sz="2800" b="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800" dirty="0">
                          <a:solidFill>
                            <a:schemeClr val="accent2"/>
                          </a:solidFill>
                          <a:effectLst/>
                          <a:latin typeface="Times New Roman" panose="02020603050405020304" pitchFamily="18" charset="0"/>
                          <a:cs typeface="Times New Roman" panose="02020603050405020304" pitchFamily="18" charset="0"/>
                        </a:rPr>
                        <a:t>strong</a:t>
                      </a:r>
                      <a:endParaRPr lang="en-US" sz="280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433009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chemeClr val="accent2"/>
                          </a:solidFill>
                          <a:effectLst/>
                          <a:latin typeface="Times New Roman" panose="02020603050405020304" pitchFamily="18" charset="0"/>
                          <a:cs typeface="Times New Roman" panose="02020603050405020304" pitchFamily="18" charset="0"/>
                        </a:rPr>
                        <a:t>below −3 or above</a:t>
                      </a:r>
                      <a:r>
                        <a:rPr lang="en-US" sz="2800" baseline="0" dirty="0">
                          <a:solidFill>
                            <a:schemeClr val="accent2"/>
                          </a:solidFill>
                          <a:effectLst/>
                          <a:latin typeface="Times New Roman" panose="02020603050405020304" pitchFamily="18" charset="0"/>
                          <a:cs typeface="Times New Roman" panose="02020603050405020304" pitchFamily="18" charset="0"/>
                        </a:rPr>
                        <a:t> 3</a:t>
                      </a:r>
                      <a:endParaRPr lang="en-US" sz="280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chemeClr val="accent2"/>
                          </a:solidFill>
                          <a:effectLst/>
                          <a:latin typeface="Times New Roman" panose="02020603050405020304" pitchFamily="18" charset="0"/>
                          <a:cs typeface="Times New Roman" panose="02020603050405020304" pitchFamily="18" charset="0"/>
                        </a:rPr>
                        <a:t>very strong</a:t>
                      </a:r>
                      <a:endParaRPr lang="en-US" sz="280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1992051"/>
                  </a:ext>
                </a:extLst>
              </a:tr>
            </a:tbl>
          </a:graphicData>
        </a:graphic>
      </p:graphicFrame>
    </p:spTree>
    <p:extLst>
      <p:ext uri="{BB962C8B-B14F-4D97-AF65-F5344CB8AC3E}">
        <p14:creationId xmlns:p14="http://schemas.microsoft.com/office/powerpoint/2010/main" val="2591004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BA394-0073-4B2A-8101-EC9A8350DE1B}"/>
              </a:ext>
            </a:extLst>
          </p:cNvPr>
          <p:cNvSpPr>
            <a:spLocks noGrp="1"/>
          </p:cNvSpPr>
          <p:nvPr>
            <p:ph type="title"/>
          </p:nvPr>
        </p:nvSpPr>
        <p:spPr/>
        <p:txBody>
          <a:bodyPr/>
          <a:lstStyle/>
          <a:p>
            <a:r>
              <a:rPr lang="en-US" dirty="0"/>
              <a:t>Example 1.4: Predicting Elections </a:t>
            </a:r>
            <a:r>
              <a:rPr lang="en-US" sz="2000" b="0" dirty="0"/>
              <a:t>(4 of 4)</a:t>
            </a:r>
            <a:endParaRPr lang="en-US" dirty="0"/>
          </a:p>
        </p:txBody>
      </p:sp>
      <p:sp>
        <p:nvSpPr>
          <p:cNvPr id="3" name="Content Placeholder 2">
            <a:extLst>
              <a:ext uri="{FF2B5EF4-FFF2-40B4-BE49-F238E27FC236}">
                <a16:creationId xmlns:a16="http://schemas.microsoft.com/office/drawing/2014/main" id="{A49AFCA7-1391-4AF9-AB9E-5EBA75504B07}"/>
              </a:ext>
            </a:extLst>
          </p:cNvPr>
          <p:cNvSpPr>
            <a:spLocks noGrp="1"/>
          </p:cNvSpPr>
          <p:nvPr>
            <p:ph sz="quarter" idx="12"/>
          </p:nvPr>
        </p:nvSpPr>
        <p:spPr>
          <a:xfrm>
            <a:off x="1828800" y="1911351"/>
            <a:ext cx="8534400" cy="1808149"/>
          </a:xfrm>
        </p:spPr>
        <p:txBody>
          <a:bodyPr/>
          <a:lstStyle/>
          <a:p>
            <a:pPr marL="292608" indent="-292608">
              <a:buClr>
                <a:schemeClr val="accent2"/>
              </a:buClr>
              <a:buFont typeface="Arial" panose="020B0604020202020204" pitchFamily="34" charset="0"/>
              <a:buChar char="•"/>
            </a:pPr>
            <a:r>
              <a:rPr lang="en-US" dirty="0"/>
              <a:t>With a </a:t>
            </a:r>
            <a:r>
              <a:rPr lang="en-US" i="1" dirty="0"/>
              <a:t>p</a:t>
            </a:r>
            <a:r>
              <a:rPr lang="en-US" dirty="0"/>
              <a:t>-value of 0.009 we have strong evidence against the null hypothesis.</a:t>
            </a:r>
          </a:p>
          <a:p>
            <a:pPr marL="292608" indent="-292608">
              <a:buClr>
                <a:schemeClr val="accent2"/>
              </a:buClr>
              <a:buFont typeface="Arial" panose="020B0604020202020204" pitchFamily="34" charset="0"/>
              <a:buChar char="•"/>
            </a:pPr>
            <a:r>
              <a:rPr lang="en-US" dirty="0"/>
              <a:t>When we calculate the standardized statistic, we again show strong evidence against the null.</a:t>
            </a:r>
          </a:p>
        </p:txBody>
      </p:sp>
      <p:graphicFrame>
        <p:nvGraphicFramePr>
          <p:cNvPr id="10" name="Object 9" descr="z equals start frac 0.7188 minus 0.5 over 0.09 end frac equals 2.43 full stop">
            <a:extLst>
              <a:ext uri="{FF2B5EF4-FFF2-40B4-BE49-F238E27FC236}">
                <a16:creationId xmlns:a16="http://schemas.microsoft.com/office/drawing/2014/main" id="{3B892A2C-6DED-4881-B877-C7B696D8459F}"/>
              </a:ext>
            </a:extLst>
          </p:cNvPr>
          <p:cNvGraphicFramePr>
            <a:graphicFrameLocks noChangeAspect="1"/>
          </p:cNvGraphicFramePr>
          <p:nvPr/>
        </p:nvGraphicFramePr>
        <p:xfrm>
          <a:off x="4064348" y="3808475"/>
          <a:ext cx="3094182" cy="762000"/>
        </p:xfrm>
        <a:graphic>
          <a:graphicData uri="http://schemas.openxmlformats.org/presentationml/2006/ole">
            <mc:AlternateContent xmlns:mc="http://schemas.openxmlformats.org/markup-compatibility/2006">
              <mc:Choice xmlns:v="urn:schemas-microsoft-com:vml" Requires="v">
                <p:oleObj name="Equation" r:id="rId2" imgW="3403440" imgH="838080" progId="Equation.DSMT4">
                  <p:embed/>
                </p:oleObj>
              </mc:Choice>
              <mc:Fallback>
                <p:oleObj name="Equation" r:id="rId2" imgW="3403440" imgH="838080" progId="Equation.DSMT4">
                  <p:embed/>
                  <p:pic>
                    <p:nvPicPr>
                      <p:cNvPr id="10" name="Object 9" descr="z equals start frac 0.7188 minus 0.5 over 0.09 end frac equals 2.43 full stop">
                        <a:extLst>
                          <a:ext uri="{FF2B5EF4-FFF2-40B4-BE49-F238E27FC236}">
                            <a16:creationId xmlns:a16="http://schemas.microsoft.com/office/drawing/2014/main" id="{3B892A2C-6DED-4881-B877-C7B696D8459F}"/>
                          </a:ext>
                        </a:extLst>
                      </p:cNvPr>
                      <p:cNvPicPr/>
                      <p:nvPr/>
                    </p:nvPicPr>
                    <p:blipFill>
                      <a:blip r:embed="rId3"/>
                      <a:stretch>
                        <a:fillRect/>
                      </a:stretch>
                    </p:blipFill>
                    <p:spPr>
                      <a:xfrm>
                        <a:off x="4064348" y="3808475"/>
                        <a:ext cx="3094182" cy="762000"/>
                      </a:xfrm>
                      <a:prstGeom prst="rect">
                        <a:avLst/>
                      </a:prstGeom>
                    </p:spPr>
                  </p:pic>
                </p:oleObj>
              </mc:Fallback>
            </mc:AlternateContent>
          </a:graphicData>
        </a:graphic>
      </p:graphicFrame>
    </p:spTree>
    <p:extLst>
      <p:ext uri="{BB962C8B-B14F-4D97-AF65-F5344CB8AC3E}">
        <p14:creationId xmlns:p14="http://schemas.microsoft.com/office/powerpoint/2010/main" val="3334371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C47290F-5121-40AC-9E73-31AAE391E6FD}"/>
              </a:ext>
            </a:extLst>
          </p:cNvPr>
          <p:cNvSpPr>
            <a:spLocks noGrp="1"/>
          </p:cNvSpPr>
          <p:nvPr>
            <p:ph type="title"/>
          </p:nvPr>
        </p:nvSpPr>
        <p:spPr>
          <a:xfrm>
            <a:off x="1828800" y="620886"/>
            <a:ext cx="8534400" cy="1138425"/>
          </a:xfrm>
        </p:spPr>
        <p:txBody>
          <a:bodyPr>
            <a:noAutofit/>
          </a:bodyPr>
          <a:lstStyle/>
          <a:p>
            <a:r>
              <a:rPr lang="en-US" sz="3200" dirty="0">
                <a:latin typeface="Times New Roman" panose="02020603050405020304" pitchFamily="18" charset="0"/>
                <a:cs typeface="Times New Roman" panose="02020603050405020304" pitchFamily="18" charset="0"/>
              </a:rPr>
              <a:t>Example 1.4: </a:t>
            </a:r>
            <a:r>
              <a:rPr lang="en-IN" sz="3200" dirty="0">
                <a:latin typeface="Times New Roman" panose="02020603050405020304" pitchFamily="18" charset="0"/>
                <a:cs typeface="Times New Roman" panose="02020603050405020304" pitchFamily="18" charset="0"/>
              </a:rPr>
              <a:t>Difference Between Observed Statistic and the Null Parameter</a:t>
            </a:r>
            <a:r>
              <a:rPr lang="en-US" sz="3200" dirty="0">
                <a:latin typeface="Times New Roman" panose="02020603050405020304" pitchFamily="18" charset="0"/>
                <a:cs typeface="Times New Roman" panose="02020603050405020304" pitchFamily="18" charset="0"/>
              </a:rPr>
              <a:t> </a:t>
            </a:r>
            <a:r>
              <a:rPr lang="en-US" sz="2000" b="0" dirty="0"/>
              <a:t>(1 of 2)</a:t>
            </a:r>
            <a:endParaRPr lang="en-US" sz="3200" dirty="0"/>
          </a:p>
        </p:txBody>
      </p:sp>
      <p:sp>
        <p:nvSpPr>
          <p:cNvPr id="10" name="Content Placeholder 9">
            <a:extLst>
              <a:ext uri="{FF2B5EF4-FFF2-40B4-BE49-F238E27FC236}">
                <a16:creationId xmlns:a16="http://schemas.microsoft.com/office/drawing/2014/main" id="{6075122E-1D56-4CBC-BC6F-E70FE525336A}"/>
              </a:ext>
            </a:extLst>
          </p:cNvPr>
          <p:cNvSpPr>
            <a:spLocks noGrp="1"/>
          </p:cNvSpPr>
          <p:nvPr>
            <p:ph sz="quarter" idx="12"/>
          </p:nvPr>
        </p:nvSpPr>
        <p:spPr>
          <a:xfrm>
            <a:off x="1828800" y="1911100"/>
            <a:ext cx="8534400" cy="985838"/>
          </a:xfrm>
        </p:spPr>
        <p:txBody>
          <a:bodyPr/>
          <a:lstStyle/>
          <a:p>
            <a:pPr>
              <a:spcAft>
                <a:spcPts val="1200"/>
              </a:spcAft>
            </a:pPr>
            <a:r>
              <a:rPr lang="en-US" dirty="0"/>
              <a:t>What if researchers correctly predicted 26 elections instead of 23?</a:t>
            </a:r>
          </a:p>
          <a:p>
            <a:pPr lvl="1"/>
            <a:r>
              <a:rPr lang="en-US" dirty="0"/>
              <a:t> </a:t>
            </a:r>
          </a:p>
        </p:txBody>
      </p:sp>
      <p:graphicFrame>
        <p:nvGraphicFramePr>
          <p:cNvPr id="17" name="Object 22" descr="start frac 26 over 32 end frac equals 0.8125">
            <a:extLst>
              <a:ext uri="{FF2B5EF4-FFF2-40B4-BE49-F238E27FC236}">
                <a16:creationId xmlns:a16="http://schemas.microsoft.com/office/drawing/2014/main" id="{904CB3A4-1C79-4D80-9BE2-A3675235C237}"/>
              </a:ext>
            </a:extLst>
          </p:cNvPr>
          <p:cNvGraphicFramePr>
            <a:graphicFrameLocks noChangeAspect="1"/>
          </p:cNvGraphicFramePr>
          <p:nvPr/>
        </p:nvGraphicFramePr>
        <p:xfrm>
          <a:off x="2680726" y="2831556"/>
          <a:ext cx="1631913" cy="769330"/>
        </p:xfrm>
        <a:graphic>
          <a:graphicData uri="http://schemas.openxmlformats.org/presentationml/2006/ole">
            <mc:AlternateContent xmlns:mc="http://schemas.openxmlformats.org/markup-compatibility/2006">
              <mc:Choice xmlns:v="urn:schemas-microsoft-com:vml" Requires="v">
                <p:oleObj name="Equation" r:id="rId2" imgW="1777680" imgH="838080" progId="Equation.DSMT4">
                  <p:embed/>
                </p:oleObj>
              </mc:Choice>
              <mc:Fallback>
                <p:oleObj name="Equation" r:id="rId2" imgW="1777680" imgH="838080" progId="Equation.DSMT4">
                  <p:embed/>
                  <p:pic>
                    <p:nvPicPr>
                      <p:cNvPr id="17" name="Object 22" descr="start frac 26 over 32 end frac equals 0.8125">
                        <a:extLst>
                          <a:ext uri="{FF2B5EF4-FFF2-40B4-BE49-F238E27FC236}">
                            <a16:creationId xmlns:a16="http://schemas.microsoft.com/office/drawing/2014/main" id="{904CB3A4-1C79-4D80-9BE2-A3675235C237}"/>
                          </a:ext>
                        </a:extLst>
                      </p:cNvPr>
                      <p:cNvPicPr/>
                      <p:nvPr/>
                    </p:nvPicPr>
                    <p:blipFill>
                      <a:blip r:embed="rId3"/>
                      <a:stretch>
                        <a:fillRect/>
                      </a:stretch>
                    </p:blipFill>
                    <p:spPr>
                      <a:xfrm>
                        <a:off x="2680726" y="2831556"/>
                        <a:ext cx="1631913" cy="769330"/>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58607FA9-DF2A-4A48-ACD5-18E711C6E47C}"/>
              </a:ext>
            </a:extLst>
          </p:cNvPr>
          <p:cNvSpPr>
            <a:spLocks noGrp="1"/>
          </p:cNvSpPr>
          <p:nvPr>
            <p:ph sz="quarter" idx="16"/>
          </p:nvPr>
        </p:nvSpPr>
        <p:spPr>
          <a:xfrm>
            <a:off x="1828800" y="2973630"/>
            <a:ext cx="8534400" cy="1062530"/>
          </a:xfrm>
        </p:spPr>
        <p:txBody>
          <a:bodyPr/>
          <a:lstStyle/>
          <a:p>
            <a:pPr marL="0" indent="2511425">
              <a:spcAft>
                <a:spcPts val="1200"/>
              </a:spcAft>
              <a:buNone/>
            </a:pPr>
            <a:r>
              <a:rPr lang="en-US" dirty="0"/>
              <a:t>never occurs just by chance</a:t>
            </a:r>
          </a:p>
          <a:p>
            <a:pPr marL="0" indent="854075">
              <a:buNone/>
            </a:pPr>
            <a:r>
              <a:rPr lang="en-US" dirty="0"/>
              <a:t>hence the </a:t>
            </a:r>
            <a:r>
              <a:rPr lang="en-US" i="1" dirty="0"/>
              <a:t>p</a:t>
            </a:r>
            <a:r>
              <a:rPr lang="en-US" dirty="0"/>
              <a:t>-value is 0.</a:t>
            </a:r>
          </a:p>
        </p:txBody>
      </p:sp>
      <p:pic>
        <p:nvPicPr>
          <p:cNvPr id="21" name="Picture Placeholder 20" descr="A bar graph describes the probability of successes. The horizontal axis is labeled Proportion of successes and has markings from 0.12 to 0.81 in varying increments of 0.07 and 0.06. The vertical axis ranges from 0 to 120 in increments of 40. The heights of the bars for each marking are as follows: 0.25, 5; 0.29, 7; 0.31, 25; 0.34, 28; 0.38, 55; 0.41, 80; 0.44, 115; 0.47, 125; 0.50, 135; 0.53, 110; 0.56, 110; 0.59, 105; 0.62, 60; 0.65, 30; 0.69, 25; 0.72, 12; 0.75, 3; and 0.78, 8. There are no bars above 0.12, 0.19, and 0.81. A red vertical line extends from 0.81 and covers the whole range of the vertical axis and it is marked with an expression p (hat) greater than or equal to 0.8125 at the bottom (highlighted). The bars above 0.72, 0.75, and 0.78 are highlighted. The mean is 0.502, the standard deviation is 0.09, and the proportion is 0 which is highlighted. All values are approximate.">
            <a:extLst>
              <a:ext uri="{FF2B5EF4-FFF2-40B4-BE49-F238E27FC236}">
                <a16:creationId xmlns:a16="http://schemas.microsoft.com/office/drawing/2014/main" id="{EEFD8967-5999-4F1B-BEFF-BAF3DF727A27}"/>
              </a:ext>
            </a:extLst>
          </p:cNvPr>
          <p:cNvPicPr>
            <a:picLocks noGrp="1" noChangeAspect="1"/>
          </p:cNvPicPr>
          <p:nvPr>
            <p:ph type="pic" sz="quarter" idx="15"/>
          </p:nvPr>
        </p:nvPicPr>
        <p:blipFill>
          <a:blip r:embed="rId4"/>
          <a:stretch>
            <a:fillRect/>
          </a:stretch>
        </p:blipFill>
        <p:spPr>
          <a:xfrm>
            <a:off x="4080288" y="4128469"/>
            <a:ext cx="4031427" cy="2129918"/>
          </a:xfrm>
          <a:prstGeom prst="rect">
            <a:avLst/>
          </a:prstGeom>
        </p:spPr>
      </p:pic>
    </p:spTree>
    <p:extLst>
      <p:ext uri="{BB962C8B-B14F-4D97-AF65-F5344CB8AC3E}">
        <p14:creationId xmlns:p14="http://schemas.microsoft.com/office/powerpoint/2010/main" val="3277878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534400" cy="1062530"/>
          </a:xfrm>
        </p:spPr>
        <p:txBody>
          <a:bodyPr>
            <a:noAutofit/>
          </a:bodyPr>
          <a:lstStyle/>
          <a:p>
            <a:r>
              <a:rPr lang="en-US" sz="3200" dirty="0">
                <a:latin typeface="Times New Roman" panose="02020603050405020304" pitchFamily="18" charset="0"/>
                <a:cs typeface="Times New Roman" panose="02020603050405020304" pitchFamily="18" charset="0"/>
              </a:rPr>
              <a:t>Example 1.4: </a:t>
            </a:r>
            <a:r>
              <a:rPr lang="en-IN" sz="3200" dirty="0">
                <a:latin typeface="Times New Roman" panose="02020603050405020304" pitchFamily="18" charset="0"/>
                <a:cs typeface="Times New Roman" panose="02020603050405020304" pitchFamily="18" charset="0"/>
              </a:rPr>
              <a:t>Difference Between Observed Statistic and the Null Parameter</a:t>
            </a:r>
            <a:r>
              <a:rPr lang="en-US" sz="3200" dirty="0">
                <a:latin typeface="Times New Roman" panose="02020603050405020304" pitchFamily="18" charset="0"/>
                <a:cs typeface="Times New Roman" panose="02020603050405020304" pitchFamily="18" charset="0"/>
              </a:rPr>
              <a:t> </a:t>
            </a:r>
            <a:r>
              <a:rPr lang="en-US" sz="2000" b="0" dirty="0"/>
              <a:t>(2 of 2)</a:t>
            </a:r>
            <a:endParaRPr lang="en-US" sz="3200"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p:txBody>
          <a:bodyPr/>
          <a:lstStyle/>
          <a:p>
            <a:pPr marL="292608" indent="-292608">
              <a:buClr>
                <a:schemeClr val="accent2"/>
              </a:buClr>
              <a:buFont typeface="Arial" panose="020B0604020202020204" pitchFamily="34" charset="0"/>
              <a:buChar char="•"/>
            </a:pPr>
            <a:r>
              <a:rPr lang="en-US" dirty="0"/>
              <a:t>The farther away the observed statistic is from the average value of the null distribution (or </a:t>
            </a:r>
            <a:r>
              <a:rPr lang="el-GR" i="1" dirty="0"/>
              <a:t>π</a:t>
            </a:r>
            <a:r>
              <a:rPr lang="en-US" baseline="-25000" dirty="0"/>
              <a:t>0</a:t>
            </a:r>
            <a:r>
              <a:rPr lang="en-US" dirty="0"/>
              <a:t>), the more evidence there is against the null hypothesis.</a:t>
            </a:r>
          </a:p>
        </p:txBody>
      </p:sp>
    </p:spTree>
    <p:extLst>
      <p:ext uri="{BB962C8B-B14F-4D97-AF65-F5344CB8AC3E}">
        <p14:creationId xmlns:p14="http://schemas.microsoft.com/office/powerpoint/2010/main" val="1631319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p:txBody>
          <a:bodyPr>
            <a:normAutofit fontScale="90000"/>
          </a:bodyPr>
          <a:lstStyle/>
          <a:p>
            <a:r>
              <a:rPr lang="en-US" dirty="0"/>
              <a:t>Example 1.4: </a:t>
            </a:r>
            <a:r>
              <a:rPr lang="en-IN" dirty="0"/>
              <a:t>What Affects the Strength of Evidence?</a:t>
            </a:r>
            <a:endParaRPr lang="en-US"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885951"/>
            <a:ext cx="6550214" cy="531014"/>
          </a:xfrm>
        </p:spPr>
        <p:txBody>
          <a:bodyPr/>
          <a:lstStyle/>
          <a:p>
            <a:pPr marL="401638" indent="-401638">
              <a:buFont typeface="+mj-lt"/>
              <a:buAutoNum type="arabicPeriod"/>
            </a:pPr>
            <a:r>
              <a:rPr lang="en-US" dirty="0"/>
              <a:t>The difference between the observed statistic</a:t>
            </a:r>
          </a:p>
        </p:txBody>
      </p:sp>
      <p:graphicFrame>
        <p:nvGraphicFramePr>
          <p:cNvPr id="20" name="Object 11" descr="left parenthesis hat over p right parenthesis">
            <a:extLst>
              <a:ext uri="{FF2B5EF4-FFF2-40B4-BE49-F238E27FC236}">
                <a16:creationId xmlns:a16="http://schemas.microsoft.com/office/drawing/2014/main" id="{4B9B6267-EE9F-4C18-A6DE-8AF56078628B}"/>
              </a:ext>
              <a:ext uri="{C183D7F6-B498-43B3-948B-1728B52AA6E4}">
                <adec:decorative xmlns:adec="http://schemas.microsoft.com/office/drawing/2017/decorative" val="0"/>
              </a:ext>
            </a:extLst>
          </p:cNvPr>
          <p:cNvGraphicFramePr>
            <a:graphicFrameLocks noChangeAspect="1"/>
          </p:cNvGraphicFramePr>
          <p:nvPr/>
        </p:nvGraphicFramePr>
        <p:xfrm>
          <a:off x="8340915" y="1930777"/>
          <a:ext cx="484909" cy="438727"/>
        </p:xfrm>
        <a:graphic>
          <a:graphicData uri="http://schemas.openxmlformats.org/presentationml/2006/ole">
            <mc:AlternateContent xmlns:mc="http://schemas.openxmlformats.org/markup-compatibility/2006">
              <mc:Choice xmlns:v="urn:schemas-microsoft-com:vml" Requires="v">
                <p:oleObj name="Equation" r:id="rId2" imgW="533160" imgH="482400" progId="Equation.DSMT4">
                  <p:embed/>
                </p:oleObj>
              </mc:Choice>
              <mc:Fallback>
                <p:oleObj name="Equation" r:id="rId2" imgW="533160" imgH="482400" progId="Equation.DSMT4">
                  <p:embed/>
                  <p:pic>
                    <p:nvPicPr>
                      <p:cNvPr id="20" name="Object 11" descr="left parenthesis hat over p right parenthesis">
                        <a:extLst>
                          <a:ext uri="{FF2B5EF4-FFF2-40B4-BE49-F238E27FC236}">
                            <a16:creationId xmlns:a16="http://schemas.microsoft.com/office/drawing/2014/main" id="{4B9B6267-EE9F-4C18-A6DE-8AF56078628B}"/>
                          </a:ext>
                          <a:ext uri="{C183D7F6-B498-43B3-948B-1728B52AA6E4}">
                            <adec:decorative xmlns:adec="http://schemas.microsoft.com/office/drawing/2017/decorative" val="0"/>
                          </a:ext>
                        </a:extLst>
                      </p:cNvPr>
                      <p:cNvPicPr/>
                      <p:nvPr/>
                    </p:nvPicPr>
                    <p:blipFill>
                      <a:blip r:embed="rId3"/>
                      <a:stretch>
                        <a:fillRect/>
                      </a:stretch>
                    </p:blipFill>
                    <p:spPr>
                      <a:xfrm>
                        <a:off x="8340915" y="1930777"/>
                        <a:ext cx="484909" cy="438727"/>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258E430B-611B-479D-94DE-39EBD30136ED}"/>
              </a:ext>
            </a:extLst>
          </p:cNvPr>
          <p:cNvSpPr>
            <a:spLocks noGrp="1"/>
          </p:cNvSpPr>
          <p:nvPr>
            <p:ph sz="quarter" idx="13"/>
          </p:nvPr>
        </p:nvSpPr>
        <p:spPr>
          <a:xfrm>
            <a:off x="2256570" y="2377945"/>
            <a:ext cx="4151941" cy="519790"/>
          </a:xfrm>
        </p:spPr>
        <p:txBody>
          <a:bodyPr/>
          <a:lstStyle/>
          <a:p>
            <a:pPr marL="0" indent="0">
              <a:buNone/>
            </a:pPr>
            <a:r>
              <a:rPr lang="en-US" dirty="0"/>
              <a:t>and null hypothesis parameter</a:t>
            </a:r>
          </a:p>
        </p:txBody>
      </p:sp>
      <p:graphicFrame>
        <p:nvGraphicFramePr>
          <p:cNvPr id="21" name="Object 12" descr="left parenthesis pi sub zero right parenthesis full stop">
            <a:extLst>
              <a:ext uri="{FF2B5EF4-FFF2-40B4-BE49-F238E27FC236}">
                <a16:creationId xmlns:a16="http://schemas.microsoft.com/office/drawing/2014/main" id="{2C99EF1B-1F91-417A-8305-8EAA0F957EE5}"/>
              </a:ext>
              <a:ext uri="{C183D7F6-B498-43B3-948B-1728B52AA6E4}">
                <adec:decorative xmlns:adec="http://schemas.microsoft.com/office/drawing/2017/decorative" val="0"/>
              </a:ext>
            </a:extLst>
          </p:cNvPr>
          <p:cNvGraphicFramePr>
            <a:graphicFrameLocks noChangeAspect="1"/>
          </p:cNvGraphicFramePr>
          <p:nvPr/>
        </p:nvGraphicFramePr>
        <p:xfrm>
          <a:off x="6408510" y="2438913"/>
          <a:ext cx="669636" cy="438727"/>
        </p:xfrm>
        <a:graphic>
          <a:graphicData uri="http://schemas.openxmlformats.org/presentationml/2006/ole">
            <mc:AlternateContent xmlns:mc="http://schemas.openxmlformats.org/markup-compatibility/2006">
              <mc:Choice xmlns:v="urn:schemas-microsoft-com:vml" Requires="v">
                <p:oleObj name="Equation" r:id="rId4" imgW="736560" imgH="482400" progId="Equation.DSMT4">
                  <p:embed/>
                </p:oleObj>
              </mc:Choice>
              <mc:Fallback>
                <p:oleObj name="Equation" r:id="rId4" imgW="736560" imgH="482400" progId="Equation.DSMT4">
                  <p:embed/>
                  <p:pic>
                    <p:nvPicPr>
                      <p:cNvPr id="21" name="Object 12" descr="left parenthesis pi sub zero right parenthesis full stop">
                        <a:extLst>
                          <a:ext uri="{FF2B5EF4-FFF2-40B4-BE49-F238E27FC236}">
                            <a16:creationId xmlns:a16="http://schemas.microsoft.com/office/drawing/2014/main" id="{2C99EF1B-1F91-417A-8305-8EAA0F957EE5}"/>
                          </a:ext>
                          <a:ext uri="{C183D7F6-B498-43B3-948B-1728B52AA6E4}">
                            <adec:decorative xmlns:adec="http://schemas.microsoft.com/office/drawing/2017/decorative" val="0"/>
                          </a:ext>
                        </a:extLst>
                      </p:cNvPr>
                      <p:cNvPicPr/>
                      <p:nvPr/>
                    </p:nvPicPr>
                    <p:blipFill>
                      <a:blip r:embed="rId5"/>
                      <a:stretch>
                        <a:fillRect/>
                      </a:stretch>
                    </p:blipFill>
                    <p:spPr>
                      <a:xfrm>
                        <a:off x="6408510" y="2438913"/>
                        <a:ext cx="669636" cy="438727"/>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B852775B-C0EB-41FE-A32F-99232EF11425}"/>
              </a:ext>
            </a:extLst>
          </p:cNvPr>
          <p:cNvSpPr>
            <a:spLocks noGrp="1"/>
          </p:cNvSpPr>
          <p:nvPr>
            <p:ph sz="quarter" idx="14"/>
          </p:nvPr>
        </p:nvSpPr>
        <p:spPr>
          <a:xfrm>
            <a:off x="1828800" y="2897735"/>
            <a:ext cx="8534400" cy="1062530"/>
          </a:xfrm>
        </p:spPr>
        <p:txBody>
          <a:bodyPr/>
          <a:lstStyle/>
          <a:p>
            <a:pPr marL="402336" indent="-402336">
              <a:buClr>
                <a:schemeClr val="accent2"/>
              </a:buClr>
              <a:buFont typeface="+mj-lt"/>
              <a:buAutoNum type="arabicPeriod" startAt="2"/>
            </a:pPr>
            <a:r>
              <a:rPr lang="en-US" dirty="0"/>
              <a:t>Sample size.</a:t>
            </a:r>
          </a:p>
          <a:p>
            <a:pPr marL="402336" indent="-402336">
              <a:buClr>
                <a:schemeClr val="accent2"/>
              </a:buClr>
              <a:buFont typeface="+mj-lt"/>
              <a:buAutoNum type="arabicPeriod" startAt="2"/>
            </a:pPr>
            <a:r>
              <a:rPr lang="en-US" dirty="0"/>
              <a:t>Whether we do a one or two-sided test.</a:t>
            </a:r>
          </a:p>
        </p:txBody>
      </p:sp>
    </p:spTree>
    <p:extLst>
      <p:ext uri="{BB962C8B-B14F-4D97-AF65-F5344CB8AC3E}">
        <p14:creationId xmlns:p14="http://schemas.microsoft.com/office/powerpoint/2010/main" val="1502487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534400" cy="1062530"/>
          </a:xfrm>
        </p:spPr>
        <p:txBody>
          <a:bodyPr>
            <a:normAutofit/>
          </a:bodyPr>
          <a:lstStyle/>
          <a:p>
            <a:r>
              <a:rPr lang="en-US" dirty="0"/>
              <a:t>Example 1.4: Sample Size </a:t>
            </a:r>
            <a:r>
              <a:rPr lang="en-US" sz="2000" b="0" dirty="0"/>
              <a:t>(1 of 4)</a:t>
            </a:r>
            <a:endParaRPr lang="en-US"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p:txBody>
          <a:bodyPr/>
          <a:lstStyle/>
          <a:p>
            <a:pPr marL="347663" indent="-347663">
              <a:buFont typeface="Arial" panose="020B0604020202020204" pitchFamily="34" charset="0"/>
              <a:buChar char="•"/>
            </a:pPr>
            <a:r>
              <a:rPr lang="en-US" dirty="0"/>
              <a:t>Suppose the sample </a:t>
            </a:r>
            <a:r>
              <a:rPr lang="en-US" i="1" dirty="0"/>
              <a:t>proportion</a:t>
            </a:r>
            <a:r>
              <a:rPr lang="en-US" dirty="0"/>
              <a:t> stays the same, do you think increasing sample </a:t>
            </a:r>
            <a:r>
              <a:rPr lang="en-US" i="1" dirty="0"/>
              <a:t>size</a:t>
            </a:r>
            <a:r>
              <a:rPr lang="en-US" dirty="0"/>
              <a:t> will increase, decrease, or have no impact on the strength of evidence against the null hypothesis?</a:t>
            </a:r>
          </a:p>
        </p:txBody>
      </p:sp>
    </p:spTree>
    <p:extLst>
      <p:ext uri="{BB962C8B-B14F-4D97-AF65-F5344CB8AC3E}">
        <p14:creationId xmlns:p14="http://schemas.microsoft.com/office/powerpoint/2010/main" val="4007752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031D57B-22F7-4B02-A276-52A467021FDA}"/>
              </a:ext>
            </a:extLst>
          </p:cNvPr>
          <p:cNvSpPr>
            <a:spLocks noGrp="1"/>
          </p:cNvSpPr>
          <p:nvPr>
            <p:ph type="title"/>
          </p:nvPr>
        </p:nvSpPr>
        <p:spPr/>
        <p:txBody>
          <a:bodyPr/>
          <a:lstStyle/>
          <a:p>
            <a:r>
              <a:rPr lang="en-US" dirty="0"/>
              <a:t>Example 1.4: Sample Size </a:t>
            </a:r>
            <a:r>
              <a:rPr lang="en-US" sz="2000" b="0" dirty="0"/>
              <a:t>(2 of 4)</a:t>
            </a:r>
            <a:endParaRPr lang="en-US" dirty="0"/>
          </a:p>
        </p:txBody>
      </p:sp>
      <p:sp>
        <p:nvSpPr>
          <p:cNvPr id="11" name="Content Placeholder 10">
            <a:extLst>
              <a:ext uri="{FF2B5EF4-FFF2-40B4-BE49-F238E27FC236}">
                <a16:creationId xmlns:a16="http://schemas.microsoft.com/office/drawing/2014/main" id="{0778937C-DD54-414A-8B50-1F2A4CCDB5A6}"/>
              </a:ext>
            </a:extLst>
          </p:cNvPr>
          <p:cNvSpPr>
            <a:spLocks noGrp="1"/>
          </p:cNvSpPr>
          <p:nvPr>
            <p:ph sz="quarter" idx="12"/>
          </p:nvPr>
        </p:nvSpPr>
        <p:spPr>
          <a:xfrm>
            <a:off x="1828800" y="1745873"/>
            <a:ext cx="8534400" cy="2214392"/>
          </a:xfrm>
        </p:spPr>
        <p:txBody>
          <a:bodyPr/>
          <a:lstStyle/>
          <a:p>
            <a:pPr marL="292608" indent="-292608">
              <a:buClr>
                <a:schemeClr val="accent2"/>
              </a:buClr>
              <a:buFont typeface="Arial" panose="020B0604020202020204" pitchFamily="34" charset="0"/>
              <a:buChar char="•"/>
            </a:pPr>
            <a:r>
              <a:rPr lang="en-US" dirty="0"/>
              <a:t>The null distribution changes as we increase the sample size from 32 senate races to 128 races to 256 races.</a:t>
            </a:r>
          </a:p>
          <a:p>
            <a:pPr marL="292608" indent="-292608">
              <a:buClr>
                <a:schemeClr val="accent2"/>
              </a:buClr>
              <a:buFont typeface="Arial" panose="020B0604020202020204" pitchFamily="34" charset="0"/>
              <a:buChar char="•"/>
            </a:pPr>
            <a:r>
              <a:rPr lang="en-US" dirty="0"/>
              <a:t>As the sample sizes increases, the variability (standard deviation) in the simulated statistics (sample proportions) decreases.</a:t>
            </a:r>
          </a:p>
        </p:txBody>
      </p:sp>
      <p:pic>
        <p:nvPicPr>
          <p:cNvPr id="5" name="Picture Placeholder 6" descr="Two dotplots describe the results of proportion of successes for the sample size of 32 and 128. &#10;The first dotplot is labeled n equals 32. The horizontal axis is labeled Proportion of successes and has markings from 0.3 to 0.7 in increments of 0.1. A series of dots is plotted vertically for each proportion of successes. The dots are plotted as follows: 1 dot above 0.25; 1 dot above 0.275, 4 dots above 0.31; 5 dots above 0.34; 12 dots above 0.375; 17 dots above 0.41; 25 dots above 0.44; 27 dots above 0.47; 34 dots above 0.5; 29 dots above 0.53; 21 dots above 0.57; 18 dots above 0.59; 10 dots above 0.625; 7 dots above 0.655; 4 dots above 0.68; 2 dots above 0.72; and 2 dots above 0.75. All values are approximate.&#10;The second dotplot is labeled n equals 128. The horizontal axis is labeled Proportion of successes and has markings from 0.3 to 0.7 in increments of 0.1. A series of dots is plotted vertically for each Proportion of successes. The dots plotted are as follows: 1 dot above 0.325; 1 dot above 0.337; 2 dots above 0.352; 4 dots above 0.375; 3 dots above 0.387; 5 dots above 0.41; 16 dots above 0.424; 19 dots above 0.427; 30 dots above 0.45; 32 dots above 0.472; 32 dots above 0.477; 33 dots above 0.50; 26 dots above 0.512; 18 dots above 0.526; 19 dots above 0.548; 5 dots above 0.562; 9 dots above 0.575; 7 dots above 0.593; 3 dots above 0.61; 2 dots above 0.625; and 1 dot above 0.637. There are no dots above 0.3 and 0.7. All values are approximate. ">
            <a:extLst>
              <a:ext uri="{FF2B5EF4-FFF2-40B4-BE49-F238E27FC236}">
                <a16:creationId xmlns:a16="http://schemas.microsoft.com/office/drawing/2014/main" id="{77DE765A-00A9-44D9-ADFE-6E937C8500C6}"/>
              </a:ext>
            </a:extLst>
          </p:cNvPr>
          <p:cNvPicPr>
            <a:picLocks noChangeAspect="1"/>
          </p:cNvPicPr>
          <p:nvPr/>
        </p:nvPicPr>
        <p:blipFill rotWithShape="1">
          <a:blip r:embed="rId2"/>
          <a:srcRect r="31122"/>
          <a:stretch/>
        </p:blipFill>
        <p:spPr>
          <a:xfrm>
            <a:off x="2201196" y="4149633"/>
            <a:ext cx="5412705" cy="2048434"/>
          </a:xfrm>
          <a:prstGeom prst="rect">
            <a:avLst/>
          </a:prstGeom>
        </p:spPr>
      </p:pic>
      <p:pic>
        <p:nvPicPr>
          <p:cNvPr id="7" name="Picture Placeholder 6" descr="A dotplot describes the results of proportion of successes for the sample size n equals 26. The horizontal axis is labeled Proportion of successes and has markings from 0.3 to 0.7 in increments of 0.1. A series of dots is plotted vertically for each proportion of successes. The dots plotted are as follows: 2 dots above 0.423; 3 dots above 0.437; 5 dots above 0.450; 11 dots above 0.462; 22 dots above 0.472; 31 dots above 0.495; 27 dots above 0.512; 14 dots above 0.525; 9 dots above 0.537; 3 dots above 0.550; and 2 dots above 0.562. There are no dots above 0.3, 0.4, 0.6, and 0.7. All values are approximate.">
            <a:extLst>
              <a:ext uri="{FF2B5EF4-FFF2-40B4-BE49-F238E27FC236}">
                <a16:creationId xmlns:a16="http://schemas.microsoft.com/office/drawing/2014/main" id="{63D2841E-F16F-4CAB-99F9-BEABBE2D3EB1}"/>
              </a:ext>
            </a:extLst>
          </p:cNvPr>
          <p:cNvPicPr>
            <a:picLocks noGrp="1" noChangeAspect="1"/>
          </p:cNvPicPr>
          <p:nvPr>
            <p:ph type="pic" sz="quarter" idx="13"/>
          </p:nvPr>
        </p:nvPicPr>
        <p:blipFill rotWithShape="1">
          <a:blip r:embed="rId2"/>
          <a:srcRect l="69316"/>
          <a:stretch/>
        </p:blipFill>
        <p:spPr>
          <a:xfrm>
            <a:off x="7613901" y="4112055"/>
            <a:ext cx="2411313" cy="2048434"/>
          </a:xfrm>
          <a:prstGeom prst="rect">
            <a:avLst/>
          </a:prstGeom>
        </p:spPr>
      </p:pic>
    </p:spTree>
    <p:extLst>
      <p:ext uri="{BB962C8B-B14F-4D97-AF65-F5344CB8AC3E}">
        <p14:creationId xmlns:p14="http://schemas.microsoft.com/office/powerpoint/2010/main" val="4213781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534400" cy="1062530"/>
          </a:xfrm>
        </p:spPr>
        <p:txBody>
          <a:bodyPr>
            <a:normAutofit/>
          </a:bodyPr>
          <a:lstStyle/>
          <a:p>
            <a:r>
              <a:rPr lang="en-US" dirty="0"/>
              <a:t>Example 1.4: Sample Size </a:t>
            </a:r>
            <a:r>
              <a:rPr lang="en-US" sz="2000" b="0" dirty="0"/>
              <a:t>(3 of 4)</a:t>
            </a:r>
            <a:endParaRPr lang="en-US"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1"/>
            <a:ext cx="8534400" cy="4325765"/>
          </a:xfrm>
        </p:spPr>
        <p:txBody>
          <a:bodyPr/>
          <a:lstStyle/>
          <a:p>
            <a:pPr marL="292608" indent="-292608">
              <a:buClr>
                <a:schemeClr val="accent2"/>
              </a:buClr>
              <a:buFont typeface="Arial" panose="020B0604020202020204" pitchFamily="34" charset="0"/>
              <a:buChar char="•"/>
            </a:pPr>
            <a:r>
              <a:rPr lang="en-US" dirty="0"/>
              <a:t>What does decreasing variability mean for statistical significance (with same sample proportion)?</a:t>
            </a:r>
          </a:p>
          <a:p>
            <a:pPr marL="292608" indent="-292608">
              <a:buClr>
                <a:schemeClr val="accent2"/>
              </a:buClr>
              <a:buFont typeface="Arial" panose="020B0604020202020204" pitchFamily="34" charset="0"/>
              <a:buChar char="•"/>
            </a:pPr>
            <a:r>
              <a:rPr lang="en-US" dirty="0"/>
              <a:t>32 elections</a:t>
            </a:r>
          </a:p>
          <a:p>
            <a:pPr marL="621792" lvl="1" indent="-320040">
              <a:spcAft>
                <a:spcPts val="600"/>
              </a:spcAft>
              <a:buClr>
                <a:schemeClr val="accent2"/>
              </a:buClr>
            </a:pPr>
            <a:r>
              <a:rPr lang="en-US" i="1" dirty="0"/>
              <a:t>p</a:t>
            </a:r>
            <a:r>
              <a:rPr lang="en-US" dirty="0"/>
              <a:t>-value = 0.009 and z = 2.43</a:t>
            </a:r>
          </a:p>
          <a:p>
            <a:pPr marL="292608" indent="-292608">
              <a:buClr>
                <a:schemeClr val="accent2"/>
              </a:buClr>
              <a:buFont typeface="Arial" panose="020B0604020202020204" pitchFamily="34" charset="0"/>
              <a:buChar char="•"/>
            </a:pPr>
            <a:r>
              <a:rPr lang="en-US" dirty="0"/>
              <a:t>128 elections</a:t>
            </a:r>
          </a:p>
          <a:p>
            <a:pPr marL="621792" lvl="1" indent="-320040">
              <a:spcAft>
                <a:spcPts val="600"/>
              </a:spcAft>
              <a:buClr>
                <a:schemeClr val="accent2"/>
              </a:buClr>
            </a:pPr>
            <a:r>
              <a:rPr lang="en-US" i="1" dirty="0"/>
              <a:t>p</a:t>
            </a:r>
            <a:r>
              <a:rPr lang="en-US" dirty="0"/>
              <a:t>-value = 0 and z =5.07</a:t>
            </a:r>
          </a:p>
          <a:p>
            <a:pPr marL="292608" indent="-292608">
              <a:buClr>
                <a:schemeClr val="accent2"/>
              </a:buClr>
              <a:buFont typeface="Arial" panose="020B0604020202020204" pitchFamily="34" charset="0"/>
              <a:buChar char="•"/>
            </a:pPr>
            <a:r>
              <a:rPr lang="en-US" dirty="0"/>
              <a:t>256 elections</a:t>
            </a:r>
          </a:p>
          <a:p>
            <a:pPr marL="621792" lvl="1" indent="-320040">
              <a:buClr>
                <a:schemeClr val="accent2"/>
              </a:buClr>
            </a:pPr>
            <a:r>
              <a:rPr lang="en-US" dirty="0"/>
              <a:t>Even stronger evidence</a:t>
            </a:r>
          </a:p>
          <a:p>
            <a:pPr marL="621792" lvl="1" indent="-320040">
              <a:buClr>
                <a:schemeClr val="accent2"/>
              </a:buClr>
            </a:pPr>
            <a:r>
              <a:rPr lang="en-US" i="1" dirty="0"/>
              <a:t>p</a:t>
            </a:r>
            <a:r>
              <a:rPr lang="en-US" dirty="0"/>
              <a:t>-value = 0 and </a:t>
            </a:r>
            <a:r>
              <a:rPr lang="en-US" i="1" dirty="0"/>
              <a:t>z</a:t>
            </a:r>
            <a:r>
              <a:rPr lang="en-US" dirty="0"/>
              <a:t> = 9.52</a:t>
            </a:r>
          </a:p>
        </p:txBody>
      </p:sp>
    </p:spTree>
    <p:extLst>
      <p:ext uri="{BB962C8B-B14F-4D97-AF65-F5344CB8AC3E}">
        <p14:creationId xmlns:p14="http://schemas.microsoft.com/office/powerpoint/2010/main" val="3728313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50300-C996-0FF1-5DEC-5A9CA210F753}"/>
              </a:ext>
            </a:extLst>
          </p:cNvPr>
          <p:cNvSpPr>
            <a:spLocks noGrp="1"/>
          </p:cNvSpPr>
          <p:nvPr>
            <p:ph type="title"/>
          </p:nvPr>
        </p:nvSpPr>
        <p:spPr/>
        <p:txBody>
          <a:bodyPr/>
          <a:lstStyle/>
          <a:p>
            <a:r>
              <a:rPr lang="en-US" dirty="0"/>
              <a:t>Reminder</a:t>
            </a:r>
          </a:p>
        </p:txBody>
      </p:sp>
      <p:sp>
        <p:nvSpPr>
          <p:cNvPr id="3" name="Footer Placeholder 2">
            <a:extLst>
              <a:ext uri="{FF2B5EF4-FFF2-40B4-BE49-F238E27FC236}">
                <a16:creationId xmlns:a16="http://schemas.microsoft.com/office/drawing/2014/main" id="{D5EA3376-CC3A-6D23-CFDE-5C602FAEEBC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DEC88C0-831C-8798-0BD3-36BE7503ED37}"/>
              </a:ext>
            </a:extLst>
          </p:cNvPr>
          <p:cNvSpPr>
            <a:spLocks noGrp="1"/>
          </p:cNvSpPr>
          <p:nvPr>
            <p:ph type="sldNum" sz="quarter" idx="12"/>
          </p:nvPr>
        </p:nvSpPr>
        <p:spPr/>
        <p:txBody>
          <a:bodyPr/>
          <a:lstStyle/>
          <a:p>
            <a:fld id="{2497149E-2C4D-4F23-9B0B-AB7C708B8462}" type="slidenum">
              <a:rPr lang="en-US" smtClean="0"/>
              <a:pPr/>
              <a:t>20</a:t>
            </a:fld>
            <a:endParaRPr lang="en-US" dirty="0"/>
          </a:p>
        </p:txBody>
      </p:sp>
      <p:graphicFrame>
        <p:nvGraphicFramePr>
          <p:cNvPr id="5" name="Table Placeholder 8" descr="Table is accessible to screenreaders">
            <a:extLst>
              <a:ext uri="{FF2B5EF4-FFF2-40B4-BE49-F238E27FC236}">
                <a16:creationId xmlns:a16="http://schemas.microsoft.com/office/drawing/2014/main" id="{008C3981-EB59-1B8F-A714-E8BA46172294}"/>
              </a:ext>
            </a:extLst>
          </p:cNvPr>
          <p:cNvGraphicFramePr>
            <a:graphicFrameLocks/>
          </p:cNvGraphicFramePr>
          <p:nvPr>
            <p:extLst>
              <p:ext uri="{D42A27DB-BD31-4B8C-83A1-F6EECF244321}">
                <p14:modId xmlns:p14="http://schemas.microsoft.com/office/powerpoint/2010/main" val="2015575578"/>
              </p:ext>
            </p:extLst>
          </p:nvPr>
        </p:nvGraphicFramePr>
        <p:xfrm>
          <a:off x="1872307" y="1445759"/>
          <a:ext cx="8044870" cy="2133600"/>
        </p:xfrm>
        <a:graphic>
          <a:graphicData uri="http://schemas.openxmlformats.org/drawingml/2006/table">
            <a:tbl>
              <a:tblPr firstRow="1" bandRow="1">
                <a:tableStyleId>{5C22544A-7EE6-4342-B048-85BDC9FD1C3A}</a:tableStyleId>
              </a:tblPr>
              <a:tblGrid>
                <a:gridCol w="4022435">
                  <a:extLst>
                    <a:ext uri="{9D8B030D-6E8A-4147-A177-3AD203B41FA5}">
                      <a16:colId xmlns:a16="http://schemas.microsoft.com/office/drawing/2014/main" val="3477562137"/>
                    </a:ext>
                  </a:extLst>
                </a:gridCol>
                <a:gridCol w="4022435">
                  <a:extLst>
                    <a:ext uri="{9D8B030D-6E8A-4147-A177-3AD203B41FA5}">
                      <a16:colId xmlns:a16="http://schemas.microsoft.com/office/drawing/2014/main" val="34655447"/>
                    </a:ext>
                  </a:extLst>
                </a:gridCol>
              </a:tblGrid>
              <a:tr h="370840">
                <a:tc>
                  <a:txBody>
                    <a:bodyPr/>
                    <a:lstStyle/>
                    <a:p>
                      <a:pPr marL="0" marR="0" algn="ctr">
                        <a:spcBef>
                          <a:spcPts val="0"/>
                        </a:spcBef>
                        <a:spcAft>
                          <a:spcPts val="0"/>
                        </a:spcAft>
                      </a:pPr>
                      <a:r>
                        <a:rPr lang="en-US" sz="2800" b="1" i="1" dirty="0">
                          <a:solidFill>
                            <a:schemeClr val="bg1"/>
                          </a:solidFill>
                          <a:effectLst/>
                          <a:latin typeface="Times New Roman" panose="02020603050405020304" pitchFamily="18" charset="0"/>
                          <a:ea typeface="Times New Roman"/>
                          <a:cs typeface="Times New Roman" panose="02020603050405020304" pitchFamily="18" charset="0"/>
                        </a:rPr>
                        <a:t>p</a:t>
                      </a:r>
                      <a:r>
                        <a:rPr lang="en-US" sz="2800" b="1" dirty="0">
                          <a:solidFill>
                            <a:schemeClr val="bg1"/>
                          </a:solidFill>
                          <a:effectLst/>
                          <a:latin typeface="Times New Roman" panose="02020603050405020304" pitchFamily="18" charset="0"/>
                          <a:ea typeface="Times New Roman"/>
                          <a:cs typeface="Times New Roman" panose="02020603050405020304" pitchFamily="18" charset="0"/>
                        </a:rPr>
                        <a:t>-value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800" b="1" dirty="0">
                          <a:solidFill>
                            <a:schemeClr val="bg1"/>
                          </a:solidFill>
                          <a:effectLst/>
                          <a:latin typeface="Times New Roman" panose="02020603050405020304" pitchFamily="18" charset="0"/>
                          <a:cs typeface="Times New Roman" panose="02020603050405020304" pitchFamily="18" charset="0"/>
                        </a:rPr>
                        <a:t>Evidence Against Null</a:t>
                      </a:r>
                      <a:endParaRPr lang="en-US" sz="2800" b="1" dirty="0">
                        <a:solidFill>
                          <a:schemeClr val="bg1"/>
                        </a:solidFill>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6387190"/>
                  </a:ext>
                </a:extLst>
              </a:tr>
              <a:tr h="370840">
                <a:tc>
                  <a:txBody>
                    <a:bodyPr/>
                    <a:lstStyle/>
                    <a:p>
                      <a:pPr marL="0" marR="0" algn="ctr">
                        <a:spcBef>
                          <a:spcPts val="0"/>
                        </a:spcBef>
                        <a:spcAft>
                          <a:spcPts val="0"/>
                        </a:spcAft>
                      </a:pPr>
                      <a:r>
                        <a:rPr lang="en-US" sz="2800" dirty="0">
                          <a:effectLst/>
                          <a:latin typeface="Times New Roman" panose="02020603050405020304" pitchFamily="18" charset="0"/>
                          <a:ea typeface="Times New Roman"/>
                          <a:cs typeface="Times New Roman" panose="02020603050405020304" pitchFamily="18" charset="0"/>
                        </a:rPr>
                        <a:t>above 0.10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effectLst/>
                          <a:latin typeface="Times New Roman" panose="02020603050405020304" pitchFamily="18" charset="0"/>
                          <a:cs typeface="Times New Roman" panose="02020603050405020304" pitchFamily="18" charset="0"/>
                        </a:rPr>
                        <a:t>not much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4334622"/>
                  </a:ext>
                </a:extLst>
              </a:tr>
              <a:tr h="370840">
                <a:tc>
                  <a:txBody>
                    <a:bodyPr/>
                    <a:lstStyle/>
                    <a:p>
                      <a:pPr marL="0" marR="0" algn="ctr">
                        <a:spcBef>
                          <a:spcPts val="0"/>
                        </a:spcBef>
                        <a:spcAft>
                          <a:spcPts val="0"/>
                        </a:spcAft>
                      </a:pPr>
                      <a:r>
                        <a:rPr lang="en-US" sz="2800" dirty="0">
                          <a:effectLst/>
                          <a:latin typeface="Times New Roman" panose="02020603050405020304" pitchFamily="18" charset="0"/>
                          <a:ea typeface="Times New Roman"/>
                          <a:cs typeface="Times New Roman" panose="02020603050405020304" pitchFamily="18" charset="0"/>
                        </a:rPr>
                        <a:t>between 0.5 and 0.10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800" dirty="0">
                          <a:effectLst/>
                          <a:latin typeface="Times New Roman" panose="02020603050405020304" pitchFamily="18" charset="0"/>
                          <a:cs typeface="Times New Roman" panose="02020603050405020304" pitchFamily="18" charset="0"/>
                        </a:rPr>
                        <a:t>moderate</a:t>
                      </a:r>
                      <a:endParaRPr lang="en-US" sz="2800" dirty="0">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6190008"/>
                  </a:ext>
                </a:extLst>
              </a:tr>
              <a:tr h="370840">
                <a:tc>
                  <a:txBody>
                    <a:bodyPr/>
                    <a:lstStyle/>
                    <a:p>
                      <a:pPr marL="0" marR="0" algn="ctr">
                        <a:spcBef>
                          <a:spcPts val="0"/>
                        </a:spcBef>
                        <a:spcAft>
                          <a:spcPts val="0"/>
                        </a:spcAft>
                      </a:pPr>
                      <a:r>
                        <a:rPr lang="en-US" sz="2800" b="0" dirty="0">
                          <a:solidFill>
                            <a:schemeClr val="accent2"/>
                          </a:solidFill>
                          <a:effectLst/>
                          <a:latin typeface="Times New Roman" panose="02020603050405020304" pitchFamily="18" charset="0"/>
                          <a:cs typeface="Times New Roman" panose="02020603050405020304" pitchFamily="18" charset="0"/>
                        </a:rPr>
                        <a:t>between 0.01 and 0.05</a:t>
                      </a:r>
                      <a:endParaRPr lang="en-US" sz="2800" b="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800" dirty="0">
                          <a:solidFill>
                            <a:schemeClr val="accent2"/>
                          </a:solidFill>
                          <a:effectLst/>
                          <a:latin typeface="Times New Roman" panose="02020603050405020304" pitchFamily="18" charset="0"/>
                          <a:cs typeface="Times New Roman" panose="02020603050405020304" pitchFamily="18" charset="0"/>
                        </a:rPr>
                        <a:t>strong</a:t>
                      </a:r>
                      <a:endParaRPr lang="en-US" sz="280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433009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chemeClr val="accent2"/>
                          </a:solidFill>
                          <a:effectLst/>
                          <a:latin typeface="Times New Roman" panose="02020603050405020304" pitchFamily="18" charset="0"/>
                          <a:ea typeface="Times New Roman"/>
                          <a:cs typeface="Times New Roman" panose="02020603050405020304" pitchFamily="18" charset="0"/>
                        </a:rPr>
                        <a:t>below 0.01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chemeClr val="accent2"/>
                          </a:solidFill>
                          <a:effectLst/>
                          <a:latin typeface="Times New Roman" panose="02020603050405020304" pitchFamily="18" charset="0"/>
                          <a:cs typeface="Times New Roman" panose="02020603050405020304" pitchFamily="18" charset="0"/>
                        </a:rPr>
                        <a:t>very strong</a:t>
                      </a:r>
                      <a:endParaRPr lang="en-US" sz="280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1992051"/>
                  </a:ext>
                </a:extLst>
              </a:tr>
            </a:tbl>
          </a:graphicData>
        </a:graphic>
      </p:graphicFrame>
      <p:graphicFrame>
        <p:nvGraphicFramePr>
          <p:cNvPr id="6" name="Table Placeholder 8" descr="Table is accessible to screenreaders">
            <a:extLst>
              <a:ext uri="{FF2B5EF4-FFF2-40B4-BE49-F238E27FC236}">
                <a16:creationId xmlns:a16="http://schemas.microsoft.com/office/drawing/2014/main" id="{74AF5823-21F7-1A9F-65BD-813D25F63993}"/>
              </a:ext>
            </a:extLst>
          </p:cNvPr>
          <p:cNvGraphicFramePr>
            <a:graphicFrameLocks/>
          </p:cNvGraphicFramePr>
          <p:nvPr>
            <p:extLst>
              <p:ext uri="{D42A27DB-BD31-4B8C-83A1-F6EECF244321}">
                <p14:modId xmlns:p14="http://schemas.microsoft.com/office/powerpoint/2010/main" val="3582478405"/>
              </p:ext>
            </p:extLst>
          </p:nvPr>
        </p:nvGraphicFramePr>
        <p:xfrm>
          <a:off x="1872307" y="3980086"/>
          <a:ext cx="8044870" cy="2133600"/>
        </p:xfrm>
        <a:graphic>
          <a:graphicData uri="http://schemas.openxmlformats.org/drawingml/2006/table">
            <a:tbl>
              <a:tblPr firstRow="1" bandRow="1">
                <a:tableStyleId>{5C22544A-7EE6-4342-B048-85BDC9FD1C3A}</a:tableStyleId>
              </a:tblPr>
              <a:tblGrid>
                <a:gridCol w="4022435">
                  <a:extLst>
                    <a:ext uri="{9D8B030D-6E8A-4147-A177-3AD203B41FA5}">
                      <a16:colId xmlns:a16="http://schemas.microsoft.com/office/drawing/2014/main" val="3477562137"/>
                    </a:ext>
                  </a:extLst>
                </a:gridCol>
                <a:gridCol w="4022435">
                  <a:extLst>
                    <a:ext uri="{9D8B030D-6E8A-4147-A177-3AD203B41FA5}">
                      <a16:colId xmlns:a16="http://schemas.microsoft.com/office/drawing/2014/main" val="34655447"/>
                    </a:ext>
                  </a:extLst>
                </a:gridCol>
              </a:tblGrid>
              <a:tr h="370840">
                <a:tc>
                  <a:txBody>
                    <a:bodyPr/>
                    <a:lstStyle/>
                    <a:p>
                      <a:pPr marL="0" marR="0" algn="ctr">
                        <a:spcBef>
                          <a:spcPts val="0"/>
                        </a:spcBef>
                        <a:spcAft>
                          <a:spcPts val="0"/>
                        </a:spcAft>
                      </a:pPr>
                      <a:r>
                        <a:rPr lang="en-US" sz="2800" b="1" dirty="0">
                          <a:solidFill>
                            <a:schemeClr val="bg1"/>
                          </a:solidFill>
                          <a:effectLst/>
                          <a:latin typeface="Times New Roman" panose="02020603050405020304" pitchFamily="18" charset="0"/>
                          <a:cs typeface="Times New Roman" panose="02020603050405020304" pitchFamily="18" charset="0"/>
                        </a:rPr>
                        <a:t>Standardized Statistic</a:t>
                      </a:r>
                      <a:endParaRPr lang="en-US" sz="2800" b="1" dirty="0">
                        <a:solidFill>
                          <a:schemeClr val="bg1"/>
                        </a:solidFill>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800" b="1" dirty="0">
                          <a:solidFill>
                            <a:schemeClr val="bg1"/>
                          </a:solidFill>
                          <a:effectLst/>
                          <a:latin typeface="Times New Roman" panose="02020603050405020304" pitchFamily="18" charset="0"/>
                          <a:cs typeface="Times New Roman" panose="02020603050405020304" pitchFamily="18" charset="0"/>
                        </a:rPr>
                        <a:t>Evidence Against Null</a:t>
                      </a:r>
                      <a:endParaRPr lang="en-US" sz="2800" b="1" dirty="0">
                        <a:solidFill>
                          <a:schemeClr val="bg1"/>
                        </a:solidFill>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6387190"/>
                  </a:ext>
                </a:extLst>
              </a:tr>
              <a:tr h="370840">
                <a:tc>
                  <a:txBody>
                    <a:bodyPr/>
                    <a:lstStyle/>
                    <a:p>
                      <a:pPr marL="0" marR="0" algn="ctr">
                        <a:spcBef>
                          <a:spcPts val="0"/>
                        </a:spcBef>
                        <a:spcAft>
                          <a:spcPts val="0"/>
                        </a:spcAft>
                      </a:pPr>
                      <a:r>
                        <a:rPr lang="en-US" sz="2800" dirty="0">
                          <a:effectLst/>
                          <a:latin typeface="Times New Roman" panose="02020603050405020304" pitchFamily="18" charset="0"/>
                          <a:cs typeface="Times New Roman" panose="02020603050405020304" pitchFamily="18" charset="0"/>
                        </a:rPr>
                        <a:t>between</a:t>
                      </a:r>
                      <a:r>
                        <a:rPr lang="en-US" sz="2800" baseline="0" dirty="0">
                          <a:effectLst/>
                          <a:latin typeface="Times New Roman" panose="02020603050405020304" pitchFamily="18" charset="0"/>
                          <a:cs typeface="Times New Roman" panose="02020603050405020304" pitchFamily="18" charset="0"/>
                        </a:rPr>
                        <a:t> −</a:t>
                      </a:r>
                      <a:r>
                        <a:rPr lang="en-US" sz="2800" dirty="0">
                          <a:effectLst/>
                          <a:latin typeface="Times New Roman" panose="02020603050405020304" pitchFamily="18" charset="0"/>
                          <a:cs typeface="Times New Roman" panose="02020603050405020304" pitchFamily="18" charset="0"/>
                        </a:rPr>
                        <a:t>1.5 and 1.5 </a:t>
                      </a:r>
                      <a:endParaRPr lang="en-US" sz="2800" dirty="0">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effectLst/>
                          <a:latin typeface="Times New Roman" panose="02020603050405020304" pitchFamily="18" charset="0"/>
                          <a:cs typeface="Times New Roman" panose="02020603050405020304" pitchFamily="18" charset="0"/>
                        </a:rPr>
                        <a:t>not much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4334622"/>
                  </a:ext>
                </a:extLst>
              </a:tr>
              <a:tr h="370840">
                <a:tc>
                  <a:txBody>
                    <a:bodyPr/>
                    <a:lstStyle/>
                    <a:p>
                      <a:pPr marL="0" marR="0" algn="ctr">
                        <a:spcBef>
                          <a:spcPts val="0"/>
                        </a:spcBef>
                        <a:spcAft>
                          <a:spcPts val="0"/>
                        </a:spcAft>
                      </a:pPr>
                      <a:r>
                        <a:rPr lang="en-US" sz="2800" dirty="0">
                          <a:effectLst/>
                          <a:latin typeface="Times New Roman" panose="02020603050405020304" pitchFamily="18" charset="0"/>
                          <a:cs typeface="Times New Roman" panose="02020603050405020304" pitchFamily="18" charset="0"/>
                        </a:rPr>
                        <a:t>below −1.5 or above 1.5</a:t>
                      </a:r>
                      <a:endParaRPr lang="en-US" sz="2800" dirty="0">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800" dirty="0">
                          <a:effectLst/>
                          <a:latin typeface="Times New Roman" panose="02020603050405020304" pitchFamily="18" charset="0"/>
                          <a:cs typeface="Times New Roman" panose="02020603050405020304" pitchFamily="18" charset="0"/>
                        </a:rPr>
                        <a:t>moderate</a:t>
                      </a:r>
                      <a:endParaRPr lang="en-US" sz="2800" dirty="0">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6190008"/>
                  </a:ext>
                </a:extLst>
              </a:tr>
              <a:tr h="370840">
                <a:tc>
                  <a:txBody>
                    <a:bodyPr/>
                    <a:lstStyle/>
                    <a:p>
                      <a:pPr marL="0" marR="0" algn="ctr">
                        <a:spcBef>
                          <a:spcPts val="0"/>
                        </a:spcBef>
                        <a:spcAft>
                          <a:spcPts val="0"/>
                        </a:spcAft>
                      </a:pPr>
                      <a:r>
                        <a:rPr lang="en-US" sz="2800" b="0" dirty="0">
                          <a:solidFill>
                            <a:schemeClr val="accent2"/>
                          </a:solidFill>
                          <a:effectLst/>
                          <a:latin typeface="Times New Roman" panose="02020603050405020304" pitchFamily="18" charset="0"/>
                          <a:cs typeface="Times New Roman" panose="02020603050405020304" pitchFamily="18" charset="0"/>
                        </a:rPr>
                        <a:t>below −2 or</a:t>
                      </a:r>
                      <a:r>
                        <a:rPr lang="en-US" sz="2800" b="0" baseline="0" dirty="0">
                          <a:solidFill>
                            <a:schemeClr val="accent2"/>
                          </a:solidFill>
                          <a:effectLst/>
                          <a:latin typeface="Times New Roman" panose="02020603050405020304" pitchFamily="18" charset="0"/>
                          <a:cs typeface="Times New Roman" panose="02020603050405020304" pitchFamily="18" charset="0"/>
                        </a:rPr>
                        <a:t> above 2</a:t>
                      </a:r>
                      <a:endParaRPr lang="en-US" sz="2800" b="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800" dirty="0">
                          <a:solidFill>
                            <a:schemeClr val="accent2"/>
                          </a:solidFill>
                          <a:effectLst/>
                          <a:latin typeface="Times New Roman" panose="02020603050405020304" pitchFamily="18" charset="0"/>
                          <a:cs typeface="Times New Roman" panose="02020603050405020304" pitchFamily="18" charset="0"/>
                        </a:rPr>
                        <a:t>strong</a:t>
                      </a:r>
                      <a:endParaRPr lang="en-US" sz="280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433009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chemeClr val="accent2"/>
                          </a:solidFill>
                          <a:effectLst/>
                          <a:latin typeface="Times New Roman" panose="02020603050405020304" pitchFamily="18" charset="0"/>
                          <a:cs typeface="Times New Roman" panose="02020603050405020304" pitchFamily="18" charset="0"/>
                        </a:rPr>
                        <a:t>below −3 or above</a:t>
                      </a:r>
                      <a:r>
                        <a:rPr lang="en-US" sz="2800" baseline="0" dirty="0">
                          <a:solidFill>
                            <a:schemeClr val="accent2"/>
                          </a:solidFill>
                          <a:effectLst/>
                          <a:latin typeface="Times New Roman" panose="02020603050405020304" pitchFamily="18" charset="0"/>
                          <a:cs typeface="Times New Roman" panose="02020603050405020304" pitchFamily="18" charset="0"/>
                        </a:rPr>
                        <a:t> 3</a:t>
                      </a:r>
                      <a:endParaRPr lang="en-US" sz="280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chemeClr val="accent2"/>
                          </a:solidFill>
                          <a:effectLst/>
                          <a:latin typeface="Times New Roman" panose="02020603050405020304" pitchFamily="18" charset="0"/>
                          <a:cs typeface="Times New Roman" panose="02020603050405020304" pitchFamily="18" charset="0"/>
                        </a:rPr>
                        <a:t>very strong</a:t>
                      </a:r>
                      <a:endParaRPr lang="en-US" sz="2800" dirty="0">
                        <a:solidFill>
                          <a:schemeClr val="accent2"/>
                        </a:solidFill>
                        <a:effectLst/>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1992051"/>
                  </a:ext>
                </a:extLst>
              </a:tr>
            </a:tbl>
          </a:graphicData>
        </a:graphic>
      </p:graphicFrame>
    </p:spTree>
    <p:extLst>
      <p:ext uri="{BB962C8B-B14F-4D97-AF65-F5344CB8AC3E}">
        <p14:creationId xmlns:p14="http://schemas.microsoft.com/office/powerpoint/2010/main" val="3139496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534400" cy="1062530"/>
          </a:xfrm>
        </p:spPr>
        <p:txBody>
          <a:bodyPr>
            <a:normAutofit/>
          </a:bodyPr>
          <a:lstStyle/>
          <a:p>
            <a:r>
              <a:rPr lang="en-US" dirty="0"/>
              <a:t>Example 1.4: Sample Size </a:t>
            </a:r>
            <a:r>
              <a:rPr lang="en-US" sz="2000" b="0" dirty="0"/>
              <a:t>(4 of 4)</a:t>
            </a:r>
            <a:endParaRPr lang="en-US"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1"/>
            <a:ext cx="8534400" cy="4325765"/>
          </a:xfrm>
        </p:spPr>
        <p:txBody>
          <a:bodyPr/>
          <a:lstStyle/>
          <a:p>
            <a:pPr marL="292608" indent="-292608">
              <a:buClr>
                <a:schemeClr val="accent2"/>
              </a:buClr>
              <a:buFont typeface="Arial" panose="020B0604020202020204" pitchFamily="34" charset="0"/>
              <a:buChar char="•"/>
            </a:pPr>
            <a:r>
              <a:rPr lang="en-US" dirty="0"/>
              <a:t>As the sample size increases, the variability in simulated sample proportions (the null distribution SD) decreases.</a:t>
            </a:r>
          </a:p>
          <a:p>
            <a:pPr marL="292608" indent="-292608">
              <a:buClr>
                <a:schemeClr val="accent2"/>
              </a:buClr>
              <a:buFont typeface="Arial" panose="020B0604020202020204" pitchFamily="34" charset="0"/>
              <a:buChar char="•"/>
            </a:pPr>
            <a:r>
              <a:rPr lang="en-US" dirty="0"/>
              <a:t>Therefore, as the sample size increases, the evidence against the null hypothesis increases (</a:t>
            </a:r>
            <a:r>
              <a:rPr lang="en-US" i="1" dirty="0"/>
              <a:t>as long as the sample proportion stays the same</a:t>
            </a:r>
            <a:r>
              <a:rPr lang="en-US" dirty="0"/>
              <a:t> and is in the direction of the alternative hypothesis).</a:t>
            </a:r>
          </a:p>
        </p:txBody>
      </p:sp>
      <p:pic>
        <p:nvPicPr>
          <p:cNvPr id="2" name="Picture 1">
            <a:extLst>
              <a:ext uri="{FF2B5EF4-FFF2-40B4-BE49-F238E27FC236}">
                <a16:creationId xmlns:a16="http://schemas.microsoft.com/office/drawing/2014/main" id="{0704548D-9668-87CE-963B-F5B8EA790233}"/>
              </a:ext>
            </a:extLst>
          </p:cNvPr>
          <p:cNvPicPr>
            <a:picLocks noChangeAspect="1"/>
          </p:cNvPicPr>
          <p:nvPr/>
        </p:nvPicPr>
        <p:blipFill>
          <a:blip r:embed="rId2"/>
          <a:stretch>
            <a:fillRect/>
          </a:stretch>
        </p:blipFill>
        <p:spPr>
          <a:xfrm>
            <a:off x="234044" y="5253676"/>
            <a:ext cx="5366656" cy="755747"/>
          </a:xfrm>
          <a:prstGeom prst="rect">
            <a:avLst/>
          </a:prstGeom>
        </p:spPr>
      </p:pic>
    </p:spTree>
    <p:extLst>
      <p:ext uri="{BB962C8B-B14F-4D97-AF65-F5344CB8AC3E}">
        <p14:creationId xmlns:p14="http://schemas.microsoft.com/office/powerpoint/2010/main" val="1581816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D432079-CFF4-4AF8-9C24-EBCDAB792E32}"/>
              </a:ext>
            </a:extLst>
          </p:cNvPr>
          <p:cNvSpPr>
            <a:spLocks noGrp="1"/>
          </p:cNvSpPr>
          <p:nvPr>
            <p:ph type="title"/>
          </p:nvPr>
        </p:nvSpPr>
        <p:spPr/>
        <p:txBody>
          <a:bodyPr/>
          <a:lstStyle/>
          <a:p>
            <a:r>
              <a:rPr lang="en-US" dirty="0"/>
              <a:t>Example 1.4: Two-Sided Tests </a:t>
            </a:r>
            <a:r>
              <a:rPr lang="en-US" sz="2000" b="0" dirty="0"/>
              <a:t>(1 of 5)</a:t>
            </a:r>
            <a:endParaRPr lang="en-US" dirty="0"/>
          </a:p>
        </p:txBody>
      </p:sp>
      <p:sp>
        <p:nvSpPr>
          <p:cNvPr id="7" name="Content Placeholder 6">
            <a:extLst>
              <a:ext uri="{FF2B5EF4-FFF2-40B4-BE49-F238E27FC236}">
                <a16:creationId xmlns:a16="http://schemas.microsoft.com/office/drawing/2014/main" id="{A82CA6E9-43B4-4D2D-9ED6-B616A5D31331}"/>
              </a:ext>
            </a:extLst>
          </p:cNvPr>
          <p:cNvSpPr>
            <a:spLocks noGrp="1"/>
          </p:cNvSpPr>
          <p:nvPr>
            <p:ph sz="quarter" idx="12"/>
          </p:nvPr>
        </p:nvSpPr>
        <p:spPr>
          <a:xfrm>
            <a:off x="1828800" y="1607520"/>
            <a:ext cx="8534400" cy="1365860"/>
          </a:xfrm>
        </p:spPr>
        <p:txBody>
          <a:bodyPr/>
          <a:lstStyle/>
          <a:p>
            <a:r>
              <a:rPr lang="en-US" dirty="0"/>
              <a:t>What if researchers were wrong; instead of the person with the more competent face being elected more frequently, it was actually less frequently?</a:t>
            </a:r>
          </a:p>
        </p:txBody>
      </p:sp>
      <p:graphicFrame>
        <p:nvGraphicFramePr>
          <p:cNvPr id="9" name="Object 11" descr="H sub 0 : pi  = 0 .5">
            <a:extLst>
              <a:ext uri="{FF2B5EF4-FFF2-40B4-BE49-F238E27FC236}">
                <a16:creationId xmlns:a16="http://schemas.microsoft.com/office/drawing/2014/main" id="{4A3F7249-604B-4745-A520-EAAF149374BE}"/>
              </a:ext>
            </a:extLst>
          </p:cNvPr>
          <p:cNvGraphicFramePr>
            <a:graphicFrameLocks noChangeAspect="1"/>
          </p:cNvGraphicFramePr>
          <p:nvPr/>
        </p:nvGraphicFramePr>
        <p:xfrm>
          <a:off x="3047479" y="2897736"/>
          <a:ext cx="1454727" cy="392545"/>
        </p:xfrm>
        <a:graphic>
          <a:graphicData uri="http://schemas.openxmlformats.org/presentationml/2006/ole">
            <mc:AlternateContent xmlns:mc="http://schemas.openxmlformats.org/markup-compatibility/2006">
              <mc:Choice xmlns:v="urn:schemas-microsoft-com:vml" Requires="v">
                <p:oleObj name="Equation" r:id="rId2" imgW="1600200" imgH="431640" progId="Equation.DSMT4">
                  <p:embed/>
                </p:oleObj>
              </mc:Choice>
              <mc:Fallback>
                <p:oleObj name="Equation" r:id="rId2" imgW="1600200" imgH="431640" progId="Equation.DSMT4">
                  <p:embed/>
                  <p:pic>
                    <p:nvPicPr>
                      <p:cNvPr id="9" name="Object 11" descr="H sub 0 : pi  = 0 .5">
                        <a:extLst>
                          <a:ext uri="{FF2B5EF4-FFF2-40B4-BE49-F238E27FC236}">
                            <a16:creationId xmlns:a16="http://schemas.microsoft.com/office/drawing/2014/main" id="{4A3F7249-604B-4745-A520-EAAF149374BE}"/>
                          </a:ext>
                        </a:extLst>
                      </p:cNvPr>
                      <p:cNvPicPr/>
                      <p:nvPr/>
                    </p:nvPicPr>
                    <p:blipFill>
                      <a:blip r:embed="rId3"/>
                      <a:stretch>
                        <a:fillRect/>
                      </a:stretch>
                    </p:blipFill>
                    <p:spPr>
                      <a:xfrm>
                        <a:off x="3047479" y="2897736"/>
                        <a:ext cx="1454727" cy="392545"/>
                      </a:xfrm>
                      <a:prstGeom prst="rect">
                        <a:avLst/>
                      </a:prstGeom>
                    </p:spPr>
                  </p:pic>
                </p:oleObj>
              </mc:Fallback>
            </mc:AlternateContent>
          </a:graphicData>
        </a:graphic>
      </p:graphicFrame>
      <p:graphicFrame>
        <p:nvGraphicFramePr>
          <p:cNvPr id="10" name="Object 12" descr="H sub a: pi &gt; 0.5.&#10;">
            <a:extLst>
              <a:ext uri="{FF2B5EF4-FFF2-40B4-BE49-F238E27FC236}">
                <a16:creationId xmlns:a16="http://schemas.microsoft.com/office/drawing/2014/main" id="{BA4B1EEE-3AC1-4AC9-8197-16BBFEE7A147}"/>
              </a:ext>
            </a:extLst>
          </p:cNvPr>
          <p:cNvGraphicFramePr>
            <a:graphicFrameLocks noChangeAspect="1"/>
          </p:cNvGraphicFramePr>
          <p:nvPr/>
        </p:nvGraphicFramePr>
        <p:xfrm>
          <a:off x="3045747" y="3365463"/>
          <a:ext cx="1420091" cy="392545"/>
        </p:xfrm>
        <a:graphic>
          <a:graphicData uri="http://schemas.openxmlformats.org/presentationml/2006/ole">
            <mc:AlternateContent xmlns:mc="http://schemas.openxmlformats.org/markup-compatibility/2006">
              <mc:Choice xmlns:v="urn:schemas-microsoft-com:vml" Requires="v">
                <p:oleObj name="Equation" r:id="rId4" imgW="1562040" imgH="431640" progId="Equation.DSMT4">
                  <p:embed/>
                </p:oleObj>
              </mc:Choice>
              <mc:Fallback>
                <p:oleObj name="Equation" r:id="rId4" imgW="1562040" imgH="431640" progId="Equation.DSMT4">
                  <p:embed/>
                  <p:pic>
                    <p:nvPicPr>
                      <p:cNvPr id="10" name="Object 12" descr="H sub a: pi &gt; 0.5.&#10;">
                        <a:extLst>
                          <a:ext uri="{FF2B5EF4-FFF2-40B4-BE49-F238E27FC236}">
                            <a16:creationId xmlns:a16="http://schemas.microsoft.com/office/drawing/2014/main" id="{BA4B1EEE-3AC1-4AC9-8197-16BBFEE7A147}"/>
                          </a:ext>
                        </a:extLst>
                      </p:cNvPr>
                      <p:cNvPicPr/>
                      <p:nvPr/>
                    </p:nvPicPr>
                    <p:blipFill>
                      <a:blip r:embed="rId5"/>
                      <a:stretch>
                        <a:fillRect/>
                      </a:stretch>
                    </p:blipFill>
                    <p:spPr>
                      <a:xfrm>
                        <a:off x="3045747" y="3365463"/>
                        <a:ext cx="1420091" cy="392545"/>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A0C28A18-2BAB-4899-8CAC-52E6F7814A6F}"/>
              </a:ext>
            </a:extLst>
          </p:cNvPr>
          <p:cNvSpPr>
            <a:spLocks noGrp="1"/>
          </p:cNvSpPr>
          <p:nvPr>
            <p:ph sz="quarter" idx="13"/>
          </p:nvPr>
        </p:nvSpPr>
        <p:spPr>
          <a:xfrm>
            <a:off x="1828800" y="3729479"/>
            <a:ext cx="8534400" cy="2366522"/>
          </a:xfrm>
        </p:spPr>
        <p:txBody>
          <a:bodyPr/>
          <a:lstStyle/>
          <a:p>
            <a:pPr marL="292608" indent="-292608">
              <a:buClr>
                <a:schemeClr val="accent2"/>
              </a:buClr>
              <a:buFont typeface="Arial" panose="020B0604020202020204" pitchFamily="34" charset="0"/>
              <a:buChar char="•"/>
            </a:pPr>
            <a:r>
              <a:rPr lang="en-US" dirty="0"/>
              <a:t>With our original alternative, if we get a sample proportion less than 0.50, we would get a very large </a:t>
            </a:r>
            <a:r>
              <a:rPr lang="en-US" i="1" dirty="0"/>
              <a:t>p</a:t>
            </a:r>
            <a:r>
              <a:rPr lang="en-US" dirty="0"/>
              <a:t>-value.</a:t>
            </a:r>
          </a:p>
          <a:p>
            <a:pPr marL="292608" indent="-292608">
              <a:buClr>
                <a:schemeClr val="accent2"/>
              </a:buClr>
              <a:buFont typeface="Arial" panose="020B0604020202020204" pitchFamily="34" charset="0"/>
              <a:buChar char="•"/>
            </a:pPr>
            <a:r>
              <a:rPr lang="en-US" dirty="0"/>
              <a:t>This is a </a:t>
            </a:r>
            <a:r>
              <a:rPr lang="en-US" b="1" dirty="0">
                <a:solidFill>
                  <a:srgbClr val="00007F"/>
                </a:solidFill>
              </a:rPr>
              <a:t>one-sided</a:t>
            </a:r>
            <a:r>
              <a:rPr lang="en-US" dirty="0"/>
              <a:t> test.</a:t>
            </a:r>
          </a:p>
          <a:p>
            <a:pPr marL="292608" indent="-292608">
              <a:buClr>
                <a:schemeClr val="accent2"/>
              </a:buClr>
              <a:buFont typeface="Arial" panose="020B0604020202020204" pitchFamily="34" charset="0"/>
              <a:buChar char="•"/>
            </a:pPr>
            <a:r>
              <a:rPr lang="en-US" dirty="0"/>
              <a:t>Often one-sided is too restrictive.</a:t>
            </a:r>
          </a:p>
          <a:p>
            <a:pPr marL="292608" indent="-292608">
              <a:buClr>
                <a:schemeClr val="accent2"/>
              </a:buClr>
              <a:buFont typeface="Arial" panose="020B0604020202020204" pitchFamily="34" charset="0"/>
              <a:buChar char="•"/>
            </a:pPr>
            <a:r>
              <a:rPr lang="en-US" dirty="0"/>
              <a:t>In fact most research uses two-sided tests.</a:t>
            </a:r>
          </a:p>
        </p:txBody>
      </p:sp>
      <p:pic>
        <p:nvPicPr>
          <p:cNvPr id="2" name="Picture Placeholder 20" descr="A bar graph describes the probability of successes. The horizontal axis is labeled Proportion of successes and has markings from 0.12 to 0.81 in varying increments of 0.07 and 0.06. The vertical axis ranges from 0 to 120 in increments of 40. The heights of the bars for each marking are as follows: 0.25, 5; 0.29, 7; 0.31, 25; 0.34, 28; 0.38, 55; 0.41, 80; 0.44, 115; 0.47, 125; 0.50, 135; 0.53, 110; 0.56, 110; 0.59, 105; 0.62, 60; 0.65, 30; 0.69, 25; 0.72, 12; 0.75, 3; and 0.78, 8. There are no bars above 0.12, 0.19, and 0.81. A red vertical line extends from 0.81 and covers the whole range of the vertical axis and it is marked with an expression p (hat) greater than or equal to 0.8125 at the bottom (highlighted). The bars above 0.72, 0.75, and 0.78 are highlighted. The mean is 0.502, the standard deviation is 0.09, and the proportion is 0 which is highlighted. All values are approximate.">
            <a:extLst>
              <a:ext uri="{FF2B5EF4-FFF2-40B4-BE49-F238E27FC236}">
                <a16:creationId xmlns:a16="http://schemas.microsoft.com/office/drawing/2014/main" id="{86934C66-F7D1-27E7-C66D-9A03AE0E6B75}"/>
              </a:ext>
            </a:extLst>
          </p:cNvPr>
          <p:cNvPicPr>
            <a:picLocks noChangeAspect="1"/>
          </p:cNvPicPr>
          <p:nvPr/>
        </p:nvPicPr>
        <p:blipFill>
          <a:blip r:embed="rId6"/>
          <a:stretch>
            <a:fillRect/>
          </a:stretch>
        </p:blipFill>
        <p:spPr>
          <a:xfrm>
            <a:off x="9015165" y="4671591"/>
            <a:ext cx="2696069" cy="1424410"/>
          </a:xfrm>
          <a:prstGeom prst="rect">
            <a:avLst/>
          </a:prstGeom>
        </p:spPr>
      </p:pic>
    </p:spTree>
    <p:extLst>
      <p:ext uri="{BB962C8B-B14F-4D97-AF65-F5344CB8AC3E}">
        <p14:creationId xmlns:p14="http://schemas.microsoft.com/office/powerpoint/2010/main" val="2386180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D432079-CFF4-4AF8-9C24-EBCDAB792E32}"/>
              </a:ext>
            </a:extLst>
          </p:cNvPr>
          <p:cNvSpPr>
            <a:spLocks noGrp="1"/>
          </p:cNvSpPr>
          <p:nvPr>
            <p:ph type="title"/>
          </p:nvPr>
        </p:nvSpPr>
        <p:spPr/>
        <p:txBody>
          <a:bodyPr/>
          <a:lstStyle/>
          <a:p>
            <a:r>
              <a:rPr lang="en-US" dirty="0"/>
              <a:t>Example 1.4: Two-Sided Tests </a:t>
            </a:r>
            <a:r>
              <a:rPr lang="en-US" sz="2000" b="0" dirty="0"/>
              <a:t>(2 of 5)</a:t>
            </a:r>
            <a:endParaRPr lang="en-US" dirty="0"/>
          </a:p>
        </p:txBody>
      </p:sp>
      <p:sp>
        <p:nvSpPr>
          <p:cNvPr id="7" name="Content Placeholder 6">
            <a:extLst>
              <a:ext uri="{FF2B5EF4-FFF2-40B4-BE49-F238E27FC236}">
                <a16:creationId xmlns:a16="http://schemas.microsoft.com/office/drawing/2014/main" id="{A82CA6E9-43B4-4D2D-9ED6-B616A5D31331}"/>
              </a:ext>
            </a:extLst>
          </p:cNvPr>
          <p:cNvSpPr>
            <a:spLocks noGrp="1"/>
          </p:cNvSpPr>
          <p:nvPr>
            <p:ph sz="quarter" idx="12"/>
          </p:nvPr>
        </p:nvSpPr>
        <p:spPr>
          <a:xfrm>
            <a:off x="1828800" y="1607520"/>
            <a:ext cx="8534400" cy="2121959"/>
          </a:xfrm>
        </p:spPr>
        <p:txBody>
          <a:bodyPr/>
          <a:lstStyle/>
          <a:p>
            <a:pPr marL="292608" indent="-292608">
              <a:buClr>
                <a:schemeClr val="accent2"/>
              </a:buClr>
              <a:buFont typeface="Arial" panose="020B0604020202020204" pitchFamily="34" charset="0"/>
              <a:buChar char="•"/>
            </a:pPr>
            <a:r>
              <a:rPr lang="en-US" dirty="0"/>
              <a:t>In a two-sided test we have evidence in favor of the alternative hypothesis if the observed sample proportion is in either tail of the null distribution.</a:t>
            </a:r>
          </a:p>
          <a:p>
            <a:pPr marL="0" indent="0">
              <a:buNone/>
            </a:pPr>
            <a:r>
              <a:rPr lang="en-US" dirty="0"/>
              <a:t>Null hypothesis: The probability this method predicts the winner equals 0.50.</a:t>
            </a:r>
          </a:p>
        </p:txBody>
      </p:sp>
      <p:graphicFrame>
        <p:nvGraphicFramePr>
          <p:cNvPr id="11" name="Object 11" descr="H sub 0: pi = 0.5">
            <a:extLst>
              <a:ext uri="{FF2B5EF4-FFF2-40B4-BE49-F238E27FC236}">
                <a16:creationId xmlns:a16="http://schemas.microsoft.com/office/drawing/2014/main" id="{C1B0E633-2114-4F43-80A5-05ED238E7A16}"/>
              </a:ext>
            </a:extLst>
          </p:cNvPr>
          <p:cNvGraphicFramePr>
            <a:graphicFrameLocks noChangeAspect="1"/>
          </p:cNvGraphicFramePr>
          <p:nvPr/>
        </p:nvGraphicFramePr>
        <p:xfrm>
          <a:off x="4549026" y="3343057"/>
          <a:ext cx="1784352" cy="446088"/>
        </p:xfrm>
        <a:graphic>
          <a:graphicData uri="http://schemas.openxmlformats.org/presentationml/2006/ole">
            <mc:AlternateContent xmlns:mc="http://schemas.openxmlformats.org/markup-compatibility/2006">
              <mc:Choice xmlns:v="urn:schemas-microsoft-com:vml" Requires="v">
                <p:oleObj name="Equation" r:id="rId3" imgW="1930320" imgH="482400" progId="Equation.DSMT4">
                  <p:embed/>
                </p:oleObj>
              </mc:Choice>
              <mc:Fallback>
                <p:oleObj name="Equation" r:id="rId3" imgW="1930320" imgH="482400" progId="Equation.DSMT4">
                  <p:embed/>
                  <p:pic>
                    <p:nvPicPr>
                      <p:cNvPr id="11" name="Object 11" descr="H sub 0: pi = 0.5">
                        <a:extLst>
                          <a:ext uri="{FF2B5EF4-FFF2-40B4-BE49-F238E27FC236}">
                            <a16:creationId xmlns:a16="http://schemas.microsoft.com/office/drawing/2014/main" id="{C1B0E633-2114-4F43-80A5-05ED238E7A16}"/>
                          </a:ext>
                        </a:extLst>
                      </p:cNvPr>
                      <p:cNvPicPr/>
                      <p:nvPr/>
                    </p:nvPicPr>
                    <p:blipFill>
                      <a:blip r:embed="rId4"/>
                      <a:stretch>
                        <a:fillRect/>
                      </a:stretch>
                    </p:blipFill>
                    <p:spPr>
                      <a:xfrm>
                        <a:off x="4549026" y="3343057"/>
                        <a:ext cx="1784352" cy="446088"/>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A0C28A18-2BAB-4899-8CAC-52E6F7814A6F}"/>
              </a:ext>
            </a:extLst>
          </p:cNvPr>
          <p:cNvSpPr>
            <a:spLocks noGrp="1"/>
          </p:cNvSpPr>
          <p:nvPr>
            <p:ph sz="quarter" idx="13"/>
          </p:nvPr>
        </p:nvSpPr>
        <p:spPr>
          <a:xfrm>
            <a:off x="1828800" y="3729479"/>
            <a:ext cx="8534400" cy="989736"/>
          </a:xfrm>
        </p:spPr>
        <p:txBody>
          <a:bodyPr/>
          <a:lstStyle/>
          <a:p>
            <a:pPr marL="0" indent="0">
              <a:buNone/>
            </a:pPr>
            <a:r>
              <a:rPr lang="en-US" dirty="0"/>
              <a:t>Alternative hypothesis: The probability this method predicts the winner </a:t>
            </a:r>
            <a:r>
              <a:rPr lang="en-US" b="1" dirty="0"/>
              <a:t>is not </a:t>
            </a:r>
            <a:r>
              <a:rPr lang="en-US" dirty="0"/>
              <a:t>0.50.</a:t>
            </a:r>
          </a:p>
        </p:txBody>
      </p:sp>
      <p:graphicFrame>
        <p:nvGraphicFramePr>
          <p:cNvPr id="12" name="Object 12" descr="H sub a: pi not = 0.50.">
            <a:extLst>
              <a:ext uri="{FF2B5EF4-FFF2-40B4-BE49-F238E27FC236}">
                <a16:creationId xmlns:a16="http://schemas.microsoft.com/office/drawing/2014/main" id="{560B49C0-D864-4D07-A0A7-9C80DB196FDC}"/>
              </a:ext>
            </a:extLst>
          </p:cNvPr>
          <p:cNvGraphicFramePr>
            <a:graphicFrameLocks noChangeAspect="1"/>
          </p:cNvGraphicFramePr>
          <p:nvPr/>
        </p:nvGraphicFramePr>
        <p:xfrm>
          <a:off x="4957575" y="4199488"/>
          <a:ext cx="1918366" cy="455612"/>
        </p:xfrm>
        <a:graphic>
          <a:graphicData uri="http://schemas.openxmlformats.org/presentationml/2006/ole">
            <mc:AlternateContent xmlns:mc="http://schemas.openxmlformats.org/markup-compatibility/2006">
              <mc:Choice xmlns:v="urn:schemas-microsoft-com:vml" Requires="v">
                <p:oleObj name="Equation" r:id="rId5" imgW="2031840" imgH="482400" progId="Equation.DSMT4">
                  <p:embed/>
                </p:oleObj>
              </mc:Choice>
              <mc:Fallback>
                <p:oleObj name="Equation" r:id="rId5" imgW="2031840" imgH="482400" progId="Equation.DSMT4">
                  <p:embed/>
                  <p:pic>
                    <p:nvPicPr>
                      <p:cNvPr id="12" name="Object 12" descr="H sub a: pi not = 0.50.">
                        <a:extLst>
                          <a:ext uri="{FF2B5EF4-FFF2-40B4-BE49-F238E27FC236}">
                            <a16:creationId xmlns:a16="http://schemas.microsoft.com/office/drawing/2014/main" id="{560B49C0-D864-4D07-A0A7-9C80DB196FDC}"/>
                          </a:ext>
                        </a:extLst>
                      </p:cNvPr>
                      <p:cNvPicPr/>
                      <p:nvPr/>
                    </p:nvPicPr>
                    <p:blipFill>
                      <a:blip r:embed="rId6"/>
                      <a:stretch>
                        <a:fillRect/>
                      </a:stretch>
                    </p:blipFill>
                    <p:spPr>
                      <a:xfrm>
                        <a:off x="4957575" y="4199488"/>
                        <a:ext cx="1918366" cy="455612"/>
                      </a:xfrm>
                      <a:prstGeom prst="rect">
                        <a:avLst/>
                      </a:prstGeom>
                    </p:spPr>
                  </p:pic>
                </p:oleObj>
              </mc:Fallback>
            </mc:AlternateContent>
          </a:graphicData>
        </a:graphic>
      </p:graphicFrame>
    </p:spTree>
    <p:extLst>
      <p:ext uri="{BB962C8B-B14F-4D97-AF65-F5344CB8AC3E}">
        <p14:creationId xmlns:p14="http://schemas.microsoft.com/office/powerpoint/2010/main" val="2115595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534400" cy="1062530"/>
          </a:xfrm>
        </p:spPr>
        <p:txBody>
          <a:bodyPr>
            <a:normAutofit/>
          </a:bodyPr>
          <a:lstStyle/>
          <a:p>
            <a:r>
              <a:rPr lang="en-US" dirty="0"/>
              <a:t>Example 1.4: Two-Sided Tests </a:t>
            </a:r>
            <a:r>
              <a:rPr lang="en-US" sz="2000" b="0" dirty="0"/>
              <a:t>(3 of 5)</a:t>
            </a:r>
            <a:endParaRPr lang="en-US"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1"/>
            <a:ext cx="8534400" cy="4325765"/>
          </a:xfrm>
        </p:spPr>
        <p:txBody>
          <a:bodyPr/>
          <a:lstStyle/>
          <a:p>
            <a:pPr marL="292608" indent="-292608">
              <a:buClr>
                <a:schemeClr val="accent2"/>
              </a:buClr>
              <a:buFont typeface="Arial" panose="020B0604020202020204" pitchFamily="34" charset="0"/>
              <a:buChar char="•"/>
            </a:pPr>
            <a:r>
              <a:rPr lang="en-US" dirty="0"/>
              <a:t>This change to the alternative hypothesis also affects how we compute the </a:t>
            </a:r>
            <a:r>
              <a:rPr lang="en-US" i="1" dirty="0"/>
              <a:t>p</a:t>
            </a:r>
            <a:r>
              <a:rPr lang="en-US" dirty="0"/>
              <a:t>-value.</a:t>
            </a:r>
          </a:p>
          <a:p>
            <a:pPr marL="292608" indent="-292608">
              <a:buClr>
                <a:schemeClr val="accent2"/>
              </a:buClr>
              <a:buFont typeface="Arial" panose="020B0604020202020204" pitchFamily="34" charset="0"/>
              <a:buChar char="•"/>
            </a:pPr>
            <a:r>
              <a:rPr lang="en-US" dirty="0"/>
              <a:t>Remember that the </a:t>
            </a:r>
            <a:r>
              <a:rPr lang="en-US" i="1" dirty="0"/>
              <a:t>p</a:t>
            </a:r>
            <a:r>
              <a:rPr lang="en-US" dirty="0"/>
              <a:t>-value is the probability (assuming the null hypothesis is true) of obtaining a proportion that is equal to or </a:t>
            </a:r>
            <a:r>
              <a:rPr lang="en-US" b="1" dirty="0"/>
              <a:t>more extreme </a:t>
            </a:r>
            <a:r>
              <a:rPr lang="en-US" dirty="0"/>
              <a:t>than the observed statistic</a:t>
            </a:r>
          </a:p>
          <a:p>
            <a:pPr marL="292608" indent="-292608">
              <a:buClr>
                <a:schemeClr val="accent2"/>
              </a:buClr>
              <a:buFont typeface="Arial" panose="020B0604020202020204" pitchFamily="34" charset="0"/>
              <a:buChar char="•"/>
            </a:pPr>
            <a:r>
              <a:rPr lang="en-US" dirty="0"/>
              <a:t>In a two-sided test, </a:t>
            </a:r>
            <a:r>
              <a:rPr lang="en-US" b="1" dirty="0"/>
              <a:t>more extreme </a:t>
            </a:r>
            <a:r>
              <a:rPr lang="en-US" dirty="0"/>
              <a:t>goes in both directions.</a:t>
            </a:r>
          </a:p>
        </p:txBody>
      </p:sp>
    </p:spTree>
    <p:extLst>
      <p:ext uri="{BB962C8B-B14F-4D97-AF65-F5344CB8AC3E}">
        <p14:creationId xmlns:p14="http://schemas.microsoft.com/office/powerpoint/2010/main" val="2963641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C9633-F34D-3EFB-688D-1101DCA9A3B4}"/>
              </a:ext>
            </a:extLst>
          </p:cNvPr>
          <p:cNvSpPr>
            <a:spLocks noGrp="1"/>
          </p:cNvSpPr>
          <p:nvPr>
            <p:ph type="title"/>
          </p:nvPr>
        </p:nvSpPr>
        <p:spPr/>
        <p:txBody>
          <a:bodyPr/>
          <a:lstStyle/>
          <a:p>
            <a:r>
              <a:rPr lang="en-US" dirty="0"/>
              <a:t>From Wikipedia</a:t>
            </a:r>
          </a:p>
        </p:txBody>
      </p:sp>
      <p:sp>
        <p:nvSpPr>
          <p:cNvPr id="3" name="Footer Placeholder 2">
            <a:extLst>
              <a:ext uri="{FF2B5EF4-FFF2-40B4-BE49-F238E27FC236}">
                <a16:creationId xmlns:a16="http://schemas.microsoft.com/office/drawing/2014/main" id="{98B88CD5-D941-3EC9-BDB6-D22D3C7EC5B4}"/>
              </a:ext>
            </a:extLst>
          </p:cNvPr>
          <p:cNvSpPr>
            <a:spLocks noGrp="1"/>
          </p:cNvSpPr>
          <p:nvPr>
            <p:ph type="ftr" sz="quarter" idx="11"/>
          </p:nvPr>
        </p:nvSpPr>
        <p:spPr/>
        <p:txBody>
          <a:bodyPr/>
          <a:lstStyle/>
          <a:p>
            <a:r>
              <a:rPr lang="en-US" dirty="0"/>
              <a:t>https://</a:t>
            </a:r>
            <a:r>
              <a:rPr lang="en-US" dirty="0" err="1"/>
              <a:t>en.wikipedia.org</a:t>
            </a:r>
            <a:r>
              <a:rPr lang="en-US" dirty="0"/>
              <a:t>/wiki/One-_</a:t>
            </a:r>
            <a:r>
              <a:rPr lang="en-US" dirty="0" err="1"/>
              <a:t>and_two</a:t>
            </a:r>
            <a:r>
              <a:rPr lang="en-US" dirty="0"/>
              <a:t>-</a:t>
            </a:r>
            <a:r>
              <a:rPr lang="en-US" dirty="0" err="1"/>
              <a:t>tailed_tests</a:t>
            </a:r>
            <a:endParaRPr lang="en-US" dirty="0"/>
          </a:p>
        </p:txBody>
      </p:sp>
      <p:sp>
        <p:nvSpPr>
          <p:cNvPr id="4" name="Slide Number Placeholder 3">
            <a:extLst>
              <a:ext uri="{FF2B5EF4-FFF2-40B4-BE49-F238E27FC236}">
                <a16:creationId xmlns:a16="http://schemas.microsoft.com/office/drawing/2014/main" id="{09C2A3D1-5F0F-A71D-56BD-8843AD05964D}"/>
              </a:ext>
            </a:extLst>
          </p:cNvPr>
          <p:cNvSpPr>
            <a:spLocks noGrp="1"/>
          </p:cNvSpPr>
          <p:nvPr>
            <p:ph type="sldNum" sz="quarter" idx="12"/>
          </p:nvPr>
        </p:nvSpPr>
        <p:spPr/>
        <p:txBody>
          <a:bodyPr/>
          <a:lstStyle/>
          <a:p>
            <a:fld id="{2497149E-2C4D-4F23-9B0B-AB7C708B8462}" type="slidenum">
              <a:rPr lang="en-US" smtClean="0"/>
              <a:pPr/>
              <a:t>25</a:t>
            </a:fld>
            <a:endParaRPr lang="en-US" dirty="0"/>
          </a:p>
        </p:txBody>
      </p:sp>
      <p:pic>
        <p:nvPicPr>
          <p:cNvPr id="1026" name="Picture 2" descr="One- and two-tailed tests - Wikipedia">
            <a:extLst>
              <a:ext uri="{FF2B5EF4-FFF2-40B4-BE49-F238E27FC236}">
                <a16:creationId xmlns:a16="http://schemas.microsoft.com/office/drawing/2014/main" id="{4BA49773-F059-13B2-536F-4BA8C39E0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172" y="2238374"/>
            <a:ext cx="5270500" cy="3479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defined">
            <a:extLst>
              <a:ext uri="{FF2B5EF4-FFF2-40B4-BE49-F238E27FC236}">
                <a16:creationId xmlns:a16="http://schemas.microsoft.com/office/drawing/2014/main" id="{BDC0777B-82F0-827D-16B9-9183DF4221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9540" y="2833686"/>
            <a:ext cx="5558288" cy="228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068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031D57B-22F7-4B02-A276-52A467021FDA}"/>
              </a:ext>
            </a:extLst>
          </p:cNvPr>
          <p:cNvSpPr>
            <a:spLocks noGrp="1"/>
          </p:cNvSpPr>
          <p:nvPr>
            <p:ph type="title"/>
          </p:nvPr>
        </p:nvSpPr>
        <p:spPr/>
        <p:txBody>
          <a:bodyPr/>
          <a:lstStyle/>
          <a:p>
            <a:r>
              <a:rPr lang="en-US" dirty="0"/>
              <a:t>Example 1.4: Two-Sided Tests </a:t>
            </a:r>
            <a:r>
              <a:rPr lang="en-US" sz="2000" b="0" dirty="0"/>
              <a:t>(4 of 5)</a:t>
            </a:r>
            <a:endParaRPr lang="en-US" dirty="0"/>
          </a:p>
        </p:txBody>
      </p:sp>
      <p:sp>
        <p:nvSpPr>
          <p:cNvPr id="11" name="Content Placeholder 10">
            <a:extLst>
              <a:ext uri="{FF2B5EF4-FFF2-40B4-BE49-F238E27FC236}">
                <a16:creationId xmlns:a16="http://schemas.microsoft.com/office/drawing/2014/main" id="{0778937C-DD54-414A-8B50-1F2A4CCDB5A6}"/>
              </a:ext>
            </a:extLst>
          </p:cNvPr>
          <p:cNvSpPr>
            <a:spLocks noGrp="1"/>
          </p:cNvSpPr>
          <p:nvPr>
            <p:ph sz="quarter" idx="12"/>
          </p:nvPr>
        </p:nvSpPr>
        <p:spPr>
          <a:xfrm>
            <a:off x="1828800" y="1745873"/>
            <a:ext cx="8534400" cy="2214392"/>
          </a:xfrm>
        </p:spPr>
        <p:txBody>
          <a:bodyPr/>
          <a:lstStyle/>
          <a:p>
            <a:pPr marL="292608" indent="-292608">
              <a:buClr>
                <a:schemeClr val="accent2"/>
              </a:buClr>
              <a:buFont typeface="Arial" panose="020B0604020202020204" pitchFamily="34" charset="0"/>
              <a:buChar char="•"/>
            </a:pPr>
            <a:r>
              <a:rPr lang="en-US" sz="2200" dirty="0"/>
              <a:t>Because our sample proportion was 0.7188 and 0.7188 is 0.2188 above 0.5, we also need to look at 0.2188 below 0.50. (This gets a bit more complicated when the distribution is not symmetric, but the applet will do all the work for you.)</a:t>
            </a:r>
          </a:p>
          <a:p>
            <a:pPr marL="292608" indent="-292608">
              <a:buClr>
                <a:schemeClr val="accent2"/>
              </a:buClr>
              <a:buFont typeface="Arial" panose="020B0604020202020204" pitchFamily="34" charset="0"/>
              <a:buChar char="•"/>
            </a:pPr>
            <a:r>
              <a:rPr lang="en-US" sz="2200" dirty="0"/>
              <a:t>The </a:t>
            </a:r>
            <a:r>
              <a:rPr lang="en-US" sz="2200" i="1" dirty="0"/>
              <a:t>p</a:t>
            </a:r>
            <a:r>
              <a:rPr lang="en-US" sz="2200" dirty="0"/>
              <a:t>-value will include all simulated proportions 0.7188 and above as well as those 0.2812 and below.</a:t>
            </a:r>
          </a:p>
        </p:txBody>
      </p:sp>
      <p:pic>
        <p:nvPicPr>
          <p:cNvPr id="8" name="Picture Placeholder 2" descr="A bar graph depicts the computation of two-sided p-value. The horizontal axis has markings from 0.12 to 0.81 in varying increments of 0.07 and 0.06. The vertical axis ranges from 0 to 160 in increments of 40. The heights of the bars for each marking are as follows: 0.22, 5; 0.25, 8; 0.28, 10; 0.31, 25; 0.34, 38; 0.38, 48; 0.41, 80; 0.44, 120; 0.48, 130; 0.50, 135; 0.53, 130; 0.56, 110; 0.59, 70; 0.62, 50; 0.65, 25; 0.69, 20; 0.72, 8; 0.75, 5; and 0.81, 5. Below the bar graph is a vertical line at the center corresponding to 0.50. The portion to the left of 0.50 is labeled negative 0.2188 and an expression below reads, p (hat) less than or equal to 0.2812. The portion to the right of 0.50 is labeled positive 0.2188 and an expression below reads, p (hat) greater than or equal to 0.7188. The bars above 0.22, 0.25, 0.28, 0.72, 0.75, and 0.81 are highlighted. The mean is 0.495, the standard deviation is 0.088, and the proportion is 0.017 which is highlighted. All values are approximate.">
            <a:extLst>
              <a:ext uri="{FF2B5EF4-FFF2-40B4-BE49-F238E27FC236}">
                <a16:creationId xmlns:a16="http://schemas.microsoft.com/office/drawing/2014/main" id="{C1E15D48-2A27-43A1-B27C-F43EBA8B1656}"/>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tretch>
            <a:fillRect/>
          </a:stretch>
        </p:blipFill>
        <p:spPr bwMode="auto">
          <a:xfrm>
            <a:off x="4277815" y="4001969"/>
            <a:ext cx="3636370" cy="22765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7931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9760599-251B-40A9-BE99-CC80DE78419F}"/>
              </a:ext>
            </a:extLst>
          </p:cNvPr>
          <p:cNvSpPr>
            <a:spLocks noGrp="1"/>
          </p:cNvSpPr>
          <p:nvPr>
            <p:ph type="title"/>
          </p:nvPr>
        </p:nvSpPr>
        <p:spPr/>
        <p:txBody>
          <a:bodyPr/>
          <a:lstStyle/>
          <a:p>
            <a:r>
              <a:rPr lang="en-US" dirty="0"/>
              <a:t>Example 1.4: Two-Sided Tests </a:t>
            </a:r>
            <a:r>
              <a:rPr lang="en-US" sz="2000" b="0" dirty="0"/>
              <a:t>(5 of 5)</a:t>
            </a:r>
            <a:endParaRPr lang="en-US" dirty="0"/>
          </a:p>
        </p:txBody>
      </p:sp>
      <p:sp>
        <p:nvSpPr>
          <p:cNvPr id="10" name="Content Placeholder 9">
            <a:extLst>
              <a:ext uri="{FF2B5EF4-FFF2-40B4-BE49-F238E27FC236}">
                <a16:creationId xmlns:a16="http://schemas.microsoft.com/office/drawing/2014/main" id="{C1D448E1-9F23-4AF3-AC92-1223229A5E28}"/>
              </a:ext>
            </a:extLst>
          </p:cNvPr>
          <p:cNvSpPr>
            <a:spLocks noGrp="1"/>
          </p:cNvSpPr>
          <p:nvPr>
            <p:ph sz="quarter" idx="12"/>
          </p:nvPr>
        </p:nvSpPr>
        <p:spPr>
          <a:xfrm>
            <a:off x="1828800" y="1911351"/>
            <a:ext cx="8534400" cy="1669440"/>
          </a:xfrm>
        </p:spPr>
        <p:txBody>
          <a:bodyPr/>
          <a:lstStyle/>
          <a:p>
            <a:pPr marL="292608" indent="-292608">
              <a:buClr>
                <a:schemeClr val="accent2"/>
              </a:buClr>
              <a:buFont typeface="Arial" panose="020B0604020202020204" pitchFamily="34" charset="0"/>
              <a:buChar char="•"/>
            </a:pPr>
            <a:r>
              <a:rPr lang="en-US" dirty="0"/>
              <a:t>0.7188 or greater was obtained 9 times</a:t>
            </a:r>
          </a:p>
          <a:p>
            <a:pPr marL="292608" indent="-292608">
              <a:spcAft>
                <a:spcPts val="800"/>
              </a:spcAft>
              <a:buClr>
                <a:schemeClr val="accent2"/>
              </a:buClr>
              <a:buFont typeface="Arial" panose="020B0604020202020204" pitchFamily="34" charset="0"/>
              <a:buChar char="•"/>
            </a:pPr>
            <a:r>
              <a:rPr lang="en-US" dirty="0"/>
              <a:t>0.2812 or less was obtained 8 times</a:t>
            </a:r>
          </a:p>
          <a:p>
            <a:pPr marL="292608" indent="-292608">
              <a:buClr>
                <a:schemeClr val="accent2"/>
              </a:buClr>
              <a:buFont typeface="Arial" panose="020B0604020202020204" pitchFamily="34" charset="0"/>
              <a:buChar char="•"/>
            </a:pPr>
            <a:r>
              <a:rPr lang="en-US" dirty="0"/>
              <a:t>The </a:t>
            </a:r>
            <a:r>
              <a:rPr lang="en-US" i="1" dirty="0"/>
              <a:t>p</a:t>
            </a:r>
            <a:r>
              <a:rPr lang="en-US" dirty="0"/>
              <a:t>-value is</a:t>
            </a:r>
          </a:p>
        </p:txBody>
      </p:sp>
      <p:graphicFrame>
        <p:nvGraphicFramePr>
          <p:cNvPr id="12" name="Object 9" descr="start frac left parenthesis eight plus nine equals 17 right parenthesis over 1000 end frac equals 0.017 full stop">
            <a:extLst>
              <a:ext uri="{FF2B5EF4-FFF2-40B4-BE49-F238E27FC236}">
                <a16:creationId xmlns:a16="http://schemas.microsoft.com/office/drawing/2014/main" id="{4441E5C4-9B15-4208-915A-4164A0E9DC3E}"/>
              </a:ext>
            </a:extLst>
          </p:cNvPr>
          <p:cNvGraphicFramePr>
            <a:graphicFrameLocks noChangeAspect="1"/>
          </p:cNvGraphicFramePr>
          <p:nvPr/>
        </p:nvGraphicFramePr>
        <p:xfrm>
          <a:off x="4208319" y="2875009"/>
          <a:ext cx="2404567" cy="742279"/>
        </p:xfrm>
        <a:graphic>
          <a:graphicData uri="http://schemas.openxmlformats.org/presentationml/2006/ole">
            <mc:AlternateContent xmlns:mc="http://schemas.openxmlformats.org/markup-compatibility/2006">
              <mc:Choice xmlns:v="urn:schemas-microsoft-com:vml" Requires="v">
                <p:oleObj name="Equation" r:id="rId2" imgW="2920680" imgH="901440" progId="Equation.DSMT4">
                  <p:embed/>
                </p:oleObj>
              </mc:Choice>
              <mc:Fallback>
                <p:oleObj name="Equation" r:id="rId2" imgW="2920680" imgH="901440" progId="Equation.DSMT4">
                  <p:embed/>
                  <p:pic>
                    <p:nvPicPr>
                      <p:cNvPr id="12" name="Object 9" descr="start frac left parenthesis eight plus nine equals 17 right parenthesis over 1000 end frac equals 0.017 full stop">
                        <a:extLst>
                          <a:ext uri="{FF2B5EF4-FFF2-40B4-BE49-F238E27FC236}">
                            <a16:creationId xmlns:a16="http://schemas.microsoft.com/office/drawing/2014/main" id="{4441E5C4-9B15-4208-915A-4164A0E9DC3E}"/>
                          </a:ext>
                        </a:extLst>
                      </p:cNvPr>
                      <p:cNvPicPr/>
                      <p:nvPr/>
                    </p:nvPicPr>
                    <p:blipFill>
                      <a:blip r:embed="rId3"/>
                      <a:stretch>
                        <a:fillRect/>
                      </a:stretch>
                    </p:blipFill>
                    <p:spPr>
                      <a:xfrm>
                        <a:off x="4208319" y="2875009"/>
                        <a:ext cx="2404567" cy="742279"/>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0B11F72E-2F11-4D92-B064-71CCF3C5E1AD}"/>
              </a:ext>
            </a:extLst>
          </p:cNvPr>
          <p:cNvSpPr>
            <a:spLocks noGrp="1"/>
          </p:cNvSpPr>
          <p:nvPr>
            <p:ph sz="quarter" idx="13"/>
          </p:nvPr>
        </p:nvSpPr>
        <p:spPr>
          <a:xfrm>
            <a:off x="1828800" y="3597468"/>
            <a:ext cx="8534400" cy="2287525"/>
          </a:xfrm>
        </p:spPr>
        <p:txBody>
          <a:bodyPr/>
          <a:lstStyle/>
          <a:p>
            <a:pPr marL="292608" indent="-292608">
              <a:buClr>
                <a:schemeClr val="accent2"/>
              </a:buClr>
              <a:buFont typeface="Arial" panose="020B0604020202020204" pitchFamily="34" charset="0"/>
              <a:buChar char="•"/>
            </a:pPr>
            <a:r>
              <a:rPr lang="en-US" dirty="0"/>
              <a:t>Two-sided tests increase the </a:t>
            </a:r>
            <a:r>
              <a:rPr lang="en-US" i="1" dirty="0"/>
              <a:t>p</a:t>
            </a:r>
            <a:r>
              <a:rPr lang="en-US" dirty="0"/>
              <a:t>-value (it about doubles) and hence decrease the strength of evidence.</a:t>
            </a:r>
          </a:p>
          <a:p>
            <a:pPr marL="292608" indent="-292608">
              <a:buClr>
                <a:schemeClr val="accent2"/>
              </a:buClr>
              <a:buFont typeface="Arial" panose="020B0604020202020204" pitchFamily="34" charset="0"/>
              <a:buChar char="•"/>
            </a:pPr>
            <a:r>
              <a:rPr lang="en-US" dirty="0"/>
              <a:t>Two-sided tests are said to be more conservative. More evidence is needed to conclude alternative.</a:t>
            </a:r>
          </a:p>
        </p:txBody>
      </p:sp>
    </p:spTree>
    <p:extLst>
      <p:ext uri="{BB962C8B-B14F-4D97-AF65-F5344CB8AC3E}">
        <p14:creationId xmlns:p14="http://schemas.microsoft.com/office/powerpoint/2010/main" val="36220011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9760599-251B-40A9-BE99-CC80DE78419F}"/>
              </a:ext>
            </a:extLst>
          </p:cNvPr>
          <p:cNvSpPr>
            <a:spLocks noGrp="1"/>
          </p:cNvSpPr>
          <p:nvPr>
            <p:ph type="title"/>
          </p:nvPr>
        </p:nvSpPr>
        <p:spPr>
          <a:xfrm>
            <a:off x="1828801" y="620886"/>
            <a:ext cx="8293481" cy="986635"/>
          </a:xfrm>
        </p:spPr>
        <p:txBody>
          <a:bodyPr>
            <a:normAutofit fontScale="90000"/>
          </a:bodyPr>
          <a:lstStyle/>
          <a:p>
            <a:r>
              <a:rPr lang="en-US" dirty="0"/>
              <a:t>Example 1.4: Predicting House Elections </a:t>
            </a:r>
            <a:r>
              <a:rPr lang="en-US" sz="2000" b="0" dirty="0"/>
              <a:t>(1 of 4)</a:t>
            </a:r>
            <a:endParaRPr lang="en-US" dirty="0"/>
          </a:p>
        </p:txBody>
      </p:sp>
      <p:sp>
        <p:nvSpPr>
          <p:cNvPr id="10" name="Content Placeholder 9">
            <a:extLst>
              <a:ext uri="{FF2B5EF4-FFF2-40B4-BE49-F238E27FC236}">
                <a16:creationId xmlns:a16="http://schemas.microsoft.com/office/drawing/2014/main" id="{C1D448E1-9F23-4AF3-AC92-1223229A5E28}"/>
              </a:ext>
            </a:extLst>
          </p:cNvPr>
          <p:cNvSpPr>
            <a:spLocks noGrp="1"/>
          </p:cNvSpPr>
          <p:nvPr>
            <p:ph sz="quarter" idx="12"/>
          </p:nvPr>
        </p:nvSpPr>
        <p:spPr>
          <a:xfrm>
            <a:off x="1828800" y="1795958"/>
            <a:ext cx="8534400" cy="1379703"/>
          </a:xfrm>
        </p:spPr>
        <p:txBody>
          <a:bodyPr/>
          <a:lstStyle/>
          <a:p>
            <a:pPr marL="292608" indent="-292608">
              <a:buClr>
                <a:schemeClr val="accent2"/>
              </a:buClr>
              <a:buFont typeface="Arial" panose="020B0604020202020204" pitchFamily="34" charset="0"/>
              <a:buChar char="•"/>
            </a:pPr>
            <a:r>
              <a:rPr lang="en-US" dirty="0"/>
              <a:t>Researchers also predicted the 279 races for the House of Representatives in 2004.</a:t>
            </a:r>
          </a:p>
          <a:p>
            <a:pPr marL="292608" indent="-292608">
              <a:buClr>
                <a:schemeClr val="accent2"/>
              </a:buClr>
              <a:buFont typeface="Arial" panose="020B0604020202020204" pitchFamily="34" charset="0"/>
              <a:buChar char="•"/>
            </a:pPr>
            <a:r>
              <a:rPr lang="en-US" dirty="0"/>
              <a:t>They correctly predicted the winner in</a:t>
            </a:r>
          </a:p>
        </p:txBody>
      </p:sp>
      <p:graphicFrame>
        <p:nvGraphicFramePr>
          <p:cNvPr id="6" name="Object 9" descr="start frac 189 over 279 end frac almost equals 0.677 comma or 67 .7%">
            <a:extLst>
              <a:ext uri="{FF2B5EF4-FFF2-40B4-BE49-F238E27FC236}">
                <a16:creationId xmlns:a16="http://schemas.microsoft.com/office/drawing/2014/main" id="{C0FB3256-B612-49A8-A717-81F9FC2FE0AD}"/>
              </a:ext>
            </a:extLst>
          </p:cNvPr>
          <p:cNvGraphicFramePr>
            <a:graphicFrameLocks noChangeAspect="1"/>
          </p:cNvGraphicFramePr>
          <p:nvPr/>
        </p:nvGraphicFramePr>
        <p:xfrm>
          <a:off x="7398931" y="2580241"/>
          <a:ext cx="2723351" cy="713259"/>
        </p:xfrm>
        <a:graphic>
          <a:graphicData uri="http://schemas.openxmlformats.org/presentationml/2006/ole">
            <mc:AlternateContent xmlns:mc="http://schemas.openxmlformats.org/markup-compatibility/2006">
              <mc:Choice xmlns:v="urn:schemas-microsoft-com:vml" Requires="v">
                <p:oleObj name="Equation" r:id="rId2" imgW="3200400" imgH="838080" progId="Equation.DSMT4">
                  <p:embed/>
                </p:oleObj>
              </mc:Choice>
              <mc:Fallback>
                <p:oleObj name="Equation" r:id="rId2" imgW="3200400" imgH="838080" progId="Equation.DSMT4">
                  <p:embed/>
                  <p:pic>
                    <p:nvPicPr>
                      <p:cNvPr id="6" name="Object 9" descr="start frac 189 over 279 end frac almost equals 0.677 comma or 67 .7%">
                        <a:extLst>
                          <a:ext uri="{FF2B5EF4-FFF2-40B4-BE49-F238E27FC236}">
                            <a16:creationId xmlns:a16="http://schemas.microsoft.com/office/drawing/2014/main" id="{C0FB3256-B612-49A8-A717-81F9FC2FE0AD}"/>
                          </a:ext>
                        </a:extLst>
                      </p:cNvPr>
                      <p:cNvPicPr/>
                      <p:nvPr/>
                    </p:nvPicPr>
                    <p:blipFill>
                      <a:blip r:embed="rId3"/>
                      <a:stretch>
                        <a:fillRect/>
                      </a:stretch>
                    </p:blipFill>
                    <p:spPr>
                      <a:xfrm>
                        <a:off x="7398931" y="2580241"/>
                        <a:ext cx="2723351" cy="713259"/>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0B11F72E-2F11-4D92-B064-71CCF3C5E1AD}"/>
              </a:ext>
            </a:extLst>
          </p:cNvPr>
          <p:cNvSpPr>
            <a:spLocks noGrp="1"/>
          </p:cNvSpPr>
          <p:nvPr>
            <p:ph sz="quarter" idx="13"/>
          </p:nvPr>
        </p:nvSpPr>
        <p:spPr>
          <a:xfrm>
            <a:off x="1828800" y="3125421"/>
            <a:ext cx="8534400" cy="3111695"/>
          </a:xfrm>
        </p:spPr>
        <p:txBody>
          <a:bodyPr/>
          <a:lstStyle/>
          <a:p>
            <a:pPr marL="0" indent="280988">
              <a:buNone/>
            </a:pPr>
            <a:r>
              <a:rPr lang="en-US" dirty="0"/>
              <a:t>of the races.</a:t>
            </a:r>
          </a:p>
          <a:p>
            <a:pPr marL="292608" indent="-292608">
              <a:buClr>
                <a:schemeClr val="accent2"/>
              </a:buClr>
              <a:buFont typeface="Arial" panose="020B0604020202020204" pitchFamily="34" charset="0"/>
              <a:buChar char="•"/>
            </a:pPr>
            <a:r>
              <a:rPr lang="en-US" dirty="0"/>
              <a:t>The House’s sample percentage (67.7%) is bit smaller than the Senate’s (71.9%), but the House’s sample size is larger (279) than for the senate races (32).</a:t>
            </a:r>
          </a:p>
          <a:p>
            <a:pPr marL="292608" indent="-292608">
              <a:buClr>
                <a:schemeClr val="accent2"/>
              </a:buClr>
              <a:buFont typeface="Arial" panose="020B0604020202020204" pitchFamily="34" charset="0"/>
              <a:buChar char="•"/>
            </a:pPr>
            <a:r>
              <a:rPr lang="en-US" dirty="0"/>
              <a:t>Do you expect the strength of evidence to be stronger, weaker, or essentially the same for the House compared to the Senate?</a:t>
            </a:r>
          </a:p>
        </p:txBody>
      </p:sp>
    </p:spTree>
    <p:extLst>
      <p:ext uri="{BB962C8B-B14F-4D97-AF65-F5344CB8AC3E}">
        <p14:creationId xmlns:p14="http://schemas.microsoft.com/office/powerpoint/2010/main" val="3709317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365530" cy="1062530"/>
          </a:xfrm>
        </p:spPr>
        <p:txBody>
          <a:bodyPr>
            <a:normAutofit fontScale="90000"/>
          </a:bodyPr>
          <a:lstStyle/>
          <a:p>
            <a:r>
              <a:rPr lang="en-US" dirty="0"/>
              <a:t>Example 1.4: Predicting House Elections </a:t>
            </a:r>
            <a:r>
              <a:rPr lang="en-US" sz="2000" b="0" dirty="0"/>
              <a:t>(2 of 4)</a:t>
            </a:r>
            <a:endParaRPr lang="en-US"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1"/>
            <a:ext cx="8365530" cy="4325765"/>
          </a:xfrm>
        </p:spPr>
        <p:txBody>
          <a:bodyPr/>
          <a:lstStyle/>
          <a:p>
            <a:pPr marL="0" indent="0">
              <a:buNone/>
            </a:pPr>
            <a:r>
              <a:rPr lang="en-US" dirty="0"/>
              <a:t>Distance of the observed statistic to the null hypothesis value</a:t>
            </a:r>
          </a:p>
          <a:p>
            <a:pPr marL="633413" lvl="1" indent="-331788">
              <a:buClr>
                <a:schemeClr val="accent2"/>
              </a:buClr>
              <a:buSzPct val="100000"/>
              <a:buFont typeface="Arial" panose="020B0604020202020204" pitchFamily="34" charset="0"/>
              <a:buChar char="•"/>
            </a:pPr>
            <a:r>
              <a:rPr lang="en-US" sz="2600" dirty="0"/>
              <a:t>The observed statistic in the House is 0.677 compared to 0.719 in the Senate</a:t>
            </a:r>
          </a:p>
          <a:p>
            <a:pPr marL="633413" lvl="1" indent="-331788">
              <a:spcAft>
                <a:spcPts val="1200"/>
              </a:spcAft>
              <a:buClr>
                <a:schemeClr val="accent2"/>
              </a:buClr>
              <a:buSzPct val="100000"/>
              <a:buFont typeface="Arial" panose="020B0604020202020204" pitchFamily="34" charset="0"/>
              <a:buChar char="•"/>
            </a:pPr>
            <a:r>
              <a:rPr lang="en-US" sz="2600" dirty="0"/>
              <a:t>Slight decrease in the strength of evidence</a:t>
            </a:r>
          </a:p>
          <a:p>
            <a:pPr marL="0" indent="0">
              <a:buNone/>
            </a:pPr>
            <a:r>
              <a:rPr lang="en-US" dirty="0"/>
              <a:t>Sample size</a:t>
            </a:r>
          </a:p>
          <a:p>
            <a:pPr marL="633413" lvl="1" indent="-331788">
              <a:buClr>
                <a:schemeClr val="accent2"/>
              </a:buClr>
              <a:buSzPct val="100000"/>
              <a:buFont typeface="Arial" panose="020B0604020202020204" pitchFamily="34" charset="0"/>
              <a:buChar char="•"/>
            </a:pPr>
            <a:r>
              <a:rPr lang="en-US" sz="2600" dirty="0"/>
              <a:t>The sample size is almost 10 times as large (279 vs. 32) in the House compared to the Senate </a:t>
            </a:r>
          </a:p>
          <a:p>
            <a:pPr marL="633413" lvl="1" indent="-331788">
              <a:buClr>
                <a:schemeClr val="accent2"/>
              </a:buClr>
              <a:buSzPct val="100000"/>
              <a:buFont typeface="Arial" panose="020B0604020202020204" pitchFamily="34" charset="0"/>
              <a:buChar char="•"/>
            </a:pPr>
            <a:r>
              <a:rPr lang="en-US" sz="2600" dirty="0"/>
              <a:t>This will increase the strength of evidence</a:t>
            </a:r>
          </a:p>
        </p:txBody>
      </p:sp>
    </p:spTree>
    <p:extLst>
      <p:ext uri="{BB962C8B-B14F-4D97-AF65-F5344CB8AC3E}">
        <p14:creationId xmlns:p14="http://schemas.microsoft.com/office/powerpoint/2010/main" val="3909841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70DA4-85BD-4C92-AF43-4A51B42B3EA0}"/>
              </a:ext>
            </a:extLst>
          </p:cNvPr>
          <p:cNvSpPr>
            <a:spLocks noGrp="1"/>
          </p:cNvSpPr>
          <p:nvPr>
            <p:ph type="title"/>
          </p:nvPr>
        </p:nvSpPr>
        <p:spPr>
          <a:xfrm>
            <a:off x="1828800" y="620886"/>
            <a:ext cx="8365530" cy="838199"/>
          </a:xfrm>
        </p:spPr>
        <p:txBody>
          <a:bodyPr>
            <a:normAutofit fontScale="90000"/>
          </a:bodyPr>
          <a:lstStyle/>
          <a:p>
            <a:r>
              <a:rPr lang="en-US" dirty="0"/>
              <a:t>Example 1.4: Predicting House Elections </a:t>
            </a:r>
            <a:r>
              <a:rPr lang="en-US" sz="2000" b="0" dirty="0"/>
              <a:t>(3 of 4)</a:t>
            </a:r>
            <a:endParaRPr lang="en-US" dirty="0"/>
          </a:p>
        </p:txBody>
      </p:sp>
      <p:sp>
        <p:nvSpPr>
          <p:cNvPr id="5" name="Content Placeholder 4">
            <a:extLst>
              <a:ext uri="{FF2B5EF4-FFF2-40B4-BE49-F238E27FC236}">
                <a16:creationId xmlns:a16="http://schemas.microsoft.com/office/drawing/2014/main" id="{C9CEA076-FD61-45D7-8D33-68CD77E8AA86}"/>
              </a:ext>
            </a:extLst>
          </p:cNvPr>
          <p:cNvSpPr>
            <a:spLocks noGrp="1"/>
          </p:cNvSpPr>
          <p:nvPr>
            <p:ph sz="quarter" idx="12"/>
          </p:nvPr>
        </p:nvSpPr>
        <p:spPr>
          <a:xfrm>
            <a:off x="1828800" y="1455731"/>
            <a:ext cx="8534400" cy="531015"/>
          </a:xfrm>
        </p:spPr>
        <p:txBody>
          <a:bodyPr/>
          <a:lstStyle/>
          <a:p>
            <a:pPr marL="0" indent="0">
              <a:buNone/>
            </a:pPr>
            <a:r>
              <a:rPr lang="en-US" dirty="0"/>
              <a:t>Null distribution of 279 sample House races</a:t>
            </a:r>
          </a:p>
        </p:txBody>
      </p:sp>
      <p:pic>
        <p:nvPicPr>
          <p:cNvPr id="11" name="Picture Placeholder 2" descr="A histogram describes the null distribution for the Senate sample of 279 races. The horizontal axis is labeled Proportion of successes and ranges from 0.38 to 0.616 in alternate increments of 0.021 and 0.022. The vertical axis ranges from 0 to 80 in increments of 20. The distribution of bars is approximately normal. There are no bars between 0.38 and 0.401 and between 0.595 and 0.616. From 0.416 to 0.444, the bars extend up to the counts, 3, 3, 2, 5, 0, 3, 3, 7, and 10. From 0.444 to 0.466, the bars extend up to the counts, 22, 18, 21, 19, 19, and 45. From 0.466 to 0.487, the bars extend up to counts, 25, 32, 53, 50, 63, and 55. From 0.487 to 0.509, the bars extend up to the counts, 53, 62, 56, 45, 54, and 47. From 0.509 to 0.53, the bars extend up to the counts, 54, 58, 47, 38, 36, and 47. From 0.53 to 0.552, the bars extend up to counts, 38, 24, 32, 19, 17, and 19. From 0.552 to 0.573, bars extend up to counts, 18, 10, 5, 6, 6, and 3. From 0.573 to 0.595, the bars extend up to the counts, 2, 2, 0, 3, 0, and 2. The mean is 0.501 and the standard deviation is 0.03. All values are approximate.">
            <a:extLst>
              <a:ext uri="{FF2B5EF4-FFF2-40B4-BE49-F238E27FC236}">
                <a16:creationId xmlns:a16="http://schemas.microsoft.com/office/drawing/2014/main" id="{4E2D7D29-2F57-41BD-9C13-71389F176DE9}"/>
              </a:ext>
            </a:extLst>
          </p:cNvPr>
          <p:cNvPicPr>
            <a:picLocks noGrp="1" noChangeAspect="1" noChangeArrowheads="1"/>
          </p:cNvPicPr>
          <p:nvPr>
            <p:ph type="pic" sz="quarter" idx="15"/>
          </p:nvPr>
        </p:nvPicPr>
        <p:blipFill>
          <a:blip r:embed="rId2">
            <a:extLst>
              <a:ext uri="{28A0092B-C50C-407E-A947-70E740481C1C}">
                <a14:useLocalDpi xmlns:a14="http://schemas.microsoft.com/office/drawing/2010/main" val="0"/>
              </a:ext>
            </a:extLst>
          </a:blip>
          <a:stretch>
            <a:fillRect/>
          </a:stretch>
        </p:blipFill>
        <p:spPr bwMode="auto">
          <a:xfrm>
            <a:off x="3891238" y="2366470"/>
            <a:ext cx="4409524" cy="2819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355234D0-6E12-48D4-914A-83F686C9780D}"/>
              </a:ext>
            </a:extLst>
          </p:cNvPr>
          <p:cNvSpPr>
            <a:spLocks noGrp="1"/>
          </p:cNvSpPr>
          <p:nvPr>
            <p:ph sz="quarter" idx="16"/>
          </p:nvPr>
        </p:nvSpPr>
        <p:spPr>
          <a:xfrm>
            <a:off x="1799205" y="5402396"/>
            <a:ext cx="8534400" cy="758825"/>
          </a:xfrm>
        </p:spPr>
        <p:txBody>
          <a:bodyPr/>
          <a:lstStyle/>
          <a:p>
            <a:pPr marL="0" indent="0">
              <a:buNone/>
            </a:pPr>
            <a:r>
              <a:rPr lang="en-US" dirty="0"/>
              <a:t>Simulated statistics ≥ 0.677 didn’t occur hence the </a:t>
            </a:r>
            <a:r>
              <a:rPr lang="en-US" i="1" dirty="0"/>
              <a:t>p</a:t>
            </a:r>
            <a:r>
              <a:rPr lang="en-US" dirty="0"/>
              <a:t>-value is approximately 0</a:t>
            </a:r>
          </a:p>
        </p:txBody>
      </p:sp>
    </p:spTree>
    <p:extLst>
      <p:ext uri="{BB962C8B-B14F-4D97-AF65-F5344CB8AC3E}">
        <p14:creationId xmlns:p14="http://schemas.microsoft.com/office/powerpoint/2010/main" val="15701291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365530" cy="1062530"/>
          </a:xfrm>
        </p:spPr>
        <p:txBody>
          <a:bodyPr>
            <a:normAutofit fontScale="90000"/>
          </a:bodyPr>
          <a:lstStyle/>
          <a:p>
            <a:r>
              <a:rPr lang="en-US" dirty="0"/>
              <a:t>Example 1.4: Predicting House Elections </a:t>
            </a:r>
            <a:r>
              <a:rPr lang="en-US" sz="2000" b="0" dirty="0"/>
              <a:t>(4 of 4)</a:t>
            </a:r>
            <a:endParaRPr lang="en-US"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1"/>
            <a:ext cx="8365530" cy="4325765"/>
          </a:xfrm>
        </p:spPr>
        <p:txBody>
          <a:bodyPr/>
          <a:lstStyle/>
          <a:p>
            <a:pPr marL="292608" indent="-292608">
              <a:spcAft>
                <a:spcPts val="600"/>
              </a:spcAft>
              <a:buClr>
                <a:schemeClr val="accent2"/>
              </a:buClr>
              <a:buFont typeface="Arial" panose="020B0604020202020204" pitchFamily="34" charset="0"/>
              <a:buChar char="•"/>
            </a:pPr>
            <a:r>
              <a:rPr lang="en-US" dirty="0"/>
              <a:t>What about the standardized statistics?</a:t>
            </a:r>
          </a:p>
          <a:p>
            <a:pPr marL="621792" lvl="1" indent="-320040">
              <a:buClr>
                <a:schemeClr val="accent2"/>
              </a:buClr>
            </a:pPr>
            <a:r>
              <a:rPr lang="en-US" dirty="0"/>
              <a:t>For the Senate it was 2.43</a:t>
            </a:r>
          </a:p>
          <a:p>
            <a:pPr marL="621792" lvl="1" indent="-320040">
              <a:spcAft>
                <a:spcPts val="600"/>
              </a:spcAft>
              <a:buClr>
                <a:schemeClr val="accent2"/>
              </a:buClr>
            </a:pPr>
            <a:r>
              <a:rPr lang="en-US" dirty="0"/>
              <a:t>For the House it is 5.90.</a:t>
            </a:r>
          </a:p>
          <a:p>
            <a:pPr marL="292608" indent="-292608">
              <a:buClr>
                <a:schemeClr val="accent2"/>
              </a:buClr>
              <a:buFont typeface="Arial" panose="020B0604020202020204" pitchFamily="34" charset="0"/>
              <a:buChar char="•"/>
            </a:pPr>
            <a:r>
              <a:rPr lang="en-US" dirty="0"/>
              <a:t>The larger sample size for the House trumped its smaller proportion, so we have stronger evidence against the null using the data from the House.</a:t>
            </a:r>
          </a:p>
        </p:txBody>
      </p:sp>
    </p:spTree>
    <p:extLst>
      <p:ext uri="{BB962C8B-B14F-4D97-AF65-F5344CB8AC3E}">
        <p14:creationId xmlns:p14="http://schemas.microsoft.com/office/powerpoint/2010/main" val="3183431710"/>
      </p:ext>
    </p:extLst>
  </p:cSld>
  <p:clrMapOvr>
    <a:masterClrMapping/>
  </p:clrMapOvr>
</p:sld>
</file>

<file path=ppt/theme/theme1.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1079</TotalTime>
  <Words>1552</Words>
  <Application>Microsoft Macintosh PowerPoint</Application>
  <PresentationFormat>Widescreen</PresentationFormat>
  <Paragraphs>191</Paragraphs>
  <Slides>31</Slides>
  <Notes>4</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31</vt:i4>
      </vt:variant>
    </vt:vector>
  </HeadingPairs>
  <TitlesOfParts>
    <vt:vector size="42" baseType="lpstr">
      <vt:lpstr>Aptos</vt:lpstr>
      <vt:lpstr>Arial</vt:lpstr>
      <vt:lpstr>Calibri</vt:lpstr>
      <vt:lpstr>Courier New</vt:lpstr>
      <vt:lpstr>Source Sans Pro</vt:lpstr>
      <vt:lpstr>STIX</vt:lpstr>
      <vt:lpstr>Times New Roman</vt:lpstr>
      <vt:lpstr>Verdana</vt:lpstr>
      <vt:lpstr>Image Slide Master</vt:lpstr>
      <vt:lpstr>Opener</vt:lpstr>
      <vt:lpstr>Equation</vt:lpstr>
      <vt:lpstr>Introduction to Statistical Investigations</vt:lpstr>
      <vt:lpstr>Quizzes</vt:lpstr>
      <vt:lpstr>Example 1.4: Predicting Elections</vt:lpstr>
      <vt:lpstr>Who Has the More Competent Looking Face?</vt:lpstr>
      <vt:lpstr>Who Has the More Competent Looking Face?</vt:lpstr>
      <vt:lpstr>Example 1.4: Predicting Elections (1 of 4)</vt:lpstr>
      <vt:lpstr>Example 1.4: Predicting Elections (1 of 4)</vt:lpstr>
      <vt:lpstr>Example 1.4: Predicting Elections (2 of 4)</vt:lpstr>
      <vt:lpstr>Example 1.4: Predicting Elections (3 of 4)</vt:lpstr>
      <vt:lpstr>What is the p-value? What is the z-score?</vt:lpstr>
      <vt:lpstr>Is it good? – p-value</vt:lpstr>
      <vt:lpstr>Is it good? – standardized statistic</vt:lpstr>
      <vt:lpstr>Example 1.4: Predicting Elections (4 of 4)</vt:lpstr>
      <vt:lpstr>Example 1.4: Difference Between Observed Statistic and the Null Parameter (1 of 2)</vt:lpstr>
      <vt:lpstr>Example 1.4: Difference Between Observed Statistic and the Null Parameter (2 of 2)</vt:lpstr>
      <vt:lpstr>Example 1.4: What Affects the Strength of Evidence?</vt:lpstr>
      <vt:lpstr>Example 1.4: Sample Size (1 of 4)</vt:lpstr>
      <vt:lpstr>Example 1.4: Sample Size (2 of 4)</vt:lpstr>
      <vt:lpstr>Example 1.4: Sample Size (3 of 4)</vt:lpstr>
      <vt:lpstr>Reminder</vt:lpstr>
      <vt:lpstr>Example 1.4: Sample Size (4 of 4)</vt:lpstr>
      <vt:lpstr>Example 1.4: Two-Sided Tests (1 of 5)</vt:lpstr>
      <vt:lpstr>Example 1.4: Two-Sided Tests (2 of 5)</vt:lpstr>
      <vt:lpstr>Example 1.4: Two-Sided Tests (3 of 5)</vt:lpstr>
      <vt:lpstr>From Wikipedia</vt:lpstr>
      <vt:lpstr>Example 1.4: Two-Sided Tests (4 of 5)</vt:lpstr>
      <vt:lpstr>Example 1.4: Two-Sided Tests (5 of 5)</vt:lpstr>
      <vt:lpstr>Example 1.4: Predicting House Elections (1 of 4)</vt:lpstr>
      <vt:lpstr>Example 1.4: Predicting House Elections (2 of 4)</vt:lpstr>
      <vt:lpstr>Example 1.4: Predicting House Elections (3 of 4)</vt:lpstr>
      <vt:lpstr>Example 1.4: Predicting House Elections (4 of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R Roscoe</dc:creator>
  <cp:lastModifiedBy>Sarah R Roscoe</cp:lastModifiedBy>
  <cp:revision>3</cp:revision>
  <dcterms:created xsi:type="dcterms:W3CDTF">2026-02-24T00:19:23Z</dcterms:created>
  <dcterms:modified xsi:type="dcterms:W3CDTF">2026-02-24T18:19:18Z</dcterms:modified>
</cp:coreProperties>
</file>