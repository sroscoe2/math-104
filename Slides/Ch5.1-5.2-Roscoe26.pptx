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4" r:id="rId3"/>
  </p:sldMasterIdLst>
  <p:notesMasterIdLst>
    <p:notesMasterId r:id="rId12"/>
  </p:notesMasterIdLst>
  <p:sldIdLst>
    <p:sldId id="436" r:id="rId4"/>
    <p:sldId id="456" r:id="rId5"/>
    <p:sldId id="457" r:id="rId6"/>
    <p:sldId id="458" r:id="rId7"/>
    <p:sldId id="459" r:id="rId8"/>
    <p:sldId id="460" r:id="rId9"/>
    <p:sldId id="461" r:id="rId10"/>
    <p:sldId id="4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28"/>
  </p:normalViewPr>
  <p:slideViewPr>
    <p:cSldViewPr snapToGrid="0">
      <p:cViewPr varScale="1">
        <p:scale>
          <a:sx n="102" d="100"/>
          <a:sy n="102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E3B6A-BE6A-414B-98B3-9DFDD9E476F2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65FB0-46B6-EB45-A58F-0E0CC327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073E54-D085-4E2E-B9A5-A53D7E51940E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3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E000-3C8E-655A-775E-0630717F3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A606A-9F3A-42EF-924F-138355630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7AE6-1526-D51D-B76F-6DCABCD51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0BE56-E6A9-C939-ED84-5EE2AB869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4472E-9DA2-EDF4-D915-9D5A9DF1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1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0A35-A711-FEF6-783A-7DD900B8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B8A96-D45F-E1E1-24E5-B465F6F56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0DFFE-5A66-9364-57C4-A0EE75BBA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3D9A8-1CD0-2B35-E8E5-09C058DC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3268A-D47C-6B13-BFAE-A198A34F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0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C0FD-E22D-ABCA-5EB1-F51C6958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88A97-CAE4-5747-1583-D3D448A7F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317ED-E7B2-A377-420C-B7B700C1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36F28-E928-F2A1-660E-65A5BC4C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2D3F9-D8A3-D723-41C0-0C0F36C7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FCA9-E906-E4A2-D005-AEF86EF4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96049-155E-409E-8C87-C5B8EBA93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FCFA2-16BA-8A82-17CE-1548D0347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24DC1-75A7-1C0F-6A48-901C2236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5FE9B-5184-EDD8-AFA1-9324B9BB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82CD0-E3A1-B457-BF84-6E950D2E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0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52B5-6694-1966-0A7E-2A867EE6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534B6-FB3A-9F6F-89B1-FDB6BD8D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92CBE-BA2B-B9D9-4D8D-4E8AAF130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B016DD-7AD5-2FD0-CB98-1C07D3624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21B9E-2FE7-40AA-15C7-2EA2940E7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B0111-6EE0-1B05-A8DA-3866EA19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2269E-9567-AA2D-A514-4753356B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87919-73B3-B9D2-0703-7370C55A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4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916A-8D0A-67C5-3C2D-91FF35F86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8E35E-DCDD-67D3-EAF4-52400228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636E1-DB54-DA83-C749-21AC4B52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1A890-18B4-9203-556D-BEF5722B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3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41F4E-CB73-2E22-25B0-1370B1C3B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58D425-FC4F-EB45-92A5-76368301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9786B-A8DE-98E9-7005-6C6F1064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3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1A51-9FE7-457B-3DB5-0B55A611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5DFC2-6B87-A531-60E2-83E591798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67F42-AD13-6D98-779F-CB10B8A2B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F3107-1FCB-EF8C-2507-2BCFC8605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99487-6326-FC20-5E8B-3FE2FA06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6CE57-C10A-9A24-893A-8BFE2027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1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CC8D-2E26-DBEF-A13D-CF7C96CC4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704D4-3715-8CE5-7EFB-708825D08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8E9C9-00E3-8E1E-36E3-5D84B2F18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1914D-26E3-E559-FCD8-32CFED4F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5A8E9-FE43-D6C9-EE25-1D0BCA47E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F1E37-1FA0-0E99-8C50-64A727C8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15AC-A060-5BC9-549B-F7AF3073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5197E-D560-0BDA-54BB-81CAD6875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79BA8-8BE9-D49D-6012-6EAF43C6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C183E-940D-D89A-74CA-2AB469EC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3582F-1846-5447-01FF-FD1D2CD8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77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7DD42E-0A5D-B315-763F-13159D01D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5DD9C-5C0C-E10F-9D23-2972543B7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9FED8-2E6F-266C-5B25-53590D88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8CC7E-D730-12A2-E329-679AC4FB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A2988-0AF7-08D6-94EA-9D17C04C9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53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5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1" hasCustomPrompt="1"/>
          </p:nvPr>
        </p:nvSpPr>
        <p:spPr>
          <a:xfrm>
            <a:off x="203200" y="1828800"/>
            <a:ext cx="117856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3pPr>
            <a:lvl4pPr marL="13716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4pPr>
            <a:lvl5pPr marL="18288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5" name="Author"/>
          <p:cNvSpPr>
            <a:spLocks noGrp="1"/>
          </p:cNvSpPr>
          <p:nvPr>
            <p:ph sz="quarter" idx="22" hasCustomPrompt="1"/>
          </p:nvPr>
        </p:nvSpPr>
        <p:spPr>
          <a:xfrm>
            <a:off x="203200" y="2363724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4196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340939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838200"/>
            <a:ext cx="11785600" cy="2209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4478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STIX" charset="0"/>
                <a:ea typeface="STIX" charset="0"/>
                <a:cs typeface="STIX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</p:spTree>
    <p:extLst>
      <p:ext uri="{BB962C8B-B14F-4D97-AF65-F5344CB8AC3E}">
        <p14:creationId xmlns:p14="http://schemas.microsoft.com/office/powerpoint/2010/main" val="89633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5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1" hasCustomPrompt="1"/>
          </p:nvPr>
        </p:nvSpPr>
        <p:spPr>
          <a:xfrm>
            <a:off x="203200" y="1755648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3pPr>
            <a:lvl4pPr marL="13716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4pPr>
            <a:lvl5pPr marL="18288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5" name="Author"/>
          <p:cNvSpPr>
            <a:spLocks noGrp="1"/>
          </p:cNvSpPr>
          <p:nvPr>
            <p:ph sz="quarter" idx="22" hasCustomPrompt="1"/>
          </p:nvPr>
        </p:nvSpPr>
        <p:spPr>
          <a:xfrm>
            <a:off x="203200" y="2363724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rgbClr val="007787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3" hasCustomPrompt="1"/>
          </p:nvPr>
        </p:nvSpPr>
        <p:spPr>
          <a:xfrm>
            <a:off x="2091891" y="6248400"/>
            <a:ext cx="8779309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Copyright ©2019 John Wiley &amp; Sons, Inc.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4"/>
          </p:nvPr>
        </p:nvSpPr>
        <p:spPr>
          <a:xfrm>
            <a:off x="203200" y="6092825"/>
            <a:ext cx="11785600" cy="273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92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698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751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31D40-8659-490C-A847-96CF64C152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291113" y="2290576"/>
            <a:ext cx="11379200" cy="390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7485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19730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31D40-8659-490C-A847-96CF64C152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6400" y="4339741"/>
            <a:ext cx="11379200" cy="390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AC5F648-714F-41B3-B0A9-EFB467D0BF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400" y="5022851"/>
            <a:ext cx="11379200" cy="606425"/>
          </a:xfrm>
          <a:prstGeom prst="rect">
            <a:avLst/>
          </a:prstGeom>
        </p:spPr>
        <p:txBody>
          <a:bodyPr/>
          <a:lstStyle>
            <a:lvl1pPr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4DD2EA-EA3F-4637-934F-678F8B9466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6400" y="5781676"/>
            <a:ext cx="11379200" cy="606425"/>
          </a:xfrm>
          <a:prstGeom prst="rect">
            <a:avLst/>
          </a:prstGeom>
        </p:spPr>
        <p:txBody>
          <a:bodyPr/>
          <a:lstStyle>
            <a:lvl1pPr>
              <a:buClr>
                <a:srgbClr val="911B21"/>
              </a:buCl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B0A3D6A-283C-43F3-B8C1-9A067413E002}"/>
              </a:ext>
            </a:extLst>
          </p:cNvPr>
          <p:cNvSpPr txBox="1">
            <a:spLocks/>
          </p:cNvSpPr>
          <p:nvPr userDrawn="1"/>
        </p:nvSpPr>
        <p:spPr>
          <a:xfrm>
            <a:off x="8606769" y="6351500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0241161-D882-4165-B334-2C14A08BB8E0}"/>
              </a:ext>
            </a:extLst>
          </p:cNvPr>
          <p:cNvSpPr txBox="1">
            <a:spLocks/>
          </p:cNvSpPr>
          <p:nvPr userDrawn="1"/>
        </p:nvSpPr>
        <p:spPr>
          <a:xfrm>
            <a:off x="4034769" y="6351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96083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5805C8-4641-4DD9-8EEE-8E3542D17A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54834" y="4035425"/>
            <a:ext cx="1113367" cy="12906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A1B72CE-EF87-477F-BA79-2E8C1521179A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154834" y="3125789"/>
            <a:ext cx="912284" cy="6826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4B1DF00-9DC3-492A-B100-4D3272B82A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154834" y="2214564"/>
            <a:ext cx="1037167" cy="6826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776DD1F-6897-4F1A-BC22-7DBC28584A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6940" y="4768589"/>
            <a:ext cx="11379200" cy="758825"/>
          </a:xfrm>
          <a:prstGeom prst="rect">
            <a:avLst/>
          </a:prstGeom>
        </p:spPr>
        <p:txBody>
          <a:bodyPr/>
          <a:lstStyle>
            <a:lvl1pP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8CFB20B-7480-4C5A-8DF1-F11AAD7E560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-1088727" y="5053134"/>
            <a:ext cx="11379200" cy="257175"/>
          </a:xfrm>
          <a:prstGeom prst="rect">
            <a:avLst/>
          </a:prstGeom>
        </p:spPr>
        <p:txBody>
          <a:bodyPr/>
          <a:lstStyle>
            <a:lvl1pP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B687367-93D1-4521-BBD6-A0564CA4FC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268201" y="3049589"/>
            <a:ext cx="1113367" cy="9858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9"/>
          </p:nvPr>
        </p:nvSpPr>
        <p:spPr>
          <a:xfrm>
            <a:off x="4779433" y="5857876"/>
            <a:ext cx="3947584" cy="379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0302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3429000"/>
            <a:ext cx="11379200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5029200"/>
            <a:ext cx="11379200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2BACE4-69FF-4409-99CE-9BCD2C9878D8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7DF617-D7C9-4AAC-ABB4-DFF0A77AE8F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84148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84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973631"/>
            <a:ext cx="11379200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41184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0" y="4953305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0" y="5766107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3A17AB6-8208-4636-B70A-4B280921E8E8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D48A4B4-62FA-47D4-A8EC-046A13201B6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149797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1"/>
            <a:ext cx="11379200" cy="6897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518260"/>
            <a:ext cx="11379200" cy="75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3353105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0" y="40361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0" y="479511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06400" y="55540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3FC7C8C2-8E53-4648-8149-C8D83CA97CE9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7BE712D-A6E6-4E02-9B94-8A539F73270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95519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84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973631"/>
            <a:ext cx="11379200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41184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1" y="4953305"/>
            <a:ext cx="326096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1" y="5766107"/>
            <a:ext cx="326096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173327" y="4948654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173327" y="5761456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53401" y="4948654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53401" y="5761456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BE15919-8751-4BE4-AA33-50DF1CCA64E4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5B39872-5D7C-431B-B547-3FC6F0E6034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709338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533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375848"/>
            <a:ext cx="11379200" cy="2911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8203" y="2764808"/>
            <a:ext cx="11379200" cy="39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406400" y="3298208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406400" y="3831608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406400" y="43650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2"/>
          </p:nvPr>
        </p:nvSpPr>
        <p:spPr>
          <a:xfrm>
            <a:off x="406400" y="48222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cap="none"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/>
          </p:nvPr>
        </p:nvSpPr>
        <p:spPr>
          <a:xfrm>
            <a:off x="406400" y="52794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4"/>
          </p:nvPr>
        </p:nvSpPr>
        <p:spPr>
          <a:xfrm>
            <a:off x="508000" y="5660408"/>
            <a:ext cx="11277600" cy="2286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8EB9964-3E34-4002-B0B3-CA179067C39A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41617" y="63624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36812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08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214680"/>
            <a:ext cx="11379200" cy="2911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8203" y="2594155"/>
            <a:ext cx="11379200" cy="39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406400" y="3049525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406400" y="3504895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406400" y="396026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2"/>
          </p:nvPr>
        </p:nvSpPr>
        <p:spPr>
          <a:xfrm>
            <a:off x="406400" y="441563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cap="none"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/>
          </p:nvPr>
        </p:nvSpPr>
        <p:spPr>
          <a:xfrm>
            <a:off x="406400" y="487100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4"/>
          </p:nvPr>
        </p:nvSpPr>
        <p:spPr>
          <a:xfrm>
            <a:off x="508000" y="5326375"/>
            <a:ext cx="11277600" cy="2286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E4D1A0-6F20-4C86-8185-E1F69676C22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9684" y="5781745"/>
            <a:ext cx="6475863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E4D1A0-6F20-4C86-8185-E1F69676C22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85261" y="5764248"/>
            <a:ext cx="6475863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08993" y="6356362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6993" y="63563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71482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6ACF59F-042B-4CE1-AAE4-2FA4499AB366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642CDE9-7E9A-40FF-9BB8-77380C68654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62804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496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1828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1828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429174" y="3808475"/>
            <a:ext cx="5565633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AAD719-5BF0-4C5E-BE8A-5C3956869DF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99200" y="3808414"/>
            <a:ext cx="5463117" cy="835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A815FFC-5DD1-44FE-91D7-17E9AFE9E70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9683" y="4795839"/>
            <a:ext cx="5666317" cy="6823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C82916B-0585-4B7E-9C9B-A7650469BF4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97600" y="4795839"/>
            <a:ext cx="5362840" cy="758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103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06400" y="5410202"/>
            <a:ext cx="11379200" cy="38099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400" y="609602"/>
            <a:ext cx="11379200" cy="47261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406400" y="5791201"/>
            <a:ext cx="11379200" cy="457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610600" y="6356351"/>
            <a:ext cx="3175000" cy="365125"/>
          </a:xfrm>
        </p:spPr>
        <p:txBody>
          <a:bodyPr/>
          <a:lstStyle/>
          <a:p>
            <a:fld id="{43DD970A-8A59-5645-997B-8F1EF84171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7302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4D96-C503-4BE0-9F48-7B0E0326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8F8EB2-C64A-42B7-AC64-C10457D98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8BEA2-6D75-4F5A-A26E-60D47B7D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34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2B5AC2A8-6977-4A77-8AD5-E359006D59E2}" type="datetimeFigureOut">
              <a:rPr lang="en-US" smtClean="0">
                <a:solidFill>
                  <a:srgbClr val="000000"/>
                </a:solidFill>
              </a:rPr>
              <a:pPr/>
              <a:t>4/6/26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CC89-4820-48AB-AB16-9EDB3A06B7F0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30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4C670-1B3F-DF3A-E878-E9594C1C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322DC-89E4-252E-D5F0-7DBEE3DA4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88F3-5105-75D9-AA0B-9BABB9676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A1AEC-A94D-3047-A2C0-1AEC4C18CCD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C1312-A291-8F6E-8600-D6B697AFB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8A970-7D45-CAC6-D848-8DBFA92CB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4B0AE-A9EA-3D47-9E8F-F7C7B8AB4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6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1816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83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909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4000" dirty="0"/>
              <a:t>Introduction to Statistical Investigations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hor"/>
          <p:cNvSpPr>
            <a:spLocks noGrp="1"/>
          </p:cNvSpPr>
          <p:nvPr>
            <p:ph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Edition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2"/>
          </p:nvPr>
        </p:nvSpPr>
        <p:spPr>
          <a:xfrm>
            <a:off x="1752600" y="2363724"/>
            <a:ext cx="8686800" cy="685800"/>
          </a:xfrm>
          <a:prstGeom prst="rect">
            <a:avLst/>
          </a:prstGeom>
        </p:spPr>
        <p:txBody>
          <a:bodyPr anchor="ctr"/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Tintle, Chance, Cobb, Rossman, Roy, Swanson, VanderStoep</a:t>
            </a:r>
            <a:endParaRPr lang="en-US" sz="2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N"/>
          <p:cNvSpPr>
            <a:spLocks noGrp="1"/>
          </p:cNvSpPr>
          <p:nvPr>
            <p:ph sz="quarter" idx="19"/>
          </p:nvPr>
        </p:nvSpPr>
        <p:spPr>
          <a:xfrm>
            <a:off x="1676400" y="3657600"/>
            <a:ext cx="8839200" cy="533400"/>
          </a:xfrm>
        </p:spPr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5</a:t>
            </a:r>
          </a:p>
        </p:txBody>
      </p:sp>
      <p:sp>
        <p:nvSpPr>
          <p:cNvPr id="6" name="CT"/>
          <p:cNvSpPr>
            <a:spLocks noGrp="1"/>
          </p:cNvSpPr>
          <p:nvPr>
            <p:ph sz="quarter" idx="20"/>
          </p:nvPr>
        </p:nvSpPr>
        <p:spPr>
          <a:xfrm>
            <a:off x="1676400" y="4572000"/>
            <a:ext cx="8839200" cy="1437430"/>
          </a:xfrm>
        </p:spPr>
        <p:txBody>
          <a:bodyPr anchor="ctr"/>
          <a:lstStyle/>
          <a:p>
            <a:r>
              <a:rPr lang="en-US" sz="4000" dirty="0"/>
              <a:t>Comparing Two Proportions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4"/>
          </p:nvPr>
        </p:nvSpPr>
        <p:spPr>
          <a:xfrm>
            <a:off x="1676400" y="6156325"/>
            <a:ext cx="8839200" cy="273050"/>
          </a:xfrm>
        </p:spPr>
        <p:txBody>
          <a:bodyPr/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slide deck contains animations. Please disable animations if they cause issues with your device.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23"/>
          </p:nvPr>
        </p:nvSpPr>
        <p:spPr>
          <a:xfrm>
            <a:off x="2815735" y="6340626"/>
            <a:ext cx="6584482" cy="4572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120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Times New Roman" charset="0"/>
                <a:cs typeface="Times New Roman" panose="02020603050405020304" pitchFamily="18" charset="0"/>
              </a:rPr>
              <a:t>Copyright ©2021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126128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C44F-93DD-4509-9DFA-473064D2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begins Unit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70D3-C5BB-4A0B-AC57-23EAD601927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403225" indent="-403225">
              <a:buClr>
                <a:schemeClr val="accent2"/>
              </a:buClr>
            </a:pPr>
            <a:r>
              <a:rPr lang="en-US" sz="3200" dirty="0"/>
              <a:t>Previously, we examined single proportions/single means.</a:t>
            </a:r>
          </a:p>
          <a:p>
            <a:pPr marL="403225" indent="-403225">
              <a:buClr>
                <a:schemeClr val="accent2"/>
              </a:buClr>
            </a:pPr>
            <a:r>
              <a:rPr lang="en-US" sz="3200" dirty="0"/>
              <a:t>Now, we'll look at 2 proportions.</a:t>
            </a:r>
          </a:p>
        </p:txBody>
      </p:sp>
    </p:spTree>
    <p:extLst>
      <p:ext uri="{BB962C8B-B14F-4D97-AF65-F5344CB8AC3E}">
        <p14:creationId xmlns:p14="http://schemas.microsoft.com/office/powerpoint/2010/main" val="2916175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0CB2-E695-623F-ECD2-DC3065D9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Proportion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B1BF48-2571-22F0-4307-70FFBB6FE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914280-9E34-7CD0-6F26-A0A191ED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1" y="6356351"/>
            <a:ext cx="4114800" cy="365125"/>
          </a:xfrm>
          <a:solidFill>
            <a:schemeClr val="bg1"/>
          </a:solidFill>
        </p:spPr>
        <p:txBody>
          <a:bodyPr/>
          <a:lstStyle/>
          <a:p>
            <a:r>
              <a:rPr lang="en-US" dirty="0">
                <a:noFill/>
              </a:rPr>
              <a:t>Copyright ©2020 John Wiley &amp; Sons, Inc.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A2FD73-F034-3B00-14FC-105DFBC816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459085"/>
            <a:ext cx="11379200" cy="4897266"/>
          </a:xfrm>
        </p:spPr>
        <p:txBody>
          <a:bodyPr/>
          <a:lstStyle/>
          <a:p>
            <a:r>
              <a:rPr lang="en-US" sz="2800" dirty="0"/>
              <a:t>In 2008, researchers observed car occupants (drivers and passengers), recorded whether they were wearing seatbelts.</a:t>
            </a:r>
          </a:p>
          <a:p>
            <a:pPr marL="292608" indent="-292608"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800" dirty="0"/>
              <a:t>National Occupant Protection Use Survey (NOPUS) collects data nationwide by sending trained observers to randomly sampled roadways.</a:t>
            </a:r>
          </a:p>
          <a:p>
            <a:pPr marL="292608" indent="-292608"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800" dirty="0"/>
              <a:t>They observe passenger vehicles between the hours of 7 a.m. and 6 p.m. while standing at the roadside or riding in a vehicle in traffic.</a:t>
            </a:r>
          </a:p>
          <a:p>
            <a:pPr marL="292608" indent="-292608"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800" dirty="0"/>
              <a:t>Observers use hand-held clickers to count use of shoulder belts by drivers and right-front passengers.</a:t>
            </a:r>
          </a:p>
          <a:p>
            <a:endParaRPr lang="en-US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8D6289-DC57-4D4A-2D2A-B1A55AAF7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629783"/>
              </p:ext>
            </p:extLst>
          </p:nvPr>
        </p:nvGraphicFramePr>
        <p:xfrm>
          <a:off x="5014534" y="4916044"/>
          <a:ext cx="5363333" cy="18054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8803">
                  <a:extLst>
                    <a:ext uri="{9D8B030D-6E8A-4147-A177-3AD203B41FA5}">
                      <a16:colId xmlns:a16="http://schemas.microsoft.com/office/drawing/2014/main" val="2220468256"/>
                    </a:ext>
                  </a:extLst>
                </a:gridCol>
                <a:gridCol w="2004530">
                  <a:extLst>
                    <a:ext uri="{9D8B030D-6E8A-4147-A177-3AD203B41FA5}">
                      <a16:colId xmlns:a16="http://schemas.microsoft.com/office/drawing/2014/main" val="123423482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lang="en-US" sz="2800" baseline="0" dirty="0"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effectLst/>
                          <a:latin typeface="Times New Roman" pitchFamily="18" charset="0"/>
                          <a:ea typeface="Calibri"/>
                          <a:cs typeface="Times New Roman"/>
                        </a:rPr>
                        <a:t>2008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179838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/>
                          <a:cs typeface="Times New Roman"/>
                        </a:rPr>
                        <a:t>Wearing seat belt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140,270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4913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Not wearing seat belt</a:t>
                      </a:r>
                      <a:endParaRPr lang="en-US" sz="2800" b="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28,730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94662"/>
                  </a:ext>
                </a:extLst>
              </a:tr>
              <a:tr h="261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Total</a:t>
                      </a:r>
                      <a:endParaRPr lang="en-US" sz="2800" b="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169,000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921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25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70E0-C45B-5807-C857-9565C255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Proportion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CA154C-CB19-A61B-6110-163BACF453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1E121-9BD7-3304-D4D0-66711DB8C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426DC2-436E-A477-8F02-DF3B70F4B1B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Repeat the study in 2018. We get the following table:</a:t>
            </a:r>
          </a:p>
        </p:txBody>
      </p:sp>
      <p:graphicFrame>
        <p:nvGraphicFramePr>
          <p:cNvPr id="6" name="Content Placeholder 3" descr="Table is accessible to screenreaders">
            <a:extLst>
              <a:ext uri="{FF2B5EF4-FFF2-40B4-BE49-F238E27FC236}">
                <a16:creationId xmlns:a16="http://schemas.microsoft.com/office/drawing/2014/main" id="{2D346803-FF40-5AA8-588B-FAA8BB26E6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7482355"/>
              </p:ext>
            </p:extLst>
          </p:nvPr>
        </p:nvGraphicFramePr>
        <p:xfrm>
          <a:off x="1626556" y="3139625"/>
          <a:ext cx="8938887" cy="18054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8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lang="en-US" sz="2800" baseline="0" dirty="0"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effectLst/>
                          <a:latin typeface="Times New Roman" pitchFamily="18" charset="0"/>
                          <a:ea typeface="Calibri"/>
                          <a:cs typeface="Times New Roman"/>
                        </a:rPr>
                        <a:t>2008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effectLst/>
                          <a:latin typeface="Times New Roman" pitchFamily="18" charset="0"/>
                        </a:rPr>
                        <a:t>2018</a:t>
                      </a:r>
                      <a:endParaRPr lang="en-US" sz="2800" baseline="0" dirty="0"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effectLst/>
                          <a:latin typeface="Times New Roman" pitchFamily="18" charset="0"/>
                        </a:rPr>
                        <a:t>Total</a:t>
                      </a:r>
                      <a:endParaRPr lang="en-US" sz="2800" baseline="0" dirty="0"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/>
                          <a:cs typeface="Times New Roman"/>
                        </a:rPr>
                        <a:t>Wearing seat belt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140,270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115,525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255,795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Not wearing seat belt</a:t>
                      </a:r>
                      <a:endParaRPr lang="en-US" sz="2800" b="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28,730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13,409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42,139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Total</a:t>
                      </a:r>
                      <a:endParaRPr lang="en-US" sz="2800" b="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169,000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128,934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297,934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111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367B-25DF-FB1F-08FA-53E1F9D3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 with this information?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A4132-811B-DD58-1309-788487329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23ED3-12CA-84E7-C324-BA1E6E1C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9BB10C-701E-0429-8556-013D7E40D5E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i="1" dirty="0"/>
              <a:t>Conditional proportions</a:t>
            </a:r>
            <a:endParaRPr lang="en-US" dirty="0"/>
          </a:p>
          <a:p>
            <a:endParaRPr lang="en-US" i="1" dirty="0"/>
          </a:p>
          <a:p>
            <a:r>
              <a:rPr lang="en-US" dirty="0"/>
              <a:t>Two options: </a:t>
            </a:r>
          </a:p>
          <a:p>
            <a:pPr lvl="1"/>
            <a:r>
              <a:rPr lang="en-US" dirty="0"/>
              <a:t>Column proportion: 140,270 / 169,000 = 0.83 and 115,525 / 128,934 = 0.896</a:t>
            </a:r>
          </a:p>
          <a:p>
            <a:pPr lvl="1"/>
            <a:r>
              <a:rPr lang="en-US" dirty="0"/>
              <a:t>Row proportion: 140,270 / 255,795 = 0.548 and 115,525 / 255,795 = 0.451</a:t>
            </a:r>
          </a:p>
        </p:txBody>
      </p:sp>
      <p:graphicFrame>
        <p:nvGraphicFramePr>
          <p:cNvPr id="6" name="Content Placeholder 3" descr="Table is accessible to screenreaders">
            <a:extLst>
              <a:ext uri="{FF2B5EF4-FFF2-40B4-BE49-F238E27FC236}">
                <a16:creationId xmlns:a16="http://schemas.microsoft.com/office/drawing/2014/main" id="{536B456C-C7C6-93A6-EFB7-B6DD7130BE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8696632"/>
              </p:ext>
            </p:extLst>
          </p:nvPr>
        </p:nvGraphicFramePr>
        <p:xfrm>
          <a:off x="1501296" y="4431682"/>
          <a:ext cx="8938887" cy="18054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8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endParaRPr lang="en-US" sz="2800" baseline="0" dirty="0"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effectLst/>
                          <a:latin typeface="Times New Roman" pitchFamily="18" charset="0"/>
                          <a:ea typeface="Calibri"/>
                          <a:cs typeface="Times New Roman"/>
                        </a:rPr>
                        <a:t>2008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effectLst/>
                          <a:latin typeface="Times New Roman" pitchFamily="18" charset="0"/>
                        </a:rPr>
                        <a:t>2018</a:t>
                      </a:r>
                      <a:endParaRPr lang="en-US" sz="2800" baseline="0" dirty="0"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effectLst/>
                          <a:latin typeface="Times New Roman" pitchFamily="18" charset="0"/>
                        </a:rPr>
                        <a:t>Total</a:t>
                      </a:r>
                      <a:endParaRPr lang="en-US" sz="2800" baseline="0" dirty="0"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/>
                          <a:cs typeface="Times New Roman"/>
                        </a:rPr>
                        <a:t>Wearing seat belt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140,270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115,525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255,795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Not wearing seat belt</a:t>
                      </a:r>
                      <a:endParaRPr lang="en-US" sz="2800" b="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28,730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13,409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42,139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Total</a:t>
                      </a:r>
                      <a:endParaRPr lang="en-US" sz="2800" b="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169,000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128,934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aseline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297,934</a:t>
                      </a:r>
                      <a:endParaRPr lang="en-US" sz="2800" baseline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635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67E9-1473-FDAB-5FA6-795A8507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can't you do with this information?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997EA7-144D-53D5-242F-00D78FF3D4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74D52-89F7-4FAE-8CE8-0E97698D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D25A14-1E05-D10D-7460-3C5FAD7A173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1"/>
            <a:r>
              <a:rPr lang="en-US" sz="2800" dirty="0"/>
              <a:t>Column proportion: 140,270 / 169,000 = 0.83 and 115,525 / 128,934 = 0.896</a:t>
            </a:r>
          </a:p>
          <a:p>
            <a:pPr lvl="1"/>
            <a:r>
              <a:rPr lang="en-US" sz="2800" dirty="0"/>
              <a:t>Row proportion: 140,270 / 255,795 = 0.548 and 115,525 / 255,795 = 0.451</a:t>
            </a:r>
          </a:p>
          <a:p>
            <a:r>
              <a:rPr lang="en-US" sz="2800" dirty="0"/>
              <a:t>Can't compare 0.83 and 0.896: Sample size is different.</a:t>
            </a:r>
          </a:p>
          <a:p>
            <a:r>
              <a:rPr lang="en-US" sz="2800" dirty="0"/>
              <a:t>Also can't compare 0.548 and 0.451 for the same reason.</a:t>
            </a:r>
          </a:p>
        </p:txBody>
      </p:sp>
    </p:spTree>
    <p:extLst>
      <p:ext uri="{BB962C8B-B14F-4D97-AF65-F5344CB8AC3E}">
        <p14:creationId xmlns:p14="http://schemas.microsoft.com/office/powerpoint/2010/main" val="166713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4DE5-9DF3-74AA-1ED7-E6ACD1C1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Forward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3F9B0-57F3-BA40-AB7D-BB264D252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A55DC-54F4-0B27-2177-A5140C74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37C2BD4-1592-7CD1-864A-E20D110FB5B0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en-US" i="1" dirty="0"/>
                  <a:t>Relative Risk: </a:t>
                </a:r>
                <a:r>
                  <a:rPr lang="en-US" dirty="0"/>
                  <a:t>Can help summarize the association: how many times greater risk of an outcome is for one group versus another.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num>
                      <m:den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37C2BD4-1592-7CD1-864A-E20D110FB5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 r="-1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138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8EEF-4B8C-5A85-0737-25A1AD9F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Exploration: Murderous Nurse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CD1E9-159D-21A7-F119-3CA499AB6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7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420</Words>
  <Application>Microsoft Macintosh PowerPoint</Application>
  <PresentationFormat>Widescreen</PresentationFormat>
  <Paragraphs>84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Courier New</vt:lpstr>
      <vt:lpstr>Source Sans Pro</vt:lpstr>
      <vt:lpstr>STIX</vt:lpstr>
      <vt:lpstr>Times New Roman</vt:lpstr>
      <vt:lpstr>Office Theme</vt:lpstr>
      <vt:lpstr>Opener</vt:lpstr>
      <vt:lpstr>Image Slide Master</vt:lpstr>
      <vt:lpstr>Introduction to Statistical Investigations</vt:lpstr>
      <vt:lpstr>So begins Unit 2</vt:lpstr>
      <vt:lpstr>Single Proportion Example</vt:lpstr>
      <vt:lpstr>Two Proportion Example</vt:lpstr>
      <vt:lpstr>What to do with this information?</vt:lpstr>
      <vt:lpstr>What can't you do with this information?</vt:lpstr>
      <vt:lpstr>Moving Forward </vt:lpstr>
      <vt:lpstr>Exploration: Murderous Nurse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 Roscoe</dc:creator>
  <cp:lastModifiedBy>Sarah R Roscoe</cp:lastModifiedBy>
  <cp:revision>1</cp:revision>
  <dcterms:created xsi:type="dcterms:W3CDTF">2026-04-06T22:28:28Z</dcterms:created>
  <dcterms:modified xsi:type="dcterms:W3CDTF">2026-04-06T23:43:27Z</dcterms:modified>
</cp:coreProperties>
</file>