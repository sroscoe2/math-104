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64" r:id="rId2"/>
  </p:sldMasterIdLst>
  <p:notesMasterIdLst>
    <p:notesMasterId r:id="rId38"/>
  </p:notesMasterIdLst>
  <p:sldIdLst>
    <p:sldId id="436" r:id="rId3"/>
    <p:sldId id="749" r:id="rId4"/>
    <p:sldId id="456" r:id="rId5"/>
    <p:sldId id="747" r:id="rId6"/>
    <p:sldId id="566" r:id="rId7"/>
    <p:sldId id="459" r:id="rId8"/>
    <p:sldId id="675" r:id="rId9"/>
    <p:sldId id="748" r:id="rId10"/>
    <p:sldId id="676" r:id="rId11"/>
    <p:sldId id="677" r:id="rId12"/>
    <p:sldId id="678" r:id="rId13"/>
    <p:sldId id="728" r:id="rId14"/>
    <p:sldId id="729" r:id="rId15"/>
    <p:sldId id="731" r:id="rId16"/>
    <p:sldId id="732" r:id="rId17"/>
    <p:sldId id="733" r:id="rId18"/>
    <p:sldId id="680" r:id="rId19"/>
    <p:sldId id="681" r:id="rId20"/>
    <p:sldId id="734" r:id="rId21"/>
    <p:sldId id="682" r:id="rId22"/>
    <p:sldId id="735" r:id="rId23"/>
    <p:sldId id="736" r:id="rId24"/>
    <p:sldId id="737" r:id="rId25"/>
    <p:sldId id="738" r:id="rId26"/>
    <p:sldId id="683" r:id="rId27"/>
    <p:sldId id="739" r:id="rId28"/>
    <p:sldId id="740" r:id="rId29"/>
    <p:sldId id="742" r:id="rId30"/>
    <p:sldId id="743" r:id="rId31"/>
    <p:sldId id="744" r:id="rId32"/>
    <p:sldId id="745" r:id="rId33"/>
    <p:sldId id="746" r:id="rId34"/>
    <p:sldId id="751" r:id="rId35"/>
    <p:sldId id="752" r:id="rId36"/>
    <p:sldId id="75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719"/>
  </p:normalViewPr>
  <p:slideViewPr>
    <p:cSldViewPr snapToGrid="0">
      <p:cViewPr varScale="1">
        <p:scale>
          <a:sx n="148" d="100"/>
          <a:sy n="148" d="100"/>
        </p:scale>
        <p:origin x="10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BE97A3-3C8C-354C-A970-D1FF6BAFF8F4}" type="datetimeFigureOut">
              <a:rPr lang="en-US" smtClean="0"/>
              <a:t>2/25/26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2C98C-CB55-8B40-AF84-81E2BDD71A11}" type="slidenum">
              <a:rPr lang="en-US" smtClean="0"/>
              <a:t>‹#›</a:t>
            </a:fld>
            <a:endParaRPr lang="en-US"/>
          </a:p>
        </p:txBody>
      </p:sp>
    </p:spTree>
    <p:extLst>
      <p:ext uri="{BB962C8B-B14F-4D97-AF65-F5344CB8AC3E}">
        <p14:creationId xmlns:p14="http://schemas.microsoft.com/office/powerpoint/2010/main" val="3780921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073E54-D085-4E2E-B9A5-A53D7E51940E}"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8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32C98C-CB55-8B40-AF84-81E2BDD71A11}" type="slidenum">
              <a:rPr lang="en-US" smtClean="0"/>
              <a:t>8</a:t>
            </a:fld>
            <a:endParaRPr lang="en-US"/>
          </a:p>
        </p:txBody>
      </p:sp>
    </p:spTree>
    <p:extLst>
      <p:ext uri="{BB962C8B-B14F-4D97-AF65-F5344CB8AC3E}">
        <p14:creationId xmlns:p14="http://schemas.microsoft.com/office/powerpoint/2010/main" val="641740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32C98C-CB55-8B40-AF84-81E2BDD71A11}" type="slidenum">
              <a:rPr lang="en-US" smtClean="0"/>
              <a:t>11</a:t>
            </a:fld>
            <a:endParaRPr lang="en-US"/>
          </a:p>
        </p:txBody>
      </p:sp>
    </p:spTree>
    <p:extLst>
      <p:ext uri="{BB962C8B-B14F-4D97-AF65-F5344CB8AC3E}">
        <p14:creationId xmlns:p14="http://schemas.microsoft.com/office/powerpoint/2010/main" val="3961392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5"/>
            <a:ext cx="117856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203200" y="1828800"/>
            <a:ext cx="11785600" cy="4572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203200" y="2363724"/>
            <a:ext cx="117856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203200" y="4419600"/>
            <a:ext cx="11785600" cy="22860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2326326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203200" y="228600"/>
            <a:ext cx="117856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14" name="CT"/>
          <p:cNvSpPr>
            <a:spLocks noGrp="1"/>
          </p:cNvSpPr>
          <p:nvPr>
            <p:ph sz="quarter" idx="20" hasCustomPrompt="1"/>
          </p:nvPr>
        </p:nvSpPr>
        <p:spPr>
          <a:xfrm>
            <a:off x="203200" y="838200"/>
            <a:ext cx="11785600" cy="22098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203200" y="3505200"/>
            <a:ext cx="11785600" cy="1447800"/>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15" name="Edition"/>
          <p:cNvSpPr>
            <a:spLocks noGrp="1"/>
          </p:cNvSpPr>
          <p:nvPr>
            <p:ph sz="quarter" idx="17" hasCustomPrompt="1"/>
          </p:nvPr>
        </p:nvSpPr>
        <p:spPr>
          <a:xfrm>
            <a:off x="203200" y="5029200"/>
            <a:ext cx="11785600" cy="762000"/>
          </a:xfrm>
          <a:prstGeom prst="rect">
            <a:avLst/>
          </a:prstGeom>
        </p:spPr>
        <p:txBody>
          <a:bodyPr/>
          <a:lstStyle>
            <a:lvl1pPr marL="0" indent="0" algn="ctr">
              <a:buNone/>
              <a:defRPr sz="2900" b="1" i="0" baseline="0">
                <a:latin typeface="Times New Roman" charset="0"/>
                <a:ea typeface="Times New Roman" charset="0"/>
                <a:cs typeface="Times New Roman" charset="0"/>
              </a:defRPr>
            </a:lvl1pPr>
          </a:lstStyle>
          <a:p>
            <a:pPr lvl="0"/>
            <a:r>
              <a:rPr lang="en-US" dirty="0"/>
              <a:t>Third Edition</a:t>
            </a:r>
          </a:p>
        </p:txBody>
      </p:sp>
      <p:sp>
        <p:nvSpPr>
          <p:cNvPr id="16" name="Author"/>
          <p:cNvSpPr>
            <a:spLocks noGrp="1"/>
          </p:cNvSpPr>
          <p:nvPr>
            <p:ph sz="quarter" idx="18" hasCustomPrompt="1"/>
          </p:nvPr>
        </p:nvSpPr>
        <p:spPr>
          <a:xfrm>
            <a:off x="203200" y="6096000"/>
            <a:ext cx="11785600" cy="533400"/>
          </a:xfrm>
          <a:prstGeom prst="rect">
            <a:avLst/>
          </a:prstGeom>
        </p:spPr>
        <p:txBody>
          <a:bodyPr/>
          <a:lstStyle>
            <a:lvl1pPr marL="0" indent="0" algn="ctr">
              <a:buNone/>
              <a:defRPr b="0" i="0" baseline="0">
                <a:solidFill>
                  <a:schemeClr val="accent2"/>
                </a:solidFill>
                <a:latin typeface="STIX" charset="0"/>
                <a:ea typeface="STIX" charset="0"/>
                <a:cs typeface="STIX" charset="0"/>
              </a:defRPr>
            </a:lvl1pPr>
          </a:lstStyle>
          <a:p>
            <a:pPr lvl="0"/>
            <a:r>
              <a:rPr lang="en-US" dirty="0"/>
              <a:t>David Klein</a:t>
            </a:r>
          </a:p>
        </p:txBody>
      </p:sp>
    </p:spTree>
    <p:extLst>
      <p:ext uri="{BB962C8B-B14F-4D97-AF65-F5344CB8AC3E}">
        <p14:creationId xmlns:p14="http://schemas.microsoft.com/office/powerpoint/2010/main" val="3203417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203200" y="365125"/>
            <a:ext cx="117856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203200" y="1755648"/>
            <a:ext cx="117856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203200" y="2363724"/>
            <a:ext cx="117856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203200" y="3733800"/>
            <a:ext cx="117856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203200" y="4267200"/>
            <a:ext cx="117856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2091891" y="6248400"/>
            <a:ext cx="8779309"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203200" y="6092825"/>
            <a:ext cx="117856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423773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11" name="Content Placeholder 10"/>
          <p:cNvSpPr>
            <a:spLocks noGrp="1"/>
          </p:cNvSpPr>
          <p:nvPr>
            <p:ph sz="quarter" idx="16"/>
          </p:nvPr>
        </p:nvSpPr>
        <p:spPr>
          <a:xfrm>
            <a:off x="406400" y="1752600"/>
            <a:ext cx="11379200" cy="32766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cNvSpPr>
            <a:spLocks noGrp="1"/>
          </p:cNvSpPr>
          <p:nvPr>
            <p:ph sz="quarter" idx="15" hasCustomPrompt="1"/>
          </p:nvPr>
        </p:nvSpPr>
        <p:spPr>
          <a:xfrm>
            <a:off x="406400" y="5029200"/>
            <a:ext cx="11379200" cy="1143000"/>
          </a:xfrm>
          <a:prstGeom prst="rect">
            <a:avLst/>
          </a:prstGeom>
        </p:spPr>
        <p:txBody>
          <a:bodyPr/>
          <a:lstStyle>
            <a:lvl1pPr marL="0" indent="0">
              <a:spcBef>
                <a:spcPts val="1000"/>
              </a:spcBef>
              <a:buFont typeface="Arial" charset="0"/>
              <a:buNone/>
              <a:defRPr sz="2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4216408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3751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1291113" y="2290576"/>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3672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9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1973020"/>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406400" y="4339741"/>
            <a:ext cx="113792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0AC5F648-714F-41B3-B0A9-EFB467D0BFB2}"/>
              </a:ext>
            </a:extLst>
          </p:cNvPr>
          <p:cNvSpPr>
            <a:spLocks noGrp="1"/>
          </p:cNvSpPr>
          <p:nvPr>
            <p:ph sz="quarter" idx="14"/>
          </p:nvPr>
        </p:nvSpPr>
        <p:spPr>
          <a:xfrm>
            <a:off x="406400" y="5022851"/>
            <a:ext cx="11379200" cy="606425"/>
          </a:xfrm>
          <a:prstGeom prst="rect">
            <a:avLst/>
          </a:prstGeom>
        </p:spPr>
        <p:txBody>
          <a:bodyPr/>
          <a:lstStyle>
            <a:lvl1pPr>
              <a:buClr>
                <a:srgbClr val="911B21"/>
              </a:buClr>
              <a:defRPr sz="2600">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D94DD2EA-EA3F-4637-934F-678F8B946642}"/>
              </a:ext>
            </a:extLst>
          </p:cNvPr>
          <p:cNvSpPr>
            <a:spLocks noGrp="1"/>
          </p:cNvSpPr>
          <p:nvPr>
            <p:ph sz="quarter" idx="15"/>
          </p:nvPr>
        </p:nvSpPr>
        <p:spPr>
          <a:xfrm>
            <a:off x="406400" y="5781676"/>
            <a:ext cx="11379200" cy="606425"/>
          </a:xfrm>
          <a:prstGeom prst="rect">
            <a:avLst/>
          </a:prstGeom>
        </p:spPr>
        <p:txBody>
          <a:bodyPr/>
          <a:lstStyle>
            <a:lvl1pPr>
              <a:buClr>
                <a:srgbClr val="911B21"/>
              </a:buClr>
              <a:defRPr>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a:extLst>
              <a:ext uri="{FF2B5EF4-FFF2-40B4-BE49-F238E27FC236}">
                <a16:creationId xmlns:a16="http://schemas.microsoft.com/office/drawing/2014/main" id="{AB0A3D6A-283C-43F3-B8C1-9A067413E002}"/>
              </a:ext>
            </a:extLst>
          </p:cNvPr>
          <p:cNvSpPr txBox="1">
            <a:spLocks/>
          </p:cNvSpPr>
          <p:nvPr userDrawn="1"/>
        </p:nvSpPr>
        <p:spPr>
          <a:xfrm>
            <a:off x="8606769" y="6351500"/>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4" name="Footer Placeholder 4">
            <a:extLst>
              <a:ext uri="{FF2B5EF4-FFF2-40B4-BE49-F238E27FC236}">
                <a16:creationId xmlns:a16="http://schemas.microsoft.com/office/drawing/2014/main" id="{C0241161-D882-4165-B334-2C14A08BB8E0}"/>
              </a:ext>
            </a:extLst>
          </p:cNvPr>
          <p:cNvSpPr txBox="1">
            <a:spLocks/>
          </p:cNvSpPr>
          <p:nvPr userDrawn="1"/>
        </p:nvSpPr>
        <p:spPr>
          <a:xfrm>
            <a:off x="4034769" y="635150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2220088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620886"/>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406400" y="1911351"/>
            <a:ext cx="11379200" cy="3946525"/>
          </a:xfrm>
          <a:prstGeom prst="rect">
            <a:avLst/>
          </a:prstGeom>
        </p:spPr>
        <p:txBody>
          <a:bodyPr/>
          <a:lstStyle>
            <a:lvl1pPr>
              <a:lnSpc>
                <a:spcPct val="100000"/>
              </a:lnSpc>
              <a:spcBef>
                <a:spcPts val="624"/>
              </a:spcBef>
              <a:buClr>
                <a:srgbClr val="911B21"/>
              </a:buClr>
              <a:defRPr lang="en-US" sz="2600" smtClean="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lang="en-US" smtClean="0">
                <a:latin typeface="Times New Roman" panose="02020603050405020304" pitchFamily="18" charset="0"/>
                <a:cs typeface="Times New Roman" panose="02020603050405020304" pitchFamily="18" charset="0"/>
              </a:defRPr>
            </a:lvl2pPr>
            <a:lvl3pPr>
              <a:lnSpc>
                <a:spcPct val="100000"/>
              </a:lnSpc>
              <a:spcBef>
                <a:spcPts val="624"/>
              </a:spcBef>
              <a:defRPr lang="en-US" smtClean="0">
                <a:latin typeface="Times New Roman" panose="02020603050405020304" pitchFamily="18" charset="0"/>
                <a:cs typeface="Times New Roman" panose="02020603050405020304" pitchFamily="18" charset="0"/>
              </a:defRPr>
            </a:lvl3pPr>
            <a:lvl4pPr>
              <a:lnSpc>
                <a:spcPct val="100000"/>
              </a:lnSpc>
              <a:spcBef>
                <a:spcPts val="624"/>
              </a:spcBef>
              <a:defRPr lang="en-US" smtClean="0">
                <a:latin typeface="Times New Roman" panose="02020603050405020304" pitchFamily="18" charset="0"/>
                <a:cs typeface="Times New Roman" panose="02020603050405020304" pitchFamily="18" charset="0"/>
              </a:defRPr>
            </a:lvl4pPr>
            <a:lvl5pPr>
              <a:lnSpc>
                <a:spcPct val="100000"/>
              </a:lnSpc>
              <a:spcBef>
                <a:spcPts val="624"/>
              </a:spcBef>
              <a:defRPr lang="en-US">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CE5805C8-4641-4DD9-8EEE-8E3542D17AA8}"/>
              </a:ext>
            </a:extLst>
          </p:cNvPr>
          <p:cNvSpPr>
            <a:spLocks noGrp="1"/>
          </p:cNvSpPr>
          <p:nvPr>
            <p:ph type="pic" sz="quarter" idx="13"/>
          </p:nvPr>
        </p:nvSpPr>
        <p:spPr>
          <a:xfrm>
            <a:off x="11154834" y="4035425"/>
            <a:ext cx="1113367" cy="1290638"/>
          </a:xfrm>
          <a:prstGeom prst="rect">
            <a:avLst/>
          </a:prstGeom>
        </p:spPr>
        <p:txBody>
          <a:bodyPr/>
          <a:lstStyle/>
          <a:p>
            <a:endParaRPr lang="en-US"/>
          </a:p>
        </p:txBody>
      </p:sp>
      <p:sp>
        <p:nvSpPr>
          <p:cNvPr id="4" name="Table Placeholder 3">
            <a:extLst>
              <a:ext uri="{FF2B5EF4-FFF2-40B4-BE49-F238E27FC236}">
                <a16:creationId xmlns:a16="http://schemas.microsoft.com/office/drawing/2014/main" id="{9A1B72CE-EF87-477F-BA79-2E8C1521179A}"/>
              </a:ext>
            </a:extLst>
          </p:cNvPr>
          <p:cNvSpPr>
            <a:spLocks noGrp="1"/>
          </p:cNvSpPr>
          <p:nvPr>
            <p:ph type="tbl" sz="quarter" idx="14"/>
          </p:nvPr>
        </p:nvSpPr>
        <p:spPr>
          <a:xfrm>
            <a:off x="11154834" y="3125789"/>
            <a:ext cx="912284" cy="682625"/>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C4B1DF00-9DC3-492A-B100-4D3272B82AD0}"/>
              </a:ext>
            </a:extLst>
          </p:cNvPr>
          <p:cNvSpPr>
            <a:spLocks noGrp="1"/>
          </p:cNvSpPr>
          <p:nvPr>
            <p:ph type="pic" sz="quarter" idx="15"/>
          </p:nvPr>
        </p:nvSpPr>
        <p:spPr>
          <a:xfrm>
            <a:off x="11154834" y="2214564"/>
            <a:ext cx="1037167" cy="6826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7776DD1F-6897-4F1A-BC22-7DBC28584A42}"/>
              </a:ext>
            </a:extLst>
          </p:cNvPr>
          <p:cNvSpPr>
            <a:spLocks noGrp="1"/>
          </p:cNvSpPr>
          <p:nvPr>
            <p:ph sz="quarter" idx="16"/>
          </p:nvPr>
        </p:nvSpPr>
        <p:spPr>
          <a:xfrm>
            <a:off x="366940" y="4768589"/>
            <a:ext cx="11379200" cy="75882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14" name="Content Placeholder 13">
            <a:extLst>
              <a:ext uri="{FF2B5EF4-FFF2-40B4-BE49-F238E27FC236}">
                <a16:creationId xmlns:a16="http://schemas.microsoft.com/office/drawing/2014/main" id="{98CFB20B-7480-4C5A-8DF1-F11AAD7E5605}"/>
              </a:ext>
            </a:extLst>
          </p:cNvPr>
          <p:cNvSpPr>
            <a:spLocks noGrp="1"/>
          </p:cNvSpPr>
          <p:nvPr>
            <p:ph sz="quarter" idx="17"/>
          </p:nvPr>
        </p:nvSpPr>
        <p:spPr>
          <a:xfrm>
            <a:off x="-1088727" y="5053134"/>
            <a:ext cx="11379200" cy="25717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5" name="Picture Placeholder 4">
            <a:extLst>
              <a:ext uri="{FF2B5EF4-FFF2-40B4-BE49-F238E27FC236}">
                <a16:creationId xmlns:a16="http://schemas.microsoft.com/office/drawing/2014/main" id="{EB687367-93D1-4521-BBD6-A0564CA4FC64}"/>
              </a:ext>
            </a:extLst>
          </p:cNvPr>
          <p:cNvSpPr>
            <a:spLocks noGrp="1"/>
          </p:cNvSpPr>
          <p:nvPr>
            <p:ph type="pic" sz="quarter" idx="18"/>
          </p:nvPr>
        </p:nvSpPr>
        <p:spPr>
          <a:xfrm>
            <a:off x="12268201" y="3049589"/>
            <a:ext cx="1113367" cy="985837"/>
          </a:xfrm>
          <a:prstGeom prst="rect">
            <a:avLst/>
          </a:prstGeom>
        </p:spPr>
        <p:txBody>
          <a:bodyPr/>
          <a:lstStyle/>
          <a:p>
            <a:endParaRPr lang="en-US"/>
          </a:p>
        </p:txBody>
      </p:sp>
    </p:spTree>
    <p:extLst>
      <p:ext uri="{BB962C8B-B14F-4D97-AF65-F5344CB8AC3E}">
        <p14:creationId xmlns:p14="http://schemas.microsoft.com/office/powerpoint/2010/main" val="3475428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1524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3429000"/>
            <a:ext cx="11379200" cy="15240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5029200"/>
            <a:ext cx="11379200" cy="9906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Slide Number Placeholder 3">
            <a:extLst>
              <a:ext uri="{FF2B5EF4-FFF2-40B4-BE49-F238E27FC236}">
                <a16:creationId xmlns:a16="http://schemas.microsoft.com/office/drawing/2014/main" id="{A72BACE4-69FF-4409-99CE-9BCD2C9878D8}"/>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0" name="Footer Placeholder 4">
            <a:extLst>
              <a:ext uri="{FF2B5EF4-FFF2-40B4-BE49-F238E27FC236}">
                <a16:creationId xmlns:a16="http://schemas.microsoft.com/office/drawing/2014/main" id="{277DF617-D7C9-4AAC-ABB4-DFF0A77AE8FF}"/>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13262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©2021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9533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5766107"/>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Slide Number Placeholder 3">
            <a:extLst>
              <a:ext uri="{FF2B5EF4-FFF2-40B4-BE49-F238E27FC236}">
                <a16:creationId xmlns:a16="http://schemas.microsoft.com/office/drawing/2014/main" id="{C3A17AB6-8208-4636-B70A-4B280921E8E8}"/>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3" name="Footer Placeholder 3"/>
          <p:cNvSpPr txBox="1">
            <a:spLocks/>
          </p:cNvSpPr>
          <p:nvPr userDrawn="1"/>
        </p:nvSpPr>
        <p:spPr>
          <a:xfrm>
            <a:off x="4038600" y="635878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1920401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1"/>
            <a:ext cx="11379200" cy="68976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518260"/>
            <a:ext cx="11379200" cy="75895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3353105"/>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0" y="40361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0" y="479511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IN" dirty="0"/>
              <a:t>Copyright ©2020 John Wiley &amp; Sons, Inc. </a:t>
            </a:r>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06400" y="55540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Slide Number Placeholder 3">
            <a:extLst>
              <a:ext uri="{FF2B5EF4-FFF2-40B4-BE49-F238E27FC236}">
                <a16:creationId xmlns:a16="http://schemas.microsoft.com/office/drawing/2014/main" id="{3FC7C8C2-8E53-4648-8149-C8D83CA97CE9}"/>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3" name="Footer Placeholder 4">
            <a:extLst>
              <a:ext uri="{FF2B5EF4-FFF2-40B4-BE49-F238E27FC236}">
                <a16:creationId xmlns:a16="http://schemas.microsoft.com/office/drawing/2014/main" id="{37BE712D-A6E6-4E02-9B94-8A539F732706}"/>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446323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973631"/>
            <a:ext cx="113792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406400" y="4118460"/>
            <a:ext cx="113792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406401" y="4953305"/>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406401" y="5766107"/>
            <a:ext cx="326096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4173327"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Content Placeholder 8">
            <a:extLst>
              <a:ext uri="{FF2B5EF4-FFF2-40B4-BE49-F238E27FC236}">
                <a16:creationId xmlns:a16="http://schemas.microsoft.com/office/drawing/2014/main" id="{F641CCC3-3BAF-49BA-81A2-3696342DF5C5}"/>
              </a:ext>
            </a:extLst>
          </p:cNvPr>
          <p:cNvSpPr>
            <a:spLocks noGrp="1"/>
          </p:cNvSpPr>
          <p:nvPr>
            <p:ph sz="quarter" idx="22"/>
          </p:nvPr>
        </p:nvSpPr>
        <p:spPr>
          <a:xfrm>
            <a:off x="4173327"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8">
            <a:extLst>
              <a:ext uri="{FF2B5EF4-FFF2-40B4-BE49-F238E27FC236}">
                <a16:creationId xmlns:a16="http://schemas.microsoft.com/office/drawing/2014/main" id="{F641CCC3-3BAF-49BA-81A2-3696342DF5C5}"/>
              </a:ext>
            </a:extLst>
          </p:cNvPr>
          <p:cNvSpPr>
            <a:spLocks noGrp="1"/>
          </p:cNvSpPr>
          <p:nvPr>
            <p:ph sz="quarter" idx="23"/>
          </p:nvPr>
        </p:nvSpPr>
        <p:spPr>
          <a:xfrm>
            <a:off x="8153401" y="4948654"/>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4" name="Content Placeholder 8">
            <a:extLst>
              <a:ext uri="{FF2B5EF4-FFF2-40B4-BE49-F238E27FC236}">
                <a16:creationId xmlns:a16="http://schemas.microsoft.com/office/drawing/2014/main" id="{F641CCC3-3BAF-49BA-81A2-3696342DF5C5}"/>
              </a:ext>
            </a:extLst>
          </p:cNvPr>
          <p:cNvSpPr>
            <a:spLocks noGrp="1"/>
          </p:cNvSpPr>
          <p:nvPr>
            <p:ph sz="quarter" idx="24"/>
          </p:nvPr>
        </p:nvSpPr>
        <p:spPr>
          <a:xfrm>
            <a:off x="8153401" y="5761456"/>
            <a:ext cx="333938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4BE15919-8751-4BE4-AA33-50DF1CCA64E4}"/>
              </a:ext>
            </a:extLst>
          </p:cNvPr>
          <p:cNvSpPr txBox="1">
            <a:spLocks/>
          </p:cNvSpPr>
          <p:nvPr userDrawn="1"/>
        </p:nvSpPr>
        <p:spPr>
          <a:xfrm>
            <a:off x="8610600" y="636350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16" name="Footer Placeholder 4">
            <a:extLst>
              <a:ext uri="{FF2B5EF4-FFF2-40B4-BE49-F238E27FC236}">
                <a16:creationId xmlns:a16="http://schemas.microsoft.com/office/drawing/2014/main" id="{35B39872-5D7C-431B-B547-3FC6F0E6034C}"/>
              </a:ext>
            </a:extLst>
          </p:cNvPr>
          <p:cNvSpPr txBox="1">
            <a:spLocks/>
          </p:cNvSpPr>
          <p:nvPr userDrawn="1"/>
        </p:nvSpPr>
        <p:spPr>
          <a:xfrm>
            <a:off x="4038600" y="6363506"/>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843961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533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375848"/>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764808"/>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2982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831608"/>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4365008"/>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822208"/>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5279408"/>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660408"/>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19" name="Footer Placeholder 3"/>
          <p:cNvSpPr txBox="1">
            <a:spLocks/>
          </p:cNvSpPr>
          <p:nvPr userDrawn="1"/>
        </p:nvSpPr>
        <p:spPr>
          <a:xfrm>
            <a:off x="4028996" y="635987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
        <p:nvSpPr>
          <p:cNvPr id="21" name="Slide Number Placeholder"/>
          <p:cNvSpPr txBox="1">
            <a:spLocks/>
          </p:cNvSpPr>
          <p:nvPr userDrawn="1"/>
        </p:nvSpPr>
        <p:spPr>
          <a:xfrm>
            <a:off x="8603145" y="6361528"/>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Tree>
    <p:extLst>
      <p:ext uri="{BB962C8B-B14F-4D97-AF65-F5344CB8AC3E}">
        <p14:creationId xmlns:p14="http://schemas.microsoft.com/office/powerpoint/2010/main" val="2848058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406400" y="1752600"/>
            <a:ext cx="11379200" cy="408709"/>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406400" y="2214680"/>
            <a:ext cx="113792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88203" y="2594155"/>
            <a:ext cx="113792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406400" y="304952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406400" y="3504895"/>
            <a:ext cx="113792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406400" y="3960265"/>
            <a:ext cx="113792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406400" y="4415635"/>
            <a:ext cx="113792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406400" y="4871005"/>
            <a:ext cx="113792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508000" y="5326375"/>
            <a:ext cx="11277600" cy="228600"/>
          </a:xfrm>
          <a:prstGeom prst="rect">
            <a:avLst/>
          </a:prstGeom>
        </p:spPr>
        <p:txBody>
          <a:bodyPr/>
          <a:lstStyle>
            <a:lvl1pPr>
              <a:buNone/>
              <a:defRPr baseline="0">
                <a:latin typeface="Times New Roman" pitchFamily="18" charset="0"/>
              </a:defRPr>
            </a:lvl1pPr>
          </a:lstStyle>
          <a:p>
            <a:pPr lvl="0"/>
            <a:endParaRPr lang="en-US" dirty="0"/>
          </a:p>
        </p:txBody>
      </p:sp>
      <p:sp>
        <p:nvSpPr>
          <p:cNvPr id="8" name="Content Placeholder 7">
            <a:extLst>
              <a:ext uri="{FF2B5EF4-FFF2-40B4-BE49-F238E27FC236}">
                <a16:creationId xmlns:a16="http://schemas.microsoft.com/office/drawing/2014/main" id="{58E4D1A0-6F20-4C86-8185-E1F69676C220}"/>
              </a:ext>
            </a:extLst>
          </p:cNvPr>
          <p:cNvSpPr>
            <a:spLocks noGrp="1"/>
          </p:cNvSpPr>
          <p:nvPr>
            <p:ph sz="quarter" idx="25"/>
          </p:nvPr>
        </p:nvSpPr>
        <p:spPr>
          <a:xfrm>
            <a:off x="429684" y="5781745"/>
            <a:ext cx="6475863" cy="304800"/>
          </a:xfrm>
          <a:prstGeom prst="rect">
            <a:avLst/>
          </a:prstGeom>
        </p:spPr>
        <p:txBody>
          <a:bodyPr/>
          <a:lstStyle>
            <a:lvl1pPr marL="0" indent="0">
              <a:buNone/>
              <a:defRPr/>
            </a:lvl1pPr>
          </a:lstStyle>
          <a:p>
            <a:pPr lvl="0"/>
            <a:endParaRPr lang="en-US" dirty="0"/>
          </a:p>
        </p:txBody>
      </p:sp>
      <p:sp>
        <p:nvSpPr>
          <p:cNvPr id="15" name="Content Placeholder 7">
            <a:extLst>
              <a:ext uri="{FF2B5EF4-FFF2-40B4-BE49-F238E27FC236}">
                <a16:creationId xmlns:a16="http://schemas.microsoft.com/office/drawing/2014/main" id="{58E4D1A0-6F20-4C86-8185-E1F69676C220}"/>
              </a:ext>
            </a:extLst>
          </p:cNvPr>
          <p:cNvSpPr>
            <a:spLocks noGrp="1"/>
          </p:cNvSpPr>
          <p:nvPr>
            <p:ph sz="quarter" idx="26"/>
          </p:nvPr>
        </p:nvSpPr>
        <p:spPr>
          <a:xfrm>
            <a:off x="5185261" y="5764248"/>
            <a:ext cx="6475863" cy="304800"/>
          </a:xfrm>
          <a:prstGeom prst="rect">
            <a:avLst/>
          </a:prstGeom>
        </p:spPr>
        <p:txBody>
          <a:bodyPr/>
          <a:lstStyle>
            <a:lvl1pPr marL="0" indent="0">
              <a:buNone/>
              <a:defRPr/>
            </a:lvl1pPr>
          </a:lstStyle>
          <a:p>
            <a:pPr lvl="0"/>
            <a:endParaRPr lang="en-US" dirty="0"/>
          </a:p>
        </p:txBody>
      </p:sp>
      <p:sp>
        <p:nvSpPr>
          <p:cNvPr id="23"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8608993" y="6370876"/>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24" name="Footer Placeholder 4">
            <a:extLst>
              <a:ext uri="{FF2B5EF4-FFF2-40B4-BE49-F238E27FC236}">
                <a16:creationId xmlns:a16="http://schemas.microsoft.com/office/drawing/2014/main" id="{8894F196-3B10-478F-B710-339354FA9E3E}"/>
              </a:ext>
            </a:extLst>
          </p:cNvPr>
          <p:cNvSpPr txBox="1">
            <a:spLocks/>
          </p:cNvSpPr>
          <p:nvPr userDrawn="1"/>
        </p:nvSpPr>
        <p:spPr>
          <a:xfrm>
            <a:off x="4036993" y="635636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Copyright ©2021 John Wiley &amp; Sons, Inc. </a:t>
            </a:r>
          </a:p>
        </p:txBody>
      </p:sp>
    </p:spTree>
    <p:extLst>
      <p:ext uri="{BB962C8B-B14F-4D97-AF65-F5344CB8AC3E}">
        <p14:creationId xmlns:p14="http://schemas.microsoft.com/office/powerpoint/2010/main" val="1009694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46ACF59F-042B-4CE1-AAE4-2FA4499AB366}"/>
              </a:ext>
            </a:extLst>
          </p:cNvPr>
          <p:cNvSpPr txBox="1">
            <a:spLocks/>
          </p:cNvSpPr>
          <p:nvPr userDrawn="1"/>
        </p:nvSpPr>
        <p:spPr>
          <a:xfrm>
            <a:off x="8610600" y="6356351"/>
            <a:ext cx="317500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z="1200" smtClean="0"/>
              <a:pPr/>
              <a:t>‹#›</a:t>
            </a:fld>
            <a:endParaRPr lang="en-US" sz="1200" dirty="0"/>
          </a:p>
        </p:txBody>
      </p:sp>
      <p:sp>
        <p:nvSpPr>
          <p:cNvPr id="9" name="Footer Placeholder 4">
            <a:extLst>
              <a:ext uri="{FF2B5EF4-FFF2-40B4-BE49-F238E27FC236}">
                <a16:creationId xmlns:a16="http://schemas.microsoft.com/office/drawing/2014/main" id="{7642CDE9-7E9A-40FF-9BB8-77380C68654E}"/>
              </a:ext>
            </a:extLst>
          </p:cNvPr>
          <p:cNvSpPr txBox="1">
            <a:spLocks/>
          </p:cNvSpPr>
          <p:nvPr userDrawn="1"/>
        </p:nvSpPr>
        <p:spPr>
          <a:xfrm>
            <a:off x="4038600" y="6356351"/>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t>Copyright ©2020 John Wiley &amp; Sons, Inc. </a:t>
            </a:r>
            <a:endParaRPr lang="en-US" sz="1200" dirty="0"/>
          </a:p>
        </p:txBody>
      </p:sp>
    </p:spTree>
    <p:extLst>
      <p:ext uri="{BB962C8B-B14F-4D97-AF65-F5344CB8AC3E}">
        <p14:creationId xmlns:p14="http://schemas.microsoft.com/office/powerpoint/2010/main" val="20516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3048000" y="4724401"/>
            <a:ext cx="6096000" cy="148907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Tree>
    <p:extLst>
      <p:ext uri="{BB962C8B-B14F-4D97-AF65-F5344CB8AC3E}">
        <p14:creationId xmlns:p14="http://schemas.microsoft.com/office/powerpoint/2010/main" val="2474356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406400" y="762001"/>
            <a:ext cx="113792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4064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6299200" y="1752600"/>
            <a:ext cx="54864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429174" y="3808475"/>
            <a:ext cx="5565633" cy="83484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8" name="Content Placeholder 7">
            <a:extLst>
              <a:ext uri="{FF2B5EF4-FFF2-40B4-BE49-F238E27FC236}">
                <a16:creationId xmlns:a16="http://schemas.microsoft.com/office/drawing/2014/main" id="{ECAAD719-5BF0-4C5E-BE8A-5C3956869DF9}"/>
              </a:ext>
            </a:extLst>
          </p:cNvPr>
          <p:cNvSpPr>
            <a:spLocks noGrp="1"/>
          </p:cNvSpPr>
          <p:nvPr>
            <p:ph sz="quarter" idx="19"/>
          </p:nvPr>
        </p:nvSpPr>
        <p:spPr>
          <a:xfrm>
            <a:off x="6299200" y="3808414"/>
            <a:ext cx="5463117" cy="83502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10">
            <a:extLst>
              <a:ext uri="{FF2B5EF4-FFF2-40B4-BE49-F238E27FC236}">
                <a16:creationId xmlns:a16="http://schemas.microsoft.com/office/drawing/2014/main" id="{DA815FFC-5DD1-44FE-91D7-17E9AFE9E701}"/>
              </a:ext>
            </a:extLst>
          </p:cNvPr>
          <p:cNvSpPr>
            <a:spLocks noGrp="1"/>
          </p:cNvSpPr>
          <p:nvPr>
            <p:ph sz="quarter" idx="20"/>
          </p:nvPr>
        </p:nvSpPr>
        <p:spPr>
          <a:xfrm>
            <a:off x="429683" y="4795839"/>
            <a:ext cx="5666317" cy="682327"/>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12">
            <a:extLst>
              <a:ext uri="{FF2B5EF4-FFF2-40B4-BE49-F238E27FC236}">
                <a16:creationId xmlns:a16="http://schemas.microsoft.com/office/drawing/2014/main" id="{5C82916B-0585-4B7E-9C9B-A7650469BF47}"/>
              </a:ext>
            </a:extLst>
          </p:cNvPr>
          <p:cNvSpPr>
            <a:spLocks noGrp="1"/>
          </p:cNvSpPr>
          <p:nvPr>
            <p:ph sz="quarter" idx="21"/>
          </p:nvPr>
        </p:nvSpPr>
        <p:spPr>
          <a:xfrm>
            <a:off x="6197600" y="4795839"/>
            <a:ext cx="5362840" cy="758222"/>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4719255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406400" y="5410202"/>
            <a:ext cx="113792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406400" y="609602"/>
            <a:ext cx="113792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406400" y="5791201"/>
            <a:ext cx="113792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8610600" y="6356351"/>
            <a:ext cx="317500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14534814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4D96-C503-4BE0-9F48-7B0E0326CE6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78F8EB2-C64A-42B7-AC64-C10457D985C9}"/>
              </a:ext>
            </a:extLst>
          </p:cNvP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a:extLst>
              <a:ext uri="{FF2B5EF4-FFF2-40B4-BE49-F238E27FC236}">
                <a16:creationId xmlns:a16="http://schemas.microsoft.com/office/drawing/2014/main" id="{1FA8BEA2-6D75-4F5A-A26E-60D47B7D78ED}"/>
              </a:ext>
            </a:extLst>
          </p:cNvPr>
          <p:cNvSpPr>
            <a:spLocks noGrp="1"/>
          </p:cNvSpPr>
          <p:nvPr>
            <p:ph type="ftr" sz="quarter" idx="11"/>
          </p:nvPr>
        </p:nvSpPr>
        <p:spPr>
          <a:xfrm>
            <a:off x="4038600" y="6356351"/>
            <a:ext cx="41148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41737327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theme" Target="../theme/theme2.xml"/><Relationship Id="rId2" Type="http://schemas.openxmlformats.org/officeDocument/2006/relationships/slideLayout" Target="../slideLayouts/slideLayout5.xml"/><Relationship Id="rId16" Type="http://schemas.openxmlformats.org/officeDocument/2006/relationships/slideLayout" Target="../slideLayouts/slideLayout19.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6930694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762001"/>
            <a:ext cx="113792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cxnSp>
        <p:nvCxnSpPr>
          <p:cNvPr id="8" name="Straight Connector 7"/>
          <p:cNvCxnSpPr/>
          <p:nvPr userDrawn="1"/>
        </p:nvCxnSpPr>
        <p:spPr>
          <a:xfrm>
            <a:off x="0" y="6324600"/>
            <a:ext cx="12192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8610600" y="6356351"/>
            <a:ext cx="317500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094805334"/>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3.bin"/><Relationship Id="rId1" Type="http://schemas.openxmlformats.org/officeDocument/2006/relationships/slideLayout" Target="../slideLayouts/slideLayout13.xml"/><Relationship Id="rId6" Type="http://schemas.openxmlformats.org/officeDocument/2006/relationships/oleObject" Target="../embeddings/oleObject5.bin"/><Relationship Id="rId5" Type="http://schemas.openxmlformats.org/officeDocument/2006/relationships/image" Target="../media/image4.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14.xml"/><Relationship Id="rId5" Type="http://schemas.openxmlformats.org/officeDocument/2006/relationships/image" Target="../media/image9.wmf"/><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9.bin"/><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0.bin"/><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1.bin"/><Relationship Id="rId1" Type="http://schemas.openxmlformats.org/officeDocument/2006/relationships/slideLayout" Target="../slideLayouts/slideLayout14.xml"/><Relationship Id="rId5" Type="http://schemas.openxmlformats.org/officeDocument/2006/relationships/image" Target="../media/image13.wmf"/><Relationship Id="rId4"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000" dirty="0"/>
              <a:t>Introduction to Statistical Investigations</a:t>
            </a:r>
            <a:endParaRPr lang="en-US" sz="4000" dirty="0">
              <a:latin typeface="Times New Roman" panose="02020603050405020304" pitchFamily="18" charset="0"/>
              <a:cs typeface="Times New Roman" panose="02020603050405020304" pitchFamily="18" charset="0"/>
            </a:endParaRPr>
          </a:p>
        </p:txBody>
      </p:sp>
      <p:sp>
        <p:nvSpPr>
          <p:cNvPr id="4" name="Author"/>
          <p:cNvSpPr>
            <a:spLocks noGrp="1"/>
          </p:cNvSpPr>
          <p:nvPr>
            <p:ph sz="quarter" idx="21"/>
          </p:nvPr>
        </p:nvSpPr>
        <p:spPr>
          <a:prstGeom prst="rect">
            <a:avLst/>
          </a:prstGeom>
        </p:spPr>
        <p:txBody>
          <a:bodyPr/>
          <a:lstStyle/>
          <a:p>
            <a:r>
              <a:rPr lang="en-US" dirty="0">
                <a:latin typeface="Times New Roman" panose="02020603050405020304" pitchFamily="18" charset="0"/>
                <a:cs typeface="Times New Roman" panose="02020603050405020304" pitchFamily="18" charset="0"/>
              </a:rPr>
              <a:t>Second Edition</a:t>
            </a:r>
          </a:p>
        </p:txBody>
      </p:sp>
      <p:sp>
        <p:nvSpPr>
          <p:cNvPr id="3" name="Edition"/>
          <p:cNvSpPr>
            <a:spLocks noGrp="1"/>
          </p:cNvSpPr>
          <p:nvPr>
            <p:ph sz="quarter" idx="22"/>
          </p:nvPr>
        </p:nvSpPr>
        <p:spPr>
          <a:xfrm>
            <a:off x="1752600" y="2363724"/>
            <a:ext cx="8686800" cy="685800"/>
          </a:xfrm>
          <a:prstGeom prst="rect">
            <a:avLst/>
          </a:prstGeom>
        </p:spPr>
        <p:txBody>
          <a:bodyPr anchor="ctr"/>
          <a:lstStyle/>
          <a:p>
            <a:r>
              <a:rPr lang="en-US" sz="2600" dirty="0">
                <a:latin typeface="Times New Roman" panose="02020603050405020304" pitchFamily="18" charset="0"/>
                <a:cs typeface="Times New Roman" panose="02020603050405020304" pitchFamily="18" charset="0"/>
              </a:rPr>
              <a:t>Tintle, Chance, Cobb, Rossman, Roy, Swanson, VanderStoep</a:t>
            </a:r>
            <a:endParaRPr lang="en-US" sz="2600" baseline="30000" dirty="0">
              <a:latin typeface="Times New Roman" panose="02020603050405020304" pitchFamily="18" charset="0"/>
              <a:cs typeface="Times New Roman" panose="02020603050405020304" pitchFamily="18" charset="0"/>
            </a:endParaRPr>
          </a:p>
        </p:txBody>
      </p:sp>
      <p:sp>
        <p:nvSpPr>
          <p:cNvPr id="5" name="CN"/>
          <p:cNvSpPr>
            <a:spLocks noGrp="1"/>
          </p:cNvSpPr>
          <p:nvPr>
            <p:ph sz="quarter" idx="19"/>
          </p:nvPr>
        </p:nvSpPr>
        <p:spPr>
          <a:xfrm>
            <a:off x="1676400" y="3657600"/>
            <a:ext cx="8839200" cy="533400"/>
          </a:xfrm>
        </p:spPr>
        <p:txBody>
          <a:bodyPr anchor="ctr"/>
          <a:lstStyle/>
          <a:p>
            <a:r>
              <a:rPr lang="en-US" dirty="0">
                <a:latin typeface="Times New Roman" panose="02020603050405020304" pitchFamily="18" charset="0"/>
                <a:cs typeface="Times New Roman" panose="02020603050405020304" pitchFamily="18" charset="0"/>
              </a:rPr>
              <a:t>Chapter 2.1</a:t>
            </a:r>
          </a:p>
        </p:txBody>
      </p:sp>
      <p:sp>
        <p:nvSpPr>
          <p:cNvPr id="6" name="CT"/>
          <p:cNvSpPr>
            <a:spLocks noGrp="1"/>
          </p:cNvSpPr>
          <p:nvPr>
            <p:ph sz="quarter" idx="20"/>
          </p:nvPr>
        </p:nvSpPr>
        <p:spPr>
          <a:xfrm>
            <a:off x="1676400" y="4109422"/>
            <a:ext cx="8839200" cy="2383453"/>
          </a:xfrm>
        </p:spPr>
        <p:txBody>
          <a:bodyPr anchor="ctr"/>
          <a:lstStyle/>
          <a:p>
            <a:r>
              <a:rPr lang="en-US" sz="3200" dirty="0"/>
              <a:t>Generalization: How Broadly Do the Results Apply?</a:t>
            </a:r>
          </a:p>
          <a:p>
            <a:r>
              <a:rPr lang="en-US" sz="3200" dirty="0">
                <a:solidFill>
                  <a:srgbClr val="00007F"/>
                </a:solidFill>
              </a:rPr>
              <a:t>Sampling from a Finite Population: Proportions</a:t>
            </a:r>
            <a:endParaRPr lang="en-US" sz="3200" b="1" dirty="0">
              <a:solidFill>
                <a:srgbClr val="00007F"/>
              </a:solidFill>
            </a:endParaRPr>
          </a:p>
        </p:txBody>
      </p:sp>
      <p:sp>
        <p:nvSpPr>
          <p:cNvPr id="14" name="Content Placeholder 13"/>
          <p:cNvSpPr>
            <a:spLocks noGrp="1"/>
          </p:cNvSpPr>
          <p:nvPr>
            <p:ph sz="quarter" idx="24"/>
          </p:nvPr>
        </p:nvSpPr>
        <p:spPr>
          <a:xfrm>
            <a:off x="1676400" y="6156325"/>
            <a:ext cx="8839200" cy="273050"/>
          </a:xfrm>
        </p:spPr>
        <p:txBody>
          <a:bodyPr/>
          <a:lstStyle/>
          <a:p>
            <a:r>
              <a:rPr lang="en-IN" sz="1200" dirty="0">
                <a:solidFill>
                  <a:schemeClr val="bg1"/>
                </a:solidFill>
                <a:latin typeface="Times New Roman" panose="02020603050405020304" pitchFamily="18" charset="0"/>
                <a:cs typeface="Times New Roman" panose="02020603050405020304" pitchFamily="18" charset="0"/>
              </a:rPr>
              <a:t>This slide deck contains animations. Please disable animations if they cause issues with your device.</a:t>
            </a:r>
          </a:p>
        </p:txBody>
      </p:sp>
      <p:sp>
        <p:nvSpPr>
          <p:cNvPr id="10" name="Content Placeholder 9"/>
          <p:cNvSpPr>
            <a:spLocks noGrp="1"/>
          </p:cNvSpPr>
          <p:nvPr>
            <p:ph sz="quarter" idx="23"/>
          </p:nvPr>
        </p:nvSpPr>
        <p:spPr>
          <a:xfrm>
            <a:off x="2803759" y="6323058"/>
            <a:ext cx="6584482" cy="457200"/>
          </a:xfrm>
          <a:prstGeom prst="rect">
            <a:avLst/>
          </a:prstGeom>
        </p:spPr>
        <p:txBody>
          <a:bodyPr anchor="ctr"/>
          <a:lstStyle/>
          <a:p>
            <a:pPr algn="ctr"/>
            <a:r>
              <a:rPr lang="en-US" sz="1200" dirty="0">
                <a:solidFill>
                  <a:schemeClr val="tx1">
                    <a:tint val="75000"/>
                  </a:schemeClr>
                </a:solidFill>
                <a:latin typeface="Times New Roman" panose="02020603050405020304" pitchFamily="18" charset="0"/>
                <a:ea typeface="Times New Roman" charset="0"/>
                <a:cs typeface="Times New Roman" panose="02020603050405020304" pitchFamily="18" charset="0"/>
              </a:rPr>
              <a:t>Copyright ©2021 John Wiley &amp; Sons, Inc.</a:t>
            </a:r>
          </a:p>
        </p:txBody>
      </p:sp>
    </p:spTree>
    <p:extLst>
      <p:ext uri="{BB962C8B-B14F-4D97-AF65-F5344CB8AC3E}">
        <p14:creationId xmlns:p14="http://schemas.microsoft.com/office/powerpoint/2010/main" val="126128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F9D2E-53CF-2363-749D-4A38B2586833}"/>
              </a:ext>
            </a:extLst>
          </p:cNvPr>
          <p:cNvSpPr>
            <a:spLocks noGrp="1"/>
          </p:cNvSpPr>
          <p:nvPr>
            <p:ph type="title"/>
          </p:nvPr>
        </p:nvSpPr>
        <p:spPr/>
        <p:txBody>
          <a:bodyPr/>
          <a:lstStyle/>
          <a:p>
            <a:r>
              <a:rPr lang="en-US" dirty="0"/>
              <a:t>Warm-Up #1</a:t>
            </a:r>
          </a:p>
        </p:txBody>
      </p:sp>
      <p:sp>
        <p:nvSpPr>
          <p:cNvPr id="3" name="Footer Placeholder 2">
            <a:extLst>
              <a:ext uri="{FF2B5EF4-FFF2-40B4-BE49-F238E27FC236}">
                <a16:creationId xmlns:a16="http://schemas.microsoft.com/office/drawing/2014/main" id="{ADDA9625-A7DE-8361-BA81-C7881ACC80D4}"/>
              </a:ext>
            </a:extLst>
          </p:cNvPr>
          <p:cNvSpPr>
            <a:spLocks noGrp="1"/>
          </p:cNvSpPr>
          <p:nvPr>
            <p:ph type="ftr" sz="quarter" idx="11"/>
          </p:nvPr>
        </p:nvSpPr>
        <p:spPr/>
        <p:txBody>
          <a:bodyPr/>
          <a:lstStyle/>
          <a:p>
            <a:r>
              <a:rPr lang="en-US"/>
              <a:t>Copyright ©2020 John Wiley &amp; Sons, Inc. </a:t>
            </a:r>
            <a:endParaRPr lang="en-US" dirty="0"/>
          </a:p>
        </p:txBody>
      </p:sp>
      <p:sp>
        <p:nvSpPr>
          <p:cNvPr id="4" name="Content Placeholder 3">
            <a:extLst>
              <a:ext uri="{FF2B5EF4-FFF2-40B4-BE49-F238E27FC236}">
                <a16:creationId xmlns:a16="http://schemas.microsoft.com/office/drawing/2014/main" id="{E0F33147-0343-9D2E-0145-07634BCF3EAF}"/>
              </a:ext>
            </a:extLst>
          </p:cNvPr>
          <p:cNvSpPr>
            <a:spLocks noGrp="1"/>
          </p:cNvSpPr>
          <p:nvPr>
            <p:ph sz="quarter" idx="12"/>
          </p:nvPr>
        </p:nvSpPr>
        <p:spPr/>
        <p:txBody>
          <a:bodyPr/>
          <a:lstStyle/>
          <a:p>
            <a:r>
              <a:rPr lang="en-US" dirty="0"/>
              <a:t>For the hot-dog-is-a-sandwich study, discuss with your neighbor:</a:t>
            </a:r>
          </a:p>
          <a:p>
            <a:pPr lvl="1"/>
            <a:r>
              <a:rPr lang="en-US" dirty="0"/>
              <a:t>What are the observational units?</a:t>
            </a:r>
          </a:p>
          <a:p>
            <a:pPr lvl="1"/>
            <a:r>
              <a:rPr lang="en-US" dirty="0"/>
              <a:t>What is the variable(s)?</a:t>
            </a:r>
          </a:p>
        </p:txBody>
      </p:sp>
    </p:spTree>
    <p:extLst>
      <p:ext uri="{BB962C8B-B14F-4D97-AF65-F5344CB8AC3E}">
        <p14:creationId xmlns:p14="http://schemas.microsoft.com/office/powerpoint/2010/main" val="2516742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5C44F-93DD-4509-9DFA-473064D254B0}"/>
              </a:ext>
            </a:extLst>
          </p:cNvPr>
          <p:cNvSpPr>
            <a:spLocks noGrp="1"/>
          </p:cNvSpPr>
          <p:nvPr>
            <p:ph type="title"/>
          </p:nvPr>
        </p:nvSpPr>
        <p:spPr/>
        <p:txBody>
          <a:bodyPr/>
          <a:lstStyle/>
          <a:p>
            <a:r>
              <a:rPr lang="en-US" dirty="0"/>
              <a:t>Statistic and Parameter</a:t>
            </a:r>
          </a:p>
        </p:txBody>
      </p:sp>
      <p:sp>
        <p:nvSpPr>
          <p:cNvPr id="3" name="Content Placeholder 2">
            <a:extLst>
              <a:ext uri="{FF2B5EF4-FFF2-40B4-BE49-F238E27FC236}">
                <a16:creationId xmlns:a16="http://schemas.microsoft.com/office/drawing/2014/main" id="{F13A70D3-C5BB-4A0B-AC57-23EAD601927A}"/>
              </a:ext>
            </a:extLst>
          </p:cNvPr>
          <p:cNvSpPr>
            <a:spLocks noGrp="1"/>
          </p:cNvSpPr>
          <p:nvPr>
            <p:ph sz="quarter" idx="16"/>
          </p:nvPr>
        </p:nvSpPr>
        <p:spPr>
          <a:xfrm>
            <a:off x="1828800" y="1752600"/>
            <a:ext cx="8534400" cy="1979980"/>
          </a:xfrm>
          <a:prstGeom prst="rect">
            <a:avLst/>
          </a:prstGeom>
        </p:spPr>
        <p:txBody>
          <a:bodyPr/>
          <a:lstStyle/>
          <a:p>
            <a:pPr marL="292608" indent="-292608">
              <a:lnSpc>
                <a:spcPct val="100000"/>
              </a:lnSpc>
              <a:buClr>
                <a:schemeClr val="accent2"/>
              </a:buClr>
              <a:buFont typeface="Arial" panose="020B0604020202020204" pitchFamily="34" charset="0"/>
              <a:buChar char="•"/>
            </a:pPr>
            <a:r>
              <a:rPr lang="en-US" sz="2400" dirty="0">
                <a:latin typeface="Times New Roman" pitchFamily="18" charset="0"/>
                <a:cs typeface="Times New Roman" panose="02020603050405020304" pitchFamily="18" charset="0"/>
              </a:rPr>
              <a:t>So far in our study of tests of significance we’ve focused on </a:t>
            </a:r>
            <a:r>
              <a:rPr lang="en-US" sz="2400" i="1" dirty="0">
                <a:latin typeface="Times New Roman" pitchFamily="18" charset="0"/>
                <a:cs typeface="Times New Roman" panose="02020603050405020304" pitchFamily="18" charset="0"/>
              </a:rPr>
              <a:t>process</a:t>
            </a:r>
            <a:r>
              <a:rPr lang="en-US" sz="2400" dirty="0">
                <a:latin typeface="Times New Roman" pitchFamily="18" charset="0"/>
                <a:cs typeface="Times New Roman" panose="02020603050405020304" pitchFamily="18" charset="0"/>
              </a:rPr>
              <a:t> probabilities.</a:t>
            </a:r>
          </a:p>
          <a:p>
            <a:pPr marL="621792" lvl="1" indent="-320040">
              <a:lnSpc>
                <a:spcPct val="100000"/>
              </a:lnSpc>
              <a:buClr>
                <a:schemeClr val="accent2"/>
              </a:buClr>
              <a:buSzPct val="800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Is the probability that Buzz will push the correct button more than 0.5?</a:t>
            </a:r>
          </a:p>
          <a:p>
            <a:pPr marL="621792" lvl="1" indent="-320040">
              <a:lnSpc>
                <a:spcPct val="100000"/>
              </a:lnSpc>
              <a:buClr>
                <a:schemeClr val="accent2"/>
              </a:buClr>
              <a:buSzPct val="800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Is the probability that scissors will be thrown less than</a:t>
            </a:r>
          </a:p>
          <a:p>
            <a:pPr marL="621792" lvl="1" indent="-320040">
              <a:lnSpc>
                <a:spcPct val="100000"/>
              </a:lnSpc>
              <a:buClr>
                <a:schemeClr val="accent2"/>
              </a:buClr>
              <a:buSzPct val="80000"/>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Is it likely that less than 50% of the class will think a hot dog is a sandwich?</a:t>
            </a:r>
          </a:p>
        </p:txBody>
      </p:sp>
      <p:graphicFrame>
        <p:nvGraphicFramePr>
          <p:cNvPr id="8" name="Object 7" descr="1 over 3?"/>
          <p:cNvGraphicFramePr>
            <a:graphicFrameLocks noGrp="1" noChangeAspect="1"/>
          </p:cNvGraphicFramePr>
          <p:nvPr/>
        </p:nvGraphicFramePr>
        <p:xfrm>
          <a:off x="9314586" y="3292234"/>
          <a:ext cx="306388" cy="592137"/>
        </p:xfrm>
        <a:graphic>
          <a:graphicData uri="http://schemas.openxmlformats.org/presentationml/2006/ole">
            <mc:AlternateContent xmlns:mc="http://schemas.openxmlformats.org/markup-compatibility/2006">
              <mc:Choice xmlns:v="urn:schemas-microsoft-com:vml" Requires="v">
                <p:oleObj name="Equation" r:id="rId2" imgW="380880" imgH="736560" progId="Equation.DSMT4">
                  <p:embed/>
                </p:oleObj>
              </mc:Choice>
              <mc:Fallback>
                <p:oleObj name="Equation" r:id="rId2" imgW="380880" imgH="736560" progId="Equation.DSMT4">
                  <p:embed/>
                  <p:pic>
                    <p:nvPicPr>
                      <p:cNvPr id="8" name="Object 7" descr="1 over 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4586" y="3292234"/>
                        <a:ext cx="306388"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16175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1B078A5-78E3-C7CE-2B55-BA8B1AC99C85}"/>
              </a:ext>
            </a:extLst>
          </p:cNvPr>
          <p:cNvSpPr>
            <a:spLocks noGrp="1"/>
          </p:cNvSpPr>
          <p:nvPr>
            <p:ph type="title"/>
          </p:nvPr>
        </p:nvSpPr>
        <p:spPr/>
        <p:txBody>
          <a:bodyPr/>
          <a:lstStyle/>
          <a:p>
            <a:r>
              <a:rPr lang="en-US" dirty="0"/>
              <a:t>Statistic and Parameter</a:t>
            </a:r>
          </a:p>
        </p:txBody>
      </p:sp>
      <p:sp>
        <p:nvSpPr>
          <p:cNvPr id="5" name="Footer Placeholder 4">
            <a:extLst>
              <a:ext uri="{FF2B5EF4-FFF2-40B4-BE49-F238E27FC236}">
                <a16:creationId xmlns:a16="http://schemas.microsoft.com/office/drawing/2014/main" id="{E6B5A309-4B0B-E067-2F7F-FDE2859C7001}"/>
              </a:ext>
            </a:extLst>
          </p:cNvPr>
          <p:cNvSpPr>
            <a:spLocks noGrp="1"/>
          </p:cNvSpPr>
          <p:nvPr>
            <p:ph type="ftr" sz="quarter" idx="11"/>
          </p:nvPr>
        </p:nvSpPr>
        <p:spPr/>
        <p:txBody>
          <a:bodyPr/>
          <a:lstStyle/>
          <a:p>
            <a:r>
              <a:rPr lang="en-IN"/>
              <a:t>Copyright ©2021 John Wiley &amp; Sons, Inc. </a:t>
            </a:r>
            <a:endParaRPr lang="en-US" dirty="0"/>
          </a:p>
        </p:txBody>
      </p:sp>
      <p:sp>
        <p:nvSpPr>
          <p:cNvPr id="14" name="Content Placeholder 13">
            <a:extLst>
              <a:ext uri="{FF2B5EF4-FFF2-40B4-BE49-F238E27FC236}">
                <a16:creationId xmlns:a16="http://schemas.microsoft.com/office/drawing/2014/main" id="{B3760635-7514-E1BE-7E02-27A4A176B89D}"/>
              </a:ext>
            </a:extLst>
          </p:cNvPr>
          <p:cNvSpPr>
            <a:spLocks noGrp="1"/>
          </p:cNvSpPr>
          <p:nvPr>
            <p:ph sz="quarter" idx="12"/>
          </p:nvPr>
        </p:nvSpPr>
        <p:spPr/>
        <p:txBody>
          <a:bodyPr/>
          <a:lstStyle/>
          <a:p>
            <a:r>
              <a:rPr lang="en-US" sz="2800" dirty="0"/>
              <a:t>With Buzz, the </a:t>
            </a:r>
            <a:r>
              <a:rPr lang="en-US" sz="2800" b="1" dirty="0"/>
              <a:t>statistic</a:t>
            </a:r>
            <a:r>
              <a:rPr lang="en-US" sz="2800" dirty="0"/>
              <a:t> was the proportion of times Buzz pushed the correct button in the trials we looked at	 and the </a:t>
            </a:r>
            <a:r>
              <a:rPr lang="en-US" sz="2800" b="1" dirty="0"/>
              <a:t>parameter</a:t>
            </a:r>
            <a:r>
              <a:rPr lang="en-US" sz="2800" dirty="0"/>
              <a:t> was Buzz’s probability (long-run proportion) of pushing the correct button.</a:t>
            </a:r>
          </a:p>
          <a:p>
            <a:r>
              <a:rPr lang="en-US" sz="2800" dirty="0"/>
              <a:t>We used this sample </a:t>
            </a:r>
            <a:r>
              <a:rPr lang="en-US" sz="2800" b="1" dirty="0"/>
              <a:t>statistic</a:t>
            </a:r>
            <a:r>
              <a:rPr lang="en-US" sz="2800" dirty="0"/>
              <a:t> to tell us something about the </a:t>
            </a:r>
            <a:r>
              <a:rPr lang="en-US" sz="2800" b="1" dirty="0"/>
              <a:t>parameter</a:t>
            </a:r>
            <a:r>
              <a:rPr lang="en-US" sz="2800" dirty="0"/>
              <a:t>.</a:t>
            </a:r>
          </a:p>
          <a:p>
            <a:endParaRPr lang="en-US" sz="2800" dirty="0"/>
          </a:p>
          <a:p>
            <a:endParaRPr lang="en-US" dirty="0"/>
          </a:p>
        </p:txBody>
      </p:sp>
      <p:sp>
        <p:nvSpPr>
          <p:cNvPr id="4" name="Slide Number Placeholder 3">
            <a:extLst>
              <a:ext uri="{FF2B5EF4-FFF2-40B4-BE49-F238E27FC236}">
                <a16:creationId xmlns:a16="http://schemas.microsoft.com/office/drawing/2014/main" id="{E60BEEC9-C3A4-D76B-CC7A-49DB4A303F5E}"/>
              </a:ext>
            </a:extLst>
          </p:cNvPr>
          <p:cNvSpPr>
            <a:spLocks noGrp="1"/>
          </p:cNvSpPr>
          <p:nvPr>
            <p:ph type="sldNum" sz="quarter" idx="4294967295"/>
          </p:nvPr>
        </p:nvSpPr>
        <p:spPr>
          <a:xfrm>
            <a:off x="9017000" y="6356350"/>
            <a:ext cx="3175000" cy="365125"/>
          </a:xfrm>
        </p:spPr>
        <p:txBody>
          <a:bodyPr/>
          <a:lstStyle/>
          <a:p>
            <a:fld id="{67B19427-F580-D146-B60E-4CADEE75497F}" type="slidenum">
              <a:rPr lang="en-US" smtClean="0"/>
              <a:pPr/>
              <a:t>4</a:t>
            </a:fld>
            <a:endParaRPr lang="en-US" dirty="0"/>
          </a:p>
        </p:txBody>
      </p:sp>
      <p:sp>
        <p:nvSpPr>
          <p:cNvPr id="10" name="Content Placeholder 3">
            <a:extLst>
              <a:ext uri="{FF2B5EF4-FFF2-40B4-BE49-F238E27FC236}">
                <a16:creationId xmlns:a16="http://schemas.microsoft.com/office/drawing/2014/main" id="{17464AC4-A744-8E7F-E2B8-E93519DB0E14}"/>
              </a:ext>
            </a:extLst>
          </p:cNvPr>
          <p:cNvSpPr txBox="1">
            <a:spLocks/>
          </p:cNvSpPr>
          <p:nvPr/>
        </p:nvSpPr>
        <p:spPr>
          <a:xfrm>
            <a:off x="1828800" y="3732581"/>
            <a:ext cx="8517320" cy="834845"/>
          </a:xfrm>
          <a:prstGeom prst="rect">
            <a:avLst/>
          </a:prstGeom>
        </p:spPr>
        <p:txBody>
          <a:bodyPr/>
          <a:lstStyle>
            <a:lvl1pPr marL="0" indent="0" algn="l" defTabSz="914400" rtl="0" eaLnBrk="1" latinLnBrk="0" hangingPunct="1">
              <a:lnSpc>
                <a:spcPct val="90000"/>
              </a:lnSpc>
              <a:spcBef>
                <a:spcPts val="1000"/>
              </a:spcBef>
              <a:buFont typeface="Arial"/>
              <a:buNone/>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92608" indent="-292608">
              <a:lnSpc>
                <a:spcPct val="100000"/>
              </a:lnSpc>
              <a:buClr>
                <a:schemeClr val="accent2"/>
              </a:buClr>
              <a:buFont typeface="Arial" panose="020B0604020202020204" pitchFamily="34" charset="0"/>
              <a:buChar char="•"/>
            </a:pPr>
            <a:endParaRPr lang="en-US" sz="2400" dirty="0"/>
          </a:p>
        </p:txBody>
      </p:sp>
      <p:sp>
        <p:nvSpPr>
          <p:cNvPr id="11" name="Content Placeholder 4">
            <a:extLst>
              <a:ext uri="{FF2B5EF4-FFF2-40B4-BE49-F238E27FC236}">
                <a16:creationId xmlns:a16="http://schemas.microsoft.com/office/drawing/2014/main" id="{4416658B-C7CE-5BFD-B22F-892E321F63F5}"/>
              </a:ext>
            </a:extLst>
          </p:cNvPr>
          <p:cNvSpPr txBox="1">
            <a:spLocks/>
          </p:cNvSpPr>
          <p:nvPr/>
        </p:nvSpPr>
        <p:spPr>
          <a:xfrm>
            <a:off x="1844843" y="4122423"/>
            <a:ext cx="8121802" cy="2073399"/>
          </a:xfrm>
          <a:prstGeom prst="rect">
            <a:avLst/>
          </a:prstGeom>
        </p:spPr>
        <p:txBody>
          <a:bodyPr/>
          <a:lstStyle>
            <a:lvl1pPr marL="0" indent="0" algn="l" defTabSz="914400" rtl="0" eaLnBrk="1" latinLnBrk="0" hangingPunct="1">
              <a:lnSpc>
                <a:spcPct val="90000"/>
              </a:lnSpc>
              <a:spcBef>
                <a:spcPts val="1000"/>
              </a:spcBef>
              <a:buFont typeface="Arial"/>
              <a:buNone/>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92608" indent="-292608">
              <a:lnSpc>
                <a:spcPct val="100000"/>
              </a:lnSpc>
              <a:buClr>
                <a:schemeClr val="accent2"/>
              </a:buClr>
              <a:buFont typeface="Arial" panose="020B0604020202020204" pitchFamily="34" charset="0"/>
              <a:buChar char="•"/>
            </a:pPr>
            <a:endParaRPr lang="en-US" sz="2400" dirty="0"/>
          </a:p>
        </p:txBody>
      </p:sp>
      <p:graphicFrame>
        <p:nvGraphicFramePr>
          <p:cNvPr id="12" name="Object 11" descr="left parenthesis start frac 15 over 16 end frac right parenthesis">
            <a:extLst>
              <a:ext uri="{FF2B5EF4-FFF2-40B4-BE49-F238E27FC236}">
                <a16:creationId xmlns:a16="http://schemas.microsoft.com/office/drawing/2014/main" id="{4E0A3585-2CBD-5488-7419-AE357322539F}"/>
              </a:ext>
            </a:extLst>
          </p:cNvPr>
          <p:cNvGraphicFramePr>
            <a:graphicFrameLocks noChangeAspect="1"/>
          </p:cNvGraphicFramePr>
          <p:nvPr>
            <p:extLst>
              <p:ext uri="{D42A27DB-BD31-4B8C-83A1-F6EECF244321}">
                <p14:modId xmlns:p14="http://schemas.microsoft.com/office/powerpoint/2010/main" val="3177350225"/>
              </p:ext>
            </p:extLst>
          </p:nvPr>
        </p:nvGraphicFramePr>
        <p:xfrm>
          <a:off x="5336527" y="2442131"/>
          <a:ext cx="415636" cy="508000"/>
        </p:xfrm>
        <a:graphic>
          <a:graphicData uri="http://schemas.openxmlformats.org/presentationml/2006/ole">
            <mc:AlternateContent xmlns:mc="http://schemas.openxmlformats.org/markup-compatibility/2006">
              <mc:Choice xmlns:v="urn:schemas-microsoft-com:vml" Requires="v">
                <p:oleObj name="Equation" r:id="rId2" imgW="457200" imgH="558800" progId="Equation.DSMT4">
                  <p:embed/>
                </p:oleObj>
              </mc:Choice>
              <mc:Fallback>
                <p:oleObj name="Equation" r:id="rId2" imgW="457200" imgH="558800" progId="Equation.DSMT4">
                  <p:embed/>
                  <p:pic>
                    <p:nvPicPr>
                      <p:cNvPr id="6" name="Object 5" descr="left parenthesis start frac 15 over 16 end frac right parenthesi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6527" y="2442131"/>
                        <a:ext cx="415636"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93971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25A1-2F10-484F-80D3-D1DF42971302}"/>
              </a:ext>
            </a:extLst>
          </p:cNvPr>
          <p:cNvSpPr>
            <a:spLocks noGrp="1"/>
          </p:cNvSpPr>
          <p:nvPr>
            <p:ph type="title"/>
          </p:nvPr>
        </p:nvSpPr>
        <p:spPr/>
        <p:txBody>
          <a:bodyPr/>
          <a:lstStyle/>
          <a:p>
            <a:r>
              <a:rPr lang="en-US" dirty="0"/>
              <a:t>Generalization</a:t>
            </a:r>
          </a:p>
        </p:txBody>
      </p:sp>
      <p:sp>
        <p:nvSpPr>
          <p:cNvPr id="3" name="Content Placeholder 2">
            <a:extLst>
              <a:ext uri="{FF2B5EF4-FFF2-40B4-BE49-F238E27FC236}">
                <a16:creationId xmlns:a16="http://schemas.microsoft.com/office/drawing/2014/main" id="{733F55E6-2348-4292-9183-420364689E97}"/>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sz="2400" dirty="0"/>
              <a:t>Now we want to focus more on finite populations instead of an infinite process.</a:t>
            </a:r>
          </a:p>
          <a:p>
            <a:pPr marL="292608" indent="-292608">
              <a:buClr>
                <a:schemeClr val="accent2"/>
              </a:buClr>
              <a:buFont typeface="Arial" panose="020B0604020202020204" pitchFamily="34" charset="0"/>
              <a:buChar char="•"/>
            </a:pPr>
            <a:r>
              <a:rPr lang="en-US" sz="2400" dirty="0"/>
              <a:t>Typically the entire population is not measured for what we are interested in and it is difficult to do so (this would be taking a </a:t>
            </a:r>
            <a:r>
              <a:rPr lang="en-US" sz="2400" b="1" dirty="0"/>
              <a:t>census</a:t>
            </a:r>
            <a:r>
              <a:rPr lang="en-US" sz="2400" dirty="0"/>
              <a:t>).</a:t>
            </a:r>
          </a:p>
          <a:p>
            <a:pPr marL="292608" indent="-292608">
              <a:buClr>
                <a:schemeClr val="accent2"/>
              </a:buClr>
              <a:buFont typeface="Arial" panose="020B0604020202020204" pitchFamily="34" charset="0"/>
              <a:buChar char="•"/>
            </a:pPr>
            <a:endParaRPr lang="en-US" sz="2400" dirty="0"/>
          </a:p>
          <a:p>
            <a:pPr marL="292608" indent="-292608">
              <a:buClr>
                <a:schemeClr val="accent2"/>
              </a:buClr>
              <a:buFont typeface="Arial" panose="020B0604020202020204" pitchFamily="34" charset="0"/>
              <a:buChar char="•"/>
            </a:pPr>
            <a:r>
              <a:rPr lang="en-US" sz="2400" dirty="0"/>
              <a:t>We, therefore, take </a:t>
            </a:r>
            <a:r>
              <a:rPr lang="en-US" sz="2400" b="1" dirty="0"/>
              <a:t>samples</a:t>
            </a:r>
            <a:r>
              <a:rPr lang="en-US" sz="2400" dirty="0"/>
              <a:t> (some subgroup of the population) to give us information we want about a </a:t>
            </a:r>
            <a:r>
              <a:rPr lang="en-US" sz="2400" b="1" dirty="0"/>
              <a:t>population</a:t>
            </a:r>
            <a:r>
              <a:rPr lang="en-US" sz="2400" dirty="0"/>
              <a:t>.</a:t>
            </a:r>
          </a:p>
          <a:p>
            <a:pPr marL="292608" indent="-292608">
              <a:buClr>
                <a:schemeClr val="accent2"/>
              </a:buClr>
              <a:buFont typeface="Arial" panose="020B0604020202020204" pitchFamily="34" charset="0"/>
              <a:buChar char="•"/>
            </a:pPr>
            <a:r>
              <a:rPr lang="en-US" sz="2400" dirty="0"/>
              <a:t>We want to </a:t>
            </a:r>
            <a:r>
              <a:rPr lang="en-US" sz="2400" b="1" dirty="0"/>
              <a:t>generalize</a:t>
            </a:r>
            <a:r>
              <a:rPr lang="en-US" sz="2400" dirty="0"/>
              <a:t> the information from the sample to the population.</a:t>
            </a:r>
          </a:p>
          <a:p>
            <a:pPr marL="292608" indent="-292608">
              <a:buClr>
                <a:schemeClr val="accent2"/>
              </a:buClr>
              <a:buFont typeface="Arial" panose="020B0604020202020204" pitchFamily="34" charset="0"/>
              <a:buChar char="•"/>
            </a:pPr>
            <a:r>
              <a:rPr lang="en-US" sz="2400" dirty="0"/>
              <a:t>In this section, we will look at how to collect a sample that we feel is representative of the larger population.</a:t>
            </a:r>
          </a:p>
        </p:txBody>
      </p:sp>
    </p:spTree>
    <p:extLst>
      <p:ext uri="{BB962C8B-B14F-4D97-AF65-F5344CB8AC3E}">
        <p14:creationId xmlns:p14="http://schemas.microsoft.com/office/powerpoint/2010/main" val="983845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Voter Turnout</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In 2018, the General Social Survey (GSS) asked if the respondent voted in the 2016 U.S. Presidential Election.</a:t>
            </a:r>
          </a:p>
          <a:p>
            <a:pPr marL="292608" indent="-292608">
              <a:buClr>
                <a:schemeClr val="accent2"/>
              </a:buClr>
              <a:buFont typeface="Arial" panose="020B0604020202020204" pitchFamily="34" charset="0"/>
              <a:buChar char="•"/>
            </a:pPr>
            <a:r>
              <a:rPr lang="en-US" dirty="0"/>
              <a:t>Of the 2,181 eligible voters surveyed, 1,523 </a:t>
            </a:r>
            <a:r>
              <a:rPr lang="en-US" b="1" dirty="0"/>
              <a:t>(69.8%) </a:t>
            </a:r>
            <a:r>
              <a:rPr lang="en-US" dirty="0"/>
              <a:t>of them said yes.</a:t>
            </a:r>
          </a:p>
          <a:p>
            <a:pPr marL="292608" indent="-292608">
              <a:buClr>
                <a:schemeClr val="accent2"/>
              </a:buClr>
              <a:buFont typeface="Arial" panose="020B0604020202020204" pitchFamily="34" charset="0"/>
              <a:buChar char="•"/>
            </a:pPr>
            <a:endParaRPr lang="en-US" dirty="0"/>
          </a:p>
          <a:p>
            <a:pPr marL="292608" indent="-292608">
              <a:buClr>
                <a:schemeClr val="accent2"/>
              </a:buClr>
              <a:buFont typeface="Arial" panose="020B0604020202020204" pitchFamily="34" charset="0"/>
              <a:buChar char="•"/>
            </a:pPr>
            <a:r>
              <a:rPr lang="en-US" dirty="0"/>
              <a:t>But the United States Election Project said there were 230,931,921 citizens eligible to vote in that election and only 136,753,936 </a:t>
            </a:r>
            <a:r>
              <a:rPr lang="en-US" b="1" dirty="0"/>
              <a:t>(59.2%) </a:t>
            </a:r>
            <a:r>
              <a:rPr lang="en-US" dirty="0"/>
              <a:t>of them voted.</a:t>
            </a:r>
          </a:p>
          <a:p>
            <a:pPr marL="292608" indent="-292608">
              <a:buClr>
                <a:schemeClr val="accent2"/>
              </a:buClr>
              <a:buFont typeface="Arial" panose="020B0604020202020204" pitchFamily="34" charset="0"/>
              <a:buChar char="•"/>
            </a:pPr>
            <a:r>
              <a:rPr lang="en-US" dirty="0"/>
              <a:t>Why aren’t these two percentages that represent voter turnout the same?</a:t>
            </a:r>
          </a:p>
        </p:txBody>
      </p:sp>
    </p:spTree>
    <p:extLst>
      <p:ext uri="{BB962C8B-B14F-4D97-AF65-F5344CB8AC3E}">
        <p14:creationId xmlns:p14="http://schemas.microsoft.com/office/powerpoint/2010/main" val="4141507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Population and Sample</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Perhaps the respondents to the GSS (the </a:t>
            </a:r>
            <a:r>
              <a:rPr lang="en-US" i="1" dirty="0"/>
              <a:t>sample</a:t>
            </a:r>
            <a:r>
              <a:rPr lang="en-US" dirty="0"/>
              <a:t>) were not representative of all eligible voters (the </a:t>
            </a:r>
            <a:r>
              <a:rPr lang="en-US" i="1" dirty="0"/>
              <a:t>population</a:t>
            </a:r>
            <a:r>
              <a:rPr lang="en-US" dirty="0"/>
              <a:t>).</a:t>
            </a:r>
          </a:p>
          <a:p>
            <a:pPr marL="292608" indent="-292608">
              <a:buClr>
                <a:schemeClr val="accent2"/>
              </a:buClr>
              <a:buFont typeface="Arial" panose="020B0604020202020204" pitchFamily="34" charset="0"/>
              <a:buChar char="•"/>
            </a:pPr>
            <a:r>
              <a:rPr lang="en-US" dirty="0"/>
              <a:t>The </a:t>
            </a:r>
            <a:r>
              <a:rPr lang="en-US" b="1" dirty="0"/>
              <a:t>population </a:t>
            </a:r>
            <a:r>
              <a:rPr lang="en-US" dirty="0"/>
              <a:t>is the entire collection of observational units we are interested in, and the </a:t>
            </a:r>
            <a:r>
              <a:rPr lang="en-US" b="1" dirty="0"/>
              <a:t>sample</a:t>
            </a:r>
            <a:r>
              <a:rPr lang="en-US" dirty="0"/>
              <a:t> is a subset of the population on which we record data.</a:t>
            </a:r>
          </a:p>
          <a:p>
            <a:pPr marL="292608" indent="-292608">
              <a:buClr>
                <a:schemeClr val="accent2"/>
              </a:buClr>
              <a:buFont typeface="Arial" panose="020B0604020202020204" pitchFamily="34" charset="0"/>
              <a:buChar char="•"/>
            </a:pPr>
            <a:r>
              <a:rPr lang="en-US" dirty="0"/>
              <a:t>What would convince you that GSS respondents are representative of the larger population?</a:t>
            </a:r>
          </a:p>
        </p:txBody>
      </p:sp>
    </p:spTree>
    <p:extLst>
      <p:ext uri="{BB962C8B-B14F-4D97-AF65-F5344CB8AC3E}">
        <p14:creationId xmlns:p14="http://schemas.microsoft.com/office/powerpoint/2010/main" val="715944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2704B-CA46-9DDB-4932-AD6D23D186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3D181-1BA6-24A6-DC73-A02FE9762965}"/>
              </a:ext>
            </a:extLst>
          </p:cNvPr>
          <p:cNvSpPr>
            <a:spLocks noGrp="1"/>
          </p:cNvSpPr>
          <p:nvPr>
            <p:ph type="title"/>
          </p:nvPr>
        </p:nvSpPr>
        <p:spPr/>
        <p:txBody>
          <a:bodyPr>
            <a:normAutofit/>
          </a:bodyPr>
          <a:lstStyle/>
          <a:p>
            <a:r>
              <a:rPr lang="en-US" dirty="0"/>
              <a:t>Example 2.1: Population and Sample</a:t>
            </a:r>
          </a:p>
        </p:txBody>
      </p:sp>
      <p:sp>
        <p:nvSpPr>
          <p:cNvPr id="3" name="Content Placeholder 2">
            <a:extLst>
              <a:ext uri="{FF2B5EF4-FFF2-40B4-BE49-F238E27FC236}">
                <a16:creationId xmlns:a16="http://schemas.microsoft.com/office/drawing/2014/main" id="{2AFC3E29-0A97-CAC2-BC66-94F7894338E6}"/>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Perhaps the respondents to the GSS (the </a:t>
            </a:r>
            <a:r>
              <a:rPr lang="en-US" i="1" dirty="0"/>
              <a:t>sample</a:t>
            </a:r>
            <a:r>
              <a:rPr lang="en-US" dirty="0"/>
              <a:t>) were not representative of all eligible voters (the </a:t>
            </a:r>
            <a:r>
              <a:rPr lang="en-US" i="1" dirty="0"/>
              <a:t>population</a:t>
            </a:r>
            <a:r>
              <a:rPr lang="en-US" dirty="0"/>
              <a:t>).</a:t>
            </a:r>
          </a:p>
          <a:p>
            <a:pPr marL="292608" indent="-292608">
              <a:buClr>
                <a:schemeClr val="accent2"/>
              </a:buClr>
              <a:buFont typeface="Arial" panose="020B0604020202020204" pitchFamily="34" charset="0"/>
              <a:buChar char="•"/>
            </a:pPr>
            <a:r>
              <a:rPr lang="en-US" dirty="0"/>
              <a:t>The </a:t>
            </a:r>
            <a:r>
              <a:rPr lang="en-US" b="1" dirty="0"/>
              <a:t>population </a:t>
            </a:r>
            <a:r>
              <a:rPr lang="en-US" dirty="0"/>
              <a:t>is the entire collection of observational units we are interested in, and the </a:t>
            </a:r>
            <a:r>
              <a:rPr lang="en-US" b="1" dirty="0"/>
              <a:t>sample</a:t>
            </a:r>
            <a:r>
              <a:rPr lang="en-US" dirty="0"/>
              <a:t> is a subset of the population on which we record data.</a:t>
            </a:r>
          </a:p>
          <a:p>
            <a:pPr marL="292608" indent="-292608">
              <a:buClr>
                <a:schemeClr val="accent2"/>
              </a:buClr>
              <a:buFont typeface="Arial" panose="020B0604020202020204" pitchFamily="34" charset="0"/>
              <a:buChar char="•"/>
            </a:pPr>
            <a:r>
              <a:rPr lang="en-US" dirty="0"/>
              <a:t>What would convince you that GSS respondents are representative of the larger population?</a:t>
            </a:r>
          </a:p>
          <a:p>
            <a:pPr marL="621792" lvl="1" indent="-320040">
              <a:spcBef>
                <a:spcPts val="500"/>
              </a:spcBef>
              <a:buClr>
                <a:schemeClr val="accent2"/>
              </a:buClr>
            </a:pPr>
            <a:r>
              <a:rPr lang="en-US" dirty="0"/>
              <a:t>They need to come from all over the country.</a:t>
            </a:r>
          </a:p>
          <a:p>
            <a:pPr marL="621792" lvl="1" indent="-320040">
              <a:spcBef>
                <a:spcPts val="500"/>
              </a:spcBef>
              <a:buClr>
                <a:schemeClr val="accent2"/>
              </a:buClr>
            </a:pPr>
            <a:r>
              <a:rPr lang="en-US" dirty="0"/>
              <a:t>Everyone in the voting-eligible population could potentially be selected for the survey.</a:t>
            </a:r>
          </a:p>
        </p:txBody>
      </p:sp>
    </p:spTree>
    <p:extLst>
      <p:ext uri="{BB962C8B-B14F-4D97-AF65-F5344CB8AC3E}">
        <p14:creationId xmlns:p14="http://schemas.microsoft.com/office/powerpoint/2010/main" val="2488127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Nonrandom Samples</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We wouldn’t want to do a call-in survey, where only the proudest Americans replied.</a:t>
            </a:r>
          </a:p>
          <a:p>
            <a:pPr marL="292608" indent="-292608">
              <a:buClr>
                <a:schemeClr val="accent2"/>
              </a:buClr>
              <a:buFont typeface="Arial" panose="020B0604020202020204" pitchFamily="34" charset="0"/>
              <a:buChar char="•"/>
            </a:pPr>
            <a:r>
              <a:rPr lang="en-US" dirty="0"/>
              <a:t>Or just sample from some convenient areas of the country.</a:t>
            </a:r>
          </a:p>
          <a:p>
            <a:pPr marL="292608" indent="-292608">
              <a:buClr>
                <a:schemeClr val="accent2"/>
              </a:buClr>
              <a:buFont typeface="Arial" panose="020B0604020202020204" pitchFamily="34" charset="0"/>
              <a:buChar char="•"/>
            </a:pPr>
            <a:r>
              <a:rPr lang="en-US" dirty="0"/>
              <a:t>A </a:t>
            </a:r>
            <a:r>
              <a:rPr lang="en-US" b="1" dirty="0"/>
              <a:t>convenience sample </a:t>
            </a:r>
            <a:r>
              <a:rPr lang="en-US" dirty="0"/>
              <a:t>is a nonrandom sample of a population. </a:t>
            </a:r>
            <a:r>
              <a:rPr lang="en-US" b="1" dirty="0"/>
              <a:t>Voluntary response</a:t>
            </a:r>
            <a:r>
              <a:rPr lang="en-US" dirty="0"/>
              <a:t>, like a phone-in or mail-in survey, is a common type of convenience sample.</a:t>
            </a:r>
          </a:p>
          <a:p>
            <a:pPr marL="292608" indent="-292608">
              <a:buClr>
                <a:schemeClr val="accent2"/>
              </a:buClr>
              <a:buFont typeface="Arial" panose="020B0604020202020204" pitchFamily="34" charset="0"/>
              <a:buChar char="•"/>
            </a:pPr>
            <a:r>
              <a:rPr lang="en-US" dirty="0"/>
              <a:t>Convenience samples often over sample certain segments of the population that can result in over or under-estimating the true population parameter.</a:t>
            </a:r>
          </a:p>
        </p:txBody>
      </p:sp>
    </p:spTree>
    <p:extLst>
      <p:ext uri="{BB962C8B-B14F-4D97-AF65-F5344CB8AC3E}">
        <p14:creationId xmlns:p14="http://schemas.microsoft.com/office/powerpoint/2010/main" val="3617469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Biased Sampling Method</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A sampling method is </a:t>
            </a:r>
            <a:r>
              <a:rPr lang="en-US" b="1" dirty="0"/>
              <a:t>biased</a:t>
            </a:r>
            <a:r>
              <a:rPr lang="en-US" dirty="0"/>
              <a:t> if statistics from samples consistently over or under-estimate the population parameter.</a:t>
            </a:r>
          </a:p>
          <a:p>
            <a:pPr marL="292608" indent="-292608">
              <a:buClr>
                <a:schemeClr val="accent2"/>
              </a:buClr>
              <a:buFont typeface="Arial" panose="020B0604020202020204" pitchFamily="34" charset="0"/>
              <a:buChar char="•"/>
            </a:pPr>
            <a:r>
              <a:rPr lang="en-US" dirty="0"/>
              <a:t>Bias is a property of a sampling method, not the sample.</a:t>
            </a:r>
          </a:p>
          <a:p>
            <a:pPr marL="292608" indent="-292608">
              <a:buClr>
                <a:schemeClr val="accent2"/>
              </a:buClr>
              <a:buFont typeface="Arial" panose="020B0604020202020204" pitchFamily="34" charset="0"/>
              <a:buChar char="•"/>
            </a:pPr>
            <a:r>
              <a:rPr lang="en-US" dirty="0"/>
              <a:t>A </a:t>
            </a:r>
            <a:r>
              <a:rPr lang="en-US" i="1" dirty="0"/>
              <a:t>method</a:t>
            </a:r>
            <a:r>
              <a:rPr lang="en-US" dirty="0"/>
              <a:t> must consistently produce non-representative results to be considered biased.</a:t>
            </a:r>
          </a:p>
        </p:txBody>
      </p:sp>
    </p:spTree>
    <p:extLst>
      <p:ext uri="{BB962C8B-B14F-4D97-AF65-F5344CB8AC3E}">
        <p14:creationId xmlns:p14="http://schemas.microsoft.com/office/powerpoint/2010/main" val="2412327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Simple Random Sample</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p:txBody>
          <a:bodyPr/>
          <a:lstStyle/>
          <a:p>
            <a:pPr marL="292608" indent="-292608">
              <a:buClr>
                <a:schemeClr val="accent2"/>
              </a:buClr>
              <a:buFont typeface="Arial" panose="020B0604020202020204" pitchFamily="34" charset="0"/>
              <a:buChar char="•"/>
            </a:pPr>
            <a:r>
              <a:rPr lang="en-US" dirty="0"/>
              <a:t>To prevent bias, we select a </a:t>
            </a:r>
            <a:r>
              <a:rPr lang="en-US" b="1" dirty="0"/>
              <a:t>random sample</a:t>
            </a:r>
            <a:r>
              <a:rPr lang="en-US" dirty="0"/>
              <a:t>, such as a </a:t>
            </a:r>
            <a:r>
              <a:rPr lang="en-US" i="1" dirty="0"/>
              <a:t>simple random sample </a:t>
            </a:r>
            <a:r>
              <a:rPr lang="en-US" dirty="0"/>
              <a:t>(SRS). How is this a better way of selecting a representative sample?</a:t>
            </a:r>
          </a:p>
          <a:p>
            <a:pPr marL="292608" indent="-292608">
              <a:buClr>
                <a:schemeClr val="accent2"/>
              </a:buClr>
              <a:buFont typeface="Arial" panose="020B0604020202020204" pitchFamily="34" charset="0"/>
              <a:buChar char="•"/>
            </a:pPr>
            <a:r>
              <a:rPr lang="en-US" dirty="0"/>
              <a:t>A</a:t>
            </a:r>
            <a:r>
              <a:rPr lang="en-US" b="1" i="1" dirty="0"/>
              <a:t> </a:t>
            </a:r>
            <a:r>
              <a:rPr lang="en-US" b="1" dirty="0"/>
              <a:t>simple random sample</a:t>
            </a:r>
            <a:r>
              <a:rPr lang="en-US" dirty="0"/>
              <a:t> ensures that every sample of size n is equally likely to be the sample selected.</a:t>
            </a:r>
          </a:p>
          <a:p>
            <a:pPr marL="292608" indent="-292608">
              <a:buClr>
                <a:schemeClr val="accent2"/>
              </a:buClr>
              <a:buFont typeface="Arial" panose="020B0604020202020204" pitchFamily="34" charset="0"/>
              <a:buChar char="•"/>
            </a:pPr>
            <a:r>
              <a:rPr lang="en-US" dirty="0"/>
              <a:t>This also means that each observational unit in the population has an equal chance of being selected.</a:t>
            </a:r>
          </a:p>
        </p:txBody>
      </p:sp>
    </p:spTree>
    <p:extLst>
      <p:ext uri="{BB962C8B-B14F-4D97-AF65-F5344CB8AC3E}">
        <p14:creationId xmlns:p14="http://schemas.microsoft.com/office/powerpoint/2010/main" val="287167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Frame</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p:txBody>
          <a:bodyPr/>
          <a:lstStyle/>
          <a:p>
            <a:pPr marL="292608" indent="-292608">
              <a:buClr>
                <a:schemeClr val="accent2"/>
              </a:buClr>
              <a:buFont typeface="Arial" panose="020B0604020202020204" pitchFamily="34" charset="0"/>
              <a:buChar char="•"/>
            </a:pPr>
            <a:r>
              <a:rPr lang="en-US" dirty="0"/>
              <a:t>A random sample is very different than “randomly asking your friends.”</a:t>
            </a:r>
          </a:p>
          <a:p>
            <a:pPr marL="292608" indent="-292608">
              <a:buClr>
                <a:schemeClr val="accent2"/>
              </a:buClr>
              <a:buFont typeface="Arial" panose="020B0604020202020204" pitchFamily="34" charset="0"/>
              <a:buChar char="•"/>
            </a:pPr>
            <a:r>
              <a:rPr lang="en-US" dirty="0"/>
              <a:t>To create a simple random sample, you need a </a:t>
            </a:r>
            <a:r>
              <a:rPr lang="en-US" i="1" dirty="0"/>
              <a:t>sampling frame </a:t>
            </a:r>
            <a:r>
              <a:rPr lang="en-US" dirty="0"/>
              <a:t>(a list of all individuals in the population).</a:t>
            </a:r>
          </a:p>
          <a:p>
            <a:pPr marL="292608" indent="-292608">
              <a:buClr>
                <a:schemeClr val="accent2"/>
              </a:buClr>
              <a:buFont typeface="Arial" panose="020B0604020202020204" pitchFamily="34" charset="0"/>
              <a:buChar char="•"/>
            </a:pPr>
            <a:r>
              <a:rPr lang="en-US" dirty="0"/>
              <a:t>Then have a computer randomly select names from the sampling frame.</a:t>
            </a:r>
          </a:p>
        </p:txBody>
      </p:sp>
    </p:spTree>
    <p:extLst>
      <p:ext uri="{BB962C8B-B14F-4D97-AF65-F5344CB8AC3E}">
        <p14:creationId xmlns:p14="http://schemas.microsoft.com/office/powerpoint/2010/main" val="1977364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General Social Survey</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p:txBody>
          <a:bodyPr/>
          <a:lstStyle/>
          <a:p>
            <a:pPr marL="292608" indent="-292608">
              <a:buClr>
                <a:schemeClr val="accent2"/>
              </a:buClr>
              <a:buFont typeface="Arial" panose="020B0604020202020204" pitchFamily="34" charset="0"/>
              <a:buChar char="•"/>
            </a:pPr>
            <a:r>
              <a:rPr lang="en-US" dirty="0"/>
              <a:t>Does the General Social Survey use a simple random sample?</a:t>
            </a:r>
          </a:p>
          <a:p>
            <a:pPr marL="292608" indent="-292608">
              <a:buClr>
                <a:schemeClr val="accent2"/>
              </a:buClr>
              <a:buFont typeface="Arial" panose="020B0604020202020204" pitchFamily="34" charset="0"/>
              <a:buChar char="•"/>
            </a:pPr>
            <a:r>
              <a:rPr lang="en-US" dirty="0"/>
              <a:t>It is unlikely that the GSS has a complete sampling frame, such as a list of all adults in the United States.</a:t>
            </a:r>
          </a:p>
          <a:p>
            <a:pPr marL="292608" indent="-292608">
              <a:buClr>
                <a:schemeClr val="accent2"/>
              </a:buClr>
              <a:buFont typeface="Arial" panose="020B0604020202020204" pitchFamily="34" charset="0"/>
              <a:buChar char="•"/>
            </a:pPr>
            <a:r>
              <a:rPr lang="en-US" dirty="0"/>
              <a:t>However, the GSS uses a method that tries to ensure that each U.S. adults has the same probability of being chosen as every other U.S. adult and thus makes the sample representative of the population.</a:t>
            </a:r>
          </a:p>
          <a:p>
            <a:pPr marL="292608" indent="-292608">
              <a:buClr>
                <a:schemeClr val="accent2"/>
              </a:buClr>
              <a:buFont typeface="Arial" panose="020B0604020202020204" pitchFamily="34" charset="0"/>
              <a:buChar char="•"/>
            </a:pPr>
            <a:r>
              <a:rPr lang="en-US" dirty="0"/>
              <a:t>Why are the GSS results so different from the actual results? Was it just by random chance?</a:t>
            </a:r>
          </a:p>
        </p:txBody>
      </p:sp>
    </p:spTree>
    <p:extLst>
      <p:ext uri="{BB962C8B-B14F-4D97-AF65-F5344CB8AC3E}">
        <p14:creationId xmlns:p14="http://schemas.microsoft.com/office/powerpoint/2010/main" val="1966278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Students </a:t>
            </a:r>
            <a:r>
              <a:rPr lang="en-US" sz="2000" b="0" dirty="0"/>
              <a:t>(1 of 13)</a:t>
            </a:r>
            <a:endParaRPr lang="en-US" sz="480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p:txBody>
          <a:bodyPr/>
          <a:lstStyle/>
          <a:p>
            <a:pPr marL="292608" indent="-292608">
              <a:buClr>
                <a:schemeClr val="accent2"/>
              </a:buClr>
              <a:buFont typeface="Arial" panose="020B0604020202020204" pitchFamily="34" charset="0"/>
              <a:buChar char="•"/>
            </a:pPr>
            <a:r>
              <a:rPr lang="en-US" dirty="0"/>
              <a:t>To explore a whether the difference between a sample proportion and a population proportion is due to random chance, we need to explore distributions of sample proportions where we have access to the entire population.</a:t>
            </a:r>
          </a:p>
          <a:p>
            <a:pPr marL="292608" indent="-292608">
              <a:buClr>
                <a:schemeClr val="accent2"/>
              </a:buClr>
              <a:buFont typeface="Arial" panose="020B0604020202020204" pitchFamily="34" charset="0"/>
              <a:buChar char="•"/>
            </a:pPr>
            <a:r>
              <a:rPr lang="en-US" dirty="0"/>
              <a:t>We will look at data collected from the registrar’s office from a small college in the Midwest.</a:t>
            </a:r>
          </a:p>
          <a:p>
            <a:pPr marL="292608" indent="-292608">
              <a:buClr>
                <a:schemeClr val="accent2"/>
              </a:buClr>
              <a:buFont typeface="Arial" panose="020B0604020202020204" pitchFamily="34" charset="0"/>
              <a:buChar char="•"/>
            </a:pPr>
            <a:r>
              <a:rPr lang="en-US" dirty="0"/>
              <a:t>Of the 2,919 students in this population, we know that </a:t>
            </a:r>
            <a:r>
              <a:rPr lang="en-US" b="1" dirty="0"/>
              <a:t>77.6%</a:t>
            </a:r>
            <a:r>
              <a:rPr lang="en-US" dirty="0"/>
              <a:t> of them lived on campus.</a:t>
            </a:r>
            <a:endParaRPr lang="en-US" b="1" dirty="0">
              <a:solidFill>
                <a:srgbClr val="00007F"/>
              </a:solidFill>
            </a:endParaRPr>
          </a:p>
        </p:txBody>
      </p:sp>
    </p:spTree>
    <p:extLst>
      <p:ext uri="{BB962C8B-B14F-4D97-AF65-F5344CB8AC3E}">
        <p14:creationId xmlns:p14="http://schemas.microsoft.com/office/powerpoint/2010/main" val="2802494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Students </a:t>
            </a:r>
            <a:r>
              <a:rPr lang="en-US" sz="2000" b="0" dirty="0"/>
              <a:t>(2 of 13)</a:t>
            </a:r>
            <a:endParaRPr lang="en-US" sz="480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p:txBody>
          <a:bodyPr/>
          <a:lstStyle/>
          <a:p>
            <a:pPr marL="292608" indent="-292608">
              <a:buClr>
                <a:schemeClr val="accent2"/>
              </a:buClr>
              <a:buFont typeface="Arial" panose="020B0604020202020204" pitchFamily="34" charset="0"/>
              <a:buChar char="•"/>
            </a:pPr>
            <a:r>
              <a:rPr lang="en-US" dirty="0"/>
              <a:t>We usually don’t have information on an entire population like we do here.</a:t>
            </a:r>
          </a:p>
          <a:p>
            <a:pPr marL="292608" indent="-292608">
              <a:buClr>
                <a:schemeClr val="accent2"/>
              </a:buClr>
              <a:buFont typeface="Arial" panose="020B0604020202020204" pitchFamily="34" charset="0"/>
              <a:buChar char="•"/>
            </a:pPr>
            <a:r>
              <a:rPr lang="en-US" dirty="0"/>
              <a:t>We usually need to make inferences about a population based on a sample.</a:t>
            </a:r>
          </a:p>
          <a:p>
            <a:pPr marL="292608" indent="-292608">
              <a:buClr>
                <a:schemeClr val="accent2"/>
              </a:buClr>
              <a:buFont typeface="Arial" panose="020B0604020202020204" pitchFamily="34" charset="0"/>
              <a:buChar char="•"/>
            </a:pPr>
            <a:r>
              <a:rPr lang="en-US" dirty="0"/>
              <a:t>Suppose a researcher asks the first 30 students he finds on campus one morning whether they live on campus. This would be a quick and convenient way to get a sample.</a:t>
            </a:r>
          </a:p>
          <a:p>
            <a:pPr marL="292608" indent="-292608">
              <a:buClr>
                <a:schemeClr val="accent2"/>
              </a:buClr>
              <a:buFont typeface="Arial" panose="020B0604020202020204" pitchFamily="34" charset="0"/>
              <a:buChar char="•"/>
            </a:pPr>
            <a:r>
              <a:rPr lang="en-US" dirty="0"/>
              <a:t>We suspect that this will lead to an overestimate of the proportion of students who live on campus. Why?</a:t>
            </a:r>
          </a:p>
        </p:txBody>
      </p:sp>
    </p:spTree>
    <p:extLst>
      <p:ext uri="{BB962C8B-B14F-4D97-AF65-F5344CB8AC3E}">
        <p14:creationId xmlns:p14="http://schemas.microsoft.com/office/powerpoint/2010/main" val="182615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Students </a:t>
            </a:r>
            <a:r>
              <a:rPr lang="en-US" sz="2000" b="0" dirty="0"/>
              <a:t>(3 of 13)</a:t>
            </a:r>
            <a:endParaRPr lang="en-US" sz="4800"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p:txBody>
          <a:bodyPr/>
          <a:lstStyle/>
          <a:p>
            <a:pPr marL="292608" indent="-292608">
              <a:buClr>
                <a:schemeClr val="accent2"/>
              </a:buClr>
              <a:buFont typeface="Arial" panose="020B0604020202020204" pitchFamily="34" charset="0"/>
              <a:buChar char="•"/>
            </a:pPr>
            <a:r>
              <a:rPr lang="en-US" dirty="0"/>
              <a:t>To get a representative sample, we could take a simple random sample of 30 students from the college.</a:t>
            </a:r>
          </a:p>
          <a:p>
            <a:pPr marL="292608" indent="-292608">
              <a:buClr>
                <a:schemeClr val="accent2"/>
              </a:buClr>
              <a:buFont typeface="Arial" panose="020B0604020202020204" pitchFamily="34" charset="0"/>
              <a:buChar char="•"/>
            </a:pPr>
            <a:r>
              <a:rPr lang="en-US" dirty="0"/>
              <a:t>Represent each student by ID numbers 1 to 2919</a:t>
            </a:r>
          </a:p>
          <a:p>
            <a:pPr marL="292608" indent="-292608">
              <a:buClr>
                <a:schemeClr val="accent2"/>
              </a:buClr>
              <a:buFont typeface="Arial" panose="020B0604020202020204" pitchFamily="34" charset="0"/>
              <a:buChar char="•"/>
            </a:pPr>
            <a:r>
              <a:rPr lang="en-US" dirty="0"/>
              <a:t>Have the computer randomly select 30 numbers between 1 and 2,919</a:t>
            </a:r>
          </a:p>
          <a:p>
            <a:pPr marL="292608" indent="-292608">
              <a:buClr>
                <a:schemeClr val="accent2"/>
              </a:buClr>
              <a:buFont typeface="Arial" panose="020B0604020202020204" pitchFamily="34" charset="0"/>
              <a:buChar char="•"/>
            </a:pPr>
            <a:r>
              <a:rPr lang="en-US" dirty="0"/>
              <a:t>The table on the next slide shows one such sample.</a:t>
            </a:r>
          </a:p>
        </p:txBody>
      </p:sp>
    </p:spTree>
    <p:extLst>
      <p:ext uri="{BB962C8B-B14F-4D97-AF65-F5344CB8AC3E}">
        <p14:creationId xmlns:p14="http://schemas.microsoft.com/office/powerpoint/2010/main" val="3498558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8FD017-F051-437B-86C0-01B5E3255C99}"/>
              </a:ext>
            </a:extLst>
          </p:cNvPr>
          <p:cNvSpPr>
            <a:spLocks noGrp="1"/>
          </p:cNvSpPr>
          <p:nvPr>
            <p:ph type="title"/>
          </p:nvPr>
        </p:nvSpPr>
        <p:spPr/>
        <p:txBody>
          <a:bodyPr>
            <a:normAutofit/>
          </a:bodyPr>
          <a:lstStyle/>
          <a:p>
            <a:r>
              <a:rPr lang="en-US" dirty="0"/>
              <a:t>Example 2.1: Sampling Students </a:t>
            </a:r>
            <a:r>
              <a:rPr lang="en-US" sz="2000" b="0" dirty="0"/>
              <a:t>(4 of 13)</a:t>
            </a:r>
            <a:endParaRPr lang="en-US" dirty="0"/>
          </a:p>
        </p:txBody>
      </p:sp>
      <p:sp>
        <p:nvSpPr>
          <p:cNvPr id="8" name="Content Placeholder 7">
            <a:extLst>
              <a:ext uri="{FF2B5EF4-FFF2-40B4-BE49-F238E27FC236}">
                <a16:creationId xmlns:a16="http://schemas.microsoft.com/office/drawing/2014/main" id="{5CB375CD-DA72-4210-B68F-1A6EA2F40283}"/>
              </a:ext>
            </a:extLst>
          </p:cNvPr>
          <p:cNvSpPr>
            <a:spLocks noGrp="1"/>
          </p:cNvSpPr>
          <p:nvPr>
            <p:ph sz="quarter" idx="12"/>
          </p:nvPr>
        </p:nvSpPr>
        <p:spPr>
          <a:xfrm>
            <a:off x="1828800" y="1835206"/>
            <a:ext cx="8289636" cy="438855"/>
          </a:xfrm>
        </p:spPr>
        <p:txBody>
          <a:bodyPr/>
          <a:lstStyle/>
          <a:p>
            <a:pPr marL="0" indent="0" algn="ctr">
              <a:buNone/>
            </a:pPr>
            <a:r>
              <a:rPr lang="en-US" sz="2400" dirty="0"/>
              <a:t>I</a:t>
            </a:r>
            <a:r>
              <a:rPr lang="en-US" sz="100" dirty="0"/>
              <a:t> </a:t>
            </a:r>
            <a:r>
              <a:rPr lang="en-US" sz="2400" dirty="0"/>
              <a:t>D</a:t>
            </a:r>
            <a:r>
              <a:rPr lang="en-US" sz="100" dirty="0"/>
              <a:t> </a:t>
            </a:r>
            <a:r>
              <a:rPr lang="en-US" sz="2400" dirty="0"/>
              <a:t>s of the 30 people selected, along with their residential status</a:t>
            </a:r>
          </a:p>
        </p:txBody>
      </p:sp>
      <p:graphicFrame>
        <p:nvGraphicFramePr>
          <p:cNvPr id="9" name="Table Placeholder 3"/>
          <p:cNvGraphicFramePr>
            <a:graphicFrameLocks noGrp="1"/>
          </p:cNvGraphicFramePr>
          <p:nvPr>
            <p:ph type="tbl" sz="quarter" idx="14"/>
          </p:nvPr>
        </p:nvGraphicFramePr>
        <p:xfrm>
          <a:off x="2149461" y="2594156"/>
          <a:ext cx="7665395" cy="3226759"/>
        </p:xfrm>
        <a:graphic>
          <a:graphicData uri="http://schemas.openxmlformats.org/drawingml/2006/table">
            <a:tbl>
              <a:tblPr firstRow="1">
                <a:tableStyleId>{5C22544A-7EE6-4342-B048-85BDC9FD1C3A}</a:tableStyleId>
              </a:tblPr>
              <a:tblGrid>
                <a:gridCol w="1075649">
                  <a:extLst>
                    <a:ext uri="{9D8B030D-6E8A-4147-A177-3AD203B41FA5}">
                      <a16:colId xmlns:a16="http://schemas.microsoft.com/office/drawing/2014/main" val="20000"/>
                    </a:ext>
                  </a:extLst>
                </a:gridCol>
                <a:gridCol w="1580676">
                  <a:extLst>
                    <a:ext uri="{9D8B030D-6E8A-4147-A177-3AD203B41FA5}">
                      <a16:colId xmlns:a16="http://schemas.microsoft.com/office/drawing/2014/main" val="20002"/>
                    </a:ext>
                  </a:extLst>
                </a:gridCol>
                <a:gridCol w="998722">
                  <a:extLst>
                    <a:ext uri="{9D8B030D-6E8A-4147-A177-3AD203B41FA5}">
                      <a16:colId xmlns:a16="http://schemas.microsoft.com/office/drawing/2014/main" val="20003"/>
                    </a:ext>
                  </a:extLst>
                </a:gridCol>
                <a:gridCol w="1581708">
                  <a:extLst>
                    <a:ext uri="{9D8B030D-6E8A-4147-A177-3AD203B41FA5}">
                      <a16:colId xmlns:a16="http://schemas.microsoft.com/office/drawing/2014/main" val="20005"/>
                    </a:ext>
                  </a:extLst>
                </a:gridCol>
                <a:gridCol w="834845">
                  <a:extLst>
                    <a:ext uri="{9D8B030D-6E8A-4147-A177-3AD203B41FA5}">
                      <a16:colId xmlns:a16="http://schemas.microsoft.com/office/drawing/2014/main" val="20006"/>
                    </a:ext>
                  </a:extLst>
                </a:gridCol>
                <a:gridCol w="1593795">
                  <a:extLst>
                    <a:ext uri="{9D8B030D-6E8A-4147-A177-3AD203B41FA5}">
                      <a16:colId xmlns:a16="http://schemas.microsoft.com/office/drawing/2014/main" val="20008"/>
                    </a:ext>
                  </a:extLst>
                </a:gridCol>
              </a:tblGrid>
              <a:tr h="32543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ID</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On campus?</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ID</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On campus?</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ID</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On campus?</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827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844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825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1355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90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2339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1455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1611</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2064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2391</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2550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2604</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575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2632</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2147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2049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2325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2590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895</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2563</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1718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1732</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1819</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168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2790</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968</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1777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5449">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2237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566</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N</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2077</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Y</a:t>
                      </a:r>
                      <a:endParaRPr lang="en-US" sz="1800" dirty="0">
                        <a:effectLst/>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554758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Students </a:t>
            </a:r>
            <a:r>
              <a:rPr lang="en-US" sz="2000" b="0" dirty="0"/>
              <a:t>(5 of 13)</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6"/>
          </p:nvPr>
        </p:nvSpPr>
        <p:spPr>
          <a:prstGeom prst="rect">
            <a:avLst/>
          </a:prstGeom>
        </p:spPr>
        <p:txBody>
          <a:bodyPr/>
          <a:lstStyle/>
          <a:p>
            <a:pPr marL="301752" indent="-301752">
              <a:buClr>
                <a:schemeClr val="accent2"/>
              </a:buClr>
              <a:buFont typeface="Arial" panose="020B0604020202020204" pitchFamily="34" charset="0"/>
              <a:buChar char="•"/>
            </a:pPr>
            <a:r>
              <a:rPr lang="en-US" sz="2400" dirty="0"/>
              <a:t>What proportion live on campus?</a:t>
            </a:r>
          </a:p>
        </p:txBody>
      </p:sp>
      <p:sp>
        <p:nvSpPr>
          <p:cNvPr id="5" name="Content Placeholder 4"/>
          <p:cNvSpPr>
            <a:spLocks noGrp="1"/>
          </p:cNvSpPr>
          <p:nvPr>
            <p:ph sz="quarter" idx="18"/>
          </p:nvPr>
        </p:nvSpPr>
        <p:spPr>
          <a:xfrm>
            <a:off x="2202503" y="2290575"/>
            <a:ext cx="591805" cy="394648"/>
          </a:xfrm>
        </p:spPr>
        <p:txBody>
          <a:bodyPr/>
          <a:lstStyle/>
          <a:p>
            <a:pPr marL="292100" lvl="1" indent="-292100">
              <a:buClr>
                <a:schemeClr val="accent2"/>
              </a:buClr>
              <a:buFont typeface="Courier New" pitchFamily="49" charset="0"/>
              <a:buChar char="o"/>
            </a:pPr>
            <a:r>
              <a:rPr lang="en-IN" sz="2000" dirty="0">
                <a:latin typeface="Times New Roman" charset="0"/>
                <a:ea typeface="Times New Roman" charset="0"/>
                <a:cs typeface="Times New Roman" charset="0"/>
              </a:rPr>
              <a:t> </a:t>
            </a:r>
          </a:p>
        </p:txBody>
      </p:sp>
      <p:graphicFrame>
        <p:nvGraphicFramePr>
          <p:cNvPr id="12" name="Object 11" descr="p hat"/>
          <p:cNvGraphicFramePr>
            <a:graphicFrameLocks noGrp="1" noChangeAspect="1"/>
          </p:cNvGraphicFramePr>
          <p:nvPr/>
        </p:nvGraphicFramePr>
        <p:xfrm>
          <a:off x="2528936" y="2338716"/>
          <a:ext cx="244475" cy="360363"/>
        </p:xfrm>
        <a:graphic>
          <a:graphicData uri="http://schemas.openxmlformats.org/presentationml/2006/ole">
            <mc:AlternateContent xmlns:mc="http://schemas.openxmlformats.org/markup-compatibility/2006">
              <mc:Choice xmlns:v="urn:schemas-microsoft-com:vml" Requires="v">
                <p:oleObj name="Equation" r:id="rId2" imgW="241200" imgH="355320" progId="Equation.DSMT4">
                  <p:embed/>
                </p:oleObj>
              </mc:Choice>
              <mc:Fallback>
                <p:oleObj name="Equation" r:id="rId2" imgW="241200" imgH="355320" progId="Equation.DSMT4">
                  <p:embed/>
                  <p:pic>
                    <p:nvPicPr>
                      <p:cNvPr id="12" name="Object 11" descr="p hat"/>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936" y="2338716"/>
                        <a:ext cx="2444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Content Placeholder 5"/>
          <p:cNvSpPr>
            <a:spLocks noGrp="1"/>
          </p:cNvSpPr>
          <p:nvPr>
            <p:ph sz="quarter" idx="19"/>
          </p:nvPr>
        </p:nvSpPr>
        <p:spPr>
          <a:xfrm>
            <a:off x="2832516" y="2290576"/>
            <a:ext cx="5236755" cy="379475"/>
          </a:xfrm>
        </p:spPr>
        <p:txBody>
          <a:bodyPr/>
          <a:lstStyle/>
          <a:p>
            <a:pPr marL="0" lvl="1" indent="0">
              <a:spcBef>
                <a:spcPts val="1000"/>
              </a:spcBef>
              <a:buClr>
                <a:schemeClr val="accent2"/>
              </a:buClr>
              <a:buNone/>
            </a:pPr>
            <a:r>
              <a:rPr lang="en-US" dirty="0">
                <a:latin typeface="Times New Roman" charset="0"/>
                <a:ea typeface="Times New Roman" charset="0"/>
                <a:cs typeface="Times New Roman" charset="0"/>
              </a:rPr>
              <a:t>is the sample proportion</a:t>
            </a:r>
          </a:p>
        </p:txBody>
      </p:sp>
      <p:sp>
        <p:nvSpPr>
          <p:cNvPr id="7" name="Content Placeholder 6"/>
          <p:cNvSpPr>
            <a:spLocks noGrp="1"/>
          </p:cNvSpPr>
          <p:nvPr>
            <p:ph sz="quarter" idx="20"/>
          </p:nvPr>
        </p:nvSpPr>
        <p:spPr>
          <a:xfrm>
            <a:off x="2197169" y="2640501"/>
            <a:ext cx="591805" cy="346364"/>
          </a:xfrm>
        </p:spPr>
        <p:txBody>
          <a:bodyPr/>
          <a:lstStyle/>
          <a:p>
            <a:pPr marL="465138" lvl="1" indent="-465138">
              <a:buClr>
                <a:schemeClr val="accent2"/>
              </a:buClr>
              <a:buFont typeface="Courier New" pitchFamily="49" charset="0"/>
              <a:buChar char="o"/>
            </a:pPr>
            <a:r>
              <a:rPr lang="en-US" sz="2000" dirty="0">
                <a:latin typeface="Times New Roman" charset="0"/>
                <a:ea typeface="Times New Roman" charset="0"/>
                <a:cs typeface="Times New Roman" charset="0"/>
              </a:rPr>
              <a:t> </a:t>
            </a:r>
          </a:p>
        </p:txBody>
      </p:sp>
      <p:graphicFrame>
        <p:nvGraphicFramePr>
          <p:cNvPr id="13" name="Object 12" descr="p hat = 0.80"/>
          <p:cNvGraphicFramePr>
            <a:graphicFrameLocks noGrp="1" noChangeAspect="1"/>
          </p:cNvGraphicFramePr>
          <p:nvPr/>
        </p:nvGraphicFramePr>
        <p:xfrm>
          <a:off x="2511096" y="2670050"/>
          <a:ext cx="1128712" cy="376238"/>
        </p:xfrm>
        <a:graphic>
          <a:graphicData uri="http://schemas.openxmlformats.org/presentationml/2006/ole">
            <mc:AlternateContent xmlns:mc="http://schemas.openxmlformats.org/markup-compatibility/2006">
              <mc:Choice xmlns:v="urn:schemas-microsoft-com:vml" Requires="v">
                <p:oleObj name="Equation" r:id="rId4" imgW="1066680" imgH="355320" progId="Equation.DSMT4">
                  <p:embed/>
                </p:oleObj>
              </mc:Choice>
              <mc:Fallback>
                <p:oleObj name="Equation" r:id="rId4" imgW="1066680" imgH="355320" progId="Equation.DSMT4">
                  <p:embed/>
                  <p:pic>
                    <p:nvPicPr>
                      <p:cNvPr id="13" name="Object 12" descr="p hat = 0.80"/>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1096" y="2670050"/>
                        <a:ext cx="1128712"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Content Placeholder 7"/>
          <p:cNvSpPr>
            <a:spLocks noGrp="1"/>
          </p:cNvSpPr>
          <p:nvPr>
            <p:ph sz="quarter" idx="21"/>
          </p:nvPr>
        </p:nvSpPr>
        <p:spPr>
          <a:xfrm>
            <a:off x="1845880" y="3125421"/>
            <a:ext cx="4418990" cy="354207"/>
          </a:xfrm>
        </p:spPr>
        <p:txBody>
          <a:bodyPr/>
          <a:lstStyle/>
          <a:p>
            <a:pPr marL="301752" indent="-301752">
              <a:buClr>
                <a:schemeClr val="accent2"/>
              </a:buClr>
              <a:buFont typeface="Arial" panose="020B0604020202020204" pitchFamily="34" charset="0"/>
              <a:buChar char="•"/>
            </a:pPr>
            <a:r>
              <a:rPr lang="en-US" sz="2400" dirty="0">
                <a:latin typeface="Times New Roman" charset="0"/>
                <a:ea typeface="Times New Roman" charset="0"/>
                <a:cs typeface="Times New Roman" charset="0"/>
              </a:rPr>
              <a:t>The symbol that corresponds to </a:t>
            </a:r>
          </a:p>
        </p:txBody>
      </p:sp>
      <p:graphicFrame>
        <p:nvGraphicFramePr>
          <p:cNvPr id="14" name="Object 13" descr="p hat"/>
          <p:cNvGraphicFramePr>
            <a:graphicFrameLocks noGrp="1" noChangeAspect="1"/>
          </p:cNvGraphicFramePr>
          <p:nvPr/>
        </p:nvGraphicFramePr>
        <p:xfrm>
          <a:off x="6142867" y="3172288"/>
          <a:ext cx="236538" cy="347663"/>
        </p:xfrm>
        <a:graphic>
          <a:graphicData uri="http://schemas.openxmlformats.org/presentationml/2006/ole">
            <mc:AlternateContent xmlns:mc="http://schemas.openxmlformats.org/markup-compatibility/2006">
              <mc:Choice xmlns:v="urn:schemas-microsoft-com:vml" Requires="v">
                <p:oleObj name="Equation" r:id="rId6" imgW="241200" imgH="355320" progId="Equation.DSMT4">
                  <p:embed/>
                </p:oleObj>
              </mc:Choice>
              <mc:Fallback>
                <p:oleObj name="Equation" r:id="rId6" imgW="241200" imgH="355320" progId="Equation.DSMT4">
                  <p:embed/>
                  <p:pic>
                    <p:nvPicPr>
                      <p:cNvPr id="14" name="Object 13" descr="p hat"/>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2867" y="3172288"/>
                        <a:ext cx="236538"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Content Placeholder 8"/>
          <p:cNvSpPr>
            <a:spLocks noGrp="1"/>
          </p:cNvSpPr>
          <p:nvPr>
            <p:ph sz="quarter" idx="22"/>
          </p:nvPr>
        </p:nvSpPr>
        <p:spPr>
          <a:xfrm>
            <a:off x="2225356" y="3125421"/>
            <a:ext cx="7817185" cy="1366109"/>
          </a:xfrm>
        </p:spPr>
        <p:txBody>
          <a:bodyPr/>
          <a:lstStyle/>
          <a:p>
            <a:pPr indent="3894138"/>
            <a:r>
              <a:rPr lang="en-US" sz="2400" dirty="0">
                <a:cs typeface="Times New Roman" panose="02020603050405020304" pitchFamily="18" charset="0"/>
              </a:rPr>
              <a:t>but describes the population</a:t>
            </a:r>
          </a:p>
          <a:p>
            <a:r>
              <a:rPr lang="en-US" sz="2400" dirty="0">
                <a:cs typeface="Times New Roman" panose="02020603050405020304" pitchFamily="18" charset="0"/>
              </a:rPr>
              <a:t>proportion, not the sample proportion, is </a:t>
            </a:r>
            <a:r>
              <a:rPr lang="el-GR" sz="2400" i="1" dirty="0">
                <a:cs typeface="Times New Roman" pitchFamily="18" charset="0"/>
              </a:rPr>
              <a:t>π</a:t>
            </a:r>
            <a:endParaRPr lang="en-US" sz="2400" i="1" dirty="0">
              <a:cs typeface="Times New Roman" pitchFamily="18" charset="0"/>
            </a:endParaRPr>
          </a:p>
        </p:txBody>
      </p:sp>
    </p:spTree>
    <p:extLst>
      <p:ext uri="{BB962C8B-B14F-4D97-AF65-F5344CB8AC3E}">
        <p14:creationId xmlns:p14="http://schemas.microsoft.com/office/powerpoint/2010/main" val="257690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6" grpId="0" build="p"/>
      <p:bldP spid="7" grpId="0" build="p"/>
      <p:bldP spid="8" grpId="0" build="p"/>
      <p:bldP spid="9"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Students </a:t>
            </a:r>
            <a:r>
              <a:rPr lang="en-US" sz="2000" b="0" dirty="0"/>
              <a:t>(6 of 13)</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6"/>
          </p:nvPr>
        </p:nvSpPr>
        <p:spPr>
          <a:xfrm>
            <a:off x="1814286" y="1752600"/>
            <a:ext cx="3143289" cy="533400"/>
          </a:xfrm>
          <a:prstGeom prst="rect">
            <a:avLst/>
          </a:prstGeom>
        </p:spPr>
        <p:txBody>
          <a:bodyPr/>
          <a:lstStyle/>
          <a:p>
            <a:pPr marL="292608" indent="-292608">
              <a:buClr>
                <a:schemeClr val="accent2"/>
              </a:buClr>
              <a:buFont typeface="Arial" panose="020B0604020202020204" pitchFamily="34" charset="0"/>
              <a:buChar char="•"/>
            </a:pPr>
            <a:r>
              <a:rPr lang="en-US" sz="2600" dirty="0"/>
              <a:t>How do we know if</a:t>
            </a:r>
          </a:p>
        </p:txBody>
      </p:sp>
      <p:graphicFrame>
        <p:nvGraphicFramePr>
          <p:cNvPr id="22" name="Object 21" descr="p hat"/>
          <p:cNvGraphicFramePr>
            <a:graphicFrameLocks noGrp="1" noChangeAspect="1"/>
          </p:cNvGraphicFramePr>
          <p:nvPr/>
        </p:nvGraphicFramePr>
        <p:xfrm>
          <a:off x="4957575" y="1769359"/>
          <a:ext cx="256946" cy="378745"/>
        </p:xfrm>
        <a:graphic>
          <a:graphicData uri="http://schemas.openxmlformats.org/presentationml/2006/ole">
            <mc:AlternateContent xmlns:mc="http://schemas.openxmlformats.org/markup-compatibility/2006">
              <mc:Choice xmlns:v="urn:schemas-microsoft-com:vml" Requires="v">
                <p:oleObj name="Equation" r:id="rId2" imgW="241195" imgH="355446" progId="Equation.DSMT4">
                  <p:embed/>
                </p:oleObj>
              </mc:Choice>
              <mc:Fallback>
                <p:oleObj name="Equation" r:id="rId2" imgW="241195" imgH="355446" progId="Equation.DSMT4">
                  <p:embed/>
                  <p:pic>
                    <p:nvPicPr>
                      <p:cNvPr id="22" name="Object 21" descr="p hat"/>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7575" y="1769359"/>
                        <a:ext cx="256946"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Content Placeholder 19"/>
          <p:cNvSpPr>
            <a:spLocks noGrp="1"/>
          </p:cNvSpPr>
          <p:nvPr>
            <p:ph sz="quarter" idx="23"/>
          </p:nvPr>
        </p:nvSpPr>
        <p:spPr>
          <a:xfrm>
            <a:off x="1802339" y="1712444"/>
            <a:ext cx="8576134" cy="3749003"/>
          </a:xfrm>
        </p:spPr>
        <p:txBody>
          <a:bodyPr/>
          <a:lstStyle/>
          <a:p>
            <a:pPr marL="290513" indent="3019425">
              <a:lnSpc>
                <a:spcPct val="100000"/>
              </a:lnSpc>
              <a:buClr>
                <a:schemeClr val="accent2"/>
              </a:buClr>
            </a:pPr>
            <a:r>
              <a:rPr lang="en-US" sz="2600" dirty="0">
                <a:latin typeface="Times New Roman" charset="0"/>
                <a:ea typeface="Times New Roman" charset="0"/>
                <a:cs typeface="Times New Roman" charset="0"/>
              </a:rPr>
              <a:t> is close to the population value?</a:t>
            </a:r>
          </a:p>
          <a:p>
            <a:pPr marL="292608" indent="-292608">
              <a:lnSpc>
                <a:spcPct val="100000"/>
              </a:lnSpc>
              <a:buClr>
                <a:schemeClr val="accent2"/>
              </a:buClr>
              <a:buFont typeface="Arial" panose="020B0604020202020204" pitchFamily="34" charset="0"/>
              <a:buChar char="•"/>
            </a:pPr>
            <a:r>
              <a:rPr lang="en-US" sz="2600" dirty="0">
                <a:latin typeface="Times New Roman" charset="0"/>
                <a:ea typeface="Times New Roman" charset="0"/>
                <a:cs typeface="Times New Roman" charset="0"/>
              </a:rPr>
              <a:t>A different sample of 30 students would probably have had a different value</a:t>
            </a:r>
          </a:p>
          <a:p>
            <a:pPr marL="292608" indent="-292608">
              <a:lnSpc>
                <a:spcPct val="100000"/>
              </a:lnSpc>
              <a:buClr>
                <a:schemeClr val="accent2"/>
              </a:buClr>
              <a:buFont typeface="Arial" panose="020B0604020202020204" pitchFamily="34" charset="0"/>
              <a:buChar char="•"/>
            </a:pPr>
            <a:r>
              <a:rPr lang="en-US" sz="2600" dirty="0">
                <a:latin typeface="Times New Roman" charset="0"/>
                <a:ea typeface="Times New Roman" charset="0"/>
                <a:cs typeface="Times New Roman" charset="0"/>
              </a:rPr>
              <a:t>How are these statistics useful in estimating the population parameter values?</a:t>
            </a:r>
          </a:p>
          <a:p>
            <a:pPr marL="292608" indent="-292608">
              <a:lnSpc>
                <a:spcPct val="100000"/>
              </a:lnSpc>
              <a:buClr>
                <a:schemeClr val="accent2"/>
              </a:buClr>
              <a:buFont typeface="Arial" panose="020B0604020202020204" pitchFamily="34" charset="0"/>
              <a:buChar char="•"/>
            </a:pPr>
            <a:r>
              <a:rPr lang="en-US" sz="2600" dirty="0">
                <a:latin typeface="Times New Roman" charset="0"/>
                <a:ea typeface="Times New Roman" charset="0"/>
                <a:cs typeface="Times New Roman" charset="0"/>
              </a:rPr>
              <a:t>Let’s take more simple random samples of 30 students to examine the null distribution of the statistics from other samples.</a:t>
            </a:r>
          </a:p>
        </p:txBody>
      </p:sp>
    </p:spTree>
    <p:extLst>
      <p:ext uri="{BB962C8B-B14F-4D97-AF65-F5344CB8AC3E}">
        <p14:creationId xmlns:p14="http://schemas.microsoft.com/office/powerpoint/2010/main" val="292294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Students </a:t>
            </a:r>
            <a:r>
              <a:rPr lang="en-US" sz="2000" b="0" dirty="0"/>
              <a:t>(7 of 13)</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We took 5 different SRS s of 30 students</a:t>
            </a:r>
          </a:p>
          <a:p>
            <a:pPr marL="292608" indent="-292608">
              <a:buClr>
                <a:schemeClr val="accent2"/>
              </a:buClr>
              <a:buFont typeface="Arial" panose="020B0604020202020204" pitchFamily="34" charset="0"/>
              <a:buChar char="•"/>
            </a:pPr>
            <a:r>
              <a:rPr lang="en-US" dirty="0"/>
              <a:t>Each sample gives different statistics</a:t>
            </a:r>
          </a:p>
          <a:p>
            <a:pPr marL="292608" indent="-292608">
              <a:buClr>
                <a:schemeClr val="accent2"/>
              </a:buClr>
              <a:buFont typeface="Arial" panose="020B0604020202020204" pitchFamily="34" charset="0"/>
              <a:buChar char="•"/>
            </a:pPr>
            <a:r>
              <a:rPr lang="en-US" dirty="0"/>
              <a:t>This is called </a:t>
            </a:r>
            <a:r>
              <a:rPr lang="en-US" b="1" dirty="0"/>
              <a:t>sampling variability</a:t>
            </a:r>
            <a:endParaRPr lang="en-US" dirty="0"/>
          </a:p>
          <a:p>
            <a:pPr marL="292608" indent="-292608">
              <a:buClr>
                <a:schemeClr val="accent2"/>
              </a:buClr>
              <a:buFont typeface="Arial" panose="020B0604020202020204" pitchFamily="34" charset="0"/>
              <a:buChar char="•"/>
            </a:pPr>
            <a:r>
              <a:rPr lang="en-US" dirty="0"/>
              <a:t>The statistics from each sample don’t change much:</a:t>
            </a:r>
          </a:p>
          <a:p>
            <a:pPr marL="798513" lvl="1" indent="-341313">
              <a:buClr>
                <a:schemeClr val="accent2"/>
              </a:buClr>
            </a:pPr>
            <a:r>
              <a:rPr lang="en-US" dirty="0"/>
              <a:t>Sample proportions from 0.63 to 0.83</a:t>
            </a:r>
          </a:p>
        </p:txBody>
      </p:sp>
    </p:spTree>
    <p:extLst>
      <p:ext uri="{BB962C8B-B14F-4D97-AF65-F5344CB8AC3E}">
        <p14:creationId xmlns:p14="http://schemas.microsoft.com/office/powerpoint/2010/main" val="163339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8FD017-F051-437B-86C0-01B5E3255C99}"/>
              </a:ext>
            </a:extLst>
          </p:cNvPr>
          <p:cNvSpPr>
            <a:spLocks noGrp="1"/>
          </p:cNvSpPr>
          <p:nvPr>
            <p:ph type="title"/>
          </p:nvPr>
        </p:nvSpPr>
        <p:spPr/>
        <p:txBody>
          <a:bodyPr>
            <a:normAutofit/>
          </a:bodyPr>
          <a:lstStyle/>
          <a:p>
            <a:r>
              <a:rPr lang="en-US" dirty="0"/>
              <a:t>Example 2.1: Sampling Students </a:t>
            </a:r>
            <a:r>
              <a:rPr lang="en-US" sz="2000" b="0" dirty="0"/>
              <a:t>(8 of 13)</a:t>
            </a:r>
            <a:endParaRPr lang="en-US" dirty="0"/>
          </a:p>
        </p:txBody>
      </p:sp>
      <p:graphicFrame>
        <p:nvGraphicFramePr>
          <p:cNvPr id="6" name="Object 5" descr="matrix Element 1 1 bold random sample Element 1 2 bold proportion on campus hat over p bold matrix Element 1 1 bold 1 Element 2 1 bold 2 Element 3 1 bold 3 Element 4 1 bold 4 Element 5 1 bold 5 Element 1 2 0.80 Element 2 2 0.83 Element 3 2 0.77 Element 4 2 0.63 Element 5 2 0.83">
            <a:extLst>
              <a:ext uri="{FF2B5EF4-FFF2-40B4-BE49-F238E27FC236}">
                <a16:creationId xmlns:a16="http://schemas.microsoft.com/office/drawing/2014/main" id="{C6DF705B-6E35-4871-BCE7-4E30E119C90E}"/>
              </a:ext>
            </a:extLst>
          </p:cNvPr>
          <p:cNvGraphicFramePr>
            <a:graphicFrameLocks noChangeAspect="1"/>
          </p:cNvGraphicFramePr>
          <p:nvPr/>
        </p:nvGraphicFramePr>
        <p:xfrm>
          <a:off x="1884861" y="2062062"/>
          <a:ext cx="8422278" cy="1063358"/>
        </p:xfrm>
        <a:graphic>
          <a:graphicData uri="http://schemas.openxmlformats.org/presentationml/2006/ole">
            <mc:AlternateContent xmlns:mc="http://schemas.openxmlformats.org/markup-compatibility/2006">
              <mc:Choice xmlns:v="urn:schemas-microsoft-com:vml" Requires="v">
                <p:oleObj name="Equation" r:id="rId2" imgW="8851680" imgH="1117440" progId="Equation.DSMT4">
                  <p:embed/>
                </p:oleObj>
              </mc:Choice>
              <mc:Fallback>
                <p:oleObj name="Equation" r:id="rId2" imgW="8851680" imgH="1117440" progId="Equation.DSMT4">
                  <p:embed/>
                  <p:pic>
                    <p:nvPicPr>
                      <p:cNvPr id="6" name="Object 5" descr="matrix Element 1 1 bold random sample Element 1 2 bold proportion on campus hat over p bold matrix Element 1 1 bold 1 Element 2 1 bold 2 Element 3 1 bold 3 Element 4 1 bold 4 Element 5 1 bold 5 Element 1 2 0.80 Element 2 2 0.83 Element 3 2 0.77 Element 4 2 0.63 Element 5 2 0.83">
                        <a:extLst>
                          <a:ext uri="{FF2B5EF4-FFF2-40B4-BE49-F238E27FC236}">
                            <a16:creationId xmlns:a16="http://schemas.microsoft.com/office/drawing/2014/main" id="{C6DF705B-6E35-4871-BCE7-4E30E119C90E}"/>
                          </a:ext>
                        </a:extLst>
                      </p:cNvPr>
                      <p:cNvPicPr/>
                      <p:nvPr/>
                    </p:nvPicPr>
                    <p:blipFill>
                      <a:blip r:embed="rId3"/>
                      <a:stretch>
                        <a:fillRect/>
                      </a:stretch>
                    </p:blipFill>
                    <p:spPr>
                      <a:xfrm>
                        <a:off x="1884861" y="2062062"/>
                        <a:ext cx="8422278" cy="1063358"/>
                      </a:xfrm>
                      <a:prstGeom prst="rect">
                        <a:avLst/>
                      </a:prstGeom>
                    </p:spPr>
                  </p:pic>
                </p:oleObj>
              </mc:Fallback>
            </mc:AlternateContent>
          </a:graphicData>
        </a:graphic>
      </p:graphicFrame>
    </p:spTree>
    <p:extLst>
      <p:ext uri="{BB962C8B-B14F-4D97-AF65-F5344CB8AC3E}">
        <p14:creationId xmlns:p14="http://schemas.microsoft.com/office/powerpoint/2010/main" val="1701831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8FD017-F051-437B-86C0-01B5E3255C99}"/>
              </a:ext>
            </a:extLst>
          </p:cNvPr>
          <p:cNvSpPr>
            <a:spLocks noGrp="1"/>
          </p:cNvSpPr>
          <p:nvPr>
            <p:ph type="title"/>
          </p:nvPr>
        </p:nvSpPr>
        <p:spPr/>
        <p:txBody>
          <a:bodyPr>
            <a:normAutofit/>
          </a:bodyPr>
          <a:lstStyle/>
          <a:p>
            <a:r>
              <a:rPr lang="en-US" dirty="0"/>
              <a:t>Example 2.1: Sampling Students </a:t>
            </a:r>
            <a:r>
              <a:rPr lang="en-US" sz="2000" b="0" dirty="0"/>
              <a:t>(9 of 13)</a:t>
            </a:r>
            <a:endParaRPr lang="en-US" dirty="0"/>
          </a:p>
        </p:txBody>
      </p:sp>
      <p:sp>
        <p:nvSpPr>
          <p:cNvPr id="8" name="Content Placeholder 7">
            <a:extLst>
              <a:ext uri="{FF2B5EF4-FFF2-40B4-BE49-F238E27FC236}">
                <a16:creationId xmlns:a16="http://schemas.microsoft.com/office/drawing/2014/main" id="{5CB375CD-DA72-4210-B68F-1A6EA2F40283}"/>
              </a:ext>
            </a:extLst>
          </p:cNvPr>
          <p:cNvSpPr>
            <a:spLocks noGrp="1"/>
          </p:cNvSpPr>
          <p:nvPr>
            <p:ph sz="quarter" idx="12"/>
          </p:nvPr>
        </p:nvSpPr>
        <p:spPr>
          <a:xfrm>
            <a:off x="1828800" y="1911351"/>
            <a:ext cx="8534400" cy="1821229"/>
          </a:xfrm>
        </p:spPr>
        <p:txBody>
          <a:bodyPr/>
          <a:lstStyle/>
          <a:p>
            <a:pPr marL="292608" indent="-292608">
              <a:buClr>
                <a:schemeClr val="accent2"/>
              </a:buClr>
              <a:buFont typeface="Arial" panose="020B0604020202020204" pitchFamily="34" charset="0"/>
              <a:buChar char="•"/>
            </a:pPr>
            <a:r>
              <a:rPr lang="en-US" dirty="0"/>
              <a:t>We took 1,000 simple random samples and the graph below is of the 1,000 sample proportions (for living on campus).</a:t>
            </a:r>
          </a:p>
          <a:p>
            <a:pPr marL="292608" indent="-292608">
              <a:buClr>
                <a:schemeClr val="accent2"/>
              </a:buClr>
              <a:buFont typeface="Arial" panose="020B0604020202020204" pitchFamily="34" charset="0"/>
              <a:buChar char="•"/>
            </a:pPr>
            <a:r>
              <a:rPr lang="en-US" dirty="0"/>
              <a:t>The mean of the distribution falls near the population parameter</a:t>
            </a:r>
          </a:p>
        </p:txBody>
      </p:sp>
      <p:pic>
        <p:nvPicPr>
          <p:cNvPr id="10" name="Picture Placeholder 2" descr="A histogram describes the results of 1000 random sample proportions. The horizontal axis is labeled Sample proportions and has markings from 0.4 to 1 in increments of 0.1. The vertical axis is labeled count and ranges from 200 to 0 in decrements of 100. The distribution of bars is approximately normal. From 0.475 to 0.5, the bar extends up to the counts, 230 and 235. From 0.5 to 0.6, the bars extend up to the counts, 230, 225, and 200. From 0.625 to 0.70, the bars extend up to the counts, 180, 150, and 130. From 0.7 to 0.8, the bars extend up to the counts, 90, 40, and 70. From 0.8 to 0.9, the bars extend up to the counts, 80, 110, and 180. From 0.925 to 1, the bars extend up to the counts, 200, 220, and 230. There are no bars at 0.4, 0.6, and 0.9. The tip of the bar above 0.825 is highlighted. The mean is 0.780, the standard deviation is 0.076, and the number of samples is 1000. All values are approximate."/>
          <p:cNvPicPr>
            <a:picLocks noGrp="1" noChangeAspect="1" noChangeArrowheads="1"/>
          </p:cNvPicPr>
          <p:nvPr>
            <p:ph type="pic" sz="quarter" idx="13"/>
          </p:nvPr>
        </p:nvPicPr>
        <p:blipFill>
          <a:blip r:embed="rId2" cstate="print">
            <a:extLst>
              <a:ext uri="{28A0092B-C50C-407E-A947-70E740481C1C}">
                <a14:useLocalDpi xmlns:a14="http://schemas.microsoft.com/office/drawing/2010/main" val="0"/>
              </a:ext>
            </a:extLst>
          </a:blip>
          <a:stretch>
            <a:fillRect/>
          </a:stretch>
        </p:blipFill>
        <p:spPr bwMode="auto">
          <a:xfrm>
            <a:off x="4168405" y="3413793"/>
            <a:ext cx="4108010" cy="2823323"/>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45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Students </a:t>
            </a:r>
            <a:r>
              <a:rPr lang="en-US" sz="2000" b="0" dirty="0"/>
              <a:t>(10 of 13)</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What would happen if we took all possible random samples of 30 students from this population?</a:t>
            </a:r>
          </a:p>
          <a:p>
            <a:pPr marL="621792" indent="-320040">
              <a:spcBef>
                <a:spcPts val="500"/>
              </a:spcBef>
              <a:buClr>
                <a:schemeClr val="accent2"/>
              </a:buClr>
              <a:buSzPct val="80000"/>
              <a:buFont typeface="Courier New" panose="02070309020205020404" pitchFamily="49" charset="0"/>
              <a:buChar char="o"/>
            </a:pPr>
            <a:r>
              <a:rPr lang="en-US" sz="2400" dirty="0"/>
              <a:t>The average of the sample proportions would match the population proportion exactly</a:t>
            </a:r>
          </a:p>
          <a:p>
            <a:pPr marL="292608" indent="-292608">
              <a:buClr>
                <a:schemeClr val="accent2"/>
              </a:buClr>
              <a:buSzPct val="100000"/>
              <a:buFont typeface="Arial" panose="020B0604020202020204" pitchFamily="34" charset="0"/>
              <a:buChar char="•"/>
            </a:pPr>
            <a:r>
              <a:rPr lang="en-US" dirty="0"/>
              <a:t>Statistics computed from simple random samples cluster around the parameter</a:t>
            </a:r>
          </a:p>
          <a:p>
            <a:pPr marL="621792" lvl="1" indent="-320040">
              <a:spcBef>
                <a:spcPts val="500"/>
              </a:spcBef>
              <a:buClr>
                <a:schemeClr val="accent2"/>
              </a:buClr>
            </a:pPr>
            <a:r>
              <a:rPr lang="en-US" dirty="0"/>
              <a:t>There is no tendency to over or underestimate the parameter</a:t>
            </a:r>
          </a:p>
          <a:p>
            <a:pPr marL="292608" indent="-292608">
              <a:buClr>
                <a:schemeClr val="accent2"/>
              </a:buClr>
              <a:buSzPct val="100000"/>
              <a:buFont typeface="Arial" panose="020B0604020202020204" pitchFamily="34" charset="0"/>
              <a:buChar char="•"/>
            </a:pPr>
            <a:r>
              <a:rPr lang="en-US" dirty="0"/>
              <a:t>Simple random sampling is an unbiased method of sampling for a  sample proportion</a:t>
            </a:r>
          </a:p>
        </p:txBody>
      </p:sp>
    </p:spTree>
    <p:extLst>
      <p:ext uri="{BB962C8B-B14F-4D97-AF65-F5344CB8AC3E}">
        <p14:creationId xmlns:p14="http://schemas.microsoft.com/office/powerpoint/2010/main" val="3305255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Sampling Students </a:t>
            </a:r>
            <a:r>
              <a:rPr lang="en-US" sz="2000" b="0" dirty="0"/>
              <a:t>(11 of 13)</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We can generalize</a:t>
            </a:r>
            <a:r>
              <a:rPr lang="en-US" i="1" dirty="0"/>
              <a:t> </a:t>
            </a:r>
            <a:r>
              <a:rPr lang="en-US" dirty="0"/>
              <a:t>when we use simple random sampling because it creates:</a:t>
            </a:r>
          </a:p>
          <a:p>
            <a:pPr marL="621792" lvl="1" indent="-320040">
              <a:spcBef>
                <a:spcPts val="500"/>
              </a:spcBef>
              <a:buClr>
                <a:schemeClr val="accent2"/>
              </a:buClr>
            </a:pPr>
            <a:r>
              <a:rPr lang="en-US" dirty="0"/>
              <a:t>A sample that is representative of the population</a:t>
            </a:r>
          </a:p>
          <a:p>
            <a:pPr marL="621792" lvl="1" indent="-320040">
              <a:spcBef>
                <a:spcPts val="500"/>
              </a:spcBef>
              <a:buClr>
                <a:schemeClr val="accent2"/>
              </a:buClr>
            </a:pPr>
            <a:r>
              <a:rPr lang="en-US" dirty="0"/>
              <a:t>A sample statistic that is close to the parameter</a:t>
            </a:r>
          </a:p>
        </p:txBody>
      </p:sp>
    </p:spTree>
    <p:extLst>
      <p:ext uri="{BB962C8B-B14F-4D97-AF65-F5344CB8AC3E}">
        <p14:creationId xmlns:p14="http://schemas.microsoft.com/office/powerpoint/2010/main" val="1414104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28800" y="617532"/>
            <a:ext cx="8534400" cy="838199"/>
          </a:xfrm>
        </p:spPr>
        <p:txBody>
          <a:bodyPr/>
          <a:lstStyle/>
          <a:p>
            <a:r>
              <a:rPr lang="en-US" dirty="0"/>
              <a:t>Example 2.1: Sampling Students </a:t>
            </a:r>
            <a:r>
              <a:rPr lang="en-US" sz="2000" b="0" dirty="0"/>
              <a:t>(12 of 13)</a:t>
            </a:r>
            <a:endParaRPr lang="en-US" dirty="0"/>
          </a:p>
        </p:txBody>
      </p:sp>
      <p:sp>
        <p:nvSpPr>
          <p:cNvPr id="7" name="Content Placeholder 6"/>
          <p:cNvSpPr>
            <a:spLocks noGrp="1"/>
          </p:cNvSpPr>
          <p:nvPr>
            <p:ph sz="quarter" idx="16"/>
          </p:nvPr>
        </p:nvSpPr>
        <p:spPr>
          <a:xfrm>
            <a:off x="1828800" y="1752601"/>
            <a:ext cx="8517320" cy="1448715"/>
          </a:xfrm>
        </p:spPr>
        <p:txBody>
          <a:bodyPr/>
          <a:lstStyle/>
          <a:p>
            <a:pPr marL="292608" indent="-292608">
              <a:buClr>
                <a:schemeClr val="accent2"/>
              </a:buClr>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But what about the standard deviation?</a:t>
            </a:r>
          </a:p>
          <a:p>
            <a:pPr marL="292608" indent="-292608">
              <a:buClr>
                <a:schemeClr val="accent2"/>
              </a:buClr>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When the population size is large, we can predict the sample-to-sample variation in sample proportions:</a:t>
            </a:r>
          </a:p>
        </p:txBody>
      </p:sp>
      <p:graphicFrame>
        <p:nvGraphicFramePr>
          <p:cNvPr id="2" name="Object 1" descr="cap s cap d left parenthesis hat over p right parenthesis equals Square root of start frac pi left parenthesis one minus pi right parenthesis over n end frac"/>
          <p:cNvGraphicFramePr>
            <a:graphicFrameLocks noChangeAspect="1"/>
          </p:cNvGraphicFramePr>
          <p:nvPr/>
        </p:nvGraphicFramePr>
        <p:xfrm>
          <a:off x="4411663" y="3311650"/>
          <a:ext cx="2603500" cy="876300"/>
        </p:xfrm>
        <a:graphic>
          <a:graphicData uri="http://schemas.openxmlformats.org/presentationml/2006/ole">
            <mc:AlternateContent xmlns:mc="http://schemas.openxmlformats.org/markup-compatibility/2006">
              <mc:Choice xmlns:v="urn:schemas-microsoft-com:vml" Requires="v">
                <p:oleObj name="Equation" r:id="rId2" imgW="2603500" imgH="876300" progId="Equation.DSMT4">
                  <p:embed/>
                </p:oleObj>
              </mc:Choice>
              <mc:Fallback>
                <p:oleObj name="Equation" r:id="rId2" imgW="2603500" imgH="876300" progId="Equation.DSMT4">
                  <p:embed/>
                  <p:pic>
                    <p:nvPicPr>
                      <p:cNvPr id="2" name="Object 1" descr="cap s cap d left parenthesis hat over p right parenthesis equals Square root of start frac pi left parenthesis one minus pi right parenthesis over n end fr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1663" y="3311650"/>
                        <a:ext cx="26035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p:cNvSpPr>
            <a:spLocks noGrp="1"/>
          </p:cNvSpPr>
          <p:nvPr>
            <p:ph sz="quarter" idx="19"/>
          </p:nvPr>
        </p:nvSpPr>
        <p:spPr>
          <a:xfrm>
            <a:off x="1769985" y="4415636"/>
            <a:ext cx="8534400" cy="467577"/>
          </a:xfrm>
        </p:spPr>
        <p:txBody>
          <a:bodyPr/>
          <a:lstStyle/>
          <a:p>
            <a:pPr marL="292608" indent="-292608">
              <a:buClr>
                <a:schemeClr val="accent2"/>
              </a:buClr>
              <a:buFont typeface="Arial" panose="020B0604020202020204" pitchFamily="34" charset="0"/>
              <a:buChar char="•"/>
            </a:pPr>
            <a:r>
              <a:rPr lang="en-US" sz="2600" dirty="0">
                <a:cs typeface="Times New Roman" panose="02020603050405020304" pitchFamily="18" charset="0"/>
              </a:rPr>
              <a:t>For this example, we get:</a:t>
            </a:r>
          </a:p>
        </p:txBody>
      </p:sp>
      <p:graphicFrame>
        <p:nvGraphicFramePr>
          <p:cNvPr id="3" name="Object 2" descr="cap s cap d left parenthesis hat over p right parenthesis equals Square root of start frac 0.776 left parenthesis one minus 0.776 right parenthesis over 30 end frac equals 0.076"/>
          <p:cNvGraphicFramePr>
            <a:graphicFrameLocks noChangeAspect="1"/>
          </p:cNvGraphicFramePr>
          <p:nvPr/>
        </p:nvGraphicFramePr>
        <p:xfrm>
          <a:off x="3314700" y="5183930"/>
          <a:ext cx="4343400" cy="825500"/>
        </p:xfrm>
        <a:graphic>
          <a:graphicData uri="http://schemas.openxmlformats.org/presentationml/2006/ole">
            <mc:AlternateContent xmlns:mc="http://schemas.openxmlformats.org/markup-compatibility/2006">
              <mc:Choice xmlns:v="urn:schemas-microsoft-com:vml" Requires="v">
                <p:oleObj name="Equation" r:id="rId4" imgW="4343400" imgH="825500" progId="Equation.DSMT4">
                  <p:embed/>
                </p:oleObj>
              </mc:Choice>
              <mc:Fallback>
                <p:oleObj name="Equation" r:id="rId4" imgW="4343400" imgH="825500" progId="Equation.DSMT4">
                  <p:embed/>
                  <p:pic>
                    <p:nvPicPr>
                      <p:cNvPr id="3" name="Object 2" descr="cap s cap d left parenthesis hat over p right parenthesis equals Square root of start frac 0.776 left parenthesis one minus 0.776 right parenthesis over 30 end frac equals 0.07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4700" y="5183930"/>
                        <a:ext cx="43434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87997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28800" y="617532"/>
            <a:ext cx="8534400" cy="838199"/>
          </a:xfrm>
        </p:spPr>
        <p:txBody>
          <a:bodyPr/>
          <a:lstStyle/>
          <a:p>
            <a:r>
              <a:rPr lang="en-US" dirty="0"/>
              <a:t>Example 2.1: Sampling Students </a:t>
            </a:r>
            <a:r>
              <a:rPr lang="en-US" sz="2000" b="0" dirty="0"/>
              <a:t>(13 of 13)</a:t>
            </a:r>
            <a:endParaRPr lang="en-US" dirty="0"/>
          </a:p>
        </p:txBody>
      </p:sp>
      <p:sp>
        <p:nvSpPr>
          <p:cNvPr id="7" name="Content Placeholder 6"/>
          <p:cNvSpPr>
            <a:spLocks noGrp="1"/>
          </p:cNvSpPr>
          <p:nvPr>
            <p:ph sz="quarter" idx="16"/>
          </p:nvPr>
        </p:nvSpPr>
        <p:spPr>
          <a:xfrm>
            <a:off x="1828800" y="1752600"/>
            <a:ext cx="8441425" cy="1221030"/>
          </a:xfrm>
        </p:spPr>
        <p:txBody>
          <a:bodyPr/>
          <a:lstStyle/>
          <a:p>
            <a:pPr marL="292608" indent="-292608">
              <a:lnSpc>
                <a:spcPct val="100000"/>
              </a:lnSpc>
              <a:spcBef>
                <a:spcPts val="624"/>
              </a:spcBef>
              <a:spcAft>
                <a:spcPts val="600"/>
              </a:spcAft>
              <a:buClr>
                <a:schemeClr val="accent2"/>
              </a:buClr>
              <a:buFont typeface="Arial" panose="020B0604020202020204" pitchFamily="34" charset="0"/>
              <a:buChar char="•"/>
            </a:pPr>
            <a:r>
              <a:rPr lang="en-US" sz="2600" dirty="0"/>
              <a:t>When sampling from a large population, the standard deviation of sample proportions is estimated by the</a:t>
            </a:r>
          </a:p>
          <a:p>
            <a:pPr indent="290513">
              <a:lnSpc>
                <a:spcPct val="100000"/>
              </a:lnSpc>
              <a:spcBef>
                <a:spcPts val="624"/>
              </a:spcBef>
              <a:spcAft>
                <a:spcPts val="600"/>
              </a:spcAft>
              <a:buClr>
                <a:schemeClr val="accent2"/>
              </a:buClr>
            </a:pPr>
            <a:r>
              <a:rPr lang="en-US" sz="2600" dirty="0"/>
              <a:t>formula,</a:t>
            </a:r>
          </a:p>
        </p:txBody>
      </p:sp>
      <p:graphicFrame>
        <p:nvGraphicFramePr>
          <p:cNvPr id="2" name="Object 1" descr="cap s cap d left parenthesis hat over p right parenthesis equals Square root of start frac pi left parenthesis one minus pi right parenthesis over n end frac"/>
          <p:cNvGraphicFramePr>
            <a:graphicFrameLocks noChangeAspect="1"/>
          </p:cNvGraphicFramePr>
          <p:nvPr/>
        </p:nvGraphicFramePr>
        <p:xfrm>
          <a:off x="3497731" y="2584322"/>
          <a:ext cx="2297210" cy="773209"/>
        </p:xfrm>
        <a:graphic>
          <a:graphicData uri="http://schemas.openxmlformats.org/presentationml/2006/ole">
            <mc:AlternateContent xmlns:mc="http://schemas.openxmlformats.org/markup-compatibility/2006">
              <mc:Choice xmlns:v="urn:schemas-microsoft-com:vml" Requires="v">
                <p:oleObj name="Equation" r:id="rId2" imgW="2603500" imgH="876300" progId="Equation.DSMT4">
                  <p:embed/>
                </p:oleObj>
              </mc:Choice>
              <mc:Fallback>
                <p:oleObj name="Equation" r:id="rId2" imgW="2603500" imgH="876300" progId="Equation.DSMT4">
                  <p:embed/>
                  <p:pic>
                    <p:nvPicPr>
                      <p:cNvPr id="2" name="Object 1" descr="cap s cap d left parenthesis hat over p right parenthesis equals Square root of start frac pi left parenthesis one minus pi right parenthesis over n end fr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7731" y="2584322"/>
                        <a:ext cx="2297210" cy="77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p:cNvSpPr>
            <a:spLocks noGrp="1"/>
          </p:cNvSpPr>
          <p:nvPr>
            <p:ph sz="quarter" idx="19"/>
          </p:nvPr>
        </p:nvSpPr>
        <p:spPr>
          <a:xfrm>
            <a:off x="1845880" y="2670051"/>
            <a:ext cx="8348450" cy="3263485"/>
          </a:xfrm>
        </p:spPr>
        <p:txBody>
          <a:bodyPr/>
          <a:lstStyle/>
          <a:p>
            <a:pPr marL="290513" indent="3657600">
              <a:lnSpc>
                <a:spcPct val="100000"/>
              </a:lnSpc>
              <a:spcBef>
                <a:spcPts val="624"/>
              </a:spcBef>
              <a:spcAft>
                <a:spcPts val="1200"/>
              </a:spcAft>
              <a:buClr>
                <a:schemeClr val="accent2"/>
              </a:buClr>
            </a:pPr>
            <a:r>
              <a:rPr lang="en-US" sz="2600" dirty="0"/>
              <a:t>where </a:t>
            </a:r>
            <a:r>
              <a:rPr lang="el-GR" sz="2600" dirty="0"/>
              <a:t>π</a:t>
            </a:r>
            <a:r>
              <a:rPr lang="en-US" sz="2600" dirty="0"/>
              <a:t> is the proportion of</a:t>
            </a:r>
          </a:p>
          <a:p>
            <a:pPr marL="290513" indent="0">
              <a:lnSpc>
                <a:spcPct val="100000"/>
              </a:lnSpc>
              <a:spcBef>
                <a:spcPts val="624"/>
              </a:spcBef>
              <a:buClr>
                <a:schemeClr val="accent2"/>
              </a:buClr>
            </a:pPr>
            <a:r>
              <a:rPr lang="en-US" sz="2600" dirty="0"/>
              <a:t>success in the population and </a:t>
            </a:r>
            <a:r>
              <a:rPr lang="en-US" sz="2600" i="1" dirty="0"/>
              <a:t>n</a:t>
            </a:r>
            <a:r>
              <a:rPr lang="en-US" sz="2600" dirty="0"/>
              <a:t> is the sample size.</a:t>
            </a:r>
          </a:p>
          <a:p>
            <a:pPr marL="292608" indent="-292608">
              <a:lnSpc>
                <a:spcPct val="100000"/>
              </a:lnSpc>
              <a:spcBef>
                <a:spcPts val="624"/>
              </a:spcBef>
              <a:buClr>
                <a:schemeClr val="accent2"/>
              </a:buClr>
              <a:buFont typeface="Arial" panose="020B0604020202020204" pitchFamily="34" charset="0"/>
              <a:buChar char="•"/>
            </a:pPr>
            <a:r>
              <a:rPr lang="en-US" sz="2600" dirty="0">
                <a:cs typeface="Times New Roman" panose="02020603050405020304" pitchFamily="18" charset="0"/>
              </a:rPr>
              <a:t>The  population is considered large enough when it is more than 20 times the sample size.</a:t>
            </a:r>
          </a:p>
        </p:txBody>
      </p:sp>
    </p:spTree>
    <p:extLst>
      <p:ext uri="{BB962C8B-B14F-4D97-AF65-F5344CB8AC3E}">
        <p14:creationId xmlns:p14="http://schemas.microsoft.com/office/powerpoint/2010/main" val="1562567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The Central Limit Theorem</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The </a:t>
            </a:r>
            <a:r>
              <a:rPr lang="en-US" b="1" dirty="0"/>
              <a:t>Central Limit Theorem for sampling from a large finite population </a:t>
            </a:r>
            <a:r>
              <a:rPr lang="en-US" dirty="0"/>
              <a:t>says that the distribution of sample proportions from repeated random samples will be approximately normal if there are at least 10 successes and at least 10 failures in each sample.</a:t>
            </a:r>
          </a:p>
        </p:txBody>
      </p:sp>
    </p:spTree>
    <p:extLst>
      <p:ext uri="{BB962C8B-B14F-4D97-AF65-F5344CB8AC3E}">
        <p14:creationId xmlns:p14="http://schemas.microsoft.com/office/powerpoint/2010/main" val="1763672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Back to Voter Turnout</a:t>
            </a:r>
          </a:p>
        </p:txBody>
      </p:sp>
      <p:sp>
        <p:nvSpPr>
          <p:cNvPr id="4" name="Content Placeholder 3"/>
          <p:cNvSpPr>
            <a:spLocks noGrp="1"/>
          </p:cNvSpPr>
          <p:nvPr>
            <p:ph sz="quarter" idx="16"/>
          </p:nvPr>
        </p:nvSpPr>
        <p:spPr>
          <a:xfrm>
            <a:off x="1845881" y="1752600"/>
            <a:ext cx="5388545" cy="533400"/>
          </a:xfrm>
        </p:spPr>
        <p:txBody>
          <a:bodyPr/>
          <a:lstStyle/>
          <a:p>
            <a:pPr marL="292608" indent="-292608">
              <a:lnSpc>
                <a:spcPct val="100000"/>
              </a:lnSpc>
              <a:buClr>
                <a:schemeClr val="accent2"/>
              </a:buClr>
              <a:buFont typeface="Arial" panose="020B0604020202020204" pitchFamily="34" charset="0"/>
              <a:buChar char="•"/>
            </a:pPr>
            <a:r>
              <a:rPr lang="en-US" sz="2600" dirty="0">
                <a:latin typeface="Times New Roman" pitchFamily="18" charset="0"/>
                <a:cs typeface="Times New Roman" pitchFamily="18" charset="0"/>
              </a:rPr>
              <a:t>The observed sample proportion was</a:t>
            </a:r>
          </a:p>
        </p:txBody>
      </p:sp>
      <p:graphicFrame>
        <p:nvGraphicFramePr>
          <p:cNvPr id="12" name="Object 11" descr="hat over p equals 0.698"/>
          <p:cNvGraphicFramePr>
            <a:graphicFrameLocks noChangeAspect="1"/>
          </p:cNvGraphicFramePr>
          <p:nvPr/>
        </p:nvGraphicFramePr>
        <p:xfrm>
          <a:off x="7144017" y="1839165"/>
          <a:ext cx="1281545" cy="369455"/>
        </p:xfrm>
        <a:graphic>
          <a:graphicData uri="http://schemas.openxmlformats.org/presentationml/2006/ole">
            <mc:AlternateContent xmlns:mc="http://schemas.openxmlformats.org/markup-compatibility/2006">
              <mc:Choice xmlns:v="urn:schemas-microsoft-com:vml" Requires="v">
                <p:oleObj name="Equation" r:id="rId2" imgW="1409088" imgH="406224" progId="Equation.DSMT4">
                  <p:embed/>
                </p:oleObj>
              </mc:Choice>
              <mc:Fallback>
                <p:oleObj name="Equation" r:id="rId2" imgW="1409088" imgH="406224" progId="Equation.DSMT4">
                  <p:embed/>
                  <p:pic>
                    <p:nvPicPr>
                      <p:cNvPr id="12" name="Object 11" descr="hat over p equals 0.69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4017" y="1839165"/>
                        <a:ext cx="1281545" cy="369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Content Placeholder 2"/>
          <p:cNvSpPr>
            <a:spLocks noGrp="1"/>
          </p:cNvSpPr>
          <p:nvPr>
            <p:ph sz="quarter" idx="17"/>
          </p:nvPr>
        </p:nvSpPr>
        <p:spPr>
          <a:xfrm>
            <a:off x="1828800" y="1744796"/>
            <a:ext cx="8669111" cy="4340529"/>
          </a:xfrm>
        </p:spPr>
        <p:txBody>
          <a:bodyPr/>
          <a:lstStyle/>
          <a:p>
            <a:pPr marL="347663" indent="6169025">
              <a:lnSpc>
                <a:spcPct val="100000"/>
              </a:lnSpc>
              <a:buClr>
                <a:schemeClr val="accent2"/>
              </a:buClr>
            </a:pPr>
            <a:r>
              <a:rPr lang="en-US" sz="2600" dirty="0">
                <a:cs typeface="Times New Roman" pitchFamily="18" charset="0"/>
              </a:rPr>
              <a:t>, with a sample size of </a:t>
            </a:r>
            <a:r>
              <a:rPr lang="en-US" sz="2600" i="1" dirty="0">
                <a:cs typeface="Times New Roman" pitchFamily="18" charset="0"/>
              </a:rPr>
              <a:t>n</a:t>
            </a:r>
            <a:r>
              <a:rPr lang="en-US" sz="2600" dirty="0">
                <a:cs typeface="Times New Roman" pitchFamily="18" charset="0"/>
              </a:rPr>
              <a:t> = 2,181.</a:t>
            </a:r>
          </a:p>
          <a:p>
            <a:pPr marL="292608" indent="-292608">
              <a:lnSpc>
                <a:spcPct val="100000"/>
              </a:lnSpc>
              <a:buClr>
                <a:schemeClr val="accent2"/>
              </a:buClr>
              <a:buFont typeface="Arial" panose="020B0604020202020204" pitchFamily="34" charset="0"/>
              <a:buChar char="•"/>
            </a:pPr>
            <a:r>
              <a:rPr lang="en-US" sz="2600" dirty="0">
                <a:cs typeface="Times New Roman" pitchFamily="18" charset="0"/>
              </a:rPr>
              <a:t>We would like to make inferences about the parameter of interest, π, the proportion of all eligible voters in 2016 who voted in the presidential election.</a:t>
            </a:r>
          </a:p>
          <a:p>
            <a:pPr marL="292608" indent="-292608">
              <a:lnSpc>
                <a:spcPct val="100000"/>
              </a:lnSpc>
              <a:buClr>
                <a:schemeClr val="accent2"/>
              </a:buClr>
              <a:buFont typeface="Arial" panose="020B0604020202020204" pitchFamily="34" charset="0"/>
              <a:buChar char="•"/>
            </a:pPr>
            <a:r>
              <a:rPr lang="en-US" sz="2600" dirty="0">
                <a:cs typeface="Times New Roman" pitchFamily="18" charset="0"/>
              </a:rPr>
              <a:t>Is it plausible that we would observe a sample proportion of 0.698 if the population proportion is equal to 0.592?</a:t>
            </a:r>
          </a:p>
        </p:txBody>
      </p:sp>
    </p:spTree>
    <p:extLst>
      <p:ext uri="{BB962C8B-B14F-4D97-AF65-F5344CB8AC3E}">
        <p14:creationId xmlns:p14="http://schemas.microsoft.com/office/powerpoint/2010/main" val="17432797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28800" y="617532"/>
            <a:ext cx="8534400" cy="838199"/>
          </a:xfrm>
        </p:spPr>
        <p:txBody>
          <a:bodyPr>
            <a:normAutofit fontScale="90000"/>
          </a:bodyPr>
          <a:lstStyle/>
          <a:p>
            <a:r>
              <a:rPr lang="en-US" dirty="0"/>
              <a:t>Example 2.1: Using the Central Limit Theorem</a:t>
            </a:r>
          </a:p>
        </p:txBody>
      </p:sp>
      <p:sp>
        <p:nvSpPr>
          <p:cNvPr id="7" name="Content Placeholder 6"/>
          <p:cNvSpPr>
            <a:spLocks noGrp="1"/>
          </p:cNvSpPr>
          <p:nvPr>
            <p:ph sz="quarter" idx="16"/>
          </p:nvPr>
        </p:nvSpPr>
        <p:spPr>
          <a:xfrm>
            <a:off x="1828800" y="1752601"/>
            <a:ext cx="8517320" cy="2055875"/>
          </a:xfrm>
        </p:spPr>
        <p:txBody>
          <a:bodyPr/>
          <a:lstStyle/>
          <a:p>
            <a:pPr marL="292608" indent="-292608">
              <a:buClr>
                <a:schemeClr val="accent2"/>
              </a:buClr>
              <a:buFont typeface="Arial" panose="020B0604020202020204" pitchFamily="34" charset="0"/>
              <a:buChar char="•"/>
            </a:pPr>
            <a:r>
              <a:rPr lang="en-US" sz="2600" dirty="0"/>
              <a:t>We can assume the distribution of sample proportions is approximately normal. (Why?)</a:t>
            </a:r>
          </a:p>
          <a:p>
            <a:pPr marL="914400" lvl="2" indent="-457200">
              <a:spcBef>
                <a:spcPts val="1000"/>
              </a:spcBef>
              <a:buClr>
                <a:schemeClr val="accent2"/>
              </a:buClr>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With of mean of 0.592</a:t>
            </a:r>
          </a:p>
          <a:p>
            <a:pPr marL="914400" lvl="2" indent="-457200">
              <a:spcBef>
                <a:spcPts val="1000"/>
              </a:spcBef>
              <a:buClr>
                <a:schemeClr val="accent2"/>
              </a:buClr>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And SD of</a:t>
            </a:r>
          </a:p>
        </p:txBody>
      </p:sp>
      <p:graphicFrame>
        <p:nvGraphicFramePr>
          <p:cNvPr id="3" name="Object 2" descr="Square root of start frac 0.592 left parenthesis one minus 0.592 right parenthesis over two comma 181 end frac equals 0.0105"/>
          <p:cNvGraphicFramePr>
            <a:graphicFrameLocks noChangeAspect="1"/>
          </p:cNvGraphicFramePr>
          <p:nvPr/>
        </p:nvGraphicFramePr>
        <p:xfrm>
          <a:off x="4274520" y="2973630"/>
          <a:ext cx="3336636" cy="842818"/>
        </p:xfrm>
        <a:graphic>
          <a:graphicData uri="http://schemas.openxmlformats.org/presentationml/2006/ole">
            <mc:AlternateContent xmlns:mc="http://schemas.openxmlformats.org/markup-compatibility/2006">
              <mc:Choice xmlns:v="urn:schemas-microsoft-com:vml" Requires="v">
                <p:oleObj name="Equation" r:id="rId2" imgW="3670300" imgH="927100" progId="Equation.DSMT4">
                  <p:embed/>
                </p:oleObj>
              </mc:Choice>
              <mc:Fallback>
                <p:oleObj name="Equation" r:id="rId2" imgW="3670300" imgH="927100" progId="Equation.DSMT4">
                  <p:embed/>
                  <p:pic>
                    <p:nvPicPr>
                      <p:cNvPr id="3" name="Object 2" descr="Square root of start frac 0.592 left parenthesis one minus 0.592 right parenthesis over two comma 181 end frac equals 0.01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4520" y="2973630"/>
                        <a:ext cx="3336636" cy="842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p:cNvSpPr>
            <a:spLocks noGrp="1"/>
          </p:cNvSpPr>
          <p:nvPr>
            <p:ph sz="quarter" idx="19"/>
          </p:nvPr>
        </p:nvSpPr>
        <p:spPr>
          <a:xfrm>
            <a:off x="1769985" y="4036160"/>
            <a:ext cx="8534400" cy="834844"/>
          </a:xfrm>
        </p:spPr>
        <p:txBody>
          <a:bodyPr/>
          <a:lstStyle/>
          <a:p>
            <a:pPr marL="292608" indent="-292608">
              <a:lnSpc>
                <a:spcPct val="100000"/>
              </a:lnSpc>
              <a:buClr>
                <a:schemeClr val="accent2"/>
              </a:buClr>
              <a:buFont typeface="Arial" panose="020B0604020202020204" pitchFamily="34" charset="0"/>
              <a:buChar char="•"/>
            </a:pPr>
            <a:r>
              <a:rPr lang="en-US" sz="2600" dirty="0"/>
              <a:t>This means the sample proportion from the GSS has a standardized statistic of:</a:t>
            </a:r>
          </a:p>
        </p:txBody>
      </p:sp>
      <p:graphicFrame>
        <p:nvGraphicFramePr>
          <p:cNvPr id="4" name="Object 3" descr="z equals start frac 0.698 minus 0.592 over 0.0105 end frac equals 10.10"/>
          <p:cNvGraphicFramePr>
            <a:graphicFrameLocks noChangeAspect="1"/>
          </p:cNvGraphicFramePr>
          <p:nvPr/>
        </p:nvGraphicFramePr>
        <p:xfrm>
          <a:off x="4236005" y="5098690"/>
          <a:ext cx="3302000" cy="762000"/>
        </p:xfrm>
        <a:graphic>
          <a:graphicData uri="http://schemas.openxmlformats.org/presentationml/2006/ole">
            <mc:AlternateContent xmlns:mc="http://schemas.openxmlformats.org/markup-compatibility/2006">
              <mc:Choice xmlns:v="urn:schemas-microsoft-com:vml" Requires="v">
                <p:oleObj name="Equation" r:id="rId4" imgW="3632200" imgH="838200" progId="Equation.DSMT4">
                  <p:embed/>
                </p:oleObj>
              </mc:Choice>
              <mc:Fallback>
                <p:oleObj name="Equation" r:id="rId4" imgW="3632200" imgH="838200" progId="Equation.DSMT4">
                  <p:embed/>
                  <p:pic>
                    <p:nvPicPr>
                      <p:cNvPr id="4" name="Object 3" descr="z equals start frac 0.698 minus 0.592 over 0.0105 end frac equals 10.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6005" y="5098690"/>
                        <a:ext cx="330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93422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Strong Evidence</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With a standardized statistic of 10.10, we have very strong evidence that this difference did not arise from random chance alone.</a:t>
            </a:r>
          </a:p>
          <a:p>
            <a:pPr marL="292608" indent="-292608">
              <a:buClr>
                <a:schemeClr val="accent2"/>
              </a:buClr>
              <a:buFont typeface="Arial" panose="020B0604020202020204" pitchFamily="34" charset="0"/>
              <a:buChar char="•"/>
            </a:pPr>
            <a:r>
              <a:rPr lang="en-US" dirty="0"/>
              <a:t>What could be another explanation for this difference between sample proportion of voters and population proportion of voters?</a:t>
            </a:r>
          </a:p>
        </p:txBody>
      </p:sp>
    </p:spTree>
    <p:extLst>
      <p:ext uri="{BB962C8B-B14F-4D97-AF65-F5344CB8AC3E}">
        <p14:creationId xmlns:p14="http://schemas.microsoft.com/office/powerpoint/2010/main" val="3858639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a:t>
            </a:r>
            <a:r>
              <a:rPr lang="en-US" dirty="0" err="1"/>
              <a:t>Nonsampling</a:t>
            </a:r>
            <a:r>
              <a:rPr lang="en-US" dirty="0"/>
              <a:t> Concerns </a:t>
            </a:r>
            <a:r>
              <a:rPr lang="en-US" sz="2000" b="0" dirty="0"/>
              <a:t>(1 of 2)</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prstGeom prst="rect">
            <a:avLst/>
          </a:prstGeom>
        </p:spPr>
        <p:txBody>
          <a:bodyPr/>
          <a:lstStyle/>
          <a:p>
            <a:pPr marL="292608" indent="-292608">
              <a:buClr>
                <a:schemeClr val="accent2"/>
              </a:buClr>
              <a:buFont typeface="Arial" panose="020B0604020202020204" pitchFamily="34" charset="0"/>
              <a:buChar char="•"/>
            </a:pPr>
            <a:r>
              <a:rPr lang="en-US" dirty="0"/>
              <a:t>When a question is posed to someone in a poll that has a </a:t>
            </a:r>
            <a:r>
              <a:rPr lang="en-US" i="1" dirty="0"/>
              <a:t>socially desirable </a:t>
            </a:r>
            <a:r>
              <a:rPr lang="en-US" dirty="0"/>
              <a:t>response (like you voted), individuals will sometimes overestimate or incorrectly recall their past behavior.</a:t>
            </a:r>
          </a:p>
          <a:p>
            <a:pPr marL="292608" indent="-292608">
              <a:buClr>
                <a:schemeClr val="accent2"/>
              </a:buClr>
              <a:buFont typeface="Arial" panose="020B0604020202020204" pitchFamily="34" charset="0"/>
              <a:buChar char="•"/>
            </a:pPr>
            <a:r>
              <a:rPr lang="en-US" dirty="0"/>
              <a:t>In this case, we have reason to believe that the difference between 0.698 and 0.592 is not due to a badly collected sample (a “sampling concern”) or due to random chance, but rather due to individuals not being honest in their responses.</a:t>
            </a:r>
          </a:p>
          <a:p>
            <a:pPr marL="292608" indent="-292608">
              <a:buClr>
                <a:schemeClr val="accent2"/>
              </a:buClr>
              <a:buFont typeface="Arial" panose="020B0604020202020204" pitchFamily="34" charset="0"/>
              <a:buChar char="•"/>
            </a:pPr>
            <a:r>
              <a:rPr lang="en-US" dirty="0"/>
              <a:t>This is a type of </a:t>
            </a:r>
            <a:r>
              <a:rPr lang="en-US" b="1" dirty="0" err="1"/>
              <a:t>nonsampling</a:t>
            </a:r>
            <a:r>
              <a:rPr lang="en-US" b="1" dirty="0"/>
              <a:t> concern</a:t>
            </a:r>
            <a:r>
              <a:rPr lang="en-US" dirty="0"/>
              <a:t>.</a:t>
            </a:r>
          </a:p>
        </p:txBody>
      </p:sp>
    </p:spTree>
    <p:extLst>
      <p:ext uri="{BB962C8B-B14F-4D97-AF65-F5344CB8AC3E}">
        <p14:creationId xmlns:p14="http://schemas.microsoft.com/office/powerpoint/2010/main" val="28750021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Example 2.1: </a:t>
            </a:r>
            <a:r>
              <a:rPr lang="en-US" dirty="0" err="1"/>
              <a:t>Nonsampling</a:t>
            </a:r>
            <a:r>
              <a:rPr lang="en-US" dirty="0"/>
              <a:t> Concerns </a:t>
            </a:r>
            <a:r>
              <a:rPr lang="en-US" sz="2000" b="0" dirty="0"/>
              <a:t>(2 of 2)</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828800" y="1889722"/>
            <a:ext cx="8534400" cy="4369023"/>
          </a:xfrm>
          <a:prstGeom prst="rect">
            <a:avLst/>
          </a:prstGeom>
        </p:spPr>
        <p:txBody>
          <a:bodyPr/>
          <a:lstStyle/>
          <a:p>
            <a:pPr marL="292608" indent="-292608">
              <a:buClr>
                <a:schemeClr val="accent2"/>
              </a:buClr>
              <a:buFont typeface="Arial" panose="020B0604020202020204" pitchFamily="34" charset="0"/>
              <a:buChar char="•"/>
            </a:pPr>
            <a:r>
              <a:rPr lang="en-US" dirty="0"/>
              <a:t>In addition to carefully selecting the sample, you need to guard against other possible sources of bias as well.</a:t>
            </a:r>
          </a:p>
          <a:p>
            <a:pPr marL="292608" indent="-292608">
              <a:buClr>
                <a:schemeClr val="accent2"/>
              </a:buClr>
              <a:buFont typeface="Arial" panose="020B0604020202020204" pitchFamily="34" charset="0"/>
              <a:buChar char="•"/>
            </a:pPr>
            <a:r>
              <a:rPr lang="en-US" dirty="0"/>
              <a:t>For example, when talking to people, their memories and truthfulness can impact their answers.</a:t>
            </a:r>
          </a:p>
          <a:p>
            <a:pPr marL="292608" indent="-292608">
              <a:buClr>
                <a:schemeClr val="accent2"/>
              </a:buClr>
              <a:buFont typeface="Arial" panose="020B0604020202020204" pitchFamily="34" charset="0"/>
              <a:buChar char="•"/>
            </a:pPr>
            <a:r>
              <a:rPr lang="en-US" dirty="0"/>
              <a:t>Other examples of </a:t>
            </a:r>
            <a:r>
              <a:rPr lang="en-US" dirty="0" err="1"/>
              <a:t>nonsampling</a:t>
            </a:r>
            <a:r>
              <a:rPr lang="en-US" dirty="0"/>
              <a:t> concerns include: </a:t>
            </a:r>
          </a:p>
          <a:p>
            <a:pPr marL="914400" lvl="2" indent="-457200">
              <a:spcBef>
                <a:spcPts val="1000"/>
              </a:spcBef>
              <a:buClr>
                <a:schemeClr val="accent2"/>
              </a:buClr>
              <a:buFont typeface="Courier New" panose="02070309020205020404" pitchFamily="49" charset="0"/>
              <a:buChar char="o"/>
            </a:pPr>
            <a:r>
              <a:rPr lang="en-US" sz="2400" dirty="0"/>
              <a:t>The effects that the wording of a question can have on responses</a:t>
            </a:r>
          </a:p>
          <a:p>
            <a:pPr marL="914400" lvl="2" indent="-457200">
              <a:spcBef>
                <a:spcPts val="1000"/>
              </a:spcBef>
              <a:buClr>
                <a:schemeClr val="accent2"/>
              </a:buClr>
              <a:buFont typeface="Courier New" panose="02070309020205020404" pitchFamily="49" charset="0"/>
              <a:buChar char="o"/>
            </a:pPr>
            <a:r>
              <a:rPr lang="en-US" sz="2400" dirty="0"/>
              <a:t>The effects that interviewers can have by virtue of their demeanor, sex, race and other characteristics</a:t>
            </a:r>
          </a:p>
          <a:p>
            <a:pPr marL="914400" lvl="2" indent="-457200">
              <a:spcBef>
                <a:spcPts val="1000"/>
              </a:spcBef>
              <a:buClr>
                <a:schemeClr val="accent2"/>
              </a:buClr>
              <a:buFont typeface="Courier New" panose="02070309020205020404" pitchFamily="49" charset="0"/>
              <a:buChar char="o"/>
            </a:pPr>
            <a:r>
              <a:rPr lang="en-US" sz="2400" dirty="0"/>
              <a:t>Using an </a:t>
            </a:r>
            <a:r>
              <a:rPr lang="en-US" sz="2400" dirty="0" err="1"/>
              <a:t>uncalibrated</a:t>
            </a:r>
            <a:r>
              <a:rPr lang="en-US" sz="2400" dirty="0"/>
              <a:t> scale, etc.</a:t>
            </a:r>
          </a:p>
        </p:txBody>
      </p:sp>
    </p:spTree>
    <p:extLst>
      <p:ext uri="{BB962C8B-B14F-4D97-AF65-F5344CB8AC3E}">
        <p14:creationId xmlns:p14="http://schemas.microsoft.com/office/powerpoint/2010/main" val="3554617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63A8F-2C05-9068-DDCB-9FA1E2F82B89}"/>
              </a:ext>
            </a:extLst>
          </p:cNvPr>
          <p:cNvSpPr>
            <a:spLocks noGrp="1"/>
          </p:cNvSpPr>
          <p:nvPr>
            <p:ph type="title"/>
          </p:nvPr>
        </p:nvSpPr>
        <p:spPr/>
        <p:txBody>
          <a:bodyPr/>
          <a:lstStyle/>
          <a:p>
            <a:r>
              <a:rPr lang="en-US" dirty="0"/>
              <a:t>Cool-Down #1</a:t>
            </a:r>
          </a:p>
        </p:txBody>
      </p:sp>
      <p:sp>
        <p:nvSpPr>
          <p:cNvPr id="3" name="Footer Placeholder 2">
            <a:extLst>
              <a:ext uri="{FF2B5EF4-FFF2-40B4-BE49-F238E27FC236}">
                <a16:creationId xmlns:a16="http://schemas.microsoft.com/office/drawing/2014/main" id="{39A76AB8-4370-6C23-9C4A-7DBCDD27BB6D}"/>
              </a:ext>
            </a:extLst>
          </p:cNvPr>
          <p:cNvSpPr>
            <a:spLocks noGrp="1"/>
          </p:cNvSpPr>
          <p:nvPr>
            <p:ph type="ftr" sz="quarter" idx="11"/>
          </p:nvPr>
        </p:nvSpPr>
        <p:spPr/>
        <p:txBody>
          <a:bodyPr/>
          <a:lstStyle/>
          <a:p>
            <a:r>
              <a:rPr lang="en-US"/>
              <a:t>Copyright ©2020 John Wiley &amp; Sons, Inc. </a:t>
            </a:r>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C4ADBDF-C4EB-B623-EABF-8921572E52D2}"/>
                  </a:ext>
                </a:extLst>
              </p:cNvPr>
              <p:cNvSpPr>
                <a:spLocks noGrp="1"/>
              </p:cNvSpPr>
              <p:nvPr>
                <p:ph sz="quarter" idx="12"/>
              </p:nvPr>
            </p:nvSpPr>
            <p:spPr/>
            <p:txBody>
              <a:bodyPr/>
              <a:lstStyle/>
              <a:p>
                <a:r>
                  <a:rPr lang="en-US" dirty="0"/>
                  <a:t>1.5.1: Which long-run proportion of success, </a:t>
                </a:r>
                <a14:m>
                  <m:oMath xmlns:m="http://schemas.openxmlformats.org/officeDocument/2006/math">
                    <m:r>
                      <a:rPr lang="en-US" i="1" dirty="0" smtClean="0">
                        <a:latin typeface="Cambria Math" panose="02040503050406030204" pitchFamily="18" charset="0"/>
                      </a:rPr>
                      <m:t>𝜋</m:t>
                    </m:r>
                  </m:oMath>
                </a14:m>
                <a:r>
                  <a:rPr lang="en-US" dirty="0"/>
                  <a:t>, gives the largest standard deviation of the null distribution when the sample size is 10?</a:t>
                </a:r>
              </a:p>
              <a:p>
                <a:pPr lvl="1"/>
                <a:r>
                  <a:rPr lang="en-US" dirty="0"/>
                  <a:t>A. 0.05		B. 0.25		C. 0.50		D. 0.90</a:t>
                </a:r>
              </a:p>
              <a:p>
                <a:pPr lvl="1"/>
                <a:endParaRPr lang="en-US" dirty="0"/>
              </a:p>
              <a:p>
                <a:endParaRPr lang="en-US" dirty="0"/>
              </a:p>
            </p:txBody>
          </p:sp>
        </mc:Choice>
        <mc:Fallback>
          <p:sp>
            <p:nvSpPr>
              <p:cNvPr id="4" name="Content Placeholder 3">
                <a:extLst>
                  <a:ext uri="{FF2B5EF4-FFF2-40B4-BE49-F238E27FC236}">
                    <a16:creationId xmlns:a16="http://schemas.microsoft.com/office/drawing/2014/main" id="{BC4ADBDF-C4EB-B623-EABF-8921572E52D2}"/>
                  </a:ext>
                </a:extLst>
              </p:cNvPr>
              <p:cNvSpPr>
                <a:spLocks noGrp="1" noRot="1" noChangeAspect="1" noMove="1" noResize="1" noEditPoints="1" noAdjustHandles="1" noChangeArrowheads="1" noChangeShapeType="1" noTextEdit="1"/>
              </p:cNvSpPr>
              <p:nvPr>
                <p:ph sz="quarter" idx="12"/>
              </p:nvPr>
            </p:nvSpPr>
            <p:spPr>
              <a:blipFill>
                <a:blip r:embed="rId2"/>
                <a:stretch>
                  <a:fillRect l="-893" t="-1603"/>
                </a:stretch>
              </a:blipFill>
            </p:spPr>
            <p:txBody>
              <a:bodyPr/>
              <a:lstStyle/>
              <a:p>
                <a:r>
                  <a:rPr lang="en-US">
                    <a:noFill/>
                  </a:rPr>
                  <a:t> </a:t>
                </a:r>
              </a:p>
            </p:txBody>
          </p:sp>
        </mc:Fallback>
      </mc:AlternateContent>
    </p:spTree>
    <p:extLst>
      <p:ext uri="{BB962C8B-B14F-4D97-AF65-F5344CB8AC3E}">
        <p14:creationId xmlns:p14="http://schemas.microsoft.com/office/powerpoint/2010/main" val="1383516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FA24-59AC-7BF6-72CD-A674BFF6E1F2}"/>
              </a:ext>
            </a:extLst>
          </p:cNvPr>
          <p:cNvSpPr>
            <a:spLocks noGrp="1"/>
          </p:cNvSpPr>
          <p:nvPr>
            <p:ph type="title"/>
          </p:nvPr>
        </p:nvSpPr>
        <p:spPr/>
        <p:txBody>
          <a:bodyPr/>
          <a:lstStyle/>
          <a:p>
            <a:r>
              <a:rPr lang="en-US" dirty="0"/>
              <a:t>Cool-Down #2</a:t>
            </a:r>
          </a:p>
        </p:txBody>
      </p:sp>
      <p:sp>
        <p:nvSpPr>
          <p:cNvPr id="3" name="Footer Placeholder 2">
            <a:extLst>
              <a:ext uri="{FF2B5EF4-FFF2-40B4-BE49-F238E27FC236}">
                <a16:creationId xmlns:a16="http://schemas.microsoft.com/office/drawing/2014/main" id="{FBE1301E-296C-13CC-AB9D-1FB632DEC5E0}"/>
              </a:ext>
            </a:extLst>
          </p:cNvPr>
          <p:cNvSpPr>
            <a:spLocks noGrp="1"/>
          </p:cNvSpPr>
          <p:nvPr>
            <p:ph type="ftr" sz="quarter" idx="11"/>
          </p:nvPr>
        </p:nvSpPr>
        <p:spPr/>
        <p:txBody>
          <a:bodyPr/>
          <a:lstStyle/>
          <a:p>
            <a:r>
              <a:rPr lang="en-US"/>
              <a:t>Copyright ©2020 John Wiley &amp; Sons, Inc. </a:t>
            </a:r>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9851C9CD-ADC8-288B-FEB3-9781C5B7CCB1}"/>
                  </a:ext>
                </a:extLst>
              </p:cNvPr>
              <p:cNvSpPr>
                <a:spLocks noGrp="1"/>
              </p:cNvSpPr>
              <p:nvPr>
                <p:ph sz="quarter" idx="12"/>
              </p:nvPr>
            </p:nvSpPr>
            <p:spPr/>
            <p:txBody>
              <a:bodyPr/>
              <a:lstStyle/>
              <a:p>
                <a:r>
                  <a:rPr lang="en-US" dirty="0"/>
                  <a:t>1.4.5: According to the National Coffee Drinking Study from the National Coffee Association, 40% of 18-24 year-olds in the USA regularly drink coffee every day. Suppose this number is accurate. In a sample of 140 students at Hope College, we found that 63 of them (45%) drink coffee regularly. We want to test </a:t>
                </a:r>
                <a:r>
                  <a:rPr lang="en-US" dirty="0" err="1"/>
                  <a:t>whetehr</a:t>
                </a:r>
                <a:r>
                  <a:rPr lang="en-US" dirty="0"/>
                  <a:t> the daily coffee-drinking habits of students at Hope College differ from the 40% claim for the nation. Which of A-E is the appropriate sample statistic and proper symbol?</a:t>
                </a:r>
              </a:p>
              <a:p>
                <a:r>
                  <a:rPr lang="en-US" dirty="0"/>
                  <a:t>A. </a:t>
                </a:r>
                <a14:m>
                  <m:oMath xmlns:m="http://schemas.openxmlformats.org/officeDocument/2006/math">
                    <m:acc>
                      <m:accPr>
                        <m:chr m:val="̂"/>
                        <m:ctrlPr>
                          <a:rPr lang="en-US" i="1" dirty="0" smtClean="0">
                            <a:latin typeface="Cambria Math" panose="02040503050406030204" pitchFamily="18" charset="0"/>
                          </a:rPr>
                        </m:ctrlPr>
                      </m:accPr>
                      <m:e>
                        <m:r>
                          <a:rPr lang="en-US" i="1" dirty="0" smtClean="0">
                            <a:latin typeface="Cambria Math" panose="02040503050406030204" pitchFamily="18" charset="0"/>
                          </a:rPr>
                          <m:t>𝑝</m:t>
                        </m:r>
                      </m:e>
                    </m:acc>
                    <m:r>
                      <a:rPr lang="en-US" i="1" dirty="0" smtClean="0">
                        <a:latin typeface="Cambria Math" panose="02040503050406030204" pitchFamily="18" charset="0"/>
                      </a:rPr>
                      <m:t>=0.40</m:t>
                    </m:r>
                  </m:oMath>
                </a14:m>
                <a:r>
                  <a:rPr lang="en-US" dirty="0"/>
                  <a:t>		B. </a:t>
                </a:r>
                <a14:m>
                  <m:oMath xmlns:m="http://schemas.openxmlformats.org/officeDocument/2006/math">
                    <m:r>
                      <a:rPr lang="en-US" i="1" dirty="0" smtClean="0">
                        <a:latin typeface="Cambria Math" panose="02040503050406030204" pitchFamily="18" charset="0"/>
                      </a:rPr>
                      <m:t>𝜋</m:t>
                    </m:r>
                    <m:r>
                      <a:rPr lang="en-US" i="1" dirty="0" smtClean="0">
                        <a:latin typeface="Cambria Math" panose="02040503050406030204" pitchFamily="18" charset="0"/>
                      </a:rPr>
                      <m:t>= 0.40</m:t>
                    </m:r>
                  </m:oMath>
                </a14:m>
                <a:r>
                  <a:rPr lang="en-US" dirty="0"/>
                  <a:t>		C. </a:t>
                </a:r>
                <a14:m>
                  <m:oMath xmlns:m="http://schemas.openxmlformats.org/officeDocument/2006/math">
                    <m:r>
                      <a:rPr lang="en-US" i="1" dirty="0" smtClean="0">
                        <a:latin typeface="Cambria Math" panose="02040503050406030204" pitchFamily="18" charset="0"/>
                      </a:rPr>
                      <m:t>𝜋</m:t>
                    </m:r>
                    <m:r>
                      <a:rPr lang="en-US" i="1" dirty="0" smtClean="0">
                        <a:latin typeface="Cambria Math" panose="02040503050406030204" pitchFamily="18" charset="0"/>
                      </a:rPr>
                      <m:t>=0.45</m:t>
                    </m:r>
                  </m:oMath>
                </a14:m>
                <a:r>
                  <a:rPr lang="en-US" dirty="0"/>
                  <a:t>		D.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 = 140</m:t>
                    </m:r>
                  </m:oMath>
                </a14:m>
                <a:endParaRPr lang="en-US" dirty="0"/>
              </a:p>
            </p:txBody>
          </p:sp>
        </mc:Choice>
        <mc:Fallback>
          <p:sp>
            <p:nvSpPr>
              <p:cNvPr id="4" name="Content Placeholder 3">
                <a:extLst>
                  <a:ext uri="{FF2B5EF4-FFF2-40B4-BE49-F238E27FC236}">
                    <a16:creationId xmlns:a16="http://schemas.microsoft.com/office/drawing/2014/main" id="{9851C9CD-ADC8-288B-FEB3-9781C5B7CCB1}"/>
                  </a:ext>
                </a:extLst>
              </p:cNvPr>
              <p:cNvSpPr>
                <a:spLocks noGrp="1" noRot="1" noChangeAspect="1" noMove="1" noResize="1" noEditPoints="1" noAdjustHandles="1" noChangeArrowheads="1" noChangeShapeType="1" noTextEdit="1"/>
              </p:cNvSpPr>
              <p:nvPr>
                <p:ph sz="quarter" idx="12"/>
              </p:nvPr>
            </p:nvSpPr>
            <p:spPr>
              <a:blipFill>
                <a:blip r:embed="rId2"/>
                <a:stretch>
                  <a:fillRect l="-893" t="-1603" r="-1451"/>
                </a:stretch>
              </a:blipFill>
            </p:spPr>
            <p:txBody>
              <a:bodyPr/>
              <a:lstStyle/>
              <a:p>
                <a:r>
                  <a:rPr lang="en-US">
                    <a:noFill/>
                  </a:rPr>
                  <a:t> </a:t>
                </a:r>
              </a:p>
            </p:txBody>
          </p:sp>
        </mc:Fallback>
      </mc:AlternateContent>
    </p:spTree>
    <p:extLst>
      <p:ext uri="{BB962C8B-B14F-4D97-AF65-F5344CB8AC3E}">
        <p14:creationId xmlns:p14="http://schemas.microsoft.com/office/powerpoint/2010/main" val="3283431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EE3D3-0DA0-F38F-0B13-C861030FB4D4}"/>
              </a:ext>
            </a:extLst>
          </p:cNvPr>
          <p:cNvSpPr>
            <a:spLocks noGrp="1"/>
          </p:cNvSpPr>
          <p:nvPr>
            <p:ph type="title"/>
          </p:nvPr>
        </p:nvSpPr>
        <p:spPr/>
        <p:txBody>
          <a:bodyPr/>
          <a:lstStyle/>
          <a:p>
            <a:r>
              <a:rPr lang="en-US" dirty="0"/>
              <a:t>Cool-Down #3</a:t>
            </a:r>
          </a:p>
        </p:txBody>
      </p:sp>
      <p:sp>
        <p:nvSpPr>
          <p:cNvPr id="3" name="Footer Placeholder 2">
            <a:extLst>
              <a:ext uri="{FF2B5EF4-FFF2-40B4-BE49-F238E27FC236}">
                <a16:creationId xmlns:a16="http://schemas.microsoft.com/office/drawing/2014/main" id="{AF445D38-C15E-5A16-8976-50B933855437}"/>
              </a:ext>
            </a:extLst>
          </p:cNvPr>
          <p:cNvSpPr>
            <a:spLocks noGrp="1"/>
          </p:cNvSpPr>
          <p:nvPr>
            <p:ph type="ftr" sz="quarter" idx="11"/>
          </p:nvPr>
        </p:nvSpPr>
        <p:spPr/>
        <p:txBody>
          <a:bodyPr/>
          <a:lstStyle/>
          <a:p>
            <a:r>
              <a:rPr lang="en-US"/>
              <a:t>Copyright ©2020 John Wiley &amp; Sons, Inc. </a:t>
            </a:r>
            <a:endParaRPr lang="en-US" dirty="0"/>
          </a:p>
        </p:txBody>
      </p:sp>
      <p:sp>
        <p:nvSpPr>
          <p:cNvPr id="4" name="Content Placeholder 3">
            <a:extLst>
              <a:ext uri="{FF2B5EF4-FFF2-40B4-BE49-F238E27FC236}">
                <a16:creationId xmlns:a16="http://schemas.microsoft.com/office/drawing/2014/main" id="{9C43D840-1603-9838-7C95-570117B83BBE}"/>
              </a:ext>
            </a:extLst>
          </p:cNvPr>
          <p:cNvSpPr>
            <a:spLocks noGrp="1"/>
          </p:cNvSpPr>
          <p:nvPr>
            <p:ph sz="quarter" idx="12"/>
          </p:nvPr>
        </p:nvSpPr>
        <p:spPr/>
        <p:txBody>
          <a:bodyPr/>
          <a:lstStyle/>
          <a:p>
            <a:r>
              <a:rPr lang="en-US" dirty="0"/>
              <a:t>2.1.8: The administration at a local high school is considering building a new gym. In order to find out how the student body feels about this, a student organization decides to conduct a survey of the students. Which of the sampling methods in A-D is a simple random sample from all the students at the school?</a:t>
            </a:r>
          </a:p>
          <a:p>
            <a:pPr lvl="1"/>
            <a:r>
              <a:rPr lang="en-US" dirty="0"/>
              <a:t>A. Survey random students who are leaving after school sports practices.</a:t>
            </a:r>
          </a:p>
          <a:p>
            <a:pPr lvl="1"/>
            <a:r>
              <a:rPr lang="en-US" dirty="0"/>
              <a:t>B. Randomly select 40 students in each grade level and survey the selected students.</a:t>
            </a:r>
          </a:p>
          <a:p>
            <a:pPr lvl="1"/>
            <a:r>
              <a:rPr lang="en-US" dirty="0"/>
              <a:t>C. Randomly select two homeroom classes from the 50 homeroom classes at the school and survey all students from those two classes.</a:t>
            </a:r>
          </a:p>
          <a:p>
            <a:pPr lvl="1"/>
            <a:r>
              <a:rPr lang="en-US" dirty="0"/>
              <a:t>D. Obtain a list of all students attending the high school, randomly select students from the list, and survey the students selected.</a:t>
            </a:r>
          </a:p>
        </p:txBody>
      </p:sp>
    </p:spTree>
    <p:extLst>
      <p:ext uri="{BB962C8B-B14F-4D97-AF65-F5344CB8AC3E}">
        <p14:creationId xmlns:p14="http://schemas.microsoft.com/office/powerpoint/2010/main" val="2067006074"/>
      </p:ext>
    </p:extLst>
  </p:cSld>
  <p:clrMapOvr>
    <a:masterClrMapping/>
  </p:clrMapOvr>
</p:sld>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1104</TotalTime>
  <Words>2443</Words>
  <Application>Microsoft Macintosh PowerPoint</Application>
  <PresentationFormat>Widescreen</PresentationFormat>
  <Paragraphs>238</Paragraphs>
  <Slides>35</Slides>
  <Notes>3</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35</vt:i4>
      </vt:variant>
    </vt:vector>
  </HeadingPairs>
  <TitlesOfParts>
    <vt:vector size="46" baseType="lpstr">
      <vt:lpstr>Aptos</vt:lpstr>
      <vt:lpstr>Arial</vt:lpstr>
      <vt:lpstr>Calibri</vt:lpstr>
      <vt:lpstr>Cambria Math</vt:lpstr>
      <vt:lpstr>Courier New</vt:lpstr>
      <vt:lpstr>Source Sans Pro</vt:lpstr>
      <vt:lpstr>STIX</vt:lpstr>
      <vt:lpstr>Times New Roman</vt:lpstr>
      <vt:lpstr>Opener</vt:lpstr>
      <vt:lpstr>Image Slide Master</vt:lpstr>
      <vt:lpstr>Equation</vt:lpstr>
      <vt:lpstr>Introduction to Statistical Investigations</vt:lpstr>
      <vt:lpstr>Warm-Up #1</vt:lpstr>
      <vt:lpstr>Statistic and Parameter</vt:lpstr>
      <vt:lpstr>Statistic and Parameter</vt:lpstr>
      <vt:lpstr>Generalization</vt:lpstr>
      <vt:lpstr>Example 2.1: Voter Turnout</vt:lpstr>
      <vt:lpstr>Example 2.1: Population and Sample</vt:lpstr>
      <vt:lpstr>Example 2.1: Population and Sample</vt:lpstr>
      <vt:lpstr>Example 2.1: Nonrandom Samples</vt:lpstr>
      <vt:lpstr>Example 2.1: Biased Sampling Method</vt:lpstr>
      <vt:lpstr>Example 2.1: Simple Random Sample</vt:lpstr>
      <vt:lpstr>Example 2.1: Sampling Frame</vt:lpstr>
      <vt:lpstr>Example 2.1: General Social Survey</vt:lpstr>
      <vt:lpstr>Example 2.1: Sampling Students (1 of 13)</vt:lpstr>
      <vt:lpstr>Example 2.1: Sampling Students (2 of 13)</vt:lpstr>
      <vt:lpstr>Example 2.1: Sampling Students (3 of 13)</vt:lpstr>
      <vt:lpstr>Example 2.1: Sampling Students (4 of 13)</vt:lpstr>
      <vt:lpstr>Example 2.1: Sampling Students (5 of 13)</vt:lpstr>
      <vt:lpstr>Example 2.1: Sampling Students (6 of 13)</vt:lpstr>
      <vt:lpstr>Example 2.1: Sampling Students (7 of 13)</vt:lpstr>
      <vt:lpstr>Example 2.1: Sampling Students (8 of 13)</vt:lpstr>
      <vt:lpstr>Example 2.1: Sampling Students (9 of 13)</vt:lpstr>
      <vt:lpstr>Example 2.1: Sampling Students (10 of 13)</vt:lpstr>
      <vt:lpstr>Example 2.1: Sampling Students (11 of 13)</vt:lpstr>
      <vt:lpstr>Example 2.1: Sampling Students (12 of 13)</vt:lpstr>
      <vt:lpstr>Example 2.1: Sampling Students (13 of 13)</vt:lpstr>
      <vt:lpstr>Example 2.1: The Central Limit Theorem</vt:lpstr>
      <vt:lpstr>Example 2.1: Back to Voter Turnout</vt:lpstr>
      <vt:lpstr>Example 2.1: Using the Central Limit Theorem</vt:lpstr>
      <vt:lpstr>Example 2.1: Strong Evidence</vt:lpstr>
      <vt:lpstr>Example 2.1: Nonsampling Concerns (1 of 2)</vt:lpstr>
      <vt:lpstr>Example 2.1: Nonsampling Concerns (2 of 2)</vt:lpstr>
      <vt:lpstr>Cool-Down #1</vt:lpstr>
      <vt:lpstr>Cool-Down #2</vt:lpstr>
      <vt:lpstr>Cool-Down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R Roscoe</dc:creator>
  <cp:lastModifiedBy>Sarah R Roscoe</cp:lastModifiedBy>
  <cp:revision>2</cp:revision>
  <dcterms:created xsi:type="dcterms:W3CDTF">2026-02-26T00:28:01Z</dcterms:created>
  <dcterms:modified xsi:type="dcterms:W3CDTF">2026-02-26T18:52:08Z</dcterms:modified>
</cp:coreProperties>
</file>