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  <p:sldMasterId id="2147483683" r:id="rId2"/>
  </p:sldMasterIdLst>
  <p:notesMasterIdLst>
    <p:notesMasterId r:id="rId16"/>
  </p:notesMasterIdLst>
  <p:sldIdLst>
    <p:sldId id="256" r:id="rId3"/>
    <p:sldId id="345" r:id="rId4"/>
    <p:sldId id="318" r:id="rId5"/>
    <p:sldId id="467" r:id="rId6"/>
    <p:sldId id="469" r:id="rId7"/>
    <p:sldId id="324" r:id="rId8"/>
    <p:sldId id="464" r:id="rId9"/>
    <p:sldId id="326" r:id="rId10"/>
    <p:sldId id="327" r:id="rId11"/>
    <p:sldId id="329" r:id="rId12"/>
    <p:sldId id="346" r:id="rId13"/>
    <p:sldId id="465" r:id="rId14"/>
    <p:sldId id="4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9"/>
  </p:normalViewPr>
  <p:slideViewPr>
    <p:cSldViewPr snapToGrid="0">
      <p:cViewPr varScale="1">
        <p:scale>
          <a:sx n="148" d="100"/>
          <a:sy n="148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0ECA89-540B-1A42-A1F4-CFAF348975E7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92014D-9094-E342-A994-83D5E8C03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834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:notes"/>
          <p:cNvSpPr txBox="1">
            <a:spLocks noGrp="1"/>
          </p:cNvSpPr>
          <p:nvPr>
            <p:ph type="body" idx="1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:notes"/>
          <p:cNvSpPr txBox="1">
            <a:spLocks noGrp="1"/>
          </p:cNvSpPr>
          <p:nvPr>
            <p:ph type="sldNum" idx="12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D5311A-BEFA-4F4B-AAC5-4E5F283CA6E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504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92014D-9094-E342-A994-83D5E8C037D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9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92014D-9094-E342-A994-83D5E8C037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178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for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3276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"/>
          <p:cNvSpPr>
            <a:spLocks noGrp="1"/>
          </p:cNvSpPr>
          <p:nvPr>
            <p:ph sz="quarter" idx="15" hasCustomPrompt="1"/>
          </p:nvPr>
        </p:nvSpPr>
        <p:spPr>
          <a:xfrm>
            <a:off x="406400" y="5029200"/>
            <a:ext cx="11379200" cy="1143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0"/>
              </a:spcBef>
              <a:buFont typeface="Arial" charset="0"/>
              <a:buNone/>
              <a:defRPr sz="2000" b="0" i="0" baseline="0">
                <a:solidFill>
                  <a:schemeClr val="tx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803275" indent="-450850">
              <a:spcBef>
                <a:spcPts val="1000"/>
              </a:spcBef>
              <a:buFont typeface="+mj-lt"/>
              <a:buAutoNum type="alphaLcPeriod"/>
              <a:tabLst/>
              <a:defRPr sz="2800" b="0" i="0" baseline="0">
                <a:solidFill>
                  <a:schemeClr val="tx1"/>
                </a:solidFill>
                <a:latin typeface="Source Sans Pro" charset="0"/>
                <a:ea typeface="Source Sans Pro" charset="0"/>
                <a:cs typeface="Source Sans Pro" charset="0"/>
              </a:defRPr>
            </a:lvl2pPr>
          </a:lstStyle>
          <a:p>
            <a:pPr lvl="0"/>
            <a:r>
              <a:rPr lang="en-US" sz="2000" dirty="0"/>
              <a:t>Figure 4.5 Figure title placeholder</a:t>
            </a:r>
          </a:p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5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9538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1291113" y="2290576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9452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197302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6400" y="4339741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AC5F648-714F-41B3-B0A9-EFB467D0BF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400" y="5022851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4DD2EA-EA3F-4637-934F-678F8B94664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6400" y="5781676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AB0A3D6A-283C-43F3-B8C1-9A067413E002}"/>
              </a:ext>
            </a:extLst>
          </p:cNvPr>
          <p:cNvSpPr txBox="1">
            <a:spLocks/>
          </p:cNvSpPr>
          <p:nvPr userDrawn="1"/>
        </p:nvSpPr>
        <p:spPr>
          <a:xfrm>
            <a:off x="8606769" y="6351500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0241161-D882-4165-B334-2C14A08BB8E0}"/>
              </a:ext>
            </a:extLst>
          </p:cNvPr>
          <p:cNvSpPr txBox="1">
            <a:spLocks/>
          </p:cNvSpPr>
          <p:nvPr userDrawn="1"/>
        </p:nvSpPr>
        <p:spPr>
          <a:xfrm>
            <a:off x="4034769" y="63515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1168117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5805C8-4641-4DD9-8EEE-8E3542D17A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154834" y="4035425"/>
            <a:ext cx="1113367" cy="12906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A1B72CE-EF87-477F-BA79-2E8C1521179A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1154834" y="3125789"/>
            <a:ext cx="912284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4B1DF00-9DC3-492A-B100-4D3272B82A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154834" y="2214564"/>
            <a:ext cx="1037167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76DD1F-6897-4F1A-BC22-7DBC28584A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940" y="4768589"/>
            <a:ext cx="11379200" cy="75882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8CFB20B-7480-4C5A-8DF1-F11AAD7E560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-1088727" y="5053134"/>
            <a:ext cx="11379200" cy="25717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B687367-93D1-4521-BBD6-A0564CA4FC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268201" y="3049589"/>
            <a:ext cx="1113367" cy="9858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685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34290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5029200"/>
            <a:ext cx="11379200" cy="99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72BACE4-69FF-4409-99CE-9BCD2C9878D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7DF617-D7C9-4AAC-ABB4-DFF0A77AE8FF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4116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9533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5766107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C3A17AB6-8208-4636-B70A-4B280921E8E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D48A4B4-62FA-47D4-A8EC-046A13201B68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06058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1"/>
            <a:ext cx="11379200" cy="6897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518260"/>
            <a:ext cx="11379200" cy="758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33531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0361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479511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06400" y="55540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3FC7C8C2-8E53-4648-8149-C8D83CA97CE9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37BE712D-A6E6-4E02-9B94-8A539F732706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48846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1" y="4953305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1" y="5766107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173327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173327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8153401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53401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4BE15919-8751-4BE4-AA33-50DF1CCA64E4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5B39872-5D7C-431B-B547-3FC6F0E6034C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8212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533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375848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764808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2982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8316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43650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8222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52794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660408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78EB9964-3E34-4002-B0B3-CA179067C39A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6F53CD61-F10A-4FD0-B019-99E2468A5F8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9384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4087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214680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594155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04952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50489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396026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41563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487100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326375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9684" y="5781745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5185261" y="5764248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23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08993" y="6356362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6993" y="635636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2432928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6ACF59F-042B-4CE1-AAE4-2FA4499AB366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642CDE9-7E9A-40FF-9BB8-77380C68654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208787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3048000" y="4724401"/>
            <a:ext cx="6096000" cy="1489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8116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429174" y="3808475"/>
            <a:ext cx="5565633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AAD719-5BF0-4C5E-BE8A-5C3956869DF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299200" y="3808414"/>
            <a:ext cx="5463117" cy="835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A815FFC-5DD1-44FE-91D7-17E9AFE9E70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29683" y="4795839"/>
            <a:ext cx="5666317" cy="6823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C82916B-0585-4B7E-9C9B-A7650469BF4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97600" y="4795839"/>
            <a:ext cx="5362840" cy="7582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39971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Slide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06400" y="5410202"/>
            <a:ext cx="11379200" cy="38099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06400" y="609602"/>
            <a:ext cx="11379200" cy="47261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2"/>
          </p:nvPr>
        </p:nvSpPr>
        <p:spPr>
          <a:xfrm>
            <a:off x="406400" y="5791201"/>
            <a:ext cx="11379200" cy="4571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610600" y="6356351"/>
            <a:ext cx="3175000" cy="365125"/>
          </a:xfrm>
        </p:spPr>
        <p:txBody>
          <a:bodyPr/>
          <a:lstStyle/>
          <a:p>
            <a:fld id="{43DD970A-8A59-5645-997B-8F1EF84171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817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E4D96-C503-4BE0-9F48-7B0E0326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F8EB2-C64A-42B7-AC64-C10457D98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A8BEA2-6D75-4F5A-A26E-60D47B7D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5557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300E9C-26F9-4C6B-8472-C51EA3DF4D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1350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9A17BDC-DFC0-47A2-BE51-F3D8CD12C66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2290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Opener: Version A">
  <p:cSld name="2_Opener: Version A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7"/>
          <p:cNvSpPr txBox="1">
            <a:spLocks noGrp="1"/>
          </p:cNvSpPr>
          <p:nvPr>
            <p:ph type="title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Times New Roman"/>
              <a:buNone/>
              <a:defRPr sz="6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77"/>
          <p:cNvSpPr txBox="1">
            <a:spLocks noGrp="1"/>
          </p:cNvSpPr>
          <p:nvPr>
            <p:ph type="body" idx="1"/>
          </p:nvPr>
        </p:nvSpPr>
        <p:spPr>
          <a:xfrm>
            <a:off x="203200" y="1755648"/>
            <a:ext cx="1178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7"/>
          <p:cNvSpPr txBox="1">
            <a:spLocks noGrp="1"/>
          </p:cNvSpPr>
          <p:nvPr>
            <p:ph type="body" idx="2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77"/>
          <p:cNvSpPr txBox="1">
            <a:spLocks noGrp="1"/>
          </p:cNvSpPr>
          <p:nvPr>
            <p:ph type="body" idx="3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787"/>
              </a:buClr>
              <a:buSzPts val="4000"/>
              <a:buFont typeface="Arial"/>
              <a:buNone/>
              <a:defRPr sz="4000" b="1" i="0" u="none" strike="noStrike" cap="none">
                <a:solidFill>
                  <a:srgbClr val="00778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77"/>
          <p:cNvSpPr txBox="1">
            <a:spLocks noGrp="1"/>
          </p:cNvSpPr>
          <p:nvPr>
            <p:ph type="body" idx="4"/>
          </p:nvPr>
        </p:nvSpPr>
        <p:spPr>
          <a:xfrm>
            <a:off x="203200" y="4267200"/>
            <a:ext cx="11785600" cy="24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77"/>
          <p:cNvSpPr txBox="1">
            <a:spLocks noGrp="1"/>
          </p:cNvSpPr>
          <p:nvPr>
            <p:ph type="body" idx="5"/>
          </p:nvPr>
        </p:nvSpPr>
        <p:spPr>
          <a:xfrm>
            <a:off x="2091891" y="6248400"/>
            <a:ext cx="877930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77"/>
          <p:cNvSpPr txBox="1">
            <a:spLocks noGrp="1"/>
          </p:cNvSpPr>
          <p:nvPr>
            <p:ph type="body" idx="6"/>
          </p:nvPr>
        </p:nvSpPr>
        <p:spPr>
          <a:xfrm>
            <a:off x="203200" y="6092825"/>
            <a:ext cx="1178560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26233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er: Version A">
  <p:cSld name="Opener: Version A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84"/>
          <p:cNvSpPr txBox="1">
            <a:spLocks noGrp="1"/>
          </p:cNvSpPr>
          <p:nvPr>
            <p:ph type="title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Times New Roman"/>
              <a:buNone/>
              <a:defRPr sz="6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84"/>
          <p:cNvSpPr txBox="1">
            <a:spLocks noGrp="1"/>
          </p:cNvSpPr>
          <p:nvPr>
            <p:ph type="body" idx="1"/>
          </p:nvPr>
        </p:nvSpPr>
        <p:spPr>
          <a:xfrm>
            <a:off x="203200" y="1828800"/>
            <a:ext cx="1178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84"/>
          <p:cNvSpPr txBox="1">
            <a:spLocks noGrp="1"/>
          </p:cNvSpPr>
          <p:nvPr>
            <p:ph type="body" idx="2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84"/>
          <p:cNvSpPr txBox="1">
            <a:spLocks noGrp="1"/>
          </p:cNvSpPr>
          <p:nvPr>
            <p:ph type="body" idx="3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sz="4000" b="1" i="0" u="none" strike="noStrike" cap="none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84"/>
          <p:cNvSpPr txBox="1">
            <a:spLocks noGrp="1"/>
          </p:cNvSpPr>
          <p:nvPr>
            <p:ph type="body" idx="4"/>
          </p:nvPr>
        </p:nvSpPr>
        <p:spPr>
          <a:xfrm>
            <a:off x="203200" y="4419600"/>
            <a:ext cx="117856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28075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er: Version B">
  <p:cSld name="Opener: Version B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5"/>
          <p:cNvSpPr txBox="1">
            <a:spLocks noGrp="1"/>
          </p:cNvSpPr>
          <p:nvPr>
            <p:ph type="body" idx="1"/>
          </p:nvPr>
        </p:nvSpPr>
        <p:spPr>
          <a:xfrm>
            <a:off x="203200" y="228600"/>
            <a:ext cx="11785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sz="4000" b="1" i="0" u="none" strike="noStrike" cap="none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85"/>
          <p:cNvSpPr txBox="1">
            <a:spLocks noGrp="1"/>
          </p:cNvSpPr>
          <p:nvPr>
            <p:ph type="body" idx="2"/>
          </p:nvPr>
        </p:nvSpPr>
        <p:spPr>
          <a:xfrm>
            <a:off x="203200" y="838200"/>
            <a:ext cx="11785600" cy="22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85"/>
          <p:cNvSpPr txBox="1">
            <a:spLocks noGrp="1"/>
          </p:cNvSpPr>
          <p:nvPr>
            <p:ph type="title"/>
          </p:nvPr>
        </p:nvSpPr>
        <p:spPr>
          <a:xfrm>
            <a:off x="203200" y="3505200"/>
            <a:ext cx="1178560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00"/>
              <a:buFont typeface="Times New Roman"/>
              <a:buNone/>
              <a:defRPr sz="6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85"/>
          <p:cNvSpPr txBox="1">
            <a:spLocks noGrp="1"/>
          </p:cNvSpPr>
          <p:nvPr>
            <p:ph type="body" idx="3"/>
          </p:nvPr>
        </p:nvSpPr>
        <p:spPr>
          <a:xfrm>
            <a:off x="203200" y="5029200"/>
            <a:ext cx="117856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85"/>
          <p:cNvSpPr txBox="1">
            <a:spLocks noGrp="1"/>
          </p:cNvSpPr>
          <p:nvPr>
            <p:ph type="body" idx="4"/>
          </p:nvPr>
        </p:nvSpPr>
        <p:spPr>
          <a:xfrm>
            <a:off x="203200" y="6096000"/>
            <a:ext cx="11785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915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762001"/>
            <a:ext cx="11379200" cy="8381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481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accent1"/>
          </a:solidFill>
          <a:latin typeface="Times New Roman" charset="0"/>
          <a:ea typeface="Times New Roman" charset="0"/>
          <a:cs typeface="Times New Roman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6"/>
          <p:cNvSpPr/>
          <p:nvPr/>
        </p:nvSpPr>
        <p:spPr>
          <a:xfrm>
            <a:off x="0" y="304800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12357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7.xml"/><Relationship Id="rId1" Type="http://schemas.openxmlformats.org/officeDocument/2006/relationships/tags" Target="../tags/tag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7.xml"/><Relationship Id="rId1" Type="http://schemas.openxmlformats.org/officeDocument/2006/relationships/tags" Target="../tags/tag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"/>
          <p:cNvSpPr txBox="1">
            <a:spLocks noGrp="1"/>
          </p:cNvSpPr>
          <p:nvPr>
            <p:ph type="title"/>
          </p:nvPr>
        </p:nvSpPr>
        <p:spPr>
          <a:xfrm>
            <a:off x="1676400" y="365126"/>
            <a:ext cx="8839200" cy="1387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ts val="4000"/>
            </a:pPr>
            <a:r>
              <a:rPr lang="en-US" sz="4000"/>
              <a:t>Introduction to Statistical Investigations</a:t>
            </a:r>
            <a:endParaRPr sz="4000"/>
          </a:p>
        </p:txBody>
      </p:sp>
      <p:sp>
        <p:nvSpPr>
          <p:cNvPr id="416" name="Google Shape;416;p1"/>
          <p:cNvSpPr txBox="1">
            <a:spLocks noGrp="1"/>
          </p:cNvSpPr>
          <p:nvPr>
            <p:ph type="body" idx="1"/>
          </p:nvPr>
        </p:nvSpPr>
        <p:spPr>
          <a:xfrm>
            <a:off x="1676400" y="1755648"/>
            <a:ext cx="8839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Second Edition</a:t>
            </a:r>
            <a:endParaRPr/>
          </a:p>
        </p:txBody>
      </p:sp>
      <p:sp>
        <p:nvSpPr>
          <p:cNvPr id="417" name="Google Shape;417;p1"/>
          <p:cNvSpPr txBox="1">
            <a:spLocks noGrp="1"/>
          </p:cNvSpPr>
          <p:nvPr>
            <p:ph type="body" idx="2"/>
          </p:nvPr>
        </p:nvSpPr>
        <p:spPr>
          <a:xfrm>
            <a:off x="1752600" y="2363724"/>
            <a:ext cx="8686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>
              <a:spcBef>
                <a:spcPts val="0"/>
              </a:spcBef>
              <a:buSzPts val="2600"/>
            </a:pPr>
            <a:r>
              <a:rPr lang="en-US" sz="2600"/>
              <a:t>Tintle, Chance, Cobb, Rossman, Roy, Swanson, VanderStoep</a:t>
            </a:r>
            <a:endParaRPr sz="2600" baseline="30000"/>
          </a:p>
        </p:txBody>
      </p:sp>
      <p:sp>
        <p:nvSpPr>
          <p:cNvPr id="418" name="Google Shape;418;p1"/>
          <p:cNvSpPr txBox="1">
            <a:spLocks noGrp="1"/>
          </p:cNvSpPr>
          <p:nvPr>
            <p:ph type="body" idx="3"/>
          </p:nvPr>
        </p:nvSpPr>
        <p:spPr>
          <a:xfrm>
            <a:off x="1676400" y="3657600"/>
            <a:ext cx="88392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Chapter 3.1</a:t>
            </a:r>
            <a:endParaRPr dirty="0"/>
          </a:p>
        </p:txBody>
      </p:sp>
      <p:sp>
        <p:nvSpPr>
          <p:cNvPr id="419" name="Google Shape;419;p1"/>
          <p:cNvSpPr txBox="1">
            <a:spLocks noGrp="1"/>
          </p:cNvSpPr>
          <p:nvPr>
            <p:ph type="body" idx="4"/>
          </p:nvPr>
        </p:nvSpPr>
        <p:spPr>
          <a:xfrm>
            <a:off x="1676400" y="4572000"/>
            <a:ext cx="8839200" cy="143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>
              <a:spcBef>
                <a:spcPts val="0"/>
              </a:spcBef>
              <a:buSzPts val="4000"/>
            </a:pPr>
            <a:r>
              <a:rPr lang="en-US" sz="4000" dirty="0"/>
              <a:t>Estimation</a:t>
            </a:r>
          </a:p>
          <a:p>
            <a:pPr marL="0" indent="0">
              <a:spcBef>
                <a:spcPts val="0"/>
              </a:spcBef>
              <a:buSzPts val="4000"/>
            </a:pPr>
            <a:r>
              <a:rPr lang="en-US" sz="4000">
                <a:solidFill>
                  <a:srgbClr val="00007F"/>
                </a:solidFill>
              </a:rPr>
              <a:t>Statistical Inference: Confidence Intervals</a:t>
            </a:r>
            <a:endParaRPr lang="en-US"/>
          </a:p>
        </p:txBody>
      </p:sp>
      <p:sp>
        <p:nvSpPr>
          <p:cNvPr id="420" name="Google Shape;420;p1"/>
          <p:cNvSpPr txBox="1">
            <a:spLocks noGrp="1"/>
          </p:cNvSpPr>
          <p:nvPr>
            <p:ph type="body" idx="6"/>
          </p:nvPr>
        </p:nvSpPr>
        <p:spPr>
          <a:xfrm>
            <a:off x="1676400" y="6156325"/>
            <a:ext cx="883920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Clr>
                <a:schemeClr val="lt1"/>
              </a:buClr>
              <a:buSzPts val="1200"/>
            </a:pPr>
            <a:r>
              <a:rPr lang="en-US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slide deck contains animations. Please disable animations if they cause issues with your device.</a:t>
            </a:r>
            <a:endParaRPr/>
          </a:p>
        </p:txBody>
      </p:sp>
      <p:sp>
        <p:nvSpPr>
          <p:cNvPr id="421" name="Google Shape;421;p1"/>
          <p:cNvSpPr txBox="1">
            <a:spLocks noGrp="1"/>
          </p:cNvSpPr>
          <p:nvPr>
            <p:ph type="body" idx="5"/>
          </p:nvPr>
        </p:nvSpPr>
        <p:spPr>
          <a:xfrm>
            <a:off x="2803759" y="6320748"/>
            <a:ext cx="658448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rgbClr val="888888"/>
              </a:buClr>
              <a:buSzPts val="1200"/>
            </a:pPr>
            <a:r>
              <a:rPr lang="en-US" sz="1200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Copyright ©2021 John Wiley &amp; Sons, Inc.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Chapter 3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71600"/>
            <a:ext cx="7620000" cy="4800600"/>
          </a:xfrm>
        </p:spPr>
        <p:txBody>
          <a:bodyPr>
            <a:normAutofit/>
          </a:bodyPr>
          <a:lstStyle/>
          <a:p>
            <a:r>
              <a:rPr lang="en-US" dirty="0"/>
              <a:t>So far, we can only say things like </a:t>
            </a:r>
          </a:p>
          <a:p>
            <a:pPr lvl="1"/>
            <a:r>
              <a:rPr lang="en-US" sz="2800" dirty="0"/>
              <a:t>“We have strong evidence that the probability Harley chooses the correct cup is &gt; 0.5.”  </a:t>
            </a:r>
          </a:p>
          <a:p>
            <a:pPr lvl="1"/>
            <a:r>
              <a:rPr lang="en-US" sz="2800" dirty="0"/>
              <a:t>”Students overestimate the length of the Jackson 5’s song ‘ABC.’”</a:t>
            </a:r>
          </a:p>
          <a:p>
            <a:r>
              <a:rPr lang="en-US" dirty="0"/>
              <a:t>We want a method that estimates what the parameter </a:t>
            </a:r>
            <a:r>
              <a:rPr lang="en-US" i="1" dirty="0"/>
              <a:t>actually is.</a:t>
            </a:r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3707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82296" indent="0">
              <a:buNone/>
            </a:pPr>
            <a:r>
              <a:rPr lang="en-US" sz="2800" dirty="0"/>
              <a:t>Marine, a dog originally trained for water rescues, was tested to see if she could detect if a patient had colorectal cancer by smelling a sample of the patient’s breath.</a:t>
            </a:r>
          </a:p>
          <a:p>
            <a:pPr marL="82296" indent="0">
              <a:buNone/>
            </a:pPr>
            <a:endParaRPr lang="en-US" sz="2800" dirty="0"/>
          </a:p>
          <a:p>
            <a:pPr marL="82296" indent="0">
              <a:buNone/>
            </a:pPr>
            <a:endParaRPr lang="en-US" sz="2800" dirty="0"/>
          </a:p>
          <a:p>
            <a:pPr marL="114300" indent="0">
              <a:buNone/>
            </a:pPr>
            <a:endParaRPr lang="en-US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2296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In each trial, she first smells a bag from a patient with colorectal cancer.</a:t>
            </a:r>
          </a:p>
          <a:p>
            <a:r>
              <a:rPr lang="en-US" sz="2600" dirty="0"/>
              <a:t>Then she smells 5 other samples;  4 from normal patients and 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1</a:t>
            </a:r>
            <a:r>
              <a:rPr lang="en-US" sz="2600" dirty="0"/>
              <a:t> from a person with colorectal cancer.</a:t>
            </a:r>
          </a:p>
          <a:p>
            <a:r>
              <a:rPr lang="en-US" sz="2600" dirty="0"/>
              <a:t>Marine correctly identified the bag from the cancer patient in 30 out of 33 trials. So our sample proportion is 30/33 = 0.909.</a:t>
            </a:r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15226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8C5BA-05A0-1F5F-F82B-5FB070150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Dogs Sniff Out Cancer?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5227F6-2FC6-76E2-75C7-436E58959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D50179-994C-0E6C-F1A0-FDEED0B4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0D892AF-B2C8-4554-0810-0A77BDE01D93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:r>
                  <a:rPr lang="en-US" sz="2800" dirty="0"/>
                  <a:t>In each of the 33 trials, Marine smells 5 bags containing breath samples: 4 from normal patients and </a:t>
                </a:r>
                <a:r>
                  <a:rPr lang="en-US" sz="2800" dirty="0">
                    <a:latin typeface="Arial" pitchFamily="34" charset="0"/>
                    <a:cs typeface="Arial" pitchFamily="34" charset="0"/>
                  </a:rPr>
                  <a:t>1</a:t>
                </a:r>
                <a:r>
                  <a:rPr lang="en-US" sz="2800" dirty="0"/>
                  <a:t> from a person with colorectal cancer.</a:t>
                </a:r>
              </a:p>
              <a:p>
                <a:endParaRPr lang="en-US" sz="2800" dirty="0"/>
              </a:p>
              <a:p>
                <a:r>
                  <a:rPr lang="en-US" sz="2800" dirty="0"/>
                  <a:t>Discuss:</a:t>
                </a:r>
              </a:p>
              <a:p>
                <a:pPr lvl="1"/>
                <a:r>
                  <a:rPr lang="en-US" sz="2800" dirty="0"/>
                  <a:t>What are the observational units?</a:t>
                </a:r>
              </a:p>
              <a:p>
                <a:pPr lvl="1"/>
                <a:r>
                  <a:rPr lang="en-US" sz="2800" dirty="0"/>
                  <a:t>What is the variable?</a:t>
                </a:r>
              </a:p>
              <a:p>
                <a:pPr lvl="1"/>
                <a:r>
                  <a:rPr lang="en-US" sz="2800" dirty="0"/>
                  <a:t>What is our sample size?</a:t>
                </a:r>
              </a:p>
              <a:p>
                <a:pPr lvl="1"/>
                <a:r>
                  <a:rPr lang="en-US" sz="2800" dirty="0"/>
                  <a:t>What's the general probability of success,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800" dirty="0"/>
                  <a:t>?</a:t>
                </a:r>
              </a:p>
              <a:p>
                <a:pPr lvl="1"/>
                <a:r>
                  <a:rPr lang="en-US" sz="2800" dirty="0"/>
                  <a:t>Write the null and alternative hypotheses in symbols.</a:t>
                </a:r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0D892AF-B2C8-4554-0810-0A77BDE01D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1004" t="-1603" b="-17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5196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1524000"/>
            <a:ext cx="8305800" cy="396240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en-US" dirty="0"/>
              <a:t>Our sample proportion lies more than 10 standard deviations above the mean and hence our p-value is 0. 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6856" y="2590800"/>
            <a:ext cx="7848600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09247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Dogs Sniff Out Cancer?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It’s not very interesting to say “Marine picks the correct bag more than 20% of the time.” </a:t>
            </a:r>
          </a:p>
          <a:p>
            <a:r>
              <a:rPr lang="en-US" dirty="0"/>
              <a:t>Can we say for certain that Marine picks the correct bag 90.9% of the time?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it plausible that Marine actually picks the correct bag 70% of the time and just had a lucky day?</a:t>
            </a:r>
          </a:p>
        </p:txBody>
      </p:sp>
    </p:spTree>
    <p:extLst>
      <p:ext uri="{BB962C8B-B14F-4D97-AF65-F5344CB8AC3E}">
        <p14:creationId xmlns:p14="http://schemas.microsoft.com/office/powerpoint/2010/main" val="2185967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800" dirty="0"/>
                  <a:t>Let's try: </a:t>
                </a:r>
                <a:endParaRPr lang="en-US" sz="2800" dirty="0">
                  <a:solidFill>
                    <a:schemeClr val="tx1"/>
                  </a:solidFill>
                </a:endParaRPr>
              </a:p>
              <a:p>
                <a:r>
                  <a:rPr lang="en-US" sz="2800" dirty="0">
                    <a:solidFill>
                      <a:schemeClr val="tx1"/>
                    </a:solidFill>
                  </a:rPr>
                  <a:t>H</a:t>
                </a:r>
                <a:r>
                  <a:rPr lang="en-US" sz="2800" baseline="-25000" dirty="0">
                    <a:solidFill>
                      <a:schemeClr val="tx1"/>
                    </a:solidFill>
                  </a:rPr>
                  <a:t>0</a:t>
                </a:r>
                <a:r>
                  <a:rPr lang="en-US" sz="2800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= 0.70    H</a:t>
                </a:r>
                <a:r>
                  <a:rPr lang="en-US" sz="2800" baseline="-25000" dirty="0">
                    <a:solidFill>
                      <a:schemeClr val="tx1"/>
                    </a:solidFill>
                  </a:rPr>
                  <a:t>a</a:t>
                </a:r>
                <a:r>
                  <a:rPr lang="en-US" sz="2800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≠ 0.70</a:t>
                </a:r>
              </a:p>
              <a:p>
                <a:r>
                  <a:rPr lang="en-US" sz="2800" dirty="0">
                    <a:solidFill>
                      <a:schemeClr val="tx1"/>
                    </a:solidFill>
                  </a:rPr>
                  <a:t>We get a small p-value (0.0090) so we can rule out 0.70 as a value for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109728" indent="0">
                  <a:buNone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 marL="109728" indent="0">
                  <a:buNone/>
                </a:pPr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3"/>
                <a:stretch>
                  <a:fillRect l="-1004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491" y="3620219"/>
            <a:ext cx="7357017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7856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What about 0.80?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Is an observed statistic of 0.909 unlikely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= 0.80?</a:t>
                </a:r>
              </a:p>
              <a:p>
                <a:pPr marL="82296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3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10639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Can Dogs Sniff Out Cancer?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33600" y="1371600"/>
                <a:ext cx="7825740" cy="480060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0</a:t>
                </a:r>
                <a:r>
                  <a:rPr lang="en-US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= 0.80    H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a</a:t>
                </a:r>
                <a:r>
                  <a:rPr lang="en-US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≠ 0.80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We get a large p-value (0.1470) so 0.80 is a </a:t>
                </a:r>
                <a:r>
                  <a:rPr lang="en-US" b="1" i="1" dirty="0">
                    <a:solidFill>
                      <a:schemeClr val="tx1"/>
                    </a:solidFill>
                  </a:rPr>
                  <a:t>plausible</a:t>
                </a:r>
                <a:r>
                  <a:rPr lang="en-US" dirty="0">
                    <a:solidFill>
                      <a:schemeClr val="tx1"/>
                    </a:solidFill>
                  </a:rPr>
                  <a:t> value for Marine’s long-run probability.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33600" y="1371600"/>
                <a:ext cx="7825740" cy="48006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2895601"/>
            <a:ext cx="7576335" cy="3100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62429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range of plausible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Small p-value =&gt; the value in H</a:t>
            </a:r>
            <a:r>
              <a:rPr lang="en-US" sz="3000" baseline="-25000" dirty="0"/>
              <a:t>0</a:t>
            </a:r>
            <a:r>
              <a:rPr lang="en-US" sz="3000" dirty="0"/>
              <a:t> is not plausible.  (We can conclude H</a:t>
            </a:r>
            <a:r>
              <a:rPr lang="en-US" sz="3000" baseline="-25000" dirty="0"/>
              <a:t>a</a:t>
            </a:r>
            <a:r>
              <a:rPr lang="en-US" sz="3000" dirty="0"/>
              <a:t>.)</a:t>
            </a:r>
          </a:p>
          <a:p>
            <a:r>
              <a:rPr lang="en-US" sz="3000" dirty="0"/>
              <a:t>Large p-value =&gt; the value under H</a:t>
            </a:r>
            <a:r>
              <a:rPr lang="en-US" sz="3000" baseline="-25000" dirty="0"/>
              <a:t>0</a:t>
            </a:r>
            <a:r>
              <a:rPr lang="en-US" sz="3000" dirty="0"/>
              <a:t> is plausible.  (We can’t conclude H</a:t>
            </a:r>
            <a:r>
              <a:rPr lang="en-US" sz="3000" baseline="-25000" dirty="0"/>
              <a:t>a</a:t>
            </a:r>
            <a:r>
              <a:rPr lang="en-US" sz="3000" dirty="0"/>
              <a:t>.)</a:t>
            </a:r>
          </a:p>
          <a:p>
            <a:r>
              <a:rPr lang="en-US" sz="3200" dirty="0"/>
              <a:t>The </a:t>
            </a:r>
            <a:r>
              <a:rPr lang="en-US" sz="3200" b="1" dirty="0"/>
              <a:t>significance level </a:t>
            </a:r>
            <a:r>
              <a:rPr lang="en-US" sz="3200" dirty="0"/>
              <a:t>α determines whether a p-value is small or large.</a:t>
            </a:r>
            <a:endParaRPr lang="en-US" sz="3000" dirty="0"/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6476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 range of possible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We can use the One Proportion applet to find a range of plausible values for Marine’s long-term probability of choosing the correct bag.</a:t>
            </a:r>
          </a:p>
          <a:p>
            <a:r>
              <a:rPr lang="en-US" sz="2800" dirty="0"/>
              <a:t>We do this by keeping the sample proportion the same and varying π.</a:t>
            </a:r>
          </a:p>
          <a:p>
            <a:r>
              <a:rPr lang="en-US" sz="2800" dirty="0"/>
              <a:t>You will do this in today’s Exploration.</a:t>
            </a:r>
          </a:p>
        </p:txBody>
      </p:sp>
    </p:spTree>
    <p:extLst>
      <p:ext uri="{BB962C8B-B14F-4D97-AF65-F5344CB8AC3E}">
        <p14:creationId xmlns:p14="http://schemas.microsoft.com/office/powerpoint/2010/main" val="2058389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438400"/>
            <a:ext cx="7620000" cy="11430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Exploration 3.1</a:t>
            </a:r>
          </a:p>
        </p:txBody>
      </p:sp>
    </p:spTree>
    <p:extLst>
      <p:ext uri="{BB962C8B-B14F-4D97-AF65-F5344CB8AC3E}">
        <p14:creationId xmlns:p14="http://schemas.microsoft.com/office/powerpoint/2010/main" val="31916409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heme/theme1.xml><?xml version="1.0" encoding="utf-8"?>
<a:theme xmlns:a="http://schemas.openxmlformats.org/drawingml/2006/main" name="Image Slide Mast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pen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590</Words>
  <Application>Microsoft Macintosh PowerPoint</Application>
  <PresentationFormat>Widescreen</PresentationFormat>
  <Paragraphs>62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Courier New</vt:lpstr>
      <vt:lpstr>Source Sans Pro</vt:lpstr>
      <vt:lpstr>Times New Roman</vt:lpstr>
      <vt:lpstr>Image Slide Master</vt:lpstr>
      <vt:lpstr>Opener</vt:lpstr>
      <vt:lpstr>Introduction to Statistical Investigations</vt:lpstr>
      <vt:lpstr>Chapter 3 Overview</vt:lpstr>
      <vt:lpstr>Can Dogs Sniff Out Cancer?</vt:lpstr>
      <vt:lpstr>Can Dogs Sniff Out Cancer?</vt:lpstr>
      <vt:lpstr>Can Dogs Sniff Out Cancer?</vt:lpstr>
      <vt:lpstr>Can Dogs Sniff Out Cancer?</vt:lpstr>
      <vt:lpstr>Can Dogs Sniff Out Cancer?</vt:lpstr>
      <vt:lpstr>Can Dogs Sniff Out Cancer?</vt:lpstr>
      <vt:lpstr>Can Dogs Sniff Out Cancer?</vt:lpstr>
      <vt:lpstr>Can Dogs Sniff Out Cancer?</vt:lpstr>
      <vt:lpstr>A range of plausible values</vt:lpstr>
      <vt:lpstr>A range of possible values</vt:lpstr>
      <vt:lpstr>Exploration 3.1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3</cp:revision>
  <dcterms:created xsi:type="dcterms:W3CDTF">2026-03-05T16:56:57Z</dcterms:created>
  <dcterms:modified xsi:type="dcterms:W3CDTF">2026-03-05T17:07:08Z</dcterms:modified>
</cp:coreProperties>
</file>