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4" r:id="rId3"/>
  </p:sldMasterIdLst>
  <p:notesMasterIdLst>
    <p:notesMasterId r:id="rId20"/>
  </p:notesMasterIdLst>
  <p:sldIdLst>
    <p:sldId id="436" r:id="rId4"/>
    <p:sldId id="256" r:id="rId5"/>
    <p:sldId id="456" r:id="rId6"/>
    <p:sldId id="457" r:id="rId7"/>
    <p:sldId id="458" r:id="rId8"/>
    <p:sldId id="461" r:id="rId9"/>
    <p:sldId id="460" r:id="rId10"/>
    <p:sldId id="463" r:id="rId11"/>
    <p:sldId id="462" r:id="rId12"/>
    <p:sldId id="464" r:id="rId13"/>
    <p:sldId id="465" r:id="rId14"/>
    <p:sldId id="466" r:id="rId15"/>
    <p:sldId id="469" r:id="rId16"/>
    <p:sldId id="467" r:id="rId17"/>
    <p:sldId id="470" r:id="rId18"/>
    <p:sldId id="4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74"/>
  </p:normalViewPr>
  <p:slideViewPr>
    <p:cSldViewPr snapToGrid="0">
      <p:cViewPr varScale="1">
        <p:scale>
          <a:sx n="102" d="100"/>
          <a:sy n="102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119A6-EC5A-7D4F-A731-06D5A7F0C6E6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8EEC0-EE6B-EB45-B1D8-EE81B01FA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86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073E54-D085-4E2E-B9A5-A53D7E51940E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3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BDAE-C9B8-BF6C-E599-C4E00C4CA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A1167-8C66-9C65-7BC2-3E85A9166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E5D0F-A023-2BD4-E81C-BB276399F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B3C2-0692-C647-9264-AC35BE721006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EDD87-2AC6-AAD8-F0D1-4498D37FA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1561D-5F62-4568-D422-448598D9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806B-6CD8-894A-B354-A5DD705C0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99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3063-9079-8A78-4E5F-851F6713D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95818-D8CE-FAD3-FF29-25A15411F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FA101-35B5-E875-0602-F7540E6FC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B3C2-0692-C647-9264-AC35BE721006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FEB97-8182-EDCB-96C5-F7ACC1B3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35D40-8F3C-A8F0-E6D6-8EFEF24E8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806B-6CD8-894A-B354-A5DD705C0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15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C5B0C-16E4-437D-C85E-24C38F342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53DA6-A0F3-CBBE-000D-4CD06C9B5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47EB9-A9CA-04E8-4FAB-D7EA6AD24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B3C2-0692-C647-9264-AC35BE721006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4A527-8F7B-E58B-F1BF-692E2B1F5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AC336-91F5-CDC1-BC07-CFAA8597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806B-6CD8-894A-B354-A5DD705C0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6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35B4-D6B1-6E05-E836-7C899E0FE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0987B-CA28-7C26-A067-F42D16A19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84080-ACAA-7D1A-50BA-885683A96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FFF9F-6EF8-C623-6E02-E17F7CD22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B3C2-0692-C647-9264-AC35BE721006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ADB8D-9EAF-17ED-1149-548A6D8D0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95CBF-1FC1-7E55-3458-97E3CB785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806B-6CD8-894A-B354-A5DD705C0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4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775E-8696-4ACF-5BC9-F5818622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84C3F-7634-3EDB-E487-07A9BBC82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0D3E5-E284-5E89-D563-523E26A87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D3F72B-F8A3-9E56-37FC-562ABFA0C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AC60D8-F0B4-36E4-8438-A06287307B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D1690-316E-91DA-8A05-F0F3D384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B3C2-0692-C647-9264-AC35BE721006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52C9BB-14F6-9C94-16A5-6DBF2C03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8831BD-0234-009E-D24E-20E6D7635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806B-6CD8-894A-B354-A5DD705C0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E5360-E273-D76A-A90B-1D17A2F0A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7AF7B9-3C1F-5708-71B7-9504702B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B3C2-0692-C647-9264-AC35BE721006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A1AA72-B29E-C545-73D5-D45A47EE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2AF0F-C1BB-75C8-A100-27AEDA9D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806B-6CD8-894A-B354-A5DD705C0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1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56FBB-8B1E-DF13-C99C-5AAE5467E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B3C2-0692-C647-9264-AC35BE721006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95F13-CAB5-1BEA-049A-2A1327CA7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5E177-52C3-6F99-AE1D-7B0B1291B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806B-6CD8-894A-B354-A5DD705C0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37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97B6-B259-74EC-0703-F5F28734C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1CDD6-D4BF-CA07-5FC7-21376780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DB5D6-13B1-CB6B-F97E-1946404DE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A6F18-4D7A-8E90-E25D-E974C979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B3C2-0692-C647-9264-AC35BE721006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99118-AFD9-D34D-CC5B-38291CD7B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0532A-4EF0-0F81-6552-5B6A24D65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806B-6CD8-894A-B354-A5DD705C0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0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112FC-FFD8-3078-CC4E-BB4561EE0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E20698-33A7-D8FD-9A26-05E1F0363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04D51-5D6A-334E-BF3F-AA0D8F987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B8C01-57A9-40BC-78D6-EC4F2F1B3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B3C2-0692-C647-9264-AC35BE721006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E4BB9-E789-BEA2-7D35-BBEF0424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8D154-9B91-0100-541D-536D3899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806B-6CD8-894A-B354-A5DD705C0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9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9464-2642-805A-E464-745604B7F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2CE6F-48F9-8448-8346-202E9AB2E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488CA-8EBC-F55D-9CF9-4DA2D0FB3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B3C2-0692-C647-9264-AC35BE721006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C911A-D2B6-F008-5D7B-6377D266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0A84-5CA0-7950-5068-42DF52E54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806B-6CD8-894A-B354-A5DD705C0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9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A2127-EF79-851D-350D-391281AAD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8F543-059C-17A9-5580-17C175F09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016D2-0B69-AE18-0674-217001AC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B3C2-0692-C647-9264-AC35BE721006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0555C-BE5B-7F62-3906-97113B54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4456C-6A1B-90FD-EBB2-42F96F88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806B-6CD8-894A-B354-A5DD705C0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0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65125"/>
            <a:ext cx="117856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3" name="Edition"/>
          <p:cNvSpPr>
            <a:spLocks noGrp="1"/>
          </p:cNvSpPr>
          <p:nvPr>
            <p:ph sz="quarter" idx="21" hasCustomPrompt="1"/>
          </p:nvPr>
        </p:nvSpPr>
        <p:spPr>
          <a:xfrm>
            <a:off x="203200" y="1828800"/>
            <a:ext cx="117856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2pPr>
            <a:lvl3pPr marL="9144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3pPr>
            <a:lvl4pPr marL="13716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4pPr>
            <a:lvl5pPr marL="18288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/>
              <a:t>Third Edition</a:t>
            </a:r>
          </a:p>
        </p:txBody>
      </p:sp>
      <p:sp>
        <p:nvSpPr>
          <p:cNvPr id="5" name="Author"/>
          <p:cNvSpPr>
            <a:spLocks noGrp="1"/>
          </p:cNvSpPr>
          <p:nvPr>
            <p:ph sz="quarter" idx="22" hasCustomPrompt="1"/>
          </p:nvPr>
        </p:nvSpPr>
        <p:spPr>
          <a:xfrm>
            <a:off x="203200" y="2363724"/>
            <a:ext cx="117856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David Klein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37338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4419600"/>
            <a:ext cx="11785600" cy="228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933925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2286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14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838200"/>
            <a:ext cx="11785600" cy="2209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505200"/>
            <a:ext cx="11785600" cy="1447800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1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5029200"/>
            <a:ext cx="11785600" cy="762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Third Edition</a:t>
            </a:r>
          </a:p>
        </p:txBody>
      </p:sp>
      <p:sp>
        <p:nvSpPr>
          <p:cNvPr id="16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60960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STIX" charset="0"/>
                <a:ea typeface="STIX" charset="0"/>
                <a:cs typeface="STIX" charset="0"/>
              </a:defRPr>
            </a:lvl1pPr>
          </a:lstStyle>
          <a:p>
            <a:pPr lvl="0"/>
            <a:r>
              <a:rPr lang="en-US" dirty="0"/>
              <a:t>David Klein</a:t>
            </a:r>
          </a:p>
        </p:txBody>
      </p:sp>
    </p:spTree>
    <p:extLst>
      <p:ext uri="{BB962C8B-B14F-4D97-AF65-F5344CB8AC3E}">
        <p14:creationId xmlns:p14="http://schemas.microsoft.com/office/powerpoint/2010/main" val="2855106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65125"/>
            <a:ext cx="117856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3" name="Edition"/>
          <p:cNvSpPr>
            <a:spLocks noGrp="1"/>
          </p:cNvSpPr>
          <p:nvPr>
            <p:ph sz="quarter" idx="21" hasCustomPrompt="1"/>
          </p:nvPr>
        </p:nvSpPr>
        <p:spPr>
          <a:xfrm>
            <a:off x="203200" y="1755648"/>
            <a:ext cx="11785600" cy="609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2pPr>
            <a:lvl3pPr marL="9144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3pPr>
            <a:lvl4pPr marL="13716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4pPr>
            <a:lvl5pPr marL="18288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/>
              <a:t>Third Edition</a:t>
            </a:r>
          </a:p>
        </p:txBody>
      </p:sp>
      <p:sp>
        <p:nvSpPr>
          <p:cNvPr id="5" name="Author"/>
          <p:cNvSpPr>
            <a:spLocks noGrp="1"/>
          </p:cNvSpPr>
          <p:nvPr>
            <p:ph sz="quarter" idx="22" hasCustomPrompt="1"/>
          </p:nvPr>
        </p:nvSpPr>
        <p:spPr>
          <a:xfrm>
            <a:off x="203200" y="2363724"/>
            <a:ext cx="117856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David Klein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37338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rgbClr val="007787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4267200"/>
            <a:ext cx="11785600" cy="2438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3" hasCustomPrompt="1"/>
          </p:nvPr>
        </p:nvSpPr>
        <p:spPr>
          <a:xfrm>
            <a:off x="2091891" y="6248400"/>
            <a:ext cx="8779309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Copyright ©2019 John Wiley &amp; Sons, Inc.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4"/>
          </p:nvPr>
        </p:nvSpPr>
        <p:spPr>
          <a:xfrm>
            <a:off x="203200" y="6092825"/>
            <a:ext cx="11785600" cy="273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641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"/>
          <p:cNvSpPr>
            <a:spLocks noGrp="1"/>
          </p:cNvSpPr>
          <p:nvPr>
            <p:ph sz="quarter" idx="15" hasCustomPrompt="1"/>
          </p:nvPr>
        </p:nvSpPr>
        <p:spPr>
          <a:xfrm>
            <a:off x="406400" y="5029200"/>
            <a:ext cx="113792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406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620886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911351"/>
            <a:ext cx="11379200" cy="3946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7293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620886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911351"/>
            <a:ext cx="11379200" cy="3946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31D40-8659-490C-A847-96CF64C152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291113" y="2290576"/>
            <a:ext cx="11379200" cy="390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8288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620886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911351"/>
            <a:ext cx="11379200" cy="19730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31D40-8659-490C-A847-96CF64C152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6400" y="4339741"/>
            <a:ext cx="11379200" cy="390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AC5F648-714F-41B3-B0A9-EFB467D0BFB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400" y="5022851"/>
            <a:ext cx="11379200" cy="606425"/>
          </a:xfrm>
          <a:prstGeom prst="rect">
            <a:avLst/>
          </a:prstGeom>
        </p:spPr>
        <p:txBody>
          <a:bodyPr/>
          <a:lstStyle>
            <a:lvl1pPr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4DD2EA-EA3F-4637-934F-678F8B94664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6400" y="5781676"/>
            <a:ext cx="11379200" cy="606425"/>
          </a:xfrm>
          <a:prstGeom prst="rect">
            <a:avLst/>
          </a:prstGeom>
        </p:spPr>
        <p:txBody>
          <a:bodyPr/>
          <a:lstStyle>
            <a:lvl1pPr>
              <a:buClr>
                <a:srgbClr val="911B21"/>
              </a:buCl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AB0A3D6A-283C-43F3-B8C1-9A067413E002}"/>
              </a:ext>
            </a:extLst>
          </p:cNvPr>
          <p:cNvSpPr txBox="1">
            <a:spLocks/>
          </p:cNvSpPr>
          <p:nvPr userDrawn="1"/>
        </p:nvSpPr>
        <p:spPr>
          <a:xfrm>
            <a:off x="8606769" y="6351500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0241161-D882-4165-B334-2C14A08BB8E0}"/>
              </a:ext>
            </a:extLst>
          </p:cNvPr>
          <p:cNvSpPr txBox="1">
            <a:spLocks/>
          </p:cNvSpPr>
          <p:nvPr userDrawn="1"/>
        </p:nvSpPr>
        <p:spPr>
          <a:xfrm>
            <a:off x="4034769" y="63515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5284749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620886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911351"/>
            <a:ext cx="11379200" cy="3946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lang="en-US" sz="26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 lang="en-US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5805C8-4641-4DD9-8EEE-8E3542D17A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54834" y="4035425"/>
            <a:ext cx="1113367" cy="12906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A1B72CE-EF87-477F-BA79-2E8C1521179A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1154834" y="3125789"/>
            <a:ext cx="912284" cy="6826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4B1DF00-9DC3-492A-B100-4D3272B82A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154834" y="2214564"/>
            <a:ext cx="1037167" cy="6826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776DD1F-6897-4F1A-BC22-7DBC28584A4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6940" y="4768589"/>
            <a:ext cx="11379200" cy="758825"/>
          </a:xfrm>
          <a:prstGeom prst="rect">
            <a:avLst/>
          </a:prstGeom>
        </p:spPr>
        <p:txBody>
          <a:bodyPr/>
          <a:lstStyle>
            <a:lvl1pPr>
              <a:defRPr lang="en-US" sz="26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lang="en-US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8CFB20B-7480-4C5A-8DF1-F11AAD7E560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-1088727" y="5053134"/>
            <a:ext cx="11379200" cy="257175"/>
          </a:xfrm>
          <a:prstGeom prst="rect">
            <a:avLst/>
          </a:prstGeom>
        </p:spPr>
        <p:txBody>
          <a:bodyPr/>
          <a:lstStyle>
            <a:lvl1pPr>
              <a:defRPr lang="en-US" sz="26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lang="en-US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B687367-93D1-4521-BBD6-A0564CA4FC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268201" y="3049589"/>
            <a:ext cx="1113367" cy="9858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9"/>
          </p:nvPr>
        </p:nvSpPr>
        <p:spPr>
          <a:xfrm>
            <a:off x="4779433" y="5857876"/>
            <a:ext cx="3947584" cy="379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04290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152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3429000"/>
            <a:ext cx="11379200" cy="152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400" y="5029200"/>
            <a:ext cx="11379200" cy="99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72BACE4-69FF-4409-99CE-9BCD2C9878D8}"/>
              </a:ext>
            </a:extLst>
          </p:cNvPr>
          <p:cNvSpPr txBox="1">
            <a:spLocks/>
          </p:cNvSpPr>
          <p:nvPr userDrawn="1"/>
        </p:nvSpPr>
        <p:spPr>
          <a:xfrm>
            <a:off x="8610600" y="6363506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77DF617-D7C9-4AAC-ABB4-DFF0A77AE8FF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5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764979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841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973631"/>
            <a:ext cx="11379200" cy="834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400" y="411846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6400" y="4953305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06400" y="5766107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3A17AB6-8208-4636-B70A-4B280921E8E8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D48A4B4-62FA-47D4-A8EC-046A13201B6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851962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1"/>
            <a:ext cx="11379200" cy="6897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518260"/>
            <a:ext cx="11379200" cy="758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400" y="3353105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6400" y="403616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06400" y="479511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Copyright ©2020 John Wiley &amp; Sons, Inc. 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06400" y="555406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3FC7C8C2-8E53-4648-8149-C8D83CA97CE9}"/>
              </a:ext>
            </a:extLst>
          </p:cNvPr>
          <p:cNvSpPr txBox="1">
            <a:spLocks/>
          </p:cNvSpPr>
          <p:nvPr userDrawn="1"/>
        </p:nvSpPr>
        <p:spPr>
          <a:xfrm>
            <a:off x="8610600" y="6363506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7BE712D-A6E6-4E02-9B94-8A539F732706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5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383979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841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973631"/>
            <a:ext cx="11379200" cy="834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400" y="411846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6401" y="4953305"/>
            <a:ext cx="326096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06401" y="5766107"/>
            <a:ext cx="326096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173327" y="4948654"/>
            <a:ext cx="333938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173327" y="5761456"/>
            <a:ext cx="333938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53401" y="4948654"/>
            <a:ext cx="333938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53401" y="5761456"/>
            <a:ext cx="333938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4BE15919-8751-4BE4-AA33-50DF1CCA64E4}"/>
              </a:ext>
            </a:extLst>
          </p:cNvPr>
          <p:cNvSpPr txBox="1">
            <a:spLocks/>
          </p:cNvSpPr>
          <p:nvPr userDrawn="1"/>
        </p:nvSpPr>
        <p:spPr>
          <a:xfrm>
            <a:off x="8610600" y="6363506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35B39872-5D7C-431B-B547-3FC6F0E6034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5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940492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533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375848"/>
            <a:ext cx="11379200" cy="2911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8203" y="2764808"/>
            <a:ext cx="11379200" cy="39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9"/>
          </p:nvPr>
        </p:nvSpPr>
        <p:spPr>
          <a:xfrm>
            <a:off x="406400" y="3298208"/>
            <a:ext cx="113792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0"/>
          </p:nvPr>
        </p:nvSpPr>
        <p:spPr>
          <a:xfrm>
            <a:off x="406400" y="3831608"/>
            <a:ext cx="113792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1"/>
          </p:nvPr>
        </p:nvSpPr>
        <p:spPr>
          <a:xfrm>
            <a:off x="406400" y="4365008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22"/>
          </p:nvPr>
        </p:nvSpPr>
        <p:spPr>
          <a:xfrm>
            <a:off x="406400" y="4822208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cap="none"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23"/>
          </p:nvPr>
        </p:nvSpPr>
        <p:spPr>
          <a:xfrm>
            <a:off x="406400" y="5279408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24"/>
          </p:nvPr>
        </p:nvSpPr>
        <p:spPr>
          <a:xfrm>
            <a:off x="508000" y="5660408"/>
            <a:ext cx="11277600" cy="2286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78EB9964-3E34-4002-B0B3-CA179067C39A}"/>
              </a:ext>
            </a:extLst>
          </p:cNvPr>
          <p:cNvSpPr txBox="1">
            <a:spLocks/>
          </p:cNvSpPr>
          <p:nvPr userDrawn="1"/>
        </p:nvSpPr>
        <p:spPr>
          <a:xfrm>
            <a:off x="8610600" y="6363506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4041617" y="63624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764346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4087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214680"/>
            <a:ext cx="11379200" cy="2911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8203" y="2594155"/>
            <a:ext cx="11379200" cy="39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9"/>
          </p:nvPr>
        </p:nvSpPr>
        <p:spPr>
          <a:xfrm>
            <a:off x="406400" y="3049525"/>
            <a:ext cx="113792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0"/>
          </p:nvPr>
        </p:nvSpPr>
        <p:spPr>
          <a:xfrm>
            <a:off x="406400" y="3504895"/>
            <a:ext cx="113792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1"/>
          </p:nvPr>
        </p:nvSpPr>
        <p:spPr>
          <a:xfrm>
            <a:off x="406400" y="3960265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22"/>
          </p:nvPr>
        </p:nvSpPr>
        <p:spPr>
          <a:xfrm>
            <a:off x="406400" y="4415635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cap="none"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23"/>
          </p:nvPr>
        </p:nvSpPr>
        <p:spPr>
          <a:xfrm>
            <a:off x="406400" y="4871005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24"/>
          </p:nvPr>
        </p:nvSpPr>
        <p:spPr>
          <a:xfrm>
            <a:off x="508000" y="5326375"/>
            <a:ext cx="11277600" cy="2286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E4D1A0-6F20-4C86-8185-E1F69676C220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9684" y="5781745"/>
            <a:ext cx="6475863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8E4D1A0-6F20-4C86-8185-E1F69676C22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85261" y="5764248"/>
            <a:ext cx="6475863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8608993" y="6356362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4036993" y="63563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3091548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6ACF59F-042B-4CE1-AAE4-2FA4499AB366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642CDE9-7E9A-40FF-9BB8-77380C68654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158337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048000" y="4724401"/>
            <a:ext cx="6096000" cy="148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7325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18281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18281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429174" y="3808475"/>
            <a:ext cx="5565633" cy="834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AAD719-5BF0-4C5E-BE8A-5C3956869DF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99200" y="3808414"/>
            <a:ext cx="5463117" cy="835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A815FFC-5DD1-44FE-91D7-17E9AFE9E70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29683" y="4795839"/>
            <a:ext cx="5666317" cy="6823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C82916B-0585-4B7E-9C9B-A7650469BF4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97600" y="4795839"/>
            <a:ext cx="5362840" cy="758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4545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Slid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06400" y="5410202"/>
            <a:ext cx="11379200" cy="38099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6400" y="609602"/>
            <a:ext cx="11379200" cy="47261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406400" y="5791201"/>
            <a:ext cx="11379200" cy="457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610600" y="6356351"/>
            <a:ext cx="3175000" cy="365125"/>
          </a:xfrm>
        </p:spPr>
        <p:txBody>
          <a:bodyPr/>
          <a:lstStyle/>
          <a:p>
            <a:fld id="{43DD970A-8A59-5645-997B-8F1EF84171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157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4D96-C503-4BE0-9F48-7B0E0326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8F8EB2-C64A-42B7-AC64-C10457D98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8BEA2-6D75-4F5A-A26E-60D47B7D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186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/>
          <a:lstStyle/>
          <a:p>
            <a:fld id="{2B5AC2A8-6977-4A77-8AD5-E359006D59E2}" type="datetimeFigureOut">
              <a:rPr lang="en-US" smtClean="0">
                <a:solidFill>
                  <a:srgbClr val="000000"/>
                </a:solidFill>
              </a:rPr>
              <a:pPr/>
              <a:t>4/9/26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7CC89-4820-48AB-AB16-9EDB3A06B7F0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2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CDD0A9-A34B-6D8D-C05B-3347EC766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D524D-AA28-451C-F2DD-707345BD8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E01A6-3CB7-F2EE-A53C-E65E2E3D7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0AB3C2-0692-C647-9264-AC35BE721006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87E13-A7CD-2C2B-D43F-C923D6343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00D31-16E5-246E-98BA-36990A54C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3806B-6CD8-894A-B354-A5DD705C0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6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04800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55396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62001"/>
            <a:ext cx="11379200" cy="83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15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accent1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4000" dirty="0"/>
              <a:t>Introduction to Statistical Investigations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hor"/>
          <p:cNvSpPr>
            <a:spLocks noGrp="1"/>
          </p:cNvSpPr>
          <p:nvPr>
            <p:ph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Edition</a:t>
            </a:r>
          </a:p>
        </p:txBody>
      </p:sp>
      <p:sp>
        <p:nvSpPr>
          <p:cNvPr id="3" name="Edition"/>
          <p:cNvSpPr>
            <a:spLocks noGrp="1"/>
          </p:cNvSpPr>
          <p:nvPr>
            <p:ph sz="quarter" idx="22"/>
          </p:nvPr>
        </p:nvSpPr>
        <p:spPr>
          <a:xfrm>
            <a:off x="1752600" y="2363724"/>
            <a:ext cx="8686800" cy="685800"/>
          </a:xfrm>
          <a:prstGeom prst="rect">
            <a:avLst/>
          </a:prstGeom>
        </p:spPr>
        <p:txBody>
          <a:bodyPr anchor="ctr"/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Tintle, Chance, Cobb, Rossman, Roy, Swanson, VanderStoep</a:t>
            </a:r>
            <a:endParaRPr lang="en-US" sz="26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N"/>
          <p:cNvSpPr>
            <a:spLocks noGrp="1"/>
          </p:cNvSpPr>
          <p:nvPr>
            <p:ph sz="quarter" idx="19"/>
          </p:nvPr>
        </p:nvSpPr>
        <p:spPr>
          <a:xfrm>
            <a:off x="1676400" y="3657600"/>
            <a:ext cx="8839200" cy="533400"/>
          </a:xfrm>
        </p:spPr>
        <p:txBody>
          <a:bodyPr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5</a:t>
            </a:r>
          </a:p>
        </p:txBody>
      </p:sp>
      <p:sp>
        <p:nvSpPr>
          <p:cNvPr id="6" name="CT"/>
          <p:cNvSpPr>
            <a:spLocks noGrp="1"/>
          </p:cNvSpPr>
          <p:nvPr>
            <p:ph sz="quarter" idx="20"/>
          </p:nvPr>
        </p:nvSpPr>
        <p:spPr>
          <a:xfrm>
            <a:off x="1676400" y="4572000"/>
            <a:ext cx="8839200" cy="1437430"/>
          </a:xfrm>
        </p:spPr>
        <p:txBody>
          <a:bodyPr anchor="ctr"/>
          <a:lstStyle/>
          <a:p>
            <a:r>
              <a:rPr lang="en-US" sz="4000" dirty="0"/>
              <a:t>Comparing Two Proportions</a:t>
            </a:r>
          </a:p>
          <a:p>
            <a:r>
              <a:rPr lang="en-US" sz="4000" dirty="0"/>
              <a:t>5.3: Theory-Based Approach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4"/>
          </p:nvPr>
        </p:nvSpPr>
        <p:spPr>
          <a:xfrm>
            <a:off x="1676400" y="6156325"/>
            <a:ext cx="8839200" cy="273050"/>
          </a:xfrm>
        </p:spPr>
        <p:txBody>
          <a:bodyPr/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slide deck contains animations. Please disable animations if they cause issues with your device.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23"/>
          </p:nvPr>
        </p:nvSpPr>
        <p:spPr>
          <a:xfrm>
            <a:off x="2815735" y="6340626"/>
            <a:ext cx="6584482" cy="4572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1200" dirty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Times New Roman" charset="0"/>
                <a:cs typeface="Times New Roman" panose="02020603050405020304" pitchFamily="18" charset="0"/>
              </a:rPr>
              <a:t>Copyright ©2021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1261288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BD5D3-3BD8-B682-06C7-7BF858D8A1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5EB50-161E-9178-4177-3D1BDC1869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C44F-93DD-4509-9DFA-473064D2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A70D3-C5BB-4A0B-AC57-23EAD601927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403225" indent="-403225">
              <a:buClr>
                <a:schemeClr val="accent2"/>
              </a:buClr>
            </a:pPr>
            <a:r>
              <a:rPr lang="en-US" dirty="0"/>
              <a:t>In Exploration Part II, for the murderous nurse, we used the applet to calculate the </a:t>
            </a:r>
            <a:r>
              <a:rPr lang="en-US" b="1" dirty="0"/>
              <a:t>significance</a:t>
            </a:r>
            <a:r>
              <a:rPr lang="en-US" dirty="0"/>
              <a:t> and </a:t>
            </a:r>
            <a:r>
              <a:rPr lang="en-US" b="1" dirty="0"/>
              <a:t>confidence interval </a:t>
            </a:r>
            <a:r>
              <a:rPr lang="en-US" dirty="0"/>
              <a:t>for relative risk and difference of proportions.</a:t>
            </a:r>
          </a:p>
          <a:p>
            <a:pPr marL="403225" indent="-403225">
              <a:buClr>
                <a:schemeClr val="accent2"/>
              </a:buClr>
            </a:pPr>
            <a:r>
              <a:rPr lang="en-US" dirty="0"/>
              <a:t>Here, we will learn equations to compute those ourselves.</a:t>
            </a:r>
          </a:p>
          <a:p>
            <a:pPr marL="403225" indent="-403225">
              <a:buClr>
                <a:schemeClr val="accent2"/>
              </a:buClr>
            </a:pPr>
            <a:r>
              <a:rPr lang="en-US" dirty="0"/>
              <a:t>We will focus on difference of proportions.</a:t>
            </a:r>
          </a:p>
        </p:txBody>
      </p:sp>
    </p:spTree>
    <p:extLst>
      <p:ext uri="{BB962C8B-B14F-4D97-AF65-F5344CB8AC3E}">
        <p14:creationId xmlns:p14="http://schemas.microsoft.com/office/powerpoint/2010/main" val="2916175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506A7-9908-76AE-78FD-ADC4E9FA0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Standardized Statistic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969F5-7C4E-8804-EC4C-BCB1F66D1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1D2AF-356B-E032-9B2E-8FF5B6EB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89A48F-DF7D-262E-D2EF-76533525157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Called a two-sample z-test</a:t>
            </a:r>
          </a:p>
        </p:txBody>
      </p:sp>
      <p:graphicFrame>
        <p:nvGraphicFramePr>
          <p:cNvPr id="6" name="Content Placeholder 7" descr="Z = p hat 1 minus p hat 2, over, square root of, p hat times, 1 minus p hat, times, 1 over n 1 + 1 over n 2.">
            <a:extLst>
              <a:ext uri="{FF2B5EF4-FFF2-40B4-BE49-F238E27FC236}">
                <a16:creationId xmlns:a16="http://schemas.microsoft.com/office/drawing/2014/main" id="{4A10C80F-08CD-1A20-1AC3-09D46584E8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5911293"/>
              </p:ext>
            </p:extLst>
          </p:nvPr>
        </p:nvGraphicFramePr>
        <p:xfrm>
          <a:off x="2953869" y="2483087"/>
          <a:ext cx="6284262" cy="2803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30520" imgH="1574640" progId="Equation.DSMT4">
                  <p:embed/>
                </p:oleObj>
              </mc:Choice>
              <mc:Fallback>
                <p:oleObj name="Equation" r:id="rId2" imgW="3530520" imgH="1574640" progId="Equation.DSMT4">
                  <p:embed/>
                  <p:pic>
                    <p:nvPicPr>
                      <p:cNvPr id="8" name="Content Placeholder 7" descr="Z = p hat 1 minus p hat 2, over, square root of, p hat times, 1 minus p hat, times, 1 over n 1 + 1 over n 2.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3869" y="2483087"/>
                        <a:ext cx="6284262" cy="28030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1740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A8B7-90EC-47DC-32C4-CF5C7643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Eurgh</a:t>
            </a:r>
            <a:r>
              <a:rPr lang="en-US" dirty="0"/>
              <a:t>. Do I have to memorize that?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9E1D9D-F337-13EB-2342-939EF7C50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1DC38-330C-7DCF-76FA-4F176631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C6ED9C-6DF4-034C-9DB6-0AF4E4FB106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sz="7200" dirty="0"/>
              <a:t>Probably not</a:t>
            </a:r>
          </a:p>
          <a:p>
            <a:r>
              <a:rPr lang="en-US" dirty="0"/>
              <a:t>I would give it to you on an exam</a:t>
            </a:r>
          </a:p>
          <a:p>
            <a:r>
              <a:rPr lang="en-US" dirty="0"/>
              <a:t>But you should know how to recognize it and how to decipher it</a:t>
            </a:r>
          </a:p>
        </p:txBody>
      </p:sp>
    </p:spTree>
    <p:extLst>
      <p:ext uri="{BB962C8B-B14F-4D97-AF65-F5344CB8AC3E}">
        <p14:creationId xmlns:p14="http://schemas.microsoft.com/office/powerpoint/2010/main" val="1869796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B940A-45E3-C82E-1D87-72619E19E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969F-5CAC-EC69-ECCA-0D2F49B5D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Deciphering the standardized statistic: numerator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467D6B-12A8-09E4-CA67-427DFC127D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6F94C-B66E-7D30-3FBE-A8C770CA5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86CAE3B-DBC7-66C1-E324-CE8FEB19D99F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𝑜𝑏𝑠𝑒𝑟𝑣𝑒𝑑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𝑠𝑡𝑎𝑡𝑖𝑠𝑡𝑖𝑐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h𝑦𝑝𝑜𝑡h𝑒𝑠𝑖𝑧𝑒𝑑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𝑠𝑡𝑎𝑛𝑑𝑎𝑟𝑑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𝑒𝑟𝑟𝑜𝑟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𝑠𝑡𝑎𝑡𝑖𝑠𝑡𝑖𝑐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What's the hypothesized value for a difference of proportions (#10 on Exploration part I)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86CAE3B-DBC7-66C1-E324-CE8FEB19D9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893" r="-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7" descr="Z = p hat 1 minus p hat 2, over, square root of, p hat times, 1 minus p hat, times, 1 over n 1 + 1 over n 2.">
            <a:extLst>
              <a:ext uri="{FF2B5EF4-FFF2-40B4-BE49-F238E27FC236}">
                <a16:creationId xmlns:a16="http://schemas.microsoft.com/office/drawing/2014/main" id="{D5D176BB-EAB5-D4BB-86C1-40B4F77AD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3599406"/>
              </p:ext>
            </p:extLst>
          </p:nvPr>
        </p:nvGraphicFramePr>
        <p:xfrm>
          <a:off x="3747619" y="3884613"/>
          <a:ext cx="4696762" cy="2094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0520" imgH="1574640" progId="Equation.DSMT4">
                  <p:embed/>
                </p:oleObj>
              </mc:Choice>
              <mc:Fallback>
                <p:oleObj name="Equation" r:id="rId3" imgW="3530520" imgH="1574640" progId="Equation.DSMT4">
                  <p:embed/>
                  <p:pic>
                    <p:nvPicPr>
                      <p:cNvPr id="6" name="Content Placeholder 7" descr="Z = p hat 1 minus p hat 2, over, square root of, p hat times, 1 minus p hat, times, 1 over n 1 + 1 over n 2.">
                        <a:extLst>
                          <a:ext uri="{FF2B5EF4-FFF2-40B4-BE49-F238E27FC236}">
                            <a16:creationId xmlns:a16="http://schemas.microsoft.com/office/drawing/2014/main" id="{8134ACE1-9BAF-D428-C617-989F302885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7619" y="3884613"/>
                        <a:ext cx="4696762" cy="20949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7623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D0733-FA6A-A3DF-B0BB-3A8187256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620886"/>
            <a:ext cx="11611429" cy="838199"/>
          </a:xfrm>
        </p:spPr>
        <p:txBody>
          <a:bodyPr>
            <a:normAutofit/>
          </a:bodyPr>
          <a:lstStyle/>
          <a:p>
            <a:r>
              <a:rPr lang="en-US" dirty="0"/>
              <a:t>Deciphering the standardized statistic: denominator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63CD3B-6182-A709-C007-DD2B9DC4B7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880235A-FB70-44C5-9117-17153BF43CEE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:r>
                  <a:rPr lang="en-US" dirty="0"/>
                  <a:t>Still a square root, that's good, I recognize that.</a:t>
                </a:r>
              </a:p>
              <a:p>
                <a:r>
                  <a:rPr lang="en-US" dirty="0"/>
                  <a:t>What's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Combined proportion of success</a:t>
                </a:r>
              </a:p>
              <a:p>
                <a:r>
                  <a:rPr lang="en-US" dirty="0"/>
                  <a:t>Add the two conditional proportions together: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880235A-FB70-44C5-9117-17153BF43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893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Content Placeholder 7" descr="Z = p hat 1 minus p hat 2, over, square root of, p hat times, 1 minus p hat, times, 1 over n 1 + 1 over n 2.">
            <a:extLst>
              <a:ext uri="{FF2B5EF4-FFF2-40B4-BE49-F238E27FC236}">
                <a16:creationId xmlns:a16="http://schemas.microsoft.com/office/drawing/2014/main" id="{3FF07B36-C63D-1CA5-879C-1AF6861939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316663"/>
              </p:ext>
            </p:extLst>
          </p:nvPr>
        </p:nvGraphicFramePr>
        <p:xfrm>
          <a:off x="8258629" y="1412876"/>
          <a:ext cx="3526971" cy="1573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0520" imgH="1574640" progId="Equation.DSMT4">
                  <p:embed/>
                </p:oleObj>
              </mc:Choice>
              <mc:Fallback>
                <p:oleObj name="Equation" r:id="rId3" imgW="3530520" imgH="1574640" progId="Equation.DSMT4">
                  <p:embed/>
                  <p:pic>
                    <p:nvPicPr>
                      <p:cNvPr id="6" name="Content Placeholder 7" descr="Z = p hat 1 minus p hat 2, over, square root of, p hat times, 1 minus p hat, times, 1 over n 1 + 1 over n 2.">
                        <a:extLst>
                          <a:ext uri="{FF2B5EF4-FFF2-40B4-BE49-F238E27FC236}">
                            <a16:creationId xmlns:a16="http://schemas.microsoft.com/office/drawing/2014/main" id="{D5D176BB-EAB5-D4BB-86C1-40B4F77AD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8629" y="1412876"/>
                        <a:ext cx="3526971" cy="157318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9120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9C319-CA47-A2E3-A29E-650CB50C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BCA2-B7E4-3D7C-9896-095CE8912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620886"/>
            <a:ext cx="11611429" cy="838199"/>
          </a:xfrm>
        </p:spPr>
        <p:txBody>
          <a:bodyPr>
            <a:normAutofit/>
          </a:bodyPr>
          <a:lstStyle/>
          <a:p>
            <a:r>
              <a:rPr lang="en-US" dirty="0"/>
              <a:t>Deciphering the standardized statistic: denominator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7CF7A-30EE-6417-C6FC-3620D5EC77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6636FD8-CF3E-41D3-BB2C-298CB8FD0745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:r>
                  <a:rPr lang="en-US" dirty="0"/>
                  <a:t>We've got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endParaRPr lang="en-US" dirty="0"/>
              </a:p>
              <a:p>
                <a:r>
                  <a:rPr lang="en-US" dirty="0"/>
                  <a:t>Remember the old standard deviation equation?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Remember we replaced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the confidence interval, since we don't know all that information for the population?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6636FD8-CF3E-41D3-BB2C-298CB8FD07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893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oogle Shape;652;p36" descr="P hat + or minus some multiplier times square root of, p hat times, 1 minus p hat, all over n.">
            <a:extLst>
              <a:ext uri="{FF2B5EF4-FFF2-40B4-BE49-F238E27FC236}">
                <a16:creationId xmlns:a16="http://schemas.microsoft.com/office/drawing/2014/main" id="{A288F6FA-629F-78C7-8DBC-D1713BD922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3850" y="5025768"/>
            <a:ext cx="39243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43;p35" descr="Square root of start frac pi left parenthesis one minus pi right parenthesis over n end frac">
            <a:extLst>
              <a:ext uri="{FF2B5EF4-FFF2-40B4-BE49-F238E27FC236}">
                <a16:creationId xmlns:a16="http://schemas.microsoft.com/office/drawing/2014/main" id="{954C8D06-7BC5-32BC-4CD2-7F2014242E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95900" y="2921000"/>
            <a:ext cx="1600200" cy="1016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Content Placeholder 7" descr="Z = p hat 1 minus p hat 2, over, square root of, p hat times, 1 minus p hat, times, 1 over n 1 + 1 over n 2.">
            <a:extLst>
              <a:ext uri="{FF2B5EF4-FFF2-40B4-BE49-F238E27FC236}">
                <a16:creationId xmlns:a16="http://schemas.microsoft.com/office/drawing/2014/main" id="{3D70EED5-E42F-7CA1-BC41-0A6C22DDDD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8629" y="1412876"/>
          <a:ext cx="3526971" cy="1573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30520" imgH="1574640" progId="Equation.DSMT4">
                  <p:embed/>
                </p:oleObj>
              </mc:Choice>
              <mc:Fallback>
                <p:oleObj name="Equation" r:id="rId5" imgW="3530520" imgH="1574640" progId="Equation.DSMT4">
                  <p:embed/>
                  <p:pic>
                    <p:nvPicPr>
                      <p:cNvPr id="8" name="Content Placeholder 7" descr="Z = p hat 1 minus p hat 2, over, square root of, p hat times, 1 minus p hat, times, 1 over n 1 + 1 over n 2.">
                        <a:extLst>
                          <a:ext uri="{FF2B5EF4-FFF2-40B4-BE49-F238E27FC236}">
                            <a16:creationId xmlns:a16="http://schemas.microsoft.com/office/drawing/2014/main" id="{3FF07B36-C63D-1CA5-879C-1AF6861939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8629" y="1412876"/>
                        <a:ext cx="3526971" cy="157318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6631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6A3A7-4FB9-C0B6-A8BB-530D4787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2F519-5817-6CA7-89CE-3CC863DE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620886"/>
            <a:ext cx="11611429" cy="838199"/>
          </a:xfrm>
        </p:spPr>
        <p:txBody>
          <a:bodyPr>
            <a:normAutofit/>
          </a:bodyPr>
          <a:lstStyle/>
          <a:p>
            <a:r>
              <a:rPr lang="en-US" dirty="0"/>
              <a:t>Deciphering the standardized statistic: denominator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92D8E1-5FFF-3ED3-3878-2B70229A5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42B318-FF64-684C-35FC-34AE1C01B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873339F-C6F9-699C-5E00-E2C7C70EBFED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:r>
                  <a:rPr lang="en-US" dirty="0"/>
                  <a:t>We still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dirty="0"/>
                  <a:t>(1-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dirty="0"/>
                  <a:t>) in the numerator of the SD square root.</a:t>
                </a:r>
              </a:p>
              <a:p>
                <a:r>
                  <a:rPr lang="en-US" dirty="0"/>
                  <a:t>We still divide by the sample size</a:t>
                </a:r>
              </a:p>
              <a:p>
                <a:r>
                  <a:rPr lang="en-US" dirty="0"/>
                  <a:t>We just have to add the two sample sizes together in the denominator, since the sample sizes are different.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873339F-C6F9-699C-5E00-E2C7C70EBF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893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Content Placeholder 7" descr="Z = p hat 1 minus p hat 2, over, square root of, p hat times, 1 minus p hat, times, 1 over n 1 + 1 over n 2.">
            <a:extLst>
              <a:ext uri="{FF2B5EF4-FFF2-40B4-BE49-F238E27FC236}">
                <a16:creationId xmlns:a16="http://schemas.microsoft.com/office/drawing/2014/main" id="{EB13FDE7-0D1E-6463-DF65-6E228E9D22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70397"/>
              </p:ext>
            </p:extLst>
          </p:nvPr>
        </p:nvGraphicFramePr>
        <p:xfrm>
          <a:off x="4448627" y="3746986"/>
          <a:ext cx="3526971" cy="1573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0520" imgH="1574640" progId="Equation.DSMT4">
                  <p:embed/>
                </p:oleObj>
              </mc:Choice>
              <mc:Fallback>
                <p:oleObj name="Equation" r:id="rId3" imgW="3530520" imgH="1574640" progId="Equation.DSMT4">
                  <p:embed/>
                  <p:pic>
                    <p:nvPicPr>
                      <p:cNvPr id="8" name="Content Placeholder 7" descr="Z = p hat 1 minus p hat 2, over, square root of, p hat times, 1 minus p hat, times, 1 over n 1 + 1 over n 2.">
                        <a:extLst>
                          <a:ext uri="{FF2B5EF4-FFF2-40B4-BE49-F238E27FC236}">
                            <a16:creationId xmlns:a16="http://schemas.microsoft.com/office/drawing/2014/main" id="{3FF07B36-C63D-1CA5-879C-1AF6861939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8627" y="3746986"/>
                        <a:ext cx="3526971" cy="157318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237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BB594-842D-2612-D55B-EF5E6E239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Confidence Interval?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021C31-079C-662E-C1CC-3CE9476D25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4F58E-5BED-008D-B5DC-E6A23AE52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7D2DE9-DF85-C823-36B9-D69F9A30115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margin of error will be </a:t>
            </a:r>
            <a:r>
              <a:rPr lang="en-US" i="1" dirty="0"/>
              <a:t>slightly</a:t>
            </a:r>
            <a:r>
              <a:rPr lang="en-US" dirty="0"/>
              <a:t> different from the SD.</a:t>
            </a:r>
          </a:p>
          <a:p>
            <a:r>
              <a:rPr lang="en-US" dirty="0"/>
              <a:t>We are trying to estimate the size of the difference between population proportions.</a:t>
            </a:r>
          </a:p>
          <a:p>
            <a:r>
              <a:rPr lang="en-US" dirty="0"/>
              <a:t>We are under the assumption there is a difference!</a:t>
            </a:r>
          </a:p>
          <a:p>
            <a:endParaRPr lang="en-US" dirty="0"/>
          </a:p>
          <a:p>
            <a:r>
              <a:rPr lang="en-US" dirty="0"/>
              <a:t>Rather than in the standardized statistic, where we are assuming the null hypothesis is true.</a:t>
            </a:r>
          </a:p>
        </p:txBody>
      </p:sp>
    </p:spTree>
    <p:extLst>
      <p:ext uri="{BB962C8B-B14F-4D97-AF65-F5344CB8AC3E}">
        <p14:creationId xmlns:p14="http://schemas.microsoft.com/office/powerpoint/2010/main" val="1155481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D8E5F-35C7-DB97-1E55-F429945F9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 now give me the equation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DC67A2-0033-8D7B-3534-7AE301F6BF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98A0C0-594F-A454-71FF-1254BCBF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18C41D-F472-AC08-4FD3-0A9FAFFA437D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𝑀𝑎𝑟𝑔𝑖𝑛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𝑒𝑟𝑟𝑜𝑟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𝑚𝑢𝑙𝑡𝑖𝑝𝑙𝑖𝑒𝑟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standard error (square root bit) s</a:t>
                </a:r>
                <a:r>
                  <a:rPr lang="en-US" b="0" dirty="0"/>
                  <a:t>till has the observed * 1-observed in the numerator</a:t>
                </a:r>
              </a:p>
              <a:p>
                <a:r>
                  <a:rPr lang="en-US" dirty="0"/>
                  <a:t>Still dividing by the sample size in the denominator</a:t>
                </a:r>
                <a:endParaRPr lang="en-US" b="0" dirty="0"/>
              </a:p>
              <a:p>
                <a:r>
                  <a:rPr lang="en-US" b="0" dirty="0"/>
                  <a:t>We're just not combining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dirty="0"/>
                  <a:t> this time</a:t>
                </a:r>
              </a:p>
              <a:p>
                <a:endParaRPr lang="en-US" b="0" dirty="0"/>
              </a:p>
              <a:p>
                <a:r>
                  <a:rPr lang="en-US" dirty="0"/>
                  <a:t>This will also be given to you on an exam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18C41D-F472-AC08-4FD3-0A9FAFFA43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893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703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D5BE-083E-729A-3F0D-A28FA774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do an example: Murderous Nurse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C62E5D-CD24-02D8-35C9-1BF79FC58C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095FF-8F5C-53E4-71B0-221D8EB3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A95A77E-3DD0-15CF-AFFA-36BC15221286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</a:p>
              <a:p>
                <a:r>
                  <a:rPr lang="en-US" dirty="0"/>
                  <a:t>z = 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A95A77E-3DD0-15CF-AFFA-36BC152212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893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7" descr="Z = p hat 1 minus p hat 2, over, square root of, p hat times, 1 minus p hat, times, 1 over n 1 + 1 over n 2.">
            <a:extLst>
              <a:ext uri="{FF2B5EF4-FFF2-40B4-BE49-F238E27FC236}">
                <a16:creationId xmlns:a16="http://schemas.microsoft.com/office/drawing/2014/main" id="{BACA5F71-F53C-82CE-5D93-0799835224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82871"/>
              </p:ext>
            </p:extLst>
          </p:nvPr>
        </p:nvGraphicFramePr>
        <p:xfrm>
          <a:off x="8434614" y="1412876"/>
          <a:ext cx="3526971" cy="1573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0520" imgH="1574640" progId="Equation.DSMT4">
                  <p:embed/>
                </p:oleObj>
              </mc:Choice>
              <mc:Fallback>
                <p:oleObj name="Equation" r:id="rId3" imgW="3530520" imgH="1574640" progId="Equation.DSMT4">
                  <p:embed/>
                  <p:pic>
                    <p:nvPicPr>
                      <p:cNvPr id="8" name="Content Placeholder 7" descr="Z = p hat 1 minus p hat 2, over, square root of, p hat times, 1 minus p hat, times, 1 over n 1 + 1 over n 2.">
                        <a:extLst>
                          <a:ext uri="{FF2B5EF4-FFF2-40B4-BE49-F238E27FC236}">
                            <a16:creationId xmlns:a16="http://schemas.microsoft.com/office/drawing/2014/main" id="{EB13FDE7-0D1E-6463-DF65-6E228E9D22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4614" y="1412876"/>
                        <a:ext cx="3526971" cy="157318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4665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5A17A-DDEE-F52B-7AA5-8E744F24E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EFF11-877F-80DB-69F0-62F96E36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do an example: Murderous Nurse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8F9C7E-959B-0FDB-D091-5F4A7F06DF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E25F76-46CB-5552-738A-E81052AF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548FCE2-9F86-BBB2-AE9B-A110CA512DBC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0.156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257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0.025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 1384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0.131</a:t>
                </a:r>
              </a:p>
              <a:p>
                <a:r>
                  <a:rPr lang="en-US" dirty="0"/>
                  <a:t>z =  (0.156 – 0.025) / sqrt(0.131(0.869)(0.00389+0.0007225)) = 0.131/0.0229 </a:t>
                </a:r>
              </a:p>
              <a:p>
                <a:pPr marL="457200" lvl="1" indent="0">
                  <a:buNone/>
                </a:pPr>
                <a:r>
                  <a:rPr lang="en-US" dirty="0"/>
                  <a:t>= 5.72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548FCE2-9F86-BBB2-AE9B-A110CA512D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893" t="-1603" b="-10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7" descr="Z = p hat 1 minus p hat 2, over, square root of, p hat times, 1 minus p hat, times, 1 over n 1 + 1 over n 2.">
            <a:extLst>
              <a:ext uri="{FF2B5EF4-FFF2-40B4-BE49-F238E27FC236}">
                <a16:creationId xmlns:a16="http://schemas.microsoft.com/office/drawing/2014/main" id="{2189CBB7-617C-DFE6-BBF5-6BE08F1EA3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34614" y="1412876"/>
          <a:ext cx="3526971" cy="1573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0520" imgH="1574640" progId="Equation.DSMT4">
                  <p:embed/>
                </p:oleObj>
              </mc:Choice>
              <mc:Fallback>
                <p:oleObj name="Equation" r:id="rId3" imgW="3530520" imgH="1574640" progId="Equation.DSMT4">
                  <p:embed/>
                  <p:pic>
                    <p:nvPicPr>
                      <p:cNvPr id="6" name="Content Placeholder 7" descr="Z = p hat 1 minus p hat 2, over, square root of, p hat times, 1 minus p hat, times, 1 over n 1 + 1 over n 2.">
                        <a:extLst>
                          <a:ext uri="{FF2B5EF4-FFF2-40B4-BE49-F238E27FC236}">
                            <a16:creationId xmlns:a16="http://schemas.microsoft.com/office/drawing/2014/main" id="{BACA5F71-F53C-82CE-5D93-0799835224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4614" y="1412876"/>
                        <a:ext cx="3526971" cy="157318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7910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866C-C1E6-8C7F-39E6-80BB5613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6ED7-A6E2-975A-FFDA-1EFBCDF65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do an example: Murderous Nurse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B7401D-7365-5FC5-EE15-758E5AC20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5D3AE6-708F-E867-1D55-B1A3F0809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684A2F4-33C5-69EF-299B-124F24586E15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</a:p>
              <a:p>
                <a:r>
                  <a:rPr lang="en-US" dirty="0"/>
                  <a:t>SE =</a:t>
                </a:r>
              </a:p>
              <a:p>
                <a:r>
                  <a:rPr lang="en-US" dirty="0"/>
                  <a:t>Multiplier = 2</a:t>
                </a:r>
              </a:p>
              <a:p>
                <a:r>
                  <a:rPr lang="en-US" dirty="0"/>
                  <a:t>                     =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684A2F4-33C5-69EF-299B-124F24586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893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7" descr="Z = p hat 1 minus p hat 2, over, square root of, p hat times, 1 minus p hat, times, 1 over n 1 + 1 over n 2.">
            <a:extLst>
              <a:ext uri="{FF2B5EF4-FFF2-40B4-BE49-F238E27FC236}">
                <a16:creationId xmlns:a16="http://schemas.microsoft.com/office/drawing/2014/main" id="{08E54B75-B6F5-B589-AEDB-59B8B0E792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34614" y="1412876"/>
          <a:ext cx="3526971" cy="1573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0520" imgH="1574640" progId="Equation.DSMT4">
                  <p:embed/>
                </p:oleObj>
              </mc:Choice>
              <mc:Fallback>
                <p:oleObj name="Equation" r:id="rId3" imgW="3530520" imgH="1574640" progId="Equation.DSMT4">
                  <p:embed/>
                  <p:pic>
                    <p:nvPicPr>
                      <p:cNvPr id="6" name="Content Placeholder 7" descr="Z = p hat 1 minus p hat 2, over, square root of, p hat times, 1 minus p hat, times, 1 over n 1 + 1 over n 2.">
                        <a:extLst>
                          <a:ext uri="{FF2B5EF4-FFF2-40B4-BE49-F238E27FC236}">
                            <a16:creationId xmlns:a16="http://schemas.microsoft.com/office/drawing/2014/main" id="{BACA5F71-F53C-82CE-5D93-0799835224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4614" y="1412876"/>
                        <a:ext cx="3526971" cy="157318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Google Shape;614;p31" descr="p hat plus minus 2sd">
            <a:extLst>
              <a:ext uri="{FF2B5EF4-FFF2-40B4-BE49-F238E27FC236}">
                <a16:creationId xmlns:a16="http://schemas.microsoft.com/office/drawing/2014/main" id="{5F4AAE6C-6AB9-4981-3C29-40884E757F2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146" y="4824136"/>
            <a:ext cx="1270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7F1A9D-BA5D-EFDB-3496-43BD2F0550F5}"/>
              </a:ext>
            </a:extLst>
          </p:cNvPr>
          <p:cNvSpPr txBox="1"/>
          <p:nvPr/>
        </p:nvSpPr>
        <p:spPr>
          <a:xfrm>
            <a:off x="1561753" y="4744730"/>
            <a:ext cx="70159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1D7CD7-82AE-FDDE-D3B8-889D6D23DE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2986058"/>
            <a:ext cx="7772400" cy="134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03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E62C1-365D-3E74-BB91-4457B91F4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FDDD-7B48-5295-E89C-A80E2A63D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do an example: Murderous Nurse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9B6748-1B14-CE28-CFE2-F2D2CB0BA5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AF92C-7C4B-F33E-167B-CE19D5E0F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EF4708E-9BBD-C50B-FCEF-0B0581D80D94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 0.156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.025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  257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 1384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0.131</a:t>
                </a:r>
              </a:p>
              <a:p>
                <a:r>
                  <a:rPr lang="en-US" dirty="0"/>
                  <a:t>SE = </a:t>
                </a:r>
              </a:p>
              <a:p>
                <a:r>
                  <a:rPr lang="en-US" dirty="0"/>
                  <a:t>Multiplier = 2</a:t>
                </a:r>
              </a:p>
              <a:p>
                <a:r>
                  <a:rPr lang="en-US" dirty="0"/>
                  <a:t>                     =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EF4708E-9BBD-C50B-FCEF-0B0581D80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893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7" descr="Z = p hat 1 minus p hat 2, over, square root of, p hat times, 1 minus p hat, times, 1 over n 1 + 1 over n 2.">
            <a:extLst>
              <a:ext uri="{FF2B5EF4-FFF2-40B4-BE49-F238E27FC236}">
                <a16:creationId xmlns:a16="http://schemas.microsoft.com/office/drawing/2014/main" id="{53A89D44-3BD1-3C32-F591-E2F2A9DC74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34614" y="1412876"/>
          <a:ext cx="3526971" cy="1573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0520" imgH="1574640" progId="Equation.DSMT4">
                  <p:embed/>
                </p:oleObj>
              </mc:Choice>
              <mc:Fallback>
                <p:oleObj name="Equation" r:id="rId3" imgW="3530520" imgH="1574640" progId="Equation.DSMT4">
                  <p:embed/>
                  <p:pic>
                    <p:nvPicPr>
                      <p:cNvPr id="6" name="Content Placeholder 7" descr="Z = p hat 1 minus p hat 2, over, square root of, p hat times, 1 minus p hat, times, 1 over n 1 + 1 over n 2.">
                        <a:extLst>
                          <a:ext uri="{FF2B5EF4-FFF2-40B4-BE49-F238E27FC236}">
                            <a16:creationId xmlns:a16="http://schemas.microsoft.com/office/drawing/2014/main" id="{08E54B75-B6F5-B589-AEDB-59B8B0E792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4614" y="1412876"/>
                        <a:ext cx="3526971" cy="157318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Google Shape;614;p31" descr="p hat plus minus 2sd">
            <a:extLst>
              <a:ext uri="{FF2B5EF4-FFF2-40B4-BE49-F238E27FC236}">
                <a16:creationId xmlns:a16="http://schemas.microsoft.com/office/drawing/2014/main" id="{74F662BC-FF9B-5B07-1154-79DC805E2AE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146" y="4824136"/>
            <a:ext cx="1270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938A38-9457-C90E-4FAA-658486189D0D}"/>
              </a:ext>
            </a:extLst>
          </p:cNvPr>
          <p:cNvSpPr txBox="1"/>
          <p:nvPr/>
        </p:nvSpPr>
        <p:spPr>
          <a:xfrm>
            <a:off x="1561753" y="4744730"/>
            <a:ext cx="70159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96970B-DD4E-7819-777C-0446CFADB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2986058"/>
            <a:ext cx="7772400" cy="134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70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0342E-6AEB-BC0F-0BD0-C8AE28197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Validity Conditions: When can you use these equations?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92462A-1585-1B79-AB2C-47760D17A1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CE2930-BDEC-A5D8-2EF0-21DD3CC0C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925408-99B2-4379-6A76-F7E5074DBB5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At least 10 observations in each cell</a:t>
            </a:r>
          </a:p>
          <a:p>
            <a:r>
              <a:rPr lang="en-US" dirty="0"/>
              <a:t>Still abides by our 10 successes and 10 failures rule</a:t>
            </a:r>
          </a:p>
        </p:txBody>
      </p:sp>
    </p:spTree>
    <p:extLst>
      <p:ext uri="{BB962C8B-B14F-4D97-AF65-F5344CB8AC3E}">
        <p14:creationId xmlns:p14="http://schemas.microsoft.com/office/powerpoint/2010/main" val="2092616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pen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mage Slide Mast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694</Words>
  <Application>Microsoft Macintosh PowerPoint</Application>
  <PresentationFormat>Widescreen</PresentationFormat>
  <Paragraphs>116</Paragraphs>
  <Slides>16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Cambria Math</vt:lpstr>
      <vt:lpstr>Courier New</vt:lpstr>
      <vt:lpstr>Source Sans Pro</vt:lpstr>
      <vt:lpstr>STIX</vt:lpstr>
      <vt:lpstr>Times New Roman</vt:lpstr>
      <vt:lpstr>Office Theme</vt:lpstr>
      <vt:lpstr>Opener</vt:lpstr>
      <vt:lpstr>Image Slide Master</vt:lpstr>
      <vt:lpstr>Equation</vt:lpstr>
      <vt:lpstr>Introduction to Statistical Investigations</vt:lpstr>
      <vt:lpstr>PowerPoint Presentation</vt:lpstr>
      <vt:lpstr>Main Idea</vt:lpstr>
      <vt:lpstr>Standardized Statistic</vt:lpstr>
      <vt:lpstr>Eurgh. Do I have to memorize that?</vt:lpstr>
      <vt:lpstr>Deciphering the standardized statistic: numerator</vt:lpstr>
      <vt:lpstr>Deciphering the standardized statistic: denominator</vt:lpstr>
      <vt:lpstr>Deciphering the standardized statistic: denominator</vt:lpstr>
      <vt:lpstr>Deciphering the standardized statistic: denominator</vt:lpstr>
      <vt:lpstr>What about the Confidence Interval?</vt:lpstr>
      <vt:lpstr>Ok now give me the equation</vt:lpstr>
      <vt:lpstr>Let's do an example: Murderous Nurse</vt:lpstr>
      <vt:lpstr>Let's do an example: Murderous Nurse</vt:lpstr>
      <vt:lpstr>Let's do an example: Murderous Nurse</vt:lpstr>
      <vt:lpstr>Let's do an example: Murderous Nurse</vt:lpstr>
      <vt:lpstr>Validity Conditions: When can you use these equations?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R Roscoe</dc:creator>
  <cp:lastModifiedBy>Sarah R Roscoe</cp:lastModifiedBy>
  <cp:revision>3</cp:revision>
  <dcterms:created xsi:type="dcterms:W3CDTF">2026-04-09T15:32:09Z</dcterms:created>
  <dcterms:modified xsi:type="dcterms:W3CDTF">2026-04-09T18:20:25Z</dcterms:modified>
</cp:coreProperties>
</file>