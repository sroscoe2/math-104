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64" r:id="rId2"/>
  </p:sldMasterIdLst>
  <p:notesMasterIdLst>
    <p:notesMasterId r:id="rId23"/>
  </p:notesMasterIdLst>
  <p:sldIdLst>
    <p:sldId id="436" r:id="rId3"/>
    <p:sldId id="656" r:id="rId4"/>
    <p:sldId id="657" r:id="rId5"/>
    <p:sldId id="658" r:id="rId6"/>
    <p:sldId id="659" r:id="rId7"/>
    <p:sldId id="660" r:id="rId8"/>
    <p:sldId id="662" r:id="rId9"/>
    <p:sldId id="661" r:id="rId10"/>
    <p:sldId id="674" r:id="rId11"/>
    <p:sldId id="666" r:id="rId12"/>
    <p:sldId id="667" r:id="rId13"/>
    <p:sldId id="676" r:id="rId14"/>
    <p:sldId id="677" r:id="rId15"/>
    <p:sldId id="678" r:id="rId16"/>
    <p:sldId id="663" r:id="rId17"/>
    <p:sldId id="664" r:id="rId18"/>
    <p:sldId id="665" r:id="rId19"/>
    <p:sldId id="679" r:id="rId20"/>
    <p:sldId id="669" r:id="rId21"/>
    <p:sldId id="6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19"/>
  </p:normalViewPr>
  <p:slideViewPr>
    <p:cSldViewPr snapToGrid="0">
      <p:cViewPr varScale="1">
        <p:scale>
          <a:sx n="148" d="100"/>
          <a:sy n="148" d="100"/>
        </p:scale>
        <p:origin x="10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BBF00-FFF0-0540-BF89-9F4235D7E059}"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2DCCC2-B017-9B41-90AC-D9B2AFFAA0B9}" type="slidenum">
              <a:rPr lang="en-US" smtClean="0"/>
              <a:t>‹#›</a:t>
            </a:fld>
            <a:endParaRPr lang="en-US"/>
          </a:p>
        </p:txBody>
      </p:sp>
    </p:spTree>
    <p:extLst>
      <p:ext uri="{BB962C8B-B14F-4D97-AF65-F5344CB8AC3E}">
        <p14:creationId xmlns:p14="http://schemas.microsoft.com/office/powerpoint/2010/main" val="498875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073E54-D085-4E2E-B9A5-A53D7E51940E}"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8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2DCCC2-B017-9B41-90AC-D9B2AFFAA0B9}" type="slidenum">
              <a:rPr lang="en-US" smtClean="0"/>
              <a:t>2</a:t>
            </a:fld>
            <a:endParaRPr lang="en-US"/>
          </a:p>
        </p:txBody>
      </p:sp>
    </p:spTree>
    <p:extLst>
      <p:ext uri="{BB962C8B-B14F-4D97-AF65-F5344CB8AC3E}">
        <p14:creationId xmlns:p14="http://schemas.microsoft.com/office/powerpoint/2010/main" val="185170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2DCCC2-B017-9B41-90AC-D9B2AFFAA0B9}" type="slidenum">
              <a:rPr lang="en-US" smtClean="0"/>
              <a:t>10</a:t>
            </a:fld>
            <a:endParaRPr lang="en-US"/>
          </a:p>
        </p:txBody>
      </p:sp>
    </p:spTree>
    <p:extLst>
      <p:ext uri="{BB962C8B-B14F-4D97-AF65-F5344CB8AC3E}">
        <p14:creationId xmlns:p14="http://schemas.microsoft.com/office/powerpoint/2010/main" val="3110690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2DCCC2-B017-9B41-90AC-D9B2AFFAA0B9}" type="slidenum">
              <a:rPr lang="en-US" smtClean="0"/>
              <a:t>11</a:t>
            </a:fld>
            <a:endParaRPr lang="en-US"/>
          </a:p>
        </p:txBody>
      </p:sp>
    </p:spTree>
    <p:extLst>
      <p:ext uri="{BB962C8B-B14F-4D97-AF65-F5344CB8AC3E}">
        <p14:creationId xmlns:p14="http://schemas.microsoft.com/office/powerpoint/2010/main" val="2165348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2DCCC2-B017-9B41-90AC-D9B2AFFAA0B9}" type="slidenum">
              <a:rPr lang="en-US" smtClean="0"/>
              <a:t>15</a:t>
            </a:fld>
            <a:endParaRPr lang="en-US"/>
          </a:p>
        </p:txBody>
      </p:sp>
    </p:spTree>
    <p:extLst>
      <p:ext uri="{BB962C8B-B14F-4D97-AF65-F5344CB8AC3E}">
        <p14:creationId xmlns:p14="http://schemas.microsoft.com/office/powerpoint/2010/main" val="797990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2DCCC2-B017-9B41-90AC-D9B2AFFAA0B9}" type="slidenum">
              <a:rPr lang="en-US" smtClean="0"/>
              <a:t>19</a:t>
            </a:fld>
            <a:endParaRPr lang="en-US"/>
          </a:p>
        </p:txBody>
      </p:sp>
    </p:spTree>
    <p:extLst>
      <p:ext uri="{BB962C8B-B14F-4D97-AF65-F5344CB8AC3E}">
        <p14:creationId xmlns:p14="http://schemas.microsoft.com/office/powerpoint/2010/main" val="1485223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5"/>
            <a:ext cx="117856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203200" y="1828800"/>
            <a:ext cx="11785600" cy="4572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203200" y="2363724"/>
            <a:ext cx="117856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203200" y="4419600"/>
            <a:ext cx="11785600" cy="22860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2786903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203200" y="228600"/>
            <a:ext cx="117856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14" name="CT"/>
          <p:cNvSpPr>
            <a:spLocks noGrp="1"/>
          </p:cNvSpPr>
          <p:nvPr>
            <p:ph sz="quarter" idx="20" hasCustomPrompt="1"/>
          </p:nvPr>
        </p:nvSpPr>
        <p:spPr>
          <a:xfrm>
            <a:off x="203200" y="838200"/>
            <a:ext cx="11785600" cy="22098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203200" y="3505200"/>
            <a:ext cx="11785600" cy="1447800"/>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15" name="Edition"/>
          <p:cNvSpPr>
            <a:spLocks noGrp="1"/>
          </p:cNvSpPr>
          <p:nvPr>
            <p:ph sz="quarter" idx="17" hasCustomPrompt="1"/>
          </p:nvPr>
        </p:nvSpPr>
        <p:spPr>
          <a:xfrm>
            <a:off x="203200" y="5029200"/>
            <a:ext cx="11785600" cy="762000"/>
          </a:xfrm>
          <a:prstGeom prst="rect">
            <a:avLst/>
          </a:prstGeom>
        </p:spPr>
        <p:txBody>
          <a:bodyPr/>
          <a:lstStyle>
            <a:lvl1pPr marL="0" indent="0" algn="ctr">
              <a:buNone/>
              <a:defRPr sz="2900" b="1" i="0" baseline="0">
                <a:latin typeface="Times New Roman" charset="0"/>
                <a:ea typeface="Times New Roman" charset="0"/>
                <a:cs typeface="Times New Roman" charset="0"/>
              </a:defRPr>
            </a:lvl1pPr>
          </a:lstStyle>
          <a:p>
            <a:pPr lvl="0"/>
            <a:r>
              <a:rPr lang="en-US" dirty="0"/>
              <a:t>Third Edition</a:t>
            </a:r>
          </a:p>
        </p:txBody>
      </p:sp>
      <p:sp>
        <p:nvSpPr>
          <p:cNvPr id="16" name="Author"/>
          <p:cNvSpPr>
            <a:spLocks noGrp="1"/>
          </p:cNvSpPr>
          <p:nvPr>
            <p:ph sz="quarter" idx="18" hasCustomPrompt="1"/>
          </p:nvPr>
        </p:nvSpPr>
        <p:spPr>
          <a:xfrm>
            <a:off x="203200" y="6096000"/>
            <a:ext cx="11785600" cy="533400"/>
          </a:xfrm>
          <a:prstGeom prst="rect">
            <a:avLst/>
          </a:prstGeom>
        </p:spPr>
        <p:txBody>
          <a:bodyPr/>
          <a:lstStyle>
            <a:lvl1pPr marL="0" indent="0" algn="ctr">
              <a:buNone/>
              <a:defRPr b="0" i="0" baseline="0">
                <a:solidFill>
                  <a:schemeClr val="accent2"/>
                </a:solidFill>
                <a:latin typeface="STIX" charset="0"/>
                <a:ea typeface="STIX" charset="0"/>
                <a:cs typeface="STIX" charset="0"/>
              </a:defRPr>
            </a:lvl1pPr>
          </a:lstStyle>
          <a:p>
            <a:pPr lvl="0"/>
            <a:r>
              <a:rPr lang="en-US" dirty="0"/>
              <a:t>David Klein</a:t>
            </a:r>
          </a:p>
        </p:txBody>
      </p:sp>
    </p:spTree>
    <p:extLst>
      <p:ext uri="{BB962C8B-B14F-4D97-AF65-F5344CB8AC3E}">
        <p14:creationId xmlns:p14="http://schemas.microsoft.com/office/powerpoint/2010/main" val="328834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5"/>
            <a:ext cx="117856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203200" y="1755648"/>
            <a:ext cx="117856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203200" y="2363724"/>
            <a:ext cx="117856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203200" y="4267200"/>
            <a:ext cx="117856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2091891" y="6248400"/>
            <a:ext cx="8779309"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203200" y="6092825"/>
            <a:ext cx="117856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784168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11" name="Content Placeholder 10"/>
          <p:cNvSpPr>
            <a:spLocks noGrp="1"/>
          </p:cNvSpPr>
          <p:nvPr>
            <p:ph sz="quarter" idx="16"/>
          </p:nvPr>
        </p:nvSpPr>
        <p:spPr>
          <a:xfrm>
            <a:off x="406400" y="1752600"/>
            <a:ext cx="11379200" cy="32766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cNvSpPr>
            <a:spLocks noGrp="1"/>
          </p:cNvSpPr>
          <p:nvPr>
            <p:ph sz="quarter" idx="15" hasCustomPrompt="1"/>
          </p:nvPr>
        </p:nvSpPr>
        <p:spPr>
          <a:xfrm>
            <a:off x="406400" y="5029200"/>
            <a:ext cx="11379200" cy="1143000"/>
          </a:xfrm>
          <a:prstGeom prst="rect">
            <a:avLst/>
          </a:prstGeom>
        </p:spPr>
        <p:txBody>
          <a:bodyPr/>
          <a:lstStyle>
            <a:lvl1pPr marL="0" indent="0">
              <a:spcBef>
                <a:spcPts val="1000"/>
              </a:spcBef>
              <a:buFont typeface="Arial" charset="0"/>
              <a:buNone/>
              <a:defRPr sz="2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2965414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1086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1291113" y="2290576"/>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75785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9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1973020"/>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406400" y="4339741"/>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0AC5F648-714F-41B3-B0A9-EFB467D0BFB2}"/>
              </a:ext>
            </a:extLst>
          </p:cNvPr>
          <p:cNvSpPr>
            <a:spLocks noGrp="1"/>
          </p:cNvSpPr>
          <p:nvPr>
            <p:ph sz="quarter" idx="14"/>
          </p:nvPr>
        </p:nvSpPr>
        <p:spPr>
          <a:xfrm>
            <a:off x="406400" y="5022851"/>
            <a:ext cx="11379200" cy="606425"/>
          </a:xfrm>
          <a:prstGeom prst="rect">
            <a:avLst/>
          </a:prstGeom>
        </p:spPr>
        <p:txBody>
          <a:bodyPr/>
          <a:lstStyle>
            <a:lvl1pPr>
              <a:buClr>
                <a:srgbClr val="911B21"/>
              </a:buClr>
              <a:defRPr sz="2600">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D94DD2EA-EA3F-4637-934F-678F8B946642}"/>
              </a:ext>
            </a:extLst>
          </p:cNvPr>
          <p:cNvSpPr>
            <a:spLocks noGrp="1"/>
          </p:cNvSpPr>
          <p:nvPr>
            <p:ph sz="quarter" idx="15"/>
          </p:nvPr>
        </p:nvSpPr>
        <p:spPr>
          <a:xfrm>
            <a:off x="406400" y="5781676"/>
            <a:ext cx="11379200" cy="606425"/>
          </a:xfrm>
          <a:prstGeom prst="rect">
            <a:avLst/>
          </a:prstGeom>
        </p:spPr>
        <p:txBody>
          <a:bodyPr/>
          <a:lstStyle>
            <a:lvl1pPr>
              <a:buClr>
                <a:srgbClr val="911B21"/>
              </a:buClr>
              <a:defRPr>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a:extLst>
              <a:ext uri="{FF2B5EF4-FFF2-40B4-BE49-F238E27FC236}">
                <a16:creationId xmlns:a16="http://schemas.microsoft.com/office/drawing/2014/main" id="{AB0A3D6A-283C-43F3-B8C1-9A067413E002}"/>
              </a:ext>
            </a:extLst>
          </p:cNvPr>
          <p:cNvSpPr txBox="1">
            <a:spLocks/>
          </p:cNvSpPr>
          <p:nvPr userDrawn="1"/>
        </p:nvSpPr>
        <p:spPr>
          <a:xfrm>
            <a:off x="8606769" y="6351500"/>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4" name="Footer Placeholder 4">
            <a:extLst>
              <a:ext uri="{FF2B5EF4-FFF2-40B4-BE49-F238E27FC236}">
                <a16:creationId xmlns:a16="http://schemas.microsoft.com/office/drawing/2014/main" id="{C0241161-D882-4165-B334-2C14A08BB8E0}"/>
              </a:ext>
            </a:extLst>
          </p:cNvPr>
          <p:cNvSpPr txBox="1">
            <a:spLocks/>
          </p:cNvSpPr>
          <p:nvPr userDrawn="1"/>
        </p:nvSpPr>
        <p:spPr>
          <a:xfrm>
            <a:off x="4034769" y="635150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3349638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lang="en-US" sz="2600" smtClean="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lang="en-US" smtClean="0">
                <a:latin typeface="Times New Roman" panose="02020603050405020304" pitchFamily="18" charset="0"/>
                <a:cs typeface="Times New Roman" panose="02020603050405020304" pitchFamily="18" charset="0"/>
              </a:defRPr>
            </a:lvl2pPr>
            <a:lvl3pPr>
              <a:lnSpc>
                <a:spcPct val="100000"/>
              </a:lnSpc>
              <a:spcBef>
                <a:spcPts val="624"/>
              </a:spcBef>
              <a:defRPr lang="en-US" smtClean="0">
                <a:latin typeface="Times New Roman" panose="02020603050405020304" pitchFamily="18" charset="0"/>
                <a:cs typeface="Times New Roman" panose="02020603050405020304" pitchFamily="18" charset="0"/>
              </a:defRPr>
            </a:lvl3pPr>
            <a:lvl4pPr>
              <a:lnSpc>
                <a:spcPct val="100000"/>
              </a:lnSpc>
              <a:spcBef>
                <a:spcPts val="624"/>
              </a:spcBef>
              <a:defRPr lang="en-US" smtClean="0">
                <a:latin typeface="Times New Roman" panose="02020603050405020304" pitchFamily="18" charset="0"/>
                <a:cs typeface="Times New Roman" panose="02020603050405020304" pitchFamily="18" charset="0"/>
              </a:defRPr>
            </a:lvl4pPr>
            <a:lvl5pPr>
              <a:lnSpc>
                <a:spcPct val="100000"/>
              </a:lnSpc>
              <a:spcBef>
                <a:spcPts val="624"/>
              </a:spcBef>
              <a:defRPr lang="en-US">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CE5805C8-4641-4DD9-8EEE-8E3542D17AA8}"/>
              </a:ext>
            </a:extLst>
          </p:cNvPr>
          <p:cNvSpPr>
            <a:spLocks noGrp="1"/>
          </p:cNvSpPr>
          <p:nvPr>
            <p:ph type="pic" sz="quarter" idx="13"/>
          </p:nvPr>
        </p:nvSpPr>
        <p:spPr>
          <a:xfrm>
            <a:off x="11154834" y="4035425"/>
            <a:ext cx="1113367" cy="1290638"/>
          </a:xfrm>
          <a:prstGeom prst="rect">
            <a:avLst/>
          </a:prstGeom>
        </p:spPr>
        <p:txBody>
          <a:bodyPr/>
          <a:lstStyle/>
          <a:p>
            <a:endParaRPr lang="en-US"/>
          </a:p>
        </p:txBody>
      </p:sp>
      <p:sp>
        <p:nvSpPr>
          <p:cNvPr id="4" name="Table Placeholder 3">
            <a:extLst>
              <a:ext uri="{FF2B5EF4-FFF2-40B4-BE49-F238E27FC236}">
                <a16:creationId xmlns:a16="http://schemas.microsoft.com/office/drawing/2014/main" id="{9A1B72CE-EF87-477F-BA79-2E8C1521179A}"/>
              </a:ext>
            </a:extLst>
          </p:cNvPr>
          <p:cNvSpPr>
            <a:spLocks noGrp="1"/>
          </p:cNvSpPr>
          <p:nvPr>
            <p:ph type="tbl" sz="quarter" idx="14"/>
          </p:nvPr>
        </p:nvSpPr>
        <p:spPr>
          <a:xfrm>
            <a:off x="11154834" y="3125789"/>
            <a:ext cx="912284" cy="682625"/>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C4B1DF00-9DC3-492A-B100-4D3272B82AD0}"/>
              </a:ext>
            </a:extLst>
          </p:cNvPr>
          <p:cNvSpPr>
            <a:spLocks noGrp="1"/>
          </p:cNvSpPr>
          <p:nvPr>
            <p:ph type="pic" sz="quarter" idx="15"/>
          </p:nvPr>
        </p:nvSpPr>
        <p:spPr>
          <a:xfrm>
            <a:off x="11154834" y="2214564"/>
            <a:ext cx="1037167" cy="6826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7776DD1F-6897-4F1A-BC22-7DBC28584A42}"/>
              </a:ext>
            </a:extLst>
          </p:cNvPr>
          <p:cNvSpPr>
            <a:spLocks noGrp="1"/>
          </p:cNvSpPr>
          <p:nvPr>
            <p:ph sz="quarter" idx="16"/>
          </p:nvPr>
        </p:nvSpPr>
        <p:spPr>
          <a:xfrm>
            <a:off x="366940" y="4768589"/>
            <a:ext cx="11379200" cy="75882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14" name="Content Placeholder 13">
            <a:extLst>
              <a:ext uri="{FF2B5EF4-FFF2-40B4-BE49-F238E27FC236}">
                <a16:creationId xmlns:a16="http://schemas.microsoft.com/office/drawing/2014/main" id="{98CFB20B-7480-4C5A-8DF1-F11AAD7E5605}"/>
              </a:ext>
            </a:extLst>
          </p:cNvPr>
          <p:cNvSpPr>
            <a:spLocks noGrp="1"/>
          </p:cNvSpPr>
          <p:nvPr>
            <p:ph sz="quarter" idx="17"/>
          </p:nvPr>
        </p:nvSpPr>
        <p:spPr>
          <a:xfrm>
            <a:off x="-1088727" y="5053134"/>
            <a:ext cx="11379200" cy="25717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5" name="Picture Placeholder 4">
            <a:extLst>
              <a:ext uri="{FF2B5EF4-FFF2-40B4-BE49-F238E27FC236}">
                <a16:creationId xmlns:a16="http://schemas.microsoft.com/office/drawing/2014/main" id="{EB687367-93D1-4521-BBD6-A0564CA4FC64}"/>
              </a:ext>
            </a:extLst>
          </p:cNvPr>
          <p:cNvSpPr>
            <a:spLocks noGrp="1"/>
          </p:cNvSpPr>
          <p:nvPr>
            <p:ph type="pic" sz="quarter" idx="18"/>
          </p:nvPr>
        </p:nvSpPr>
        <p:spPr>
          <a:xfrm>
            <a:off x="12268201" y="3049589"/>
            <a:ext cx="1113367" cy="985837"/>
          </a:xfrm>
          <a:prstGeom prst="rect">
            <a:avLst/>
          </a:prstGeom>
        </p:spPr>
        <p:txBody>
          <a:bodyPr/>
          <a:lstStyle/>
          <a:p>
            <a:endParaRPr lang="en-US"/>
          </a:p>
        </p:txBody>
      </p:sp>
    </p:spTree>
    <p:extLst>
      <p:ext uri="{BB962C8B-B14F-4D97-AF65-F5344CB8AC3E}">
        <p14:creationId xmlns:p14="http://schemas.microsoft.com/office/powerpoint/2010/main" val="3894823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1524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3429000"/>
            <a:ext cx="11379200" cy="15240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5029200"/>
            <a:ext cx="11379200" cy="9906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Slide Number Placeholder 3">
            <a:extLst>
              <a:ext uri="{FF2B5EF4-FFF2-40B4-BE49-F238E27FC236}">
                <a16:creationId xmlns:a16="http://schemas.microsoft.com/office/drawing/2014/main" id="{A72BACE4-69FF-4409-99CE-9BCD2C9878D8}"/>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0" name="Footer Placeholder 4">
            <a:extLst>
              <a:ext uri="{FF2B5EF4-FFF2-40B4-BE49-F238E27FC236}">
                <a16:creationId xmlns:a16="http://schemas.microsoft.com/office/drawing/2014/main" id="{277DF617-D7C9-4AAC-ABB4-DFF0A77AE8FF}"/>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45476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9533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5766107"/>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Slide Number Placeholder 3">
            <a:extLst>
              <a:ext uri="{FF2B5EF4-FFF2-40B4-BE49-F238E27FC236}">
                <a16:creationId xmlns:a16="http://schemas.microsoft.com/office/drawing/2014/main" id="{C3A17AB6-8208-4636-B70A-4B280921E8E8}"/>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2" name="Footer Placeholder 4">
            <a:extLst>
              <a:ext uri="{FF2B5EF4-FFF2-40B4-BE49-F238E27FC236}">
                <a16:creationId xmlns:a16="http://schemas.microsoft.com/office/drawing/2014/main" id="{9D48A4B4-62FA-47D4-A8EC-046A13201B68}"/>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7719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1"/>
            <a:ext cx="11379200" cy="68976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518260"/>
            <a:ext cx="11379200" cy="75895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33531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0361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479511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06400" y="55540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Slide Number Placeholder 3">
            <a:extLst>
              <a:ext uri="{FF2B5EF4-FFF2-40B4-BE49-F238E27FC236}">
                <a16:creationId xmlns:a16="http://schemas.microsoft.com/office/drawing/2014/main" id="{3FC7C8C2-8E53-4648-8149-C8D83CA97CE9}"/>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3" name="Footer Placeholder 4">
            <a:extLst>
              <a:ext uri="{FF2B5EF4-FFF2-40B4-BE49-F238E27FC236}">
                <a16:creationId xmlns:a16="http://schemas.microsoft.com/office/drawing/2014/main" id="{37BE712D-A6E6-4E02-9B94-8A539F732706}"/>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894697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1" y="4953305"/>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1" y="5766107"/>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173327"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Content Placeholder 8">
            <a:extLst>
              <a:ext uri="{FF2B5EF4-FFF2-40B4-BE49-F238E27FC236}">
                <a16:creationId xmlns:a16="http://schemas.microsoft.com/office/drawing/2014/main" id="{F641CCC3-3BAF-49BA-81A2-3696342DF5C5}"/>
              </a:ext>
            </a:extLst>
          </p:cNvPr>
          <p:cNvSpPr>
            <a:spLocks noGrp="1"/>
          </p:cNvSpPr>
          <p:nvPr>
            <p:ph sz="quarter" idx="22"/>
          </p:nvPr>
        </p:nvSpPr>
        <p:spPr>
          <a:xfrm>
            <a:off x="4173327"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8">
            <a:extLst>
              <a:ext uri="{FF2B5EF4-FFF2-40B4-BE49-F238E27FC236}">
                <a16:creationId xmlns:a16="http://schemas.microsoft.com/office/drawing/2014/main" id="{F641CCC3-3BAF-49BA-81A2-3696342DF5C5}"/>
              </a:ext>
            </a:extLst>
          </p:cNvPr>
          <p:cNvSpPr>
            <a:spLocks noGrp="1"/>
          </p:cNvSpPr>
          <p:nvPr>
            <p:ph sz="quarter" idx="23"/>
          </p:nvPr>
        </p:nvSpPr>
        <p:spPr>
          <a:xfrm>
            <a:off x="8153401"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4" name="Content Placeholder 8">
            <a:extLst>
              <a:ext uri="{FF2B5EF4-FFF2-40B4-BE49-F238E27FC236}">
                <a16:creationId xmlns:a16="http://schemas.microsoft.com/office/drawing/2014/main" id="{F641CCC3-3BAF-49BA-81A2-3696342DF5C5}"/>
              </a:ext>
            </a:extLst>
          </p:cNvPr>
          <p:cNvSpPr>
            <a:spLocks noGrp="1"/>
          </p:cNvSpPr>
          <p:nvPr>
            <p:ph sz="quarter" idx="24"/>
          </p:nvPr>
        </p:nvSpPr>
        <p:spPr>
          <a:xfrm>
            <a:off x="8153401"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4BE15919-8751-4BE4-AA33-50DF1CCA64E4}"/>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6" name="Footer Placeholder 4">
            <a:extLst>
              <a:ext uri="{FF2B5EF4-FFF2-40B4-BE49-F238E27FC236}">
                <a16:creationId xmlns:a16="http://schemas.microsoft.com/office/drawing/2014/main" id="{35B39872-5D7C-431B-B547-3FC6F0E6034C}"/>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41150238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533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375848"/>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764808"/>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2982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8316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4365008"/>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822208"/>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5279408"/>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660408"/>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78EB9964-3E34-4002-B0B3-CA179067C39A}"/>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7" name="Footer Placeholder 4">
            <a:extLst>
              <a:ext uri="{FF2B5EF4-FFF2-40B4-BE49-F238E27FC236}">
                <a16:creationId xmlns:a16="http://schemas.microsoft.com/office/drawing/2014/main" id="{6F53CD61-F10A-4FD0-B019-99E2468A5F8E}"/>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6082373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408709"/>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214680"/>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594155"/>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04952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50489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3960265"/>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415635"/>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4871005"/>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326375"/>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8" name="Content Placeholder 7">
            <a:extLst>
              <a:ext uri="{FF2B5EF4-FFF2-40B4-BE49-F238E27FC236}">
                <a16:creationId xmlns:a16="http://schemas.microsoft.com/office/drawing/2014/main" id="{58E4D1A0-6F20-4C86-8185-E1F69676C220}"/>
              </a:ext>
            </a:extLst>
          </p:cNvPr>
          <p:cNvSpPr>
            <a:spLocks noGrp="1"/>
          </p:cNvSpPr>
          <p:nvPr>
            <p:ph sz="quarter" idx="25"/>
          </p:nvPr>
        </p:nvSpPr>
        <p:spPr>
          <a:xfrm>
            <a:off x="429684" y="5781745"/>
            <a:ext cx="6475863" cy="304800"/>
          </a:xfrm>
          <a:prstGeom prst="rect">
            <a:avLst/>
          </a:prstGeom>
        </p:spPr>
        <p:txBody>
          <a:bodyPr/>
          <a:lstStyle>
            <a:lvl1pPr marL="0" indent="0">
              <a:buNone/>
              <a:defRPr/>
            </a:lvl1pPr>
          </a:lstStyle>
          <a:p>
            <a:pPr lvl="0"/>
            <a:endParaRPr lang="en-US" dirty="0"/>
          </a:p>
        </p:txBody>
      </p:sp>
      <p:sp>
        <p:nvSpPr>
          <p:cNvPr id="15" name="Content Placeholder 7">
            <a:extLst>
              <a:ext uri="{FF2B5EF4-FFF2-40B4-BE49-F238E27FC236}">
                <a16:creationId xmlns:a16="http://schemas.microsoft.com/office/drawing/2014/main" id="{58E4D1A0-6F20-4C86-8185-E1F69676C220}"/>
              </a:ext>
            </a:extLst>
          </p:cNvPr>
          <p:cNvSpPr>
            <a:spLocks noGrp="1"/>
          </p:cNvSpPr>
          <p:nvPr>
            <p:ph sz="quarter" idx="26"/>
          </p:nvPr>
        </p:nvSpPr>
        <p:spPr>
          <a:xfrm>
            <a:off x="5185261" y="5764248"/>
            <a:ext cx="6475863" cy="30480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27906192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46ACF59F-042B-4CE1-AAE4-2FA4499AB366}"/>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7642CDE9-7E9A-40FF-9BB8-77380C68654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3928852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3048000" y="4724401"/>
            <a:ext cx="6096000" cy="148907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Tree>
    <p:extLst>
      <p:ext uri="{BB962C8B-B14F-4D97-AF65-F5344CB8AC3E}">
        <p14:creationId xmlns:p14="http://schemas.microsoft.com/office/powerpoint/2010/main" val="1621820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429174" y="3808475"/>
            <a:ext cx="5565633" cy="83484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8" name="Content Placeholder 7">
            <a:extLst>
              <a:ext uri="{FF2B5EF4-FFF2-40B4-BE49-F238E27FC236}">
                <a16:creationId xmlns:a16="http://schemas.microsoft.com/office/drawing/2014/main" id="{ECAAD719-5BF0-4C5E-BE8A-5C3956869DF9}"/>
              </a:ext>
            </a:extLst>
          </p:cNvPr>
          <p:cNvSpPr>
            <a:spLocks noGrp="1"/>
          </p:cNvSpPr>
          <p:nvPr>
            <p:ph sz="quarter" idx="19"/>
          </p:nvPr>
        </p:nvSpPr>
        <p:spPr>
          <a:xfrm>
            <a:off x="6299200" y="3808414"/>
            <a:ext cx="5463117" cy="83502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10">
            <a:extLst>
              <a:ext uri="{FF2B5EF4-FFF2-40B4-BE49-F238E27FC236}">
                <a16:creationId xmlns:a16="http://schemas.microsoft.com/office/drawing/2014/main" id="{DA815FFC-5DD1-44FE-91D7-17E9AFE9E701}"/>
              </a:ext>
            </a:extLst>
          </p:cNvPr>
          <p:cNvSpPr>
            <a:spLocks noGrp="1"/>
          </p:cNvSpPr>
          <p:nvPr>
            <p:ph sz="quarter" idx="20"/>
          </p:nvPr>
        </p:nvSpPr>
        <p:spPr>
          <a:xfrm>
            <a:off x="429683" y="4795839"/>
            <a:ext cx="5666317" cy="682327"/>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12">
            <a:extLst>
              <a:ext uri="{FF2B5EF4-FFF2-40B4-BE49-F238E27FC236}">
                <a16:creationId xmlns:a16="http://schemas.microsoft.com/office/drawing/2014/main" id="{5C82916B-0585-4B7E-9C9B-A7650469BF47}"/>
              </a:ext>
            </a:extLst>
          </p:cNvPr>
          <p:cNvSpPr>
            <a:spLocks noGrp="1"/>
          </p:cNvSpPr>
          <p:nvPr>
            <p:ph sz="quarter" idx="21"/>
          </p:nvPr>
        </p:nvSpPr>
        <p:spPr>
          <a:xfrm>
            <a:off x="6197600" y="4795839"/>
            <a:ext cx="5362840" cy="758222"/>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Tree>
    <p:extLst>
      <p:ext uri="{BB962C8B-B14F-4D97-AF65-F5344CB8AC3E}">
        <p14:creationId xmlns:p14="http://schemas.microsoft.com/office/powerpoint/2010/main" val="31757723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406400" y="5410202"/>
            <a:ext cx="113792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406400" y="609602"/>
            <a:ext cx="113792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406400" y="5791201"/>
            <a:ext cx="113792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8610600" y="6356351"/>
            <a:ext cx="317500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35272317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4D96-C503-4BE0-9F48-7B0E0326CE62}"/>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E78F8EB2-C64A-42B7-AC64-C10457D985C9}"/>
              </a:ext>
            </a:extLst>
          </p:cNvP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a:extLst>
              <a:ext uri="{FF2B5EF4-FFF2-40B4-BE49-F238E27FC236}">
                <a16:creationId xmlns:a16="http://schemas.microsoft.com/office/drawing/2014/main" id="{1FA8BEA2-6D75-4F5A-A26E-60D47B7D78ED}"/>
              </a:ext>
            </a:extLst>
          </p:cNvPr>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32155146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theme" Target="../theme/theme2.xml"/><Relationship Id="rId2" Type="http://schemas.openxmlformats.org/officeDocument/2006/relationships/slideLayout" Target="../slideLayouts/slideLayout5.xml"/><Relationship Id="rId16" Type="http://schemas.openxmlformats.org/officeDocument/2006/relationships/slideLayout" Target="../slideLayouts/slideLayout19.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42560754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62001"/>
            <a:ext cx="113792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143980327"/>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1.wmf"/><Relationship Id="rId4"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000" dirty="0"/>
              <a:t>Introduction to Statistical Investigations</a:t>
            </a:r>
            <a:endParaRPr lang="en-US" sz="4000" dirty="0">
              <a:latin typeface="Times New Roman" panose="02020603050405020304" pitchFamily="18" charset="0"/>
              <a:cs typeface="Times New Roman" panose="02020603050405020304" pitchFamily="18" charset="0"/>
            </a:endParaRPr>
          </a:p>
        </p:txBody>
      </p:sp>
      <p:sp>
        <p:nvSpPr>
          <p:cNvPr id="4" name="Author"/>
          <p:cNvSpPr>
            <a:spLocks noGrp="1"/>
          </p:cNvSpPr>
          <p:nvPr>
            <p:ph sz="quarter" idx="21"/>
          </p:nvPr>
        </p:nvSpPr>
        <p:spPr>
          <a:prstGeom prst="rect">
            <a:avLst/>
          </a:prstGeom>
        </p:spPr>
        <p:txBody>
          <a:bodyPr/>
          <a:lstStyle/>
          <a:p>
            <a:r>
              <a:rPr lang="en-US" dirty="0">
                <a:latin typeface="Times New Roman" panose="02020603050405020304" pitchFamily="18" charset="0"/>
                <a:cs typeface="Times New Roman" panose="02020603050405020304" pitchFamily="18" charset="0"/>
              </a:rPr>
              <a:t>Second Edition</a:t>
            </a:r>
          </a:p>
        </p:txBody>
      </p:sp>
      <p:sp>
        <p:nvSpPr>
          <p:cNvPr id="3" name="Edition"/>
          <p:cNvSpPr>
            <a:spLocks noGrp="1"/>
          </p:cNvSpPr>
          <p:nvPr>
            <p:ph sz="quarter" idx="22"/>
          </p:nvPr>
        </p:nvSpPr>
        <p:spPr>
          <a:xfrm>
            <a:off x="1752600" y="2363724"/>
            <a:ext cx="8686800" cy="685800"/>
          </a:xfrm>
          <a:prstGeom prst="rect">
            <a:avLst/>
          </a:prstGeom>
        </p:spPr>
        <p:txBody>
          <a:bodyPr anchor="ctr"/>
          <a:lstStyle/>
          <a:p>
            <a:r>
              <a:rPr lang="en-US" sz="2600" dirty="0">
                <a:latin typeface="Times New Roman" panose="02020603050405020304" pitchFamily="18" charset="0"/>
                <a:cs typeface="Times New Roman" panose="02020603050405020304" pitchFamily="18" charset="0"/>
              </a:rPr>
              <a:t>Tintle, Chance, Cobb, Rossman, Roy, Swanson, VanderStoep</a:t>
            </a:r>
            <a:endParaRPr lang="en-US" sz="2600" baseline="30000" dirty="0">
              <a:latin typeface="Times New Roman" panose="02020603050405020304" pitchFamily="18" charset="0"/>
              <a:cs typeface="Times New Roman" panose="02020603050405020304" pitchFamily="18" charset="0"/>
            </a:endParaRPr>
          </a:p>
        </p:txBody>
      </p:sp>
      <p:sp>
        <p:nvSpPr>
          <p:cNvPr id="5" name="CN"/>
          <p:cNvSpPr>
            <a:spLocks noGrp="1"/>
          </p:cNvSpPr>
          <p:nvPr>
            <p:ph sz="quarter" idx="19"/>
          </p:nvPr>
        </p:nvSpPr>
        <p:spPr>
          <a:xfrm>
            <a:off x="1676400" y="3657600"/>
            <a:ext cx="8839200" cy="533400"/>
          </a:xfrm>
        </p:spPr>
        <p:txBody>
          <a:bodyPr anchor="ctr"/>
          <a:lstStyle/>
          <a:p>
            <a:r>
              <a:rPr lang="en-US" dirty="0">
                <a:latin typeface="Times New Roman" panose="02020603050405020304" pitchFamily="18" charset="0"/>
                <a:cs typeface="Times New Roman" panose="02020603050405020304" pitchFamily="18" charset="0"/>
              </a:rPr>
              <a:t>Chapter 1.5</a:t>
            </a:r>
          </a:p>
        </p:txBody>
      </p:sp>
      <p:sp>
        <p:nvSpPr>
          <p:cNvPr id="6" name="CT"/>
          <p:cNvSpPr>
            <a:spLocks noGrp="1"/>
          </p:cNvSpPr>
          <p:nvPr>
            <p:ph sz="quarter" idx="20"/>
          </p:nvPr>
        </p:nvSpPr>
        <p:spPr>
          <a:xfrm>
            <a:off x="203200" y="4386686"/>
            <a:ext cx="11785599" cy="1437430"/>
          </a:xfrm>
        </p:spPr>
        <p:txBody>
          <a:bodyPr anchor="t"/>
          <a:lstStyle/>
          <a:p>
            <a:r>
              <a:rPr lang="en-US" sz="4000" dirty="0"/>
              <a:t>Significance: How Strong is the Evidence?</a:t>
            </a:r>
          </a:p>
          <a:p>
            <a:r>
              <a:rPr lang="en-US" sz="4000" dirty="0">
                <a:solidFill>
                  <a:srgbClr val="00007F"/>
                </a:solidFill>
              </a:rPr>
              <a:t>Inference for a Single Proportion: Theory-Based Approach</a:t>
            </a:r>
          </a:p>
          <a:p>
            <a:endParaRPr lang="en-US" sz="4000" dirty="0"/>
          </a:p>
        </p:txBody>
      </p:sp>
      <p:sp>
        <p:nvSpPr>
          <p:cNvPr id="14" name="Content Placeholder 13"/>
          <p:cNvSpPr>
            <a:spLocks noGrp="1"/>
          </p:cNvSpPr>
          <p:nvPr>
            <p:ph sz="quarter" idx="24"/>
          </p:nvPr>
        </p:nvSpPr>
        <p:spPr>
          <a:xfrm>
            <a:off x="1676400" y="6156325"/>
            <a:ext cx="8839200" cy="273050"/>
          </a:xfrm>
        </p:spPr>
        <p:txBody>
          <a:bodyPr/>
          <a:lstStyle/>
          <a:p>
            <a:r>
              <a:rPr lang="en-IN" sz="1200" dirty="0">
                <a:solidFill>
                  <a:schemeClr val="bg1"/>
                </a:solidFill>
                <a:latin typeface="Times New Roman" panose="02020603050405020304" pitchFamily="18" charset="0"/>
                <a:cs typeface="Times New Roman" panose="02020603050405020304" pitchFamily="18" charset="0"/>
              </a:rPr>
              <a:t>This slide deck contains animations. Please disable animations if they cause issues with your device.</a:t>
            </a:r>
          </a:p>
        </p:txBody>
      </p:sp>
      <p:sp>
        <p:nvSpPr>
          <p:cNvPr id="10" name="Content Placeholder 9"/>
          <p:cNvSpPr>
            <a:spLocks noGrp="1"/>
          </p:cNvSpPr>
          <p:nvPr>
            <p:ph sz="quarter" idx="23"/>
          </p:nvPr>
        </p:nvSpPr>
        <p:spPr>
          <a:xfrm>
            <a:off x="2815735" y="6340626"/>
            <a:ext cx="6584482" cy="457200"/>
          </a:xfrm>
          <a:prstGeom prst="rect">
            <a:avLst/>
          </a:prstGeom>
        </p:spPr>
        <p:txBody>
          <a:bodyPr anchor="ctr"/>
          <a:lstStyle/>
          <a:p>
            <a:pPr algn="ctr"/>
            <a:r>
              <a:rPr lang="en-US" sz="1200" dirty="0">
                <a:solidFill>
                  <a:schemeClr val="tx1">
                    <a:tint val="75000"/>
                  </a:schemeClr>
                </a:solidFill>
                <a:latin typeface="Times New Roman" panose="02020603050405020304" pitchFamily="18" charset="0"/>
                <a:ea typeface="Times New Roman" charset="0"/>
                <a:cs typeface="Times New Roman" panose="02020603050405020304" pitchFamily="18" charset="0"/>
              </a:rPr>
              <a:t>Copyright ©2021 John Wiley &amp; Sons, Inc.</a:t>
            </a:r>
          </a:p>
        </p:txBody>
      </p:sp>
    </p:spTree>
    <p:extLst>
      <p:ext uri="{BB962C8B-B14F-4D97-AF65-F5344CB8AC3E}">
        <p14:creationId xmlns:p14="http://schemas.microsoft.com/office/powerpoint/2010/main" val="1261288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a:bodyPr>
          <a:lstStyle/>
          <a:p>
            <a:r>
              <a:rPr lang="en-US" dirty="0"/>
              <a:t>Simulation-Based vs. Theory-Based</a:t>
            </a:r>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365530" cy="4325765"/>
          </a:xfrm>
        </p:spPr>
        <p:txBody>
          <a:bodyPr/>
          <a:lstStyle/>
          <a:p>
            <a:pPr marL="292608" indent="-292608">
              <a:buClr>
                <a:schemeClr val="accent2"/>
              </a:buClr>
              <a:buFont typeface="Arial" panose="020B0604020202020204" pitchFamily="34" charset="0"/>
              <a:buChar char="•"/>
            </a:pPr>
            <a:r>
              <a:rPr lang="en-US" dirty="0"/>
              <a:t>We will now look at the more traditional method of determining a </a:t>
            </a:r>
            <a:r>
              <a:rPr lang="en-US" i="1" dirty="0"/>
              <a:t>p</a:t>
            </a:r>
            <a:r>
              <a:rPr lang="en-US" dirty="0"/>
              <a:t>-value through theory-based techniques. </a:t>
            </a:r>
          </a:p>
          <a:p>
            <a:pPr marL="292608" indent="-292608">
              <a:buClr>
                <a:schemeClr val="accent2"/>
              </a:buClr>
              <a:buFont typeface="Arial" panose="020B0604020202020204" pitchFamily="34" charset="0"/>
              <a:buChar char="•"/>
            </a:pPr>
            <a:r>
              <a:rPr lang="en-US" dirty="0"/>
              <a:t>When we used simulation-based methods, we all got slightly different </a:t>
            </a:r>
            <a:r>
              <a:rPr lang="en-US" i="1" dirty="0"/>
              <a:t>p</a:t>
            </a:r>
            <a:r>
              <a:rPr lang="en-US" dirty="0"/>
              <a:t>-values. The more repetitions we would do, the closer our </a:t>
            </a:r>
            <a:r>
              <a:rPr lang="en-US" i="1" dirty="0"/>
              <a:t>p</a:t>
            </a:r>
            <a:r>
              <a:rPr lang="en-US" dirty="0"/>
              <a:t>-values were to each other.</a:t>
            </a:r>
          </a:p>
          <a:p>
            <a:pPr marL="292608" indent="-292608">
              <a:buClr>
                <a:schemeClr val="accent2"/>
              </a:buClr>
              <a:buFont typeface="Arial" panose="020B0604020202020204" pitchFamily="34" charset="0"/>
              <a:buChar char="•"/>
            </a:pPr>
            <a:r>
              <a:rPr lang="en-US" dirty="0"/>
              <a:t>In theory-based methods, we will use a theoretical distribution to model our null distribution and we will all get the same </a:t>
            </a:r>
            <a:r>
              <a:rPr lang="en-US" i="1" dirty="0"/>
              <a:t>p</a:t>
            </a:r>
            <a:r>
              <a:rPr lang="en-US" dirty="0"/>
              <a:t>-value. </a:t>
            </a:r>
          </a:p>
        </p:txBody>
      </p:sp>
    </p:spTree>
    <p:extLst>
      <p:ext uri="{BB962C8B-B14F-4D97-AF65-F5344CB8AC3E}">
        <p14:creationId xmlns:p14="http://schemas.microsoft.com/office/powerpoint/2010/main" val="2822753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a:bodyPr>
          <a:lstStyle/>
          <a:p>
            <a:r>
              <a:rPr lang="en-US" dirty="0"/>
              <a:t>Theory-Based Techniques</a:t>
            </a:r>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365530" cy="4325765"/>
          </a:xfrm>
        </p:spPr>
        <p:txBody>
          <a:bodyPr/>
          <a:lstStyle/>
          <a:p>
            <a:pPr marL="292608" indent="-292608">
              <a:buClr>
                <a:schemeClr val="accent2"/>
              </a:buClr>
              <a:buFont typeface="Arial" panose="020B0604020202020204" pitchFamily="34" charset="0"/>
              <a:buChar char="•"/>
            </a:pPr>
            <a:r>
              <a:rPr lang="en-US" dirty="0"/>
              <a:t>Hopefully, you’ve noticed the shape of most of our simulated null distributions were quite predictable. </a:t>
            </a:r>
          </a:p>
          <a:p>
            <a:pPr marL="292608" indent="-292608">
              <a:buClr>
                <a:schemeClr val="accent2"/>
              </a:buClr>
              <a:buFont typeface="Arial" panose="020B0604020202020204" pitchFamily="34" charset="0"/>
              <a:buChar char="•"/>
            </a:pPr>
            <a:r>
              <a:rPr lang="en-US" dirty="0"/>
              <a:t>We can predict this shape using normal distributions.</a:t>
            </a:r>
          </a:p>
          <a:p>
            <a:pPr marL="292608" indent="-292608">
              <a:buClr>
                <a:schemeClr val="accent2"/>
              </a:buClr>
              <a:buFont typeface="Arial" panose="020B0604020202020204" pitchFamily="34" charset="0"/>
              <a:buChar char="•"/>
            </a:pPr>
            <a:r>
              <a:rPr lang="en-US" dirty="0"/>
              <a:t>When we do a test of significance using theory-based methods, only how our </a:t>
            </a:r>
            <a:r>
              <a:rPr lang="en-US" i="1" dirty="0"/>
              <a:t>p</a:t>
            </a:r>
            <a:r>
              <a:rPr lang="en-US" dirty="0"/>
              <a:t>-values are found will change. Everything else will stay the same. </a:t>
            </a:r>
          </a:p>
        </p:txBody>
      </p:sp>
    </p:spTree>
    <p:extLst>
      <p:ext uri="{BB962C8B-B14F-4D97-AF65-F5344CB8AC3E}">
        <p14:creationId xmlns:p14="http://schemas.microsoft.com/office/powerpoint/2010/main" val="854837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FA68-01D6-4838-A609-550330B23F60}"/>
              </a:ext>
            </a:extLst>
          </p:cNvPr>
          <p:cNvSpPr>
            <a:spLocks noGrp="1"/>
          </p:cNvSpPr>
          <p:nvPr>
            <p:ph type="title"/>
          </p:nvPr>
        </p:nvSpPr>
        <p:spPr/>
        <p:txBody>
          <a:bodyPr/>
          <a:lstStyle/>
          <a:p>
            <a:r>
              <a:rPr lang="en-US" dirty="0"/>
              <a:t>The Null Distributions</a:t>
            </a:r>
          </a:p>
        </p:txBody>
      </p:sp>
      <p:sp>
        <p:nvSpPr>
          <p:cNvPr id="6" name="Content Placeholder 5">
            <a:extLst>
              <a:ext uri="{FF2B5EF4-FFF2-40B4-BE49-F238E27FC236}">
                <a16:creationId xmlns:a16="http://schemas.microsoft.com/office/drawing/2014/main" id="{C1C3E73F-CE49-4939-A6E7-EB9223A175A2}"/>
              </a:ext>
            </a:extLst>
          </p:cNvPr>
          <p:cNvSpPr>
            <a:spLocks noGrp="1"/>
          </p:cNvSpPr>
          <p:nvPr>
            <p:ph sz="quarter" idx="12"/>
          </p:nvPr>
        </p:nvSpPr>
        <p:spPr>
          <a:xfrm>
            <a:off x="1828800" y="1911351"/>
            <a:ext cx="8534400" cy="1973020"/>
          </a:xfrm>
        </p:spPr>
        <p:txBody>
          <a:bodyPr/>
          <a:lstStyle/>
          <a:p>
            <a:pPr marL="292608" indent="-292608">
              <a:buClr>
                <a:schemeClr val="accent2"/>
              </a:buClr>
              <a:buFont typeface="Arial" panose="020B0604020202020204" pitchFamily="34" charset="0"/>
              <a:buChar char="•"/>
            </a:pPr>
            <a:r>
              <a:rPr lang="en-US" dirty="0"/>
              <a:t>Our null distributions:</a:t>
            </a:r>
          </a:p>
          <a:p>
            <a:pPr marL="621792" lvl="1" indent="-320040">
              <a:buClr>
                <a:schemeClr val="accent2"/>
              </a:buClr>
            </a:pPr>
            <a:r>
              <a:rPr lang="en-US" dirty="0"/>
              <a:t>Were typically bell-shaped </a:t>
            </a:r>
          </a:p>
          <a:p>
            <a:pPr marL="621792" lvl="1" indent="-320040">
              <a:buClr>
                <a:schemeClr val="accent2"/>
              </a:buClr>
            </a:pPr>
            <a:r>
              <a:rPr lang="en-US" dirty="0"/>
              <a:t>Centered at the proportion under the null</a:t>
            </a:r>
          </a:p>
          <a:p>
            <a:pPr marL="621792" lvl="1" indent="-320040">
              <a:buClr>
                <a:schemeClr val="accent2"/>
              </a:buClr>
            </a:pPr>
            <a:r>
              <a:rPr lang="en-US" dirty="0"/>
              <a:t>Width was dependent mostly on the sample size.</a:t>
            </a:r>
          </a:p>
        </p:txBody>
      </p:sp>
      <p:pic>
        <p:nvPicPr>
          <p:cNvPr id="12" name="Picture Placeholder 8" descr="A bar graph describes the results of proportion of successes. The horizontal axis has markings from 0.315 to 0.669 in varying increments of 0.032 and 0.033. The vertical axis ranges from 0 to 480 in increments of 160. The distribution of bars is approximately normal. From 0.347 to 0.411, bars extend up to counts, 10, 10, 20, 30, 25, 40, 40, 50, and 65. From 0.411 to 0.476, bars extend up to counts 80, 120, 130, 170, 175, 250, 245, and 300. From 0.476 to 0.54, bars extend up to counts, 340, 350, 360, 370, 350, 310, 270, and 260. From 0.54 to 0.605, bars extend up to counts 185, 165, 150, 100, 95, 45, 45, and 30. From 0.605 to 0.669, bars extend up to counts 20, 20, 15, 10, 10, 10, 0, and 10. All values are approximate">
            <a:extLst>
              <a:ext uri="{FF2B5EF4-FFF2-40B4-BE49-F238E27FC236}">
                <a16:creationId xmlns:a16="http://schemas.microsoft.com/office/drawing/2014/main" id="{539DB344-17F5-44A9-9011-03272557BCF2}"/>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tretch>
            <a:fillRect/>
          </a:stretch>
        </p:blipFill>
        <p:spPr>
          <a:xfrm>
            <a:off x="4014789" y="4015649"/>
            <a:ext cx="4162425" cy="2200275"/>
          </a:xfrm>
          <a:prstGeom prst="rect">
            <a:avLst/>
          </a:prstGeom>
        </p:spPr>
      </p:pic>
    </p:spTree>
    <p:extLst>
      <p:ext uri="{BB962C8B-B14F-4D97-AF65-F5344CB8AC3E}">
        <p14:creationId xmlns:p14="http://schemas.microsoft.com/office/powerpoint/2010/main" val="1896704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FA68-01D6-4838-A609-550330B23F60}"/>
              </a:ext>
            </a:extLst>
          </p:cNvPr>
          <p:cNvSpPr>
            <a:spLocks noGrp="1"/>
          </p:cNvSpPr>
          <p:nvPr>
            <p:ph type="title"/>
          </p:nvPr>
        </p:nvSpPr>
        <p:spPr/>
        <p:txBody>
          <a:bodyPr/>
          <a:lstStyle/>
          <a:p>
            <a:r>
              <a:rPr lang="en-US" dirty="0"/>
              <a:t>The Normal Distribution</a:t>
            </a:r>
          </a:p>
        </p:txBody>
      </p:sp>
      <p:sp>
        <p:nvSpPr>
          <p:cNvPr id="6" name="Content Placeholder 5">
            <a:extLst>
              <a:ext uri="{FF2B5EF4-FFF2-40B4-BE49-F238E27FC236}">
                <a16:creationId xmlns:a16="http://schemas.microsoft.com/office/drawing/2014/main" id="{C1C3E73F-CE49-4939-A6E7-EB9223A175A2}"/>
              </a:ext>
            </a:extLst>
          </p:cNvPr>
          <p:cNvSpPr>
            <a:spLocks noGrp="1"/>
          </p:cNvSpPr>
          <p:nvPr>
            <p:ph sz="quarter" idx="12"/>
          </p:nvPr>
        </p:nvSpPr>
        <p:spPr>
          <a:xfrm>
            <a:off x="1828800" y="1911351"/>
            <a:ext cx="8534400" cy="1973020"/>
          </a:xfrm>
        </p:spPr>
        <p:txBody>
          <a:bodyPr/>
          <a:lstStyle/>
          <a:p>
            <a:pPr marL="292608" indent="-292608">
              <a:buClr>
                <a:schemeClr val="accent2"/>
              </a:buClr>
              <a:buFont typeface="Arial" panose="020B0604020202020204" pitchFamily="34" charset="0"/>
              <a:buChar char="•"/>
            </a:pPr>
            <a:r>
              <a:rPr lang="en-US" dirty="0"/>
              <a:t>Both of these are centered at 0.50.</a:t>
            </a:r>
          </a:p>
          <a:p>
            <a:pPr marL="621792" lvl="1" indent="-320040">
              <a:buClr>
                <a:schemeClr val="accent2"/>
              </a:buClr>
            </a:pPr>
            <a:r>
              <a:rPr lang="en-US" dirty="0"/>
              <a:t>The one on the left represents samples of size 30.</a:t>
            </a:r>
          </a:p>
          <a:p>
            <a:pPr marL="621792" lvl="1" indent="-320040">
              <a:buClr>
                <a:schemeClr val="accent2"/>
              </a:buClr>
            </a:pPr>
            <a:r>
              <a:rPr lang="en-US" dirty="0"/>
              <a:t>The one on the right represents samples of size 300.</a:t>
            </a:r>
          </a:p>
          <a:p>
            <a:pPr marL="621792" lvl="1" indent="-320040">
              <a:buClr>
                <a:schemeClr val="accent2"/>
              </a:buClr>
            </a:pPr>
            <a:r>
              <a:rPr lang="en-US" dirty="0"/>
              <a:t>Both could be predicted using normal distributions.</a:t>
            </a:r>
          </a:p>
        </p:txBody>
      </p:sp>
      <p:pic>
        <p:nvPicPr>
          <p:cNvPr id="11" name="Picture Placeholder 9" descr="A bar graph describes the proportion of successes for the sample size 30. The horizontal axis ranges from 0.13 to 0.8 in varying increments of 0.06 and 0.07. The distribution of bars is normal and has a space between them. It starts from 0.13, reaches the peak at 0.5, and ends at 0.83. All values are approximate.">
            <a:extLst>
              <a:ext uri="{FF2B5EF4-FFF2-40B4-BE49-F238E27FC236}">
                <a16:creationId xmlns:a16="http://schemas.microsoft.com/office/drawing/2014/main" id="{5AF42E22-53D2-4CDC-9D29-FD1A82339D1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2087520" y="4011587"/>
            <a:ext cx="3476625" cy="1866900"/>
          </a:xfrm>
          <a:prstGeom prst="rect">
            <a:avLst/>
          </a:prstGeom>
        </p:spPr>
      </p:pic>
      <p:pic>
        <p:nvPicPr>
          <p:cNvPr id="13" name="Picture Placeholder 12" descr="A histogram describes the proportion of successes for the sample size 300. The horizontal axis ranges from 0.383 to 0.603 in increments of 0.02. The distribution of densely plotted bars is normal and it starts from 0.383, reaches the peak at 0.5, and ends at 0.603. All values are approximate.">
            <a:extLst>
              <a:ext uri="{FF2B5EF4-FFF2-40B4-BE49-F238E27FC236}">
                <a16:creationId xmlns:a16="http://schemas.microsoft.com/office/drawing/2014/main" id="{EAB40061-4609-482A-9B17-EC49ECCE9B7B}"/>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6211111" y="4040163"/>
            <a:ext cx="3495675" cy="1838325"/>
          </a:xfrm>
          <a:prstGeom prst="rect">
            <a:avLst/>
          </a:prstGeom>
        </p:spPr>
      </p:pic>
    </p:spTree>
    <p:extLst>
      <p:ext uri="{BB962C8B-B14F-4D97-AF65-F5344CB8AC3E}">
        <p14:creationId xmlns:p14="http://schemas.microsoft.com/office/powerpoint/2010/main" val="4140761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FA68-01D6-4838-A609-550330B23F60}"/>
              </a:ext>
            </a:extLst>
          </p:cNvPr>
          <p:cNvSpPr>
            <a:spLocks noGrp="1"/>
          </p:cNvSpPr>
          <p:nvPr>
            <p:ph type="title"/>
          </p:nvPr>
        </p:nvSpPr>
        <p:spPr/>
        <p:txBody>
          <a:bodyPr/>
          <a:lstStyle/>
          <a:p>
            <a:r>
              <a:rPr lang="en-US" dirty="0"/>
              <a:t>Examples from this Chapter</a:t>
            </a:r>
          </a:p>
        </p:txBody>
      </p:sp>
      <p:sp>
        <p:nvSpPr>
          <p:cNvPr id="6" name="Content Placeholder 5">
            <a:extLst>
              <a:ext uri="{FF2B5EF4-FFF2-40B4-BE49-F238E27FC236}">
                <a16:creationId xmlns:a16="http://schemas.microsoft.com/office/drawing/2014/main" id="{C1C3E73F-CE49-4939-A6E7-EB9223A175A2}"/>
              </a:ext>
            </a:extLst>
          </p:cNvPr>
          <p:cNvSpPr>
            <a:spLocks noGrp="1"/>
          </p:cNvSpPr>
          <p:nvPr>
            <p:ph sz="quarter" idx="12"/>
          </p:nvPr>
        </p:nvSpPr>
        <p:spPr>
          <a:xfrm>
            <a:off x="1828800" y="1911351"/>
            <a:ext cx="8534400" cy="531014"/>
          </a:xfrm>
        </p:spPr>
        <p:txBody>
          <a:bodyPr/>
          <a:lstStyle/>
          <a:p>
            <a:pPr marL="292608" indent="-292608">
              <a:buClr>
                <a:schemeClr val="accent2"/>
              </a:buClr>
              <a:buFont typeface="Arial" panose="020B0604020202020204" pitchFamily="34" charset="0"/>
              <a:buChar char="•"/>
            </a:pPr>
            <a:r>
              <a:rPr lang="en-US" dirty="0"/>
              <a:t>Which ones will normal distributions fit?</a:t>
            </a:r>
          </a:p>
        </p:txBody>
      </p:sp>
      <p:pic>
        <p:nvPicPr>
          <p:cNvPr id="15" name="Picture Placeholder 14" descr="Six set of graphs describe the distribution of proportion of successes and proportion of heads. &#10;The first graph is a histogram labeled Competent-face method with values, n equals 279 and pi equals 0.5. The horizontal axis is labeled Proportion of successes and has markings from 0.38 to 0.616 in alternate increments of 0.021 and 0.022. The vertical axis has markings from 20 to 60 in increments of 20. The distribution of bars is approximately normal. There are no bars between 0.38 and 0.401, and between 0.595 and 0.616. From 0.421 to 0.444, the bars extend up to the counts, 3, 3, 2, 5, 0, 3, 3, 7, and 10. From 0.444 to 0.466, the bars extend up to the counts, 19, 16, 18, 17, 17, and 38. From 0.466 to 0.487, the bars extend up to the counts, 21, 25, 42, 40, 55, and 44. From 0.487 to 0.509, the bars extend up to the counts, 43, 53, 48, 38, 47, and 39. From 0.509 to 0.53, the bars extend up to the counts, 46, 50, 39, 36, 35, and 39. From 0.53 to 0.552, the bars extend up to the counts, 34, 24, 28, 17, 15, and 17. From 0.552 to 0.573, the bars extend up to the counts, 16, 10, 5, 7, 7, and 3. From 0.573 to 0.595, the bars extend up to the counts 2, 2, 0, 3, 0, and 2. All values are approximate.&#10;The second graph is a bar graph labeled Competent-face method with values, n equals 32 and pi equals 0.5). The horizontal axis is labeled Proportion of successes, and has markings from 0.12 to 0.81 in varying increments of 0.07 and 0.06. The vertical axis has markings from 40 to 160 in increments of 40. The heights of the bars for each marking are as follows: 0.25, 5; 0.29, 12; 0.31, 25; 0.34, 38; 0.38, 45; 0.41, 78; 0.44, 100; 0.47, 125; 0.50, 130; 0.53, 127; 0.56, 100; 0.59, 80; 0.62, 70; 0.65, 35; 0.69, 28; 0.72, 10; and 0.75, 8. There are no bars above 0.12, 0.19, and 0.81. All values are approximate. &#10;The third graph is a histogram labeled St. George’s with values, n equals 361 and pi equals 0.15. The horizontal axis is labeled Proportion of heads and has markings from 0.075 to 0.213 in varying increments of 0.014 and 0.013. The vertical axis has markings from 20 to 80 in increments of 20. The distribution of bars is approximately normal. There are no bars between 0.075 and 0.104. From 0.104 to 0.116, the bars extend up to the counts 3, 8, 8, 3, and 9. From 0.116 to 0.130, the bars extend up to the counts, 22, 18, 24, 24, and 26. From 0.130 to 0.144, the bars extend up to the counts, 42, 50, 47, 48, and 62. From 0.144 to 0.158, the bars extend up to the counts, 45, 60, 57, 58, and 59. From 0.158 to 0.172, the bars extend up to the counts 54, 37, 43, 43, and 35. From 0.172 to 0.186, the bars extend up to the counts, 30, 19, 19, 19, and 15. From 0.186 to 0.199, the bars extend up to the counts, 10, 8, 3, 3, and 4. From 0.199 to 0.213, the bars extend up to the counts 0, 2, 0, 0, and 0. A bar with count 2 is at 0.220 on the horizontal axis. All values are approximate.&#10;The fourth graph is a bar graph labeled Rock-Paper-Scissors with values, n equals 20 and pi equals 0.3333. The horizontal axis is labeled Proportion of successes and ranges from 0 to 0.83 in varying increments of 0.08 and 0.09. The vertical axis ranges from 0 to 240 in increments of 80. The heights of the bars for each marking are as follows: 0.08, 40; 0.17, 140; 0.25, 220; 0.33, 235; 0.42, 220; 0.5, 100; 0.58, 50; 0.67, 20; 0.75, 5; and 0.83, 0. All values are approximate. &#10;The fifth graph is a bar graph labeled Doris or Buzz with values, n equals 16 and pi equals 0.5. The horizontal axis is labeled Proportion of heads and ranges from 0 to 1 in varying increments of 0.12 and 0.13. The vertical axis ranges from 0 to 240 in increments of 80. The heights of the bars for each marking are as follows: 0.12, 10; 0.18, 10; 0.25, 30; 0.31, 75; 0.38, 120; 0.44, 170; 0.50, 180; 0.56, 160; 0.62, 120; 0.68, 65; 0.75, 20; 0.81, 3; and 0.88, 2. There are no bars above 0 and 1. All values are approximate. &#10;The sixth graph is a bar graph labeled St. George’s with values, n equals 10 and pi equals 0.15. The horizontal axis is labeled Proportion of successes and ranges from 0 to 0.60 in increments of 0.10. The vertical axis ranges from 0 to 480 in increments of 160. The heights of the bars for each marking are as follows: 0, 162; 0.1, 350; 0.2, 280; 0.3, 140; 0.4, 40; 0.5, 20; and 0.6, 10. All values are approximate.">
            <a:extLst>
              <a:ext uri="{FF2B5EF4-FFF2-40B4-BE49-F238E27FC236}">
                <a16:creationId xmlns:a16="http://schemas.microsoft.com/office/drawing/2014/main" id="{5D02C3F7-0F35-4741-B2B9-4ACF1C003327}"/>
              </a:ext>
            </a:extLst>
          </p:cNvPr>
          <p:cNvPicPr>
            <a:picLocks noGrp="1" noChangeAspect="1"/>
          </p:cNvPicPr>
          <p:nvPr>
            <p:ph type="pic" sz="quarter" idx="15"/>
          </p:nvPr>
        </p:nvPicPr>
        <p:blipFill>
          <a:blip r:embed="rId2"/>
          <a:stretch>
            <a:fillRect/>
          </a:stretch>
        </p:blipFill>
        <p:spPr>
          <a:xfrm>
            <a:off x="1834528" y="2748236"/>
            <a:ext cx="8522947" cy="3334801"/>
          </a:xfrm>
          <a:prstGeom prst="rect">
            <a:avLst/>
          </a:prstGeom>
        </p:spPr>
      </p:pic>
      <p:sp>
        <p:nvSpPr>
          <p:cNvPr id="3" name="TextBox 2">
            <a:extLst>
              <a:ext uri="{FF2B5EF4-FFF2-40B4-BE49-F238E27FC236}">
                <a16:creationId xmlns:a16="http://schemas.microsoft.com/office/drawing/2014/main" id="{86240BC5-420D-FC02-0DCC-A0E7F730902F}"/>
              </a:ext>
            </a:extLst>
          </p:cNvPr>
          <p:cNvSpPr txBox="1"/>
          <p:nvPr/>
        </p:nvSpPr>
        <p:spPr>
          <a:xfrm>
            <a:off x="2087592" y="2967487"/>
            <a:ext cx="301686" cy="369332"/>
          </a:xfrm>
          <a:prstGeom prst="rect">
            <a:avLst/>
          </a:prstGeom>
          <a:noFill/>
        </p:spPr>
        <p:txBody>
          <a:bodyPr wrap="none" rtlCol="0">
            <a:spAutoFit/>
          </a:bodyPr>
          <a:lstStyle/>
          <a:p>
            <a:r>
              <a:rPr lang="en-US" dirty="0"/>
              <a:t>1</a:t>
            </a:r>
          </a:p>
        </p:txBody>
      </p:sp>
      <p:sp>
        <p:nvSpPr>
          <p:cNvPr id="4" name="TextBox 3">
            <a:extLst>
              <a:ext uri="{FF2B5EF4-FFF2-40B4-BE49-F238E27FC236}">
                <a16:creationId xmlns:a16="http://schemas.microsoft.com/office/drawing/2014/main" id="{0B415308-2BAD-BDDC-70F4-21E352A64CFF}"/>
              </a:ext>
            </a:extLst>
          </p:cNvPr>
          <p:cNvSpPr txBox="1"/>
          <p:nvPr/>
        </p:nvSpPr>
        <p:spPr>
          <a:xfrm>
            <a:off x="5078082" y="2782821"/>
            <a:ext cx="301686" cy="369332"/>
          </a:xfrm>
          <a:prstGeom prst="rect">
            <a:avLst/>
          </a:prstGeom>
          <a:noFill/>
        </p:spPr>
        <p:txBody>
          <a:bodyPr wrap="none" rtlCol="0">
            <a:spAutoFit/>
          </a:bodyPr>
          <a:lstStyle/>
          <a:p>
            <a:r>
              <a:rPr lang="en-US" dirty="0"/>
              <a:t>2</a:t>
            </a:r>
          </a:p>
        </p:txBody>
      </p:sp>
      <p:sp>
        <p:nvSpPr>
          <p:cNvPr id="5" name="TextBox 4">
            <a:extLst>
              <a:ext uri="{FF2B5EF4-FFF2-40B4-BE49-F238E27FC236}">
                <a16:creationId xmlns:a16="http://schemas.microsoft.com/office/drawing/2014/main" id="{2476833C-FCDC-1D3F-EC3C-E6627106A14C}"/>
              </a:ext>
            </a:extLst>
          </p:cNvPr>
          <p:cNvSpPr txBox="1"/>
          <p:nvPr/>
        </p:nvSpPr>
        <p:spPr>
          <a:xfrm>
            <a:off x="7844524" y="2709965"/>
            <a:ext cx="301686" cy="369332"/>
          </a:xfrm>
          <a:prstGeom prst="rect">
            <a:avLst/>
          </a:prstGeom>
          <a:noFill/>
        </p:spPr>
        <p:txBody>
          <a:bodyPr wrap="none" rtlCol="0">
            <a:spAutoFit/>
          </a:bodyPr>
          <a:lstStyle/>
          <a:p>
            <a:r>
              <a:rPr lang="en-US" dirty="0"/>
              <a:t>3</a:t>
            </a:r>
          </a:p>
        </p:txBody>
      </p:sp>
      <p:sp>
        <p:nvSpPr>
          <p:cNvPr id="7" name="TextBox 6">
            <a:extLst>
              <a:ext uri="{FF2B5EF4-FFF2-40B4-BE49-F238E27FC236}">
                <a16:creationId xmlns:a16="http://schemas.microsoft.com/office/drawing/2014/main" id="{E917BF3A-8FF9-23DD-7F5B-D6325717B068}"/>
              </a:ext>
            </a:extLst>
          </p:cNvPr>
          <p:cNvSpPr txBox="1"/>
          <p:nvPr/>
        </p:nvSpPr>
        <p:spPr>
          <a:xfrm>
            <a:off x="7861777" y="4469753"/>
            <a:ext cx="301686" cy="369332"/>
          </a:xfrm>
          <a:prstGeom prst="rect">
            <a:avLst/>
          </a:prstGeom>
          <a:noFill/>
        </p:spPr>
        <p:txBody>
          <a:bodyPr wrap="none" rtlCol="0">
            <a:spAutoFit/>
          </a:bodyPr>
          <a:lstStyle/>
          <a:p>
            <a:r>
              <a:rPr lang="en-US" dirty="0"/>
              <a:t>6</a:t>
            </a:r>
          </a:p>
        </p:txBody>
      </p:sp>
      <p:sp>
        <p:nvSpPr>
          <p:cNvPr id="8" name="TextBox 7">
            <a:extLst>
              <a:ext uri="{FF2B5EF4-FFF2-40B4-BE49-F238E27FC236}">
                <a16:creationId xmlns:a16="http://schemas.microsoft.com/office/drawing/2014/main" id="{E53D4201-0E61-1AC1-C84B-D994A45C4CC0}"/>
              </a:ext>
            </a:extLst>
          </p:cNvPr>
          <p:cNvSpPr txBox="1"/>
          <p:nvPr/>
        </p:nvSpPr>
        <p:spPr>
          <a:xfrm>
            <a:off x="4997807" y="4530138"/>
            <a:ext cx="301686" cy="369332"/>
          </a:xfrm>
          <a:prstGeom prst="rect">
            <a:avLst/>
          </a:prstGeom>
          <a:noFill/>
        </p:spPr>
        <p:txBody>
          <a:bodyPr wrap="none" rtlCol="0">
            <a:spAutoFit/>
          </a:bodyPr>
          <a:lstStyle/>
          <a:p>
            <a:r>
              <a:rPr lang="en-US" dirty="0"/>
              <a:t>5</a:t>
            </a:r>
          </a:p>
        </p:txBody>
      </p:sp>
      <p:sp>
        <p:nvSpPr>
          <p:cNvPr id="9" name="TextBox 8">
            <a:extLst>
              <a:ext uri="{FF2B5EF4-FFF2-40B4-BE49-F238E27FC236}">
                <a16:creationId xmlns:a16="http://schemas.microsoft.com/office/drawing/2014/main" id="{A8276537-9359-515F-351A-C69432E3CB5D}"/>
              </a:ext>
            </a:extLst>
          </p:cNvPr>
          <p:cNvSpPr txBox="1"/>
          <p:nvPr/>
        </p:nvSpPr>
        <p:spPr>
          <a:xfrm>
            <a:off x="2133838" y="4512885"/>
            <a:ext cx="301686"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3588236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fontScale="90000"/>
          </a:bodyPr>
          <a:lstStyle/>
          <a:p>
            <a:r>
              <a:rPr lang="en-US" dirty="0"/>
              <a:t>Advantages and Disadvantages of Theory-Based Tests</a:t>
            </a:r>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365530" cy="4325765"/>
          </a:xfrm>
        </p:spPr>
        <p:txBody>
          <a:bodyPr/>
          <a:lstStyle/>
          <a:p>
            <a:pPr marL="292608" indent="-292608">
              <a:buClr>
                <a:schemeClr val="accent2"/>
              </a:buClr>
              <a:buFont typeface="Arial" panose="020B0604020202020204" pitchFamily="34" charset="0"/>
              <a:buChar char="•"/>
            </a:pPr>
            <a:r>
              <a:rPr lang="en-US" sz="2400" b="1" dirty="0"/>
              <a:t>Advantages of theory-based tests</a:t>
            </a:r>
          </a:p>
          <a:p>
            <a:pPr marL="621792" lvl="1" indent="-320040">
              <a:buClr>
                <a:schemeClr val="accent2"/>
              </a:buClr>
            </a:pPr>
            <a:r>
              <a:rPr lang="en-US" sz="2200" dirty="0"/>
              <a:t>No need to set up some simulation method</a:t>
            </a:r>
          </a:p>
          <a:p>
            <a:pPr marL="621792" lvl="1" indent="-320040">
              <a:buClr>
                <a:schemeClr val="accent2"/>
              </a:buClr>
            </a:pPr>
            <a:r>
              <a:rPr lang="en-US" sz="2200" dirty="0"/>
              <a:t>Fast and easy</a:t>
            </a:r>
          </a:p>
          <a:p>
            <a:pPr marL="621792" lvl="1" indent="-320040">
              <a:buClr>
                <a:schemeClr val="accent2"/>
              </a:buClr>
            </a:pPr>
            <a:r>
              <a:rPr lang="en-US" sz="2200" dirty="0"/>
              <a:t>Can be done with a wide variety of software</a:t>
            </a:r>
          </a:p>
          <a:p>
            <a:pPr marL="621792" lvl="1" indent="-320040">
              <a:buClr>
                <a:schemeClr val="accent2"/>
              </a:buClr>
            </a:pPr>
            <a:r>
              <a:rPr lang="en-US" sz="2200" dirty="0"/>
              <a:t>We all get the same </a:t>
            </a:r>
            <a:r>
              <a:rPr lang="en-US" sz="2200" i="1" dirty="0"/>
              <a:t>p</a:t>
            </a:r>
            <a:r>
              <a:rPr lang="en-US" sz="2200" dirty="0"/>
              <a:t>-value.</a:t>
            </a:r>
          </a:p>
          <a:p>
            <a:pPr marL="621792" lvl="1" indent="-320040">
              <a:buClr>
                <a:schemeClr val="accent2"/>
              </a:buClr>
            </a:pPr>
            <a:r>
              <a:rPr lang="en-US" sz="2200" dirty="0"/>
              <a:t>Determining confidence intervals (we will do this in Chapter 3) is much easier.</a:t>
            </a:r>
          </a:p>
          <a:p>
            <a:pPr marL="292608" indent="-292608">
              <a:buClr>
                <a:schemeClr val="accent2"/>
              </a:buClr>
              <a:buFont typeface="Arial" panose="020B0604020202020204" pitchFamily="34" charset="0"/>
              <a:buChar char="•"/>
            </a:pPr>
            <a:r>
              <a:rPr lang="en-US" sz="2400" b="1" dirty="0"/>
              <a:t>Disadvantages of theory-based tests</a:t>
            </a:r>
          </a:p>
          <a:p>
            <a:pPr marL="621792" lvl="1" indent="-320040">
              <a:buClr>
                <a:schemeClr val="accent2"/>
              </a:buClr>
            </a:pPr>
            <a:r>
              <a:rPr lang="en-US" sz="2200" dirty="0"/>
              <a:t>They will all come with some validity conditions (like the number of successes and failures we have for a single proportion test).</a:t>
            </a:r>
          </a:p>
        </p:txBody>
      </p:sp>
    </p:spTree>
    <p:extLst>
      <p:ext uri="{BB962C8B-B14F-4D97-AF65-F5344CB8AC3E}">
        <p14:creationId xmlns:p14="http://schemas.microsoft.com/office/powerpoint/2010/main" val="936352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fontScale="90000"/>
          </a:bodyPr>
          <a:lstStyle/>
          <a:p>
            <a:r>
              <a:rPr lang="en-IN" dirty="0"/>
              <a:t>When Can I Use a Theory-Based Test that Uses the Normal Distribution?</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365530" cy="4325765"/>
          </a:xfrm>
        </p:spPr>
        <p:txBody>
          <a:bodyPr/>
          <a:lstStyle/>
          <a:p>
            <a:pPr marL="164592" indent="-320040">
              <a:buClr>
                <a:schemeClr val="accent2"/>
              </a:buClr>
            </a:pPr>
            <a:r>
              <a:rPr lang="en-US" dirty="0"/>
              <a:t>You should have at least 10 successes and 10 failures in your sample to be fairly confident that a normal distribution will fit the simulated null distribution nicely.</a:t>
            </a:r>
          </a:p>
        </p:txBody>
      </p:sp>
    </p:spTree>
    <p:extLst>
      <p:ext uri="{BB962C8B-B14F-4D97-AF65-F5344CB8AC3E}">
        <p14:creationId xmlns:p14="http://schemas.microsoft.com/office/powerpoint/2010/main" val="16738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915E4-21AC-0A4B-8DB8-2726219D21B1}"/>
              </a:ext>
            </a:extLst>
          </p:cNvPr>
          <p:cNvSpPr>
            <a:spLocks noGrp="1"/>
          </p:cNvSpPr>
          <p:nvPr>
            <p:ph type="title"/>
          </p:nvPr>
        </p:nvSpPr>
        <p:spPr/>
        <p:txBody>
          <a:bodyPr/>
          <a:lstStyle/>
          <a:p>
            <a:r>
              <a:rPr lang="en-US" dirty="0"/>
              <a:t>Senate Elections</a:t>
            </a:r>
          </a:p>
        </p:txBody>
      </p:sp>
      <p:sp>
        <p:nvSpPr>
          <p:cNvPr id="3" name="Slide Number Placeholder 2">
            <a:extLst>
              <a:ext uri="{FF2B5EF4-FFF2-40B4-BE49-F238E27FC236}">
                <a16:creationId xmlns:a16="http://schemas.microsoft.com/office/drawing/2014/main" id="{C8408E3A-A288-736E-782B-032C50982C2D}"/>
              </a:ext>
            </a:extLst>
          </p:cNvPr>
          <p:cNvSpPr>
            <a:spLocks noGrp="1"/>
          </p:cNvSpPr>
          <p:nvPr>
            <p:ph type="sldNum" sz="quarter" idx="10"/>
          </p:nvPr>
        </p:nvSpPr>
        <p:spPr/>
        <p:txBody>
          <a:bodyPr/>
          <a:lstStyle/>
          <a:p>
            <a:fld id="{67B19427-F580-D146-B60E-4CADEE75497F}" type="slidenum">
              <a:rPr lang="en-US" smtClean="0"/>
              <a:pPr/>
              <a:t>9</a:t>
            </a:fld>
            <a:endParaRPr lang="en-US" dirty="0"/>
          </a:p>
        </p:txBody>
      </p:sp>
      <p:sp>
        <p:nvSpPr>
          <p:cNvPr id="4" name="Footer Placeholder 3">
            <a:extLst>
              <a:ext uri="{FF2B5EF4-FFF2-40B4-BE49-F238E27FC236}">
                <a16:creationId xmlns:a16="http://schemas.microsoft.com/office/drawing/2014/main" id="{78640FA9-5586-286C-2401-D9527745DECA}"/>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F240ABE9-F494-66A9-5C62-4D6FC1A2AD3B}"/>
              </a:ext>
            </a:extLst>
          </p:cNvPr>
          <p:cNvSpPr>
            <a:spLocks noGrp="1"/>
          </p:cNvSpPr>
          <p:nvPr>
            <p:ph sz="quarter" idx="12"/>
          </p:nvPr>
        </p:nvSpPr>
        <p:spPr/>
        <p:txBody>
          <a:bodyPr/>
          <a:lstStyle/>
          <a:p>
            <a:r>
              <a:rPr lang="en-US" dirty="0"/>
              <a:t>279 races</a:t>
            </a:r>
          </a:p>
          <a:p>
            <a:r>
              <a:rPr lang="en-US" dirty="0"/>
              <a:t>189 successes (predicted correctly)</a:t>
            </a:r>
          </a:p>
          <a:p>
            <a:r>
              <a:rPr lang="en-US" dirty="0"/>
              <a:t>279-189 = 90 failures (predicted incorrectly)</a:t>
            </a:r>
          </a:p>
          <a:p>
            <a:r>
              <a:rPr lang="en-US" dirty="0"/>
              <a:t>Meets the validity condition?</a:t>
            </a:r>
          </a:p>
        </p:txBody>
      </p:sp>
      <p:sp>
        <p:nvSpPr>
          <p:cNvPr id="6" name="Content Placeholder 5">
            <a:extLst>
              <a:ext uri="{FF2B5EF4-FFF2-40B4-BE49-F238E27FC236}">
                <a16:creationId xmlns:a16="http://schemas.microsoft.com/office/drawing/2014/main" id="{D3CDC56D-64E7-DDF9-95AA-1E27FE9FFC42}"/>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2229987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6449CF8-F91B-47F3-903B-86B378CB64BF}"/>
              </a:ext>
            </a:extLst>
          </p:cNvPr>
          <p:cNvSpPr>
            <a:spLocks noGrp="1"/>
          </p:cNvSpPr>
          <p:nvPr>
            <p:ph type="title"/>
          </p:nvPr>
        </p:nvSpPr>
        <p:spPr/>
        <p:txBody>
          <a:bodyPr>
            <a:normAutofit/>
          </a:bodyPr>
          <a:lstStyle/>
          <a:p>
            <a:r>
              <a:rPr lang="en-US" dirty="0"/>
              <a:t>Example 1.5: Predicting Standard Deviation</a:t>
            </a:r>
          </a:p>
        </p:txBody>
      </p:sp>
      <p:graphicFrame>
        <p:nvGraphicFramePr>
          <p:cNvPr id="9" name="Object 16" descr="Square root of start frac pi left parenthesis one minus pi right parenthesis over n end frac">
            <a:extLst>
              <a:ext uri="{FF2B5EF4-FFF2-40B4-BE49-F238E27FC236}">
                <a16:creationId xmlns:a16="http://schemas.microsoft.com/office/drawing/2014/main" id="{91CDF625-B9D5-4BBA-A486-B563A47DA2A6}"/>
              </a:ext>
            </a:extLst>
          </p:cNvPr>
          <p:cNvGraphicFramePr>
            <a:graphicFrameLocks noChangeAspect="1"/>
          </p:cNvGraphicFramePr>
          <p:nvPr>
            <p:extLst>
              <p:ext uri="{D42A27DB-BD31-4B8C-83A1-F6EECF244321}">
                <p14:modId xmlns:p14="http://schemas.microsoft.com/office/powerpoint/2010/main" val="605351195"/>
              </p:ext>
            </p:extLst>
          </p:nvPr>
        </p:nvGraphicFramePr>
        <p:xfrm>
          <a:off x="1353076" y="2258306"/>
          <a:ext cx="1428433" cy="916781"/>
        </p:xfrm>
        <a:graphic>
          <a:graphicData uri="http://schemas.openxmlformats.org/presentationml/2006/ole">
            <mc:AlternateContent xmlns:mc="http://schemas.openxmlformats.org/markup-compatibility/2006">
              <mc:Choice xmlns:v="urn:schemas-microsoft-com:vml" Requires="v">
                <p:oleObj name="Equation" r:id="rId3" imgW="1562040" imgH="1002960" progId="Equation.DSMT4">
                  <p:embed/>
                </p:oleObj>
              </mc:Choice>
              <mc:Fallback>
                <p:oleObj name="Equation" r:id="rId3" imgW="1562040" imgH="1002960" progId="Equation.DSMT4">
                  <p:embed/>
                  <p:pic>
                    <p:nvPicPr>
                      <p:cNvPr id="9" name="Object 16" descr="Square root of start frac pi left parenthesis one minus pi right parenthesis over n end frac">
                        <a:extLst>
                          <a:ext uri="{FF2B5EF4-FFF2-40B4-BE49-F238E27FC236}">
                            <a16:creationId xmlns:a16="http://schemas.microsoft.com/office/drawing/2014/main" id="{91CDF625-B9D5-4BBA-A486-B563A47DA2A6}"/>
                          </a:ext>
                        </a:extLst>
                      </p:cNvPr>
                      <p:cNvPicPr/>
                      <p:nvPr/>
                    </p:nvPicPr>
                    <p:blipFill>
                      <a:blip r:embed="rId4"/>
                      <a:stretch>
                        <a:fillRect/>
                      </a:stretch>
                    </p:blipFill>
                    <p:spPr>
                      <a:xfrm>
                        <a:off x="1353076" y="2258306"/>
                        <a:ext cx="1428433" cy="916781"/>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84F60B29-DAAE-441C-BCC8-84FF85D9A516}"/>
              </a:ext>
            </a:extLst>
          </p:cNvPr>
          <p:cNvSpPr>
            <a:spLocks noGrp="1"/>
          </p:cNvSpPr>
          <p:nvPr>
            <p:ph sz="quarter" idx="13"/>
          </p:nvPr>
        </p:nvSpPr>
        <p:spPr>
          <a:xfrm>
            <a:off x="1007049" y="2523284"/>
            <a:ext cx="10177899" cy="1811432"/>
          </a:xfrm>
        </p:spPr>
        <p:txBody>
          <a:bodyPr/>
          <a:lstStyle/>
          <a:p>
            <a:pPr marL="0" indent="1828800">
              <a:spcAft>
                <a:spcPts val="1800"/>
              </a:spcAft>
              <a:buNone/>
            </a:pPr>
            <a:r>
              <a:rPr lang="en-US" dirty="0"/>
              <a:t>where </a:t>
            </a:r>
            <a:r>
              <a:rPr lang="el-GR" i="1" dirty="0"/>
              <a:t>π</a:t>
            </a:r>
            <a:r>
              <a:rPr lang="en-US" dirty="0"/>
              <a:t> is the proportion under the null (hypothesis), and </a:t>
            </a:r>
            <a:r>
              <a:rPr lang="en-US" i="1" dirty="0"/>
              <a:t>n</a:t>
            </a:r>
            <a:r>
              <a:rPr lang="en-US" dirty="0"/>
              <a:t> is</a:t>
            </a:r>
          </a:p>
          <a:p>
            <a:pPr marL="280988" indent="0">
              <a:spcAft>
                <a:spcPts val="1200"/>
              </a:spcAft>
              <a:buNone/>
            </a:pPr>
            <a:r>
              <a:rPr lang="en-US" dirty="0"/>
              <a:t> the sample size. </a:t>
            </a:r>
          </a:p>
        </p:txBody>
      </p:sp>
    </p:spTree>
    <p:extLst>
      <p:ext uri="{BB962C8B-B14F-4D97-AF65-F5344CB8AC3E}">
        <p14:creationId xmlns:p14="http://schemas.microsoft.com/office/powerpoint/2010/main" val="1989810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p:txBody>
          <a:bodyPr>
            <a:normAutofit/>
          </a:bodyPr>
          <a:lstStyle/>
          <a:p>
            <a:r>
              <a:rPr lang="en-US" dirty="0"/>
              <a:t>Example 1.5: Central Limit Theorem</a:t>
            </a:r>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683416"/>
            <a:ext cx="8534400" cy="3339129"/>
          </a:xfrm>
        </p:spPr>
        <p:txBody>
          <a:bodyPr/>
          <a:lstStyle/>
          <a:p>
            <a:pPr marL="0" indent="0">
              <a:buNone/>
            </a:pPr>
            <a:r>
              <a:rPr lang="en-US" sz="2400" dirty="0"/>
              <a:t>The </a:t>
            </a:r>
            <a:r>
              <a:rPr lang="en-US" sz="2400" b="1" dirty="0"/>
              <a:t>Central Limit Theorem</a:t>
            </a:r>
            <a:r>
              <a:rPr lang="en-US" sz="2400" dirty="0"/>
              <a:t>.</a:t>
            </a:r>
          </a:p>
          <a:p>
            <a:pPr marL="0" indent="0">
              <a:buNone/>
            </a:pPr>
            <a:r>
              <a:rPr lang="en-US" sz="2400" dirty="0"/>
              <a:t>If the sample size is </a:t>
            </a:r>
            <a:r>
              <a:rPr lang="en-US" sz="2400" i="1" dirty="0"/>
              <a:t>large enough</a:t>
            </a:r>
            <a:r>
              <a:rPr lang="en-US" sz="2400" dirty="0"/>
              <a:t>:</a:t>
            </a:r>
          </a:p>
          <a:p>
            <a:pPr lvl="1" indent="-404813">
              <a:buSzPct val="100000"/>
              <a:buFont typeface="Arial" panose="020B0604020202020204" pitchFamily="34" charset="0"/>
              <a:buChar char="•"/>
            </a:pPr>
            <a:r>
              <a:rPr lang="en-US" sz="2200" dirty="0"/>
              <a:t>The distribution of sample proportions will be bell-shaped (or normal)</a:t>
            </a:r>
          </a:p>
          <a:p>
            <a:pPr lvl="1" indent="-404813">
              <a:spcAft>
                <a:spcPts val="1200"/>
              </a:spcAft>
              <a:buSzPct val="100000"/>
              <a:buFont typeface="Arial" panose="020B0604020202020204" pitchFamily="34" charset="0"/>
              <a:buChar char="•"/>
            </a:pPr>
            <a:r>
              <a:rPr lang="en-US" sz="2200" dirty="0"/>
              <a:t>Centered at the long-run proportion (</a:t>
            </a:r>
            <a:r>
              <a:rPr lang="el-GR" sz="2200" dirty="0"/>
              <a:t>π</a:t>
            </a:r>
            <a:r>
              <a:rPr lang="en-US" sz="2200" dirty="0"/>
              <a:t>)</a:t>
            </a:r>
          </a:p>
          <a:p>
            <a:pPr lvl="1" indent="-404813">
              <a:buSzPct val="100000"/>
              <a:buFont typeface="Arial" panose="020B0604020202020204" pitchFamily="34" charset="0"/>
              <a:buChar char="•"/>
            </a:pPr>
            <a:r>
              <a:rPr lang="en-US" sz="2200" dirty="0"/>
              <a:t>With a standard deviation of</a:t>
            </a:r>
            <a:endParaRPr lang="en-US" dirty="0"/>
          </a:p>
        </p:txBody>
      </p:sp>
      <p:graphicFrame>
        <p:nvGraphicFramePr>
          <p:cNvPr id="6" name="Object 5" descr="Square root of start frac pi left parenthesis one minus pi right parenthesis over n end frac.">
            <a:extLst>
              <a:ext uri="{FF2B5EF4-FFF2-40B4-BE49-F238E27FC236}">
                <a16:creationId xmlns:a16="http://schemas.microsoft.com/office/drawing/2014/main" id="{4A6863CC-153D-46F8-A697-FA06B1C4B8FA}"/>
              </a:ext>
            </a:extLst>
          </p:cNvPr>
          <p:cNvGraphicFramePr>
            <a:graphicFrameLocks noChangeAspect="1"/>
          </p:cNvGraphicFramePr>
          <p:nvPr/>
        </p:nvGraphicFramePr>
        <p:xfrm>
          <a:off x="5868316" y="4531722"/>
          <a:ext cx="1084285" cy="641896"/>
        </p:xfrm>
        <a:graphic>
          <a:graphicData uri="http://schemas.openxmlformats.org/presentationml/2006/ole">
            <mc:AlternateContent xmlns:mc="http://schemas.openxmlformats.org/markup-compatibility/2006">
              <mc:Choice xmlns:v="urn:schemas-microsoft-com:vml" Requires="v">
                <p:oleObj name="Equation" r:id="rId3" imgW="1587240" imgH="939600" progId="Equation.DSMT4">
                  <p:embed/>
                </p:oleObj>
              </mc:Choice>
              <mc:Fallback>
                <p:oleObj name="Equation" r:id="rId3" imgW="1587240" imgH="939600" progId="Equation.DSMT4">
                  <p:embed/>
                  <p:pic>
                    <p:nvPicPr>
                      <p:cNvPr id="6" name="Object 5" descr="Square root of start frac pi left parenthesis one minus pi right parenthesis over n end frac.">
                        <a:extLst>
                          <a:ext uri="{FF2B5EF4-FFF2-40B4-BE49-F238E27FC236}">
                            <a16:creationId xmlns:a16="http://schemas.microsoft.com/office/drawing/2014/main" id="{4A6863CC-153D-46F8-A697-FA06B1C4B8FA}"/>
                          </a:ext>
                        </a:extLst>
                      </p:cNvPr>
                      <p:cNvPicPr/>
                      <p:nvPr/>
                    </p:nvPicPr>
                    <p:blipFill>
                      <a:blip r:embed="rId4"/>
                      <a:stretch>
                        <a:fillRect/>
                      </a:stretch>
                    </p:blipFill>
                    <p:spPr>
                      <a:xfrm>
                        <a:off x="5868316" y="4531722"/>
                        <a:ext cx="1084285" cy="641896"/>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F1CF412A-BC6C-4419-B40A-35670771D697}"/>
              </a:ext>
            </a:extLst>
          </p:cNvPr>
          <p:cNvSpPr>
            <a:spLocks noGrp="1"/>
          </p:cNvSpPr>
          <p:nvPr>
            <p:ph sz="quarter" idx="14"/>
          </p:nvPr>
        </p:nvSpPr>
        <p:spPr>
          <a:xfrm>
            <a:off x="1835055" y="5224826"/>
            <a:ext cx="8534400" cy="1088184"/>
          </a:xfrm>
        </p:spPr>
        <p:txBody>
          <a:bodyPr/>
          <a:lstStyle/>
          <a:p>
            <a:pPr marL="0" indent="0">
              <a:buNone/>
            </a:pPr>
            <a:r>
              <a:rPr lang="en-US" sz="2400" dirty="0"/>
              <a:t>This means we can predict the shape, center, and variability of a null distribution and don’t need to simulate under certain conditions (at least 10 successes and failures in our sample).</a:t>
            </a:r>
          </a:p>
        </p:txBody>
      </p:sp>
    </p:spTree>
    <p:extLst>
      <p:ext uri="{BB962C8B-B14F-4D97-AF65-F5344CB8AC3E}">
        <p14:creationId xmlns:p14="http://schemas.microsoft.com/office/powerpoint/2010/main" val="865211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3856A-0F06-81BD-9E1A-61EA9DA2AC8C}"/>
              </a:ext>
            </a:extLst>
          </p:cNvPr>
          <p:cNvSpPr>
            <a:spLocks noGrp="1"/>
          </p:cNvSpPr>
          <p:nvPr>
            <p:ph type="title"/>
          </p:nvPr>
        </p:nvSpPr>
        <p:spPr/>
        <p:txBody>
          <a:bodyPr/>
          <a:lstStyle/>
          <a:p>
            <a:r>
              <a:rPr lang="en-US" dirty="0"/>
              <a:t>Do I need to simulate? Or can I use the CLT?</a:t>
            </a:r>
          </a:p>
        </p:txBody>
      </p:sp>
      <p:sp>
        <p:nvSpPr>
          <p:cNvPr id="5" name="Content Placeholder 4">
            <a:extLst>
              <a:ext uri="{FF2B5EF4-FFF2-40B4-BE49-F238E27FC236}">
                <a16:creationId xmlns:a16="http://schemas.microsoft.com/office/drawing/2014/main" id="{1901FF0D-42F7-14AD-68C2-E35607FA5C9C}"/>
              </a:ext>
            </a:extLst>
          </p:cNvPr>
          <p:cNvSpPr>
            <a:spLocks noGrp="1"/>
          </p:cNvSpPr>
          <p:nvPr>
            <p:ph sz="quarter" idx="16"/>
          </p:nvPr>
        </p:nvSpPr>
        <p:spPr/>
        <p:txBody>
          <a:bodyPr/>
          <a:lstStyle/>
          <a:p>
            <a:r>
              <a:rPr lang="en-US" dirty="0"/>
              <a:t>Rock Paper Scissors: </a:t>
            </a:r>
          </a:p>
          <a:p>
            <a:pPr lvl="1"/>
            <a:r>
              <a:rPr lang="en-US" dirty="0"/>
              <a:t>20 games</a:t>
            </a:r>
          </a:p>
          <a:p>
            <a:pPr lvl="1"/>
            <a:r>
              <a:rPr lang="en-US" dirty="0"/>
              <a:t>6 games, someone uses scissors</a:t>
            </a:r>
          </a:p>
          <a:p>
            <a:pPr lvl="1"/>
            <a:r>
              <a:rPr lang="en-US" dirty="0"/>
              <a:t>20-6=14 games someone does not use scissors</a:t>
            </a:r>
          </a:p>
          <a:p>
            <a:pPr lvl="1"/>
            <a:endParaRPr lang="en-US" dirty="0"/>
          </a:p>
          <a:p>
            <a:r>
              <a:rPr lang="en-US" dirty="0"/>
              <a:t>Harley</a:t>
            </a:r>
          </a:p>
          <a:p>
            <a:pPr lvl="1"/>
            <a:r>
              <a:rPr lang="en-US" dirty="0"/>
              <a:t>10 tries</a:t>
            </a:r>
          </a:p>
          <a:p>
            <a:pPr lvl="1"/>
            <a:r>
              <a:rPr lang="en-US" dirty="0"/>
              <a:t>9 times he goes to the correct cup</a:t>
            </a:r>
          </a:p>
          <a:p>
            <a:pPr lvl="1"/>
            <a:r>
              <a:rPr lang="en-US" dirty="0"/>
              <a:t>1 time he doesn't go to the correct cup</a:t>
            </a:r>
          </a:p>
        </p:txBody>
      </p:sp>
      <p:sp>
        <p:nvSpPr>
          <p:cNvPr id="6" name="Content Placeholder 5">
            <a:extLst>
              <a:ext uri="{FF2B5EF4-FFF2-40B4-BE49-F238E27FC236}">
                <a16:creationId xmlns:a16="http://schemas.microsoft.com/office/drawing/2014/main" id="{82D2B0EB-0F48-50E1-86DB-6A0748B3E4E9}"/>
              </a:ext>
            </a:extLst>
          </p:cNvPr>
          <p:cNvSpPr>
            <a:spLocks noGrp="1"/>
          </p:cNvSpPr>
          <p:nvPr>
            <p:ph sz="quarter" idx="17"/>
          </p:nvPr>
        </p:nvSpPr>
        <p:spPr/>
        <p:txBody>
          <a:bodyPr/>
          <a:lstStyle/>
          <a:p>
            <a:r>
              <a:rPr lang="en-US" dirty="0"/>
              <a:t>Halloween Candy:</a:t>
            </a:r>
          </a:p>
          <a:p>
            <a:pPr marL="457200" indent="-457200">
              <a:buFont typeface="Arial" panose="020B0604020202020204" pitchFamily="34" charset="0"/>
              <a:buChar char="•"/>
            </a:pPr>
            <a:r>
              <a:rPr lang="en-US" dirty="0"/>
              <a:t>283 kids observed</a:t>
            </a:r>
          </a:p>
          <a:p>
            <a:pPr marL="1143000" lvl="1" indent="-457200">
              <a:buFont typeface="Arial" panose="020B0604020202020204" pitchFamily="34" charset="0"/>
              <a:buChar char="•"/>
            </a:pPr>
            <a:r>
              <a:rPr lang="en-US" dirty="0"/>
              <a:t>148 (52.3%) chose candy</a:t>
            </a:r>
          </a:p>
          <a:p>
            <a:pPr marL="1143000" lvl="1" indent="-457200">
              <a:buFont typeface="Arial" panose="020B0604020202020204" pitchFamily="34" charset="0"/>
              <a:buChar char="•"/>
            </a:pPr>
            <a:r>
              <a:rPr lang="en-US" dirty="0"/>
              <a:t>135 (47.7%) chose toys</a:t>
            </a:r>
          </a:p>
          <a:p>
            <a:pPr marL="457200" indent="-4572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ADDEEFEC-0F4D-9260-A712-4DED5C6D17FC}"/>
              </a:ext>
            </a:extLst>
          </p:cNvPr>
          <p:cNvSpPr>
            <a:spLocks noGrp="1"/>
          </p:cNvSpPr>
          <p:nvPr>
            <p:ph type="sldNum" sz="quarter" idx="10"/>
          </p:nvPr>
        </p:nvSpPr>
        <p:spPr/>
        <p:txBody>
          <a:bodyPr/>
          <a:lstStyle/>
          <a:p>
            <a:fld id="{67B19427-F580-D146-B60E-4CADEE75497F}" type="slidenum">
              <a:rPr lang="en-US" smtClean="0"/>
              <a:pPr/>
              <a:t>12</a:t>
            </a:fld>
            <a:endParaRPr lang="en-US" dirty="0"/>
          </a:p>
        </p:txBody>
      </p:sp>
      <p:sp>
        <p:nvSpPr>
          <p:cNvPr id="4" name="Footer Placeholder 3">
            <a:extLst>
              <a:ext uri="{FF2B5EF4-FFF2-40B4-BE49-F238E27FC236}">
                <a16:creationId xmlns:a16="http://schemas.microsoft.com/office/drawing/2014/main" id="{10C59A07-BA92-F782-A989-B7D5EFEF401F}"/>
              </a:ext>
            </a:extLst>
          </p:cNvPr>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3480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9B4D-5A87-6F12-D281-943387329A9A}"/>
              </a:ext>
            </a:extLst>
          </p:cNvPr>
          <p:cNvSpPr>
            <a:spLocks noGrp="1"/>
          </p:cNvSpPr>
          <p:nvPr>
            <p:ph type="title"/>
          </p:nvPr>
        </p:nvSpPr>
        <p:spPr/>
        <p:txBody>
          <a:bodyPr/>
          <a:lstStyle/>
          <a:p>
            <a:r>
              <a:rPr lang="en-US" dirty="0"/>
              <a:t>Do I need to simulate? Or can I use the CLT?</a:t>
            </a:r>
          </a:p>
        </p:txBody>
      </p:sp>
      <p:sp>
        <p:nvSpPr>
          <p:cNvPr id="3" name="Slide Number Placeholder 2">
            <a:extLst>
              <a:ext uri="{FF2B5EF4-FFF2-40B4-BE49-F238E27FC236}">
                <a16:creationId xmlns:a16="http://schemas.microsoft.com/office/drawing/2014/main" id="{633E0B06-C0F8-3D0F-875C-D73ADE31B06B}"/>
              </a:ext>
            </a:extLst>
          </p:cNvPr>
          <p:cNvSpPr>
            <a:spLocks noGrp="1"/>
          </p:cNvSpPr>
          <p:nvPr>
            <p:ph type="sldNum" sz="quarter" idx="10"/>
          </p:nvPr>
        </p:nvSpPr>
        <p:spPr/>
        <p:txBody>
          <a:bodyPr/>
          <a:lstStyle/>
          <a:p>
            <a:fld id="{67B19427-F580-D146-B60E-4CADEE75497F}" type="slidenum">
              <a:rPr lang="en-US" smtClean="0"/>
              <a:pPr/>
              <a:t>13</a:t>
            </a:fld>
            <a:endParaRPr lang="en-US" dirty="0"/>
          </a:p>
        </p:txBody>
      </p:sp>
      <p:sp>
        <p:nvSpPr>
          <p:cNvPr id="4" name="Footer Placeholder 3">
            <a:extLst>
              <a:ext uri="{FF2B5EF4-FFF2-40B4-BE49-F238E27FC236}">
                <a16:creationId xmlns:a16="http://schemas.microsoft.com/office/drawing/2014/main" id="{A921A699-087A-A343-F1B1-1E11D5494B61}"/>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D9D83DB8-7C98-539C-FCE6-413307D0ABF6}"/>
              </a:ext>
            </a:extLst>
          </p:cNvPr>
          <p:cNvSpPr>
            <a:spLocks noGrp="1"/>
          </p:cNvSpPr>
          <p:nvPr>
            <p:ph sz="quarter" idx="12"/>
          </p:nvPr>
        </p:nvSpPr>
        <p:spPr/>
        <p:txBody>
          <a:bodyPr/>
          <a:lstStyle/>
          <a:p>
            <a:r>
              <a:rPr lang="en-US" b="1" dirty="0"/>
              <a:t>When validity conditions are not met, use simulation-based methods.</a:t>
            </a:r>
          </a:p>
          <a:p>
            <a:endParaRPr lang="en-US" dirty="0"/>
          </a:p>
        </p:txBody>
      </p:sp>
    </p:spTree>
    <p:extLst>
      <p:ext uri="{BB962C8B-B14F-4D97-AF65-F5344CB8AC3E}">
        <p14:creationId xmlns:p14="http://schemas.microsoft.com/office/powerpoint/2010/main" val="2460696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B339-9D53-6AC8-8927-C3756EF16913}"/>
              </a:ext>
            </a:extLst>
          </p:cNvPr>
          <p:cNvSpPr>
            <a:spLocks noGrp="1"/>
          </p:cNvSpPr>
          <p:nvPr>
            <p:ph type="title"/>
          </p:nvPr>
        </p:nvSpPr>
        <p:spPr>
          <a:xfrm>
            <a:off x="663799" y="2547608"/>
            <a:ext cx="11379200" cy="1665616"/>
          </a:xfrm>
        </p:spPr>
        <p:txBody>
          <a:bodyPr>
            <a:normAutofit/>
          </a:bodyPr>
          <a:lstStyle/>
          <a:p>
            <a:r>
              <a:rPr lang="en-US" sz="7200" dirty="0"/>
              <a:t>Example if time</a:t>
            </a:r>
          </a:p>
        </p:txBody>
      </p:sp>
      <p:sp>
        <p:nvSpPr>
          <p:cNvPr id="3" name="Slide Number Placeholder 2">
            <a:extLst>
              <a:ext uri="{FF2B5EF4-FFF2-40B4-BE49-F238E27FC236}">
                <a16:creationId xmlns:a16="http://schemas.microsoft.com/office/drawing/2014/main" id="{629FD95C-B99E-CB5A-5673-9E2DA09F87A4}"/>
              </a:ext>
            </a:extLst>
          </p:cNvPr>
          <p:cNvSpPr>
            <a:spLocks noGrp="1"/>
          </p:cNvSpPr>
          <p:nvPr>
            <p:ph type="sldNum" sz="quarter" idx="10"/>
          </p:nvPr>
        </p:nvSpPr>
        <p:spPr/>
        <p:txBody>
          <a:bodyPr/>
          <a:lstStyle/>
          <a:p>
            <a:fld id="{67B19427-F580-D146-B60E-4CADEE75497F}" type="slidenum">
              <a:rPr lang="en-US" smtClean="0"/>
              <a:pPr/>
              <a:t>14</a:t>
            </a:fld>
            <a:endParaRPr lang="en-US" dirty="0"/>
          </a:p>
        </p:txBody>
      </p:sp>
      <p:sp>
        <p:nvSpPr>
          <p:cNvPr id="4" name="Footer Placeholder 3">
            <a:extLst>
              <a:ext uri="{FF2B5EF4-FFF2-40B4-BE49-F238E27FC236}">
                <a16:creationId xmlns:a16="http://schemas.microsoft.com/office/drawing/2014/main" id="{01D1B4EF-4796-3B02-EF3A-43024A66FAAF}"/>
              </a:ext>
            </a:extLst>
          </p:cNvPr>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1430075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a:bodyPr>
          <a:lstStyle/>
          <a:p>
            <a:r>
              <a:rPr lang="en-US" dirty="0"/>
              <a:t>Example 1.5: Halloween Treats </a:t>
            </a:r>
            <a:r>
              <a:rPr lang="en-US" sz="2000" b="0" dirty="0"/>
              <a:t>(1 of 4)</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365530" cy="4325765"/>
          </a:xfrm>
        </p:spPr>
        <p:txBody>
          <a:bodyPr/>
          <a:lstStyle/>
          <a:p>
            <a:pPr marL="292608" indent="-292608">
              <a:buClr>
                <a:schemeClr val="accent2"/>
              </a:buClr>
              <a:buFont typeface="Arial" panose="020B0604020202020204" pitchFamily="34" charset="0"/>
              <a:buChar char="•"/>
            </a:pPr>
            <a:r>
              <a:rPr lang="en-US" dirty="0"/>
              <a:t>Researchers investigated whether children show a preference for toys or candy</a:t>
            </a:r>
          </a:p>
          <a:p>
            <a:pPr marL="292608" indent="-292608">
              <a:buClr>
                <a:schemeClr val="accent2"/>
              </a:buClr>
              <a:buFont typeface="Arial" panose="020B0604020202020204" pitchFamily="34" charset="0"/>
              <a:buChar char="•"/>
            </a:pPr>
            <a:r>
              <a:rPr lang="en-US" dirty="0"/>
              <a:t>Test households in five Connecticut neighborhoods offered children two plates:</a:t>
            </a:r>
          </a:p>
          <a:p>
            <a:pPr marL="621792" lvl="1" indent="-320040">
              <a:buClr>
                <a:schemeClr val="accent2"/>
              </a:buClr>
            </a:pPr>
            <a:r>
              <a:rPr lang="en-US" dirty="0"/>
              <a:t>One with candy</a:t>
            </a:r>
          </a:p>
          <a:p>
            <a:pPr marL="621792" lvl="1" indent="-320040">
              <a:buClr>
                <a:schemeClr val="accent2"/>
              </a:buClr>
            </a:pPr>
            <a:r>
              <a:rPr lang="en-US" dirty="0"/>
              <a:t>One with small, inexpensive toys</a:t>
            </a:r>
          </a:p>
          <a:p>
            <a:pPr marL="292608" indent="-292608">
              <a:buClr>
                <a:schemeClr val="accent2"/>
              </a:buClr>
              <a:buFont typeface="Arial" panose="020B0604020202020204" pitchFamily="34" charset="0"/>
              <a:buChar char="•"/>
            </a:pPr>
            <a:r>
              <a:rPr lang="en-US" dirty="0"/>
              <a:t>The researchers observed the selections of 283 trick-or-treaters between ages 3 and 14.</a:t>
            </a:r>
          </a:p>
        </p:txBody>
      </p:sp>
    </p:spTree>
    <p:extLst>
      <p:ext uri="{BB962C8B-B14F-4D97-AF65-F5344CB8AC3E}">
        <p14:creationId xmlns:p14="http://schemas.microsoft.com/office/powerpoint/2010/main" val="2320141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p:txBody>
          <a:bodyPr>
            <a:normAutofit/>
          </a:bodyPr>
          <a:lstStyle/>
          <a:p>
            <a:r>
              <a:rPr lang="en-US" dirty="0"/>
              <a:t>Example 1.5: Halloween Treats </a:t>
            </a:r>
            <a:r>
              <a:rPr lang="en-US" sz="2000" b="0" dirty="0"/>
              <a:t>(2 of 4)</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2"/>
            <a:ext cx="8534400" cy="1821229"/>
          </a:xfrm>
        </p:spPr>
        <p:txBody>
          <a:bodyPr/>
          <a:lstStyle/>
          <a:p>
            <a:pPr marL="292608" indent="-292608">
              <a:buClr>
                <a:schemeClr val="accent2"/>
              </a:buClr>
              <a:buFont typeface="Arial" panose="020B0604020202020204" pitchFamily="34" charset="0"/>
              <a:buChar char="•"/>
            </a:pPr>
            <a:r>
              <a:rPr lang="en-US" dirty="0"/>
              <a:t>Null: The long run proportion of trick-or-treaters who choose candy is 0.50.</a:t>
            </a:r>
          </a:p>
          <a:p>
            <a:pPr marL="292608" indent="-292608">
              <a:spcAft>
                <a:spcPts val="800"/>
              </a:spcAft>
              <a:buClr>
                <a:schemeClr val="accent2"/>
              </a:buClr>
              <a:buFont typeface="Arial" panose="020B0604020202020204" pitchFamily="34" charset="0"/>
              <a:buChar char="•"/>
            </a:pPr>
            <a:r>
              <a:rPr lang="en-US" dirty="0"/>
              <a:t>Alternative: The long run proportion of trick-or-treaters who choose candy is not 0.50.</a:t>
            </a:r>
          </a:p>
          <a:p>
            <a:pPr marL="292608" indent="-292608">
              <a:buClr>
                <a:schemeClr val="accent2"/>
              </a:buClr>
              <a:buFont typeface="Arial" panose="020B0604020202020204" pitchFamily="34" charset="0"/>
              <a:buChar char="•"/>
            </a:pPr>
            <a:r>
              <a:rPr lang="en-US" dirty="0"/>
              <a:t> </a:t>
            </a:r>
          </a:p>
        </p:txBody>
      </p:sp>
      <p:graphicFrame>
        <p:nvGraphicFramePr>
          <p:cNvPr id="8" name="Object 11" descr="H sub 0: pi = 0.5.&#10;">
            <a:extLst>
              <a:ext uri="{FF2B5EF4-FFF2-40B4-BE49-F238E27FC236}">
                <a16:creationId xmlns:a16="http://schemas.microsoft.com/office/drawing/2014/main" id="{FC46580F-E951-4B6C-B9B1-E1946B71CF53}"/>
              </a:ext>
            </a:extLst>
          </p:cNvPr>
          <p:cNvGraphicFramePr>
            <a:graphicFrameLocks noChangeAspect="1"/>
          </p:cNvGraphicFramePr>
          <p:nvPr/>
        </p:nvGraphicFramePr>
        <p:xfrm>
          <a:off x="2202350" y="3859213"/>
          <a:ext cx="1616075" cy="392112"/>
        </p:xfrm>
        <a:graphic>
          <a:graphicData uri="http://schemas.openxmlformats.org/presentationml/2006/ole">
            <mc:AlternateContent xmlns:mc="http://schemas.openxmlformats.org/markup-compatibility/2006">
              <mc:Choice xmlns:v="urn:schemas-microsoft-com:vml" Requires="v">
                <p:oleObj name="Equation" r:id="rId2" imgW="1777680" imgH="431640" progId="Equation.DSMT4">
                  <p:embed/>
                </p:oleObj>
              </mc:Choice>
              <mc:Fallback>
                <p:oleObj name="Equation" r:id="rId2" imgW="1777680" imgH="431640" progId="Equation.DSMT4">
                  <p:embed/>
                  <p:pic>
                    <p:nvPicPr>
                      <p:cNvPr id="8" name="Object 11" descr="H sub 0: pi = 0.5.&#10;">
                        <a:extLst>
                          <a:ext uri="{FF2B5EF4-FFF2-40B4-BE49-F238E27FC236}">
                            <a16:creationId xmlns:a16="http://schemas.microsoft.com/office/drawing/2014/main" id="{FC46580F-E951-4B6C-B9B1-E1946B71CF53}"/>
                          </a:ext>
                        </a:extLst>
                      </p:cNvPr>
                      <p:cNvPicPr/>
                      <p:nvPr/>
                    </p:nvPicPr>
                    <p:blipFill>
                      <a:blip r:embed="rId3"/>
                      <a:stretch>
                        <a:fillRect/>
                      </a:stretch>
                    </p:blipFill>
                    <p:spPr>
                      <a:xfrm>
                        <a:off x="2202350" y="3859213"/>
                        <a:ext cx="1616075" cy="392112"/>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0ABC33D9-32F3-4192-85CC-D154F528F5E4}"/>
              </a:ext>
            </a:extLst>
          </p:cNvPr>
          <p:cNvSpPr>
            <a:spLocks noGrp="1"/>
          </p:cNvSpPr>
          <p:nvPr>
            <p:ph sz="quarter" idx="13"/>
          </p:nvPr>
        </p:nvSpPr>
        <p:spPr>
          <a:xfrm>
            <a:off x="1828800" y="4263845"/>
            <a:ext cx="8534400" cy="519790"/>
          </a:xfrm>
        </p:spPr>
        <p:txBody>
          <a:bodyPr/>
          <a:lstStyle/>
          <a:p>
            <a:r>
              <a:rPr lang="en-US" dirty="0"/>
              <a:t> </a:t>
            </a:r>
          </a:p>
        </p:txBody>
      </p:sp>
      <p:graphicFrame>
        <p:nvGraphicFramePr>
          <p:cNvPr id="9" name="Object 12" descr="H sub a: pi &gt; 0.5.&#10;">
            <a:extLst>
              <a:ext uri="{FF2B5EF4-FFF2-40B4-BE49-F238E27FC236}">
                <a16:creationId xmlns:a16="http://schemas.microsoft.com/office/drawing/2014/main" id="{59DF3475-A52F-41F2-8916-447DC61222B9}"/>
              </a:ext>
            </a:extLst>
          </p:cNvPr>
          <p:cNvGraphicFramePr>
            <a:graphicFrameLocks noChangeAspect="1"/>
          </p:cNvGraphicFramePr>
          <p:nvPr/>
        </p:nvGraphicFramePr>
        <p:xfrm>
          <a:off x="2207856" y="4325938"/>
          <a:ext cx="1581150" cy="393700"/>
        </p:xfrm>
        <a:graphic>
          <a:graphicData uri="http://schemas.openxmlformats.org/presentationml/2006/ole">
            <mc:AlternateContent xmlns:mc="http://schemas.openxmlformats.org/markup-compatibility/2006">
              <mc:Choice xmlns:v="urn:schemas-microsoft-com:vml" Requires="v">
                <p:oleObj name="Equation" r:id="rId4" imgW="1739880" imgH="431640" progId="Equation.DSMT4">
                  <p:embed/>
                </p:oleObj>
              </mc:Choice>
              <mc:Fallback>
                <p:oleObj name="Equation" r:id="rId4" imgW="1739880" imgH="431640" progId="Equation.DSMT4">
                  <p:embed/>
                  <p:pic>
                    <p:nvPicPr>
                      <p:cNvPr id="9" name="Object 12" descr="H sub a: pi &gt; 0.5.&#10;">
                        <a:extLst>
                          <a:ext uri="{FF2B5EF4-FFF2-40B4-BE49-F238E27FC236}">
                            <a16:creationId xmlns:a16="http://schemas.microsoft.com/office/drawing/2014/main" id="{59DF3475-A52F-41F2-8916-447DC61222B9}"/>
                          </a:ext>
                        </a:extLst>
                      </p:cNvPr>
                      <p:cNvPicPr/>
                      <p:nvPr/>
                    </p:nvPicPr>
                    <p:blipFill>
                      <a:blip r:embed="rId5"/>
                      <a:stretch>
                        <a:fillRect/>
                      </a:stretch>
                    </p:blipFill>
                    <p:spPr>
                      <a:xfrm>
                        <a:off x="2207856" y="4325938"/>
                        <a:ext cx="1581150" cy="3937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F1CF412A-BC6C-4419-B40A-35670771D697}"/>
              </a:ext>
            </a:extLst>
          </p:cNvPr>
          <p:cNvSpPr>
            <a:spLocks noGrp="1"/>
          </p:cNvSpPr>
          <p:nvPr>
            <p:ph sz="quarter" idx="14"/>
          </p:nvPr>
        </p:nvSpPr>
        <p:spPr>
          <a:xfrm>
            <a:off x="1828800" y="4795111"/>
            <a:ext cx="8534400" cy="910740"/>
          </a:xfrm>
        </p:spPr>
        <p:txBody>
          <a:bodyPr/>
          <a:lstStyle/>
          <a:p>
            <a:pPr marL="0" indent="0">
              <a:lnSpc>
                <a:spcPct val="100000"/>
              </a:lnSpc>
              <a:buNone/>
            </a:pPr>
            <a:r>
              <a:rPr lang="en-US" dirty="0"/>
              <a:t>Notice we are focusing on candy but could have easily done this focusing on the toy.</a:t>
            </a:r>
          </a:p>
        </p:txBody>
      </p:sp>
    </p:spTree>
    <p:extLst>
      <p:ext uri="{BB962C8B-B14F-4D97-AF65-F5344CB8AC3E}">
        <p14:creationId xmlns:p14="http://schemas.microsoft.com/office/powerpoint/2010/main" val="2615095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a:bodyPr>
          <a:lstStyle/>
          <a:p>
            <a:r>
              <a:rPr lang="en-US" dirty="0"/>
              <a:t>Example 1.5: Halloween Treats </a:t>
            </a:r>
            <a:r>
              <a:rPr lang="en-US" sz="2000" b="0" dirty="0"/>
              <a:t>(3 of 4)</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365530" cy="4325765"/>
          </a:xfrm>
        </p:spPr>
        <p:txBody>
          <a:bodyPr/>
          <a:lstStyle/>
          <a:p>
            <a:pPr marL="292608" indent="-292608">
              <a:buClr>
                <a:schemeClr val="accent2"/>
              </a:buClr>
              <a:buFont typeface="Arial" panose="020B0604020202020204" pitchFamily="34" charset="0"/>
              <a:buChar char="•"/>
            </a:pPr>
            <a:r>
              <a:rPr lang="en-US" dirty="0"/>
              <a:t>283 children were observed</a:t>
            </a:r>
          </a:p>
          <a:p>
            <a:pPr marL="621792" lvl="1" indent="-320040">
              <a:buClr>
                <a:schemeClr val="accent2"/>
              </a:buClr>
            </a:pPr>
            <a:r>
              <a:rPr lang="en-US" dirty="0"/>
              <a:t>148 (52.3%) chose candy</a:t>
            </a:r>
          </a:p>
          <a:p>
            <a:pPr marL="621792" lvl="1" indent="-320040">
              <a:spcAft>
                <a:spcPts val="600"/>
              </a:spcAft>
              <a:buClr>
                <a:schemeClr val="accent2"/>
              </a:buClr>
            </a:pPr>
            <a:r>
              <a:rPr lang="en-US" dirty="0"/>
              <a:t>135 (47.7%) chose toys</a:t>
            </a:r>
          </a:p>
          <a:p>
            <a:pPr marL="292608" indent="-292608">
              <a:buClr>
                <a:schemeClr val="accent2"/>
              </a:buClr>
              <a:buFont typeface="Arial" panose="020B0604020202020204" pitchFamily="34" charset="0"/>
              <a:buChar char="•"/>
            </a:pPr>
            <a:r>
              <a:rPr lang="en-US" dirty="0"/>
              <a:t>Run the applet: </a:t>
            </a:r>
          </a:p>
          <a:p>
            <a:pPr marL="749808" lvl="1" indent="-292608">
              <a:buClr>
                <a:schemeClr val="accent2"/>
              </a:buClr>
              <a:buFont typeface="Arial" panose="020B0604020202020204" pitchFamily="34" charset="0"/>
              <a:buChar char="•"/>
            </a:pPr>
            <a:r>
              <a:rPr lang="en-US" dirty="0"/>
              <a:t>What is the p-value (two-sided)? </a:t>
            </a:r>
          </a:p>
          <a:p>
            <a:pPr marL="749808" lvl="1" indent="-292608">
              <a:buClr>
                <a:schemeClr val="accent2"/>
              </a:buClr>
              <a:buFont typeface="Arial" panose="020B0604020202020204" pitchFamily="34" charset="0"/>
              <a:buChar char="•"/>
            </a:pPr>
            <a:r>
              <a:rPr lang="en-US" dirty="0"/>
              <a:t>What is the standard deviation?</a:t>
            </a:r>
          </a:p>
        </p:txBody>
      </p:sp>
    </p:spTree>
    <p:extLst>
      <p:ext uri="{BB962C8B-B14F-4D97-AF65-F5344CB8AC3E}">
        <p14:creationId xmlns:p14="http://schemas.microsoft.com/office/powerpoint/2010/main" val="2966957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319C-E623-FC99-A4F5-8CDA8803F3CE}"/>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84501754-26C5-4004-8AB4-4C6DFA24078A}"/>
              </a:ext>
            </a:extLst>
          </p:cNvPr>
          <p:cNvSpPr>
            <a:spLocks noGrp="1"/>
          </p:cNvSpPr>
          <p:nvPr>
            <p:ph type="sldNum" sz="quarter" idx="10"/>
          </p:nvPr>
        </p:nvSpPr>
        <p:spPr/>
        <p:txBody>
          <a:bodyPr/>
          <a:lstStyle/>
          <a:p>
            <a:fld id="{67B19427-F580-D146-B60E-4CADEE75497F}" type="slidenum">
              <a:rPr lang="en-US" smtClean="0"/>
              <a:pPr/>
              <a:t>18</a:t>
            </a:fld>
            <a:endParaRPr lang="en-US" dirty="0"/>
          </a:p>
        </p:txBody>
      </p:sp>
      <p:sp>
        <p:nvSpPr>
          <p:cNvPr id="4" name="Footer Placeholder 3">
            <a:extLst>
              <a:ext uri="{FF2B5EF4-FFF2-40B4-BE49-F238E27FC236}">
                <a16:creationId xmlns:a16="http://schemas.microsoft.com/office/drawing/2014/main" id="{5231084B-B59A-D063-AFD9-E7B26743A501}"/>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CA9B9E4A-F4A4-3AF5-4A2C-6222EF257B36}"/>
              </a:ext>
            </a:extLst>
          </p:cNvPr>
          <p:cNvSpPr>
            <a:spLocks noGrp="1"/>
          </p:cNvSpPr>
          <p:nvPr>
            <p:ph sz="quarter" idx="12"/>
          </p:nvPr>
        </p:nvSpPr>
        <p:spPr/>
        <p:txBody>
          <a:bodyPr/>
          <a:lstStyle/>
          <a:p>
            <a:r>
              <a:rPr lang="en-US" dirty="0"/>
              <a:t>What is the standard deviation using the Central Limit Theorem?</a:t>
            </a:r>
          </a:p>
          <a:p>
            <a:r>
              <a:rPr lang="en-US" dirty="0"/>
              <a:t>What is the </a:t>
            </a:r>
            <a:r>
              <a:rPr lang="en-US" i="1" dirty="0"/>
              <a:t>z</a:t>
            </a:r>
            <a:r>
              <a:rPr lang="en-US" dirty="0"/>
              <a:t>-statistic, using that computation?</a:t>
            </a:r>
          </a:p>
        </p:txBody>
      </p:sp>
      <p:pic>
        <p:nvPicPr>
          <p:cNvPr id="6" name="Picture 5">
            <a:extLst>
              <a:ext uri="{FF2B5EF4-FFF2-40B4-BE49-F238E27FC236}">
                <a16:creationId xmlns:a16="http://schemas.microsoft.com/office/drawing/2014/main" id="{E311EE6E-A103-AE36-08AA-9E74C904F17B}"/>
              </a:ext>
            </a:extLst>
          </p:cNvPr>
          <p:cNvPicPr>
            <a:picLocks noChangeAspect="1"/>
          </p:cNvPicPr>
          <p:nvPr/>
        </p:nvPicPr>
        <p:blipFill>
          <a:blip r:embed="rId2"/>
          <a:stretch>
            <a:fillRect/>
          </a:stretch>
        </p:blipFill>
        <p:spPr>
          <a:xfrm>
            <a:off x="2082800" y="3429000"/>
            <a:ext cx="8026400" cy="1130300"/>
          </a:xfrm>
          <a:prstGeom prst="rect">
            <a:avLst/>
          </a:prstGeom>
        </p:spPr>
      </p:pic>
    </p:spTree>
    <p:extLst>
      <p:ext uri="{BB962C8B-B14F-4D97-AF65-F5344CB8AC3E}">
        <p14:creationId xmlns:p14="http://schemas.microsoft.com/office/powerpoint/2010/main" val="203041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FA68-01D6-4838-A609-550330B23F60}"/>
              </a:ext>
            </a:extLst>
          </p:cNvPr>
          <p:cNvSpPr>
            <a:spLocks noGrp="1"/>
          </p:cNvSpPr>
          <p:nvPr>
            <p:ph type="title"/>
          </p:nvPr>
        </p:nvSpPr>
        <p:spPr>
          <a:xfrm>
            <a:off x="1828800" y="620885"/>
            <a:ext cx="8534400" cy="1062530"/>
          </a:xfrm>
        </p:spPr>
        <p:txBody>
          <a:bodyPr>
            <a:noAutofit/>
          </a:bodyPr>
          <a:lstStyle/>
          <a:p>
            <a:r>
              <a:rPr lang="en-US" sz="3200" dirty="0"/>
              <a:t>Example 1.5: Simulation- and Theory-Based Results from the One Proportion Applet</a:t>
            </a:r>
          </a:p>
        </p:txBody>
      </p:sp>
      <p:pic>
        <p:nvPicPr>
          <p:cNvPr id="9" name="Content Placeholder 5" descr="A dotplot describes the results of applet for the Halloween treat study. The horizontal axis is labeled Proportion of heads and has markings from 0.40 to 0.59 in varying increments of 0.02 and 0.03. The vertical axis ranges from 0 to 60 in increments of 20. A series of dots is plotted vertically for each Proportion of heads. The dots are plotted as follows: 1 dot above 0.410; 1 dot above 0.42; 2 dots above 0.424; 2 dots above 0.428; 2 dots above 0.432; 2 dots above 0.434; 6 dots above 0.438; 3 dots above 0.442; 8 dots above 0.45; 5 dots above 0.454; 9 dots above 0.458; 16 dots above 0.462; 25 dots above 0.464; 17 dots above 0.466; 26 dots above 0.468; 22 dots above 0.47; 30 dots above 0.472; 29 dots above 0.474; 33 dots above 0.476; 43 dots above 0.478; 41 dots above 0.481; 54 dots above 0.484; 41 dots above 0.49; 38 dots above 0.492; 57 dots above 0.494; 47 dots above 0.496; 48 dots above 0.498; 55 dots above 0.500; 37 dots above 0.510; 40 dots above 0.52; 32 dots above 0.524; 28 dots above 0.526; 34 dots above 0.528; 23 dots above 0.530; 29 dots above 0.532; 22 dots above 0.536; 16 dots above 0.540; 22 dots above 0.542; 16 dots above 0.544; 9 dots above 0.548; 10 dots above 0.552; 8 dots above 0.554; 3 dots above 0.558; 2 dots above 0.57; 1 dot above 0.572; and 2 dots above 0.59. The dots plotted from 0.410 to 0.476 and from 0.526 to 0.59 are highlighted in red and the dots plotted from 0.476 to 0.526 are highlighted in blue. A red vertical line extends from 0.526 and covers the whole range of the vertical axis and it is marked with the value, 0.4670 at the top. The expression to the bottom right of the line reads, greater than or equal to 0.5230 and the expression to the bottom left of the line reads, less than or equal to 0.4770. The mean is 0.499 and the standard deviation is 0.029. An overlaid normal distribution curve is drawn over the dotplot. The curve starts from the point, 0.405, reaches its peak of 45 at 0.494, and ends at 0.59. The areas under the curve from 0.410 to 0.476 and from 0.526 to 0.529 are shaded in orange and the area under the curve from 0.476 to 0.526 is shaded in blue. All values are approximate. &#10;To the left of the dotplot, a field labeled Probability of heads displays the value 0.5. Below this, another field labeled Number of tosses displays the value 283, and it is followed by another field labeled Number of repetitions which displays the value 1000. Below the field number of repetitions, there are two radio buttons for Number of heads, and Proportion of heads, one below the other. The radio button corresponding to Proportion of heads is selected. Below the radio buttons, is a field labeled, As extreme as which displays a greater than or equal to symbol, and to its right is a value text box which displays the value, 0.523. Below this is an expression, Proportion of samples: (233 plus 234) over 1000 equals 0.4670 (highlighted). Below the expression, there are three check boxes for Tow-sided, Exact Binomial, and Normal Approximation, one below the other. The check box Tow-sided and Normal Approximation are selected. Below this is an expression, p-value equals 0.4390 (Z equals 0.77) (highlighted). ">
            <a:extLst>
              <a:ext uri="{FF2B5EF4-FFF2-40B4-BE49-F238E27FC236}">
                <a16:creationId xmlns:a16="http://schemas.microsoft.com/office/drawing/2014/main" id="{2697CE5B-51AB-4662-A88B-854C172C2F0E}"/>
              </a:ext>
            </a:extLst>
          </p:cNvPr>
          <p:cNvPicPr>
            <a:picLocks noGrp="1" noChangeAspect="1"/>
          </p:cNvPicPr>
          <p:nvPr>
            <p:ph type="pic" sz="quarter" idx="15"/>
          </p:nvPr>
        </p:nvPicPr>
        <p:blipFill>
          <a:blip r:embed="rId3"/>
          <a:stretch>
            <a:fillRect/>
          </a:stretch>
        </p:blipFill>
        <p:spPr>
          <a:xfrm>
            <a:off x="1036248" y="2012875"/>
            <a:ext cx="7048500" cy="3990975"/>
          </a:xfrm>
          <a:prstGeom prst="rect">
            <a:avLst/>
          </a:prstGeom>
        </p:spPr>
      </p:pic>
      <p:graphicFrame>
        <p:nvGraphicFramePr>
          <p:cNvPr id="3" name="Object 20" descr="Square root of start frac 0.5 left parenthesis one minus 0.5 right parenthesis over 283 end frac equals 0.0297 full stop">
            <a:extLst>
              <a:ext uri="{FF2B5EF4-FFF2-40B4-BE49-F238E27FC236}">
                <a16:creationId xmlns:a16="http://schemas.microsoft.com/office/drawing/2014/main" id="{D0461683-32C5-C830-76B0-D4B6230D24A4}"/>
              </a:ext>
            </a:extLst>
          </p:cNvPr>
          <p:cNvGraphicFramePr>
            <a:graphicFrameLocks noChangeAspect="1"/>
          </p:cNvGraphicFramePr>
          <p:nvPr>
            <p:extLst>
              <p:ext uri="{D42A27DB-BD31-4B8C-83A1-F6EECF244321}">
                <p14:modId xmlns:p14="http://schemas.microsoft.com/office/powerpoint/2010/main" val="2930134111"/>
              </p:ext>
            </p:extLst>
          </p:nvPr>
        </p:nvGraphicFramePr>
        <p:xfrm>
          <a:off x="8943836" y="2282904"/>
          <a:ext cx="2838727" cy="846262"/>
        </p:xfrm>
        <a:graphic>
          <a:graphicData uri="http://schemas.openxmlformats.org/presentationml/2006/ole">
            <mc:AlternateContent xmlns:mc="http://schemas.openxmlformats.org/markup-compatibility/2006">
              <mc:Choice xmlns:v="urn:schemas-microsoft-com:vml" Requires="v">
                <p:oleObj name="Equation" r:id="rId4" imgW="3365280" imgH="1002960" progId="Equation.DSMT4">
                  <p:embed/>
                </p:oleObj>
              </mc:Choice>
              <mc:Fallback>
                <p:oleObj name="Equation" r:id="rId4" imgW="3365280" imgH="1002960" progId="Equation.DSMT4">
                  <p:embed/>
                  <p:pic>
                    <p:nvPicPr>
                      <p:cNvPr id="2" name="Object 20" descr="Square root of start frac 0.5 left parenthesis one minus 0.5 right parenthesis over 283 end frac equals 0.0297 full stop">
                        <a:extLst>
                          <a:ext uri="{FF2B5EF4-FFF2-40B4-BE49-F238E27FC236}">
                            <a16:creationId xmlns:a16="http://schemas.microsoft.com/office/drawing/2014/main" id="{D46B9975-EBED-4E6D-1557-C1369BC2C4E6}"/>
                          </a:ext>
                        </a:extLst>
                      </p:cNvPr>
                      <p:cNvPicPr/>
                      <p:nvPr/>
                    </p:nvPicPr>
                    <p:blipFill>
                      <a:blip r:embed="rId5"/>
                      <a:stretch>
                        <a:fillRect/>
                      </a:stretch>
                    </p:blipFill>
                    <p:spPr>
                      <a:xfrm>
                        <a:off x="8943836" y="2282904"/>
                        <a:ext cx="2838727" cy="846262"/>
                      </a:xfrm>
                      <a:prstGeom prst="rect">
                        <a:avLst/>
                      </a:prstGeom>
                    </p:spPr>
                  </p:pic>
                </p:oleObj>
              </mc:Fallback>
            </mc:AlternateContent>
          </a:graphicData>
        </a:graphic>
      </p:graphicFrame>
    </p:spTree>
    <p:extLst>
      <p:ext uri="{BB962C8B-B14F-4D97-AF65-F5344CB8AC3E}">
        <p14:creationId xmlns:p14="http://schemas.microsoft.com/office/powerpoint/2010/main" val="841255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E132FA8-8A02-4115-AAEE-977895437782}"/>
              </a:ext>
            </a:extLst>
          </p:cNvPr>
          <p:cNvSpPr>
            <a:spLocks noGrp="1"/>
          </p:cNvSpPr>
          <p:nvPr>
            <p:ph type="title"/>
          </p:nvPr>
        </p:nvSpPr>
        <p:spPr>
          <a:xfrm>
            <a:off x="1828800" y="620885"/>
            <a:ext cx="8534400" cy="1062530"/>
          </a:xfrm>
        </p:spPr>
        <p:txBody>
          <a:bodyPr>
            <a:normAutofit/>
          </a:bodyPr>
          <a:lstStyle/>
          <a:p>
            <a:r>
              <a:rPr lang="en-US" dirty="0"/>
              <a:t>Example 1.5: Halloween Treats </a:t>
            </a:r>
            <a:r>
              <a:rPr lang="en-US" sz="2000" b="0" dirty="0"/>
              <a:t>(4 of 4)</a:t>
            </a:r>
            <a:endParaRPr lang="en-US" dirty="0"/>
          </a:p>
        </p:txBody>
      </p:sp>
      <p:sp>
        <p:nvSpPr>
          <p:cNvPr id="16" name="Content Placeholder 15">
            <a:extLst>
              <a:ext uri="{FF2B5EF4-FFF2-40B4-BE49-F238E27FC236}">
                <a16:creationId xmlns:a16="http://schemas.microsoft.com/office/drawing/2014/main" id="{4B0D35B7-4595-4957-954A-87AE140FA6A2}"/>
              </a:ext>
            </a:extLst>
          </p:cNvPr>
          <p:cNvSpPr>
            <a:spLocks noGrp="1"/>
          </p:cNvSpPr>
          <p:nvPr>
            <p:ph sz="quarter" idx="12"/>
          </p:nvPr>
        </p:nvSpPr>
        <p:spPr>
          <a:xfrm>
            <a:off x="1828800" y="1911351"/>
            <a:ext cx="8365530" cy="4325765"/>
          </a:xfrm>
        </p:spPr>
        <p:txBody>
          <a:bodyPr/>
          <a:lstStyle/>
          <a:p>
            <a:pPr marL="292608" indent="-292608">
              <a:buClr>
                <a:schemeClr val="accent2"/>
              </a:buClr>
              <a:buFont typeface="Arial" panose="020B0604020202020204" pitchFamily="34" charset="0"/>
              <a:buChar char="•"/>
            </a:pPr>
            <a:r>
              <a:rPr lang="en-US" dirty="0"/>
              <a:t>The theory-based </a:t>
            </a:r>
            <a:r>
              <a:rPr lang="en-US" i="1" dirty="0"/>
              <a:t>p</a:t>
            </a:r>
            <a:r>
              <a:rPr lang="en-US" dirty="0"/>
              <a:t>-value is 0.4390 so if half of the population of trick-or-treaters preferred candy, then there’s a 43.90% chance that a random sample of 283 trick-or-treaters would have 148 or more, or 135 or fewer, choose the candy. </a:t>
            </a:r>
          </a:p>
          <a:p>
            <a:pPr marL="292608" indent="-292608">
              <a:buClr>
                <a:schemeClr val="accent2"/>
              </a:buClr>
              <a:buFont typeface="Arial" panose="020B0604020202020204" pitchFamily="34" charset="0"/>
              <a:buChar char="•"/>
            </a:pPr>
            <a:r>
              <a:rPr lang="en-US" dirty="0"/>
              <a:t>Because it’s not a small </a:t>
            </a:r>
            <a:r>
              <a:rPr lang="en-US" i="1" dirty="0"/>
              <a:t>p</a:t>
            </a:r>
            <a:r>
              <a:rPr lang="en-US" dirty="0"/>
              <a:t>-value, </a:t>
            </a:r>
            <a:r>
              <a:rPr lang="en-US" b="1" dirty="0"/>
              <a:t>we don’t have strong (or even moderate) evidence that trick-or-treaters prefer one type of treat over the other. </a:t>
            </a:r>
          </a:p>
        </p:txBody>
      </p:sp>
    </p:spTree>
    <p:extLst>
      <p:ext uri="{BB962C8B-B14F-4D97-AF65-F5344CB8AC3E}">
        <p14:creationId xmlns:p14="http://schemas.microsoft.com/office/powerpoint/2010/main" val="1629585073"/>
      </p:ext>
    </p:extLst>
  </p:cSld>
  <p:clrMapOvr>
    <a:masterClrMapping/>
  </p:clrMapOvr>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1078</TotalTime>
  <Words>955</Words>
  <Application>Microsoft Macintosh PowerPoint</Application>
  <PresentationFormat>Widescreen</PresentationFormat>
  <Paragraphs>118</Paragraphs>
  <Slides>20</Slides>
  <Notes>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0" baseType="lpstr">
      <vt:lpstr>Aptos</vt:lpstr>
      <vt:lpstr>Arial</vt:lpstr>
      <vt:lpstr>Calibri</vt:lpstr>
      <vt:lpstr>Courier New</vt:lpstr>
      <vt:lpstr>Source Sans Pro</vt:lpstr>
      <vt:lpstr>STIX</vt:lpstr>
      <vt:lpstr>Times New Roman</vt:lpstr>
      <vt:lpstr>Opener</vt:lpstr>
      <vt:lpstr>Image Slide Master</vt:lpstr>
      <vt:lpstr>Equation</vt:lpstr>
      <vt:lpstr>Introduction to Statistical Investigations</vt:lpstr>
      <vt:lpstr>Simulation-Based vs. Theory-Based</vt:lpstr>
      <vt:lpstr>Theory-Based Techniques</vt:lpstr>
      <vt:lpstr>The Null Distributions</vt:lpstr>
      <vt:lpstr>The Normal Distribution</vt:lpstr>
      <vt:lpstr>Examples from this Chapter</vt:lpstr>
      <vt:lpstr>Advantages and Disadvantages of Theory-Based Tests</vt:lpstr>
      <vt:lpstr>When Can I Use a Theory-Based Test that Uses the Normal Distribution?</vt:lpstr>
      <vt:lpstr>Senate Elections</vt:lpstr>
      <vt:lpstr>Example 1.5: Predicting Standard Deviation</vt:lpstr>
      <vt:lpstr>Example 1.5: Central Limit Theorem</vt:lpstr>
      <vt:lpstr>Do I need to simulate? Or can I use the CLT?</vt:lpstr>
      <vt:lpstr>Do I need to simulate? Or can I use the CLT?</vt:lpstr>
      <vt:lpstr>Example if time</vt:lpstr>
      <vt:lpstr>Example 1.5: Halloween Treats (1 of 4)</vt:lpstr>
      <vt:lpstr>Example 1.5: Halloween Treats (2 of 4)</vt:lpstr>
      <vt:lpstr>Example 1.5: Halloween Treats (3 of 4)</vt:lpstr>
      <vt:lpstr>PowerPoint Presentation</vt:lpstr>
      <vt:lpstr>Example 1.5: Simulation- and Theory-Based Results from the One Proportion Applet</vt:lpstr>
      <vt:lpstr>Example 1.5: Halloween Treats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R Roscoe</dc:creator>
  <cp:lastModifiedBy>Sarah R Roscoe</cp:lastModifiedBy>
  <cp:revision>2</cp:revision>
  <dcterms:created xsi:type="dcterms:W3CDTF">2026-02-24T00:20:12Z</dcterms:created>
  <dcterms:modified xsi:type="dcterms:W3CDTF">2026-02-24T18:18:42Z</dcterms:modified>
</cp:coreProperties>
</file>