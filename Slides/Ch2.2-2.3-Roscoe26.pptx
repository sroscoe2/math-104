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7" r:id="rId2"/>
  </p:sldMasterIdLst>
  <p:notesMasterIdLst>
    <p:notesMasterId r:id="rId50"/>
  </p:notesMasterIdLst>
  <p:sldIdLst>
    <p:sldId id="436" r:id="rId3"/>
    <p:sldId id="808" r:id="rId4"/>
    <p:sldId id="750" r:id="rId5"/>
    <p:sldId id="751" r:id="rId6"/>
    <p:sldId id="752" r:id="rId7"/>
    <p:sldId id="753" r:id="rId8"/>
    <p:sldId id="754" r:id="rId9"/>
    <p:sldId id="804" r:id="rId10"/>
    <p:sldId id="755" r:id="rId11"/>
    <p:sldId id="805" r:id="rId12"/>
    <p:sldId id="756" r:id="rId13"/>
    <p:sldId id="802" r:id="rId14"/>
    <p:sldId id="757" r:id="rId15"/>
    <p:sldId id="758" r:id="rId16"/>
    <p:sldId id="759" r:id="rId17"/>
    <p:sldId id="760" r:id="rId18"/>
    <p:sldId id="761" r:id="rId19"/>
    <p:sldId id="806" r:id="rId20"/>
    <p:sldId id="763" r:id="rId21"/>
    <p:sldId id="764" r:id="rId22"/>
    <p:sldId id="765" r:id="rId23"/>
    <p:sldId id="766" r:id="rId24"/>
    <p:sldId id="803" r:id="rId25"/>
    <p:sldId id="767" r:id="rId26"/>
    <p:sldId id="768" r:id="rId27"/>
    <p:sldId id="690" r:id="rId28"/>
    <p:sldId id="769" r:id="rId29"/>
    <p:sldId id="770" r:id="rId30"/>
    <p:sldId id="771" r:id="rId31"/>
    <p:sldId id="775" r:id="rId32"/>
    <p:sldId id="578" r:id="rId33"/>
    <p:sldId id="772" r:id="rId34"/>
    <p:sldId id="774" r:id="rId35"/>
    <p:sldId id="776" r:id="rId36"/>
    <p:sldId id="777" r:id="rId37"/>
    <p:sldId id="778" r:id="rId38"/>
    <p:sldId id="779" r:id="rId39"/>
    <p:sldId id="780" r:id="rId40"/>
    <p:sldId id="781" r:id="rId41"/>
    <p:sldId id="782" r:id="rId42"/>
    <p:sldId id="783" r:id="rId43"/>
    <p:sldId id="784" r:id="rId44"/>
    <p:sldId id="785" r:id="rId45"/>
    <p:sldId id="786" r:id="rId46"/>
    <p:sldId id="787" r:id="rId47"/>
    <p:sldId id="788" r:id="rId48"/>
    <p:sldId id="807"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770"/>
  </p:normalViewPr>
  <p:slideViewPr>
    <p:cSldViewPr snapToGrid="0">
      <p:cViewPr varScale="1">
        <p:scale>
          <a:sx n="133" d="100"/>
          <a:sy n="133" d="100"/>
        </p:scale>
        <p:origin x="160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74FED0-2A6D-0B41-B10D-13CC99DF0B90}" type="datetimeFigureOut">
              <a:rPr lang="en-US" smtClean="0"/>
              <a:t>3/2/26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FF388A-3BC8-A142-AF66-8F5EA441DA44}" type="slidenum">
              <a:rPr lang="en-US" smtClean="0"/>
              <a:t>‹#›</a:t>
            </a:fld>
            <a:endParaRPr lang="en-US"/>
          </a:p>
        </p:txBody>
      </p:sp>
    </p:spTree>
    <p:extLst>
      <p:ext uri="{BB962C8B-B14F-4D97-AF65-F5344CB8AC3E}">
        <p14:creationId xmlns:p14="http://schemas.microsoft.com/office/powerpoint/2010/main" val="3933604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073E54-D085-4E2E-B9A5-A53D7E51940E}"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783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FF388A-3BC8-A142-AF66-8F5EA441DA44}" type="slidenum">
              <a:rPr lang="en-US" smtClean="0"/>
              <a:t>2</a:t>
            </a:fld>
            <a:endParaRPr lang="en-US"/>
          </a:p>
        </p:txBody>
      </p:sp>
    </p:spTree>
    <p:extLst>
      <p:ext uri="{BB962C8B-B14F-4D97-AF65-F5344CB8AC3E}">
        <p14:creationId xmlns:p14="http://schemas.microsoft.com/office/powerpoint/2010/main" val="2809484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FF388A-3BC8-A142-AF66-8F5EA441DA44}" type="slidenum">
              <a:rPr lang="en-US" smtClean="0"/>
              <a:t>3</a:t>
            </a:fld>
            <a:endParaRPr lang="en-US"/>
          </a:p>
        </p:txBody>
      </p:sp>
    </p:spTree>
    <p:extLst>
      <p:ext uri="{BB962C8B-B14F-4D97-AF65-F5344CB8AC3E}">
        <p14:creationId xmlns:p14="http://schemas.microsoft.com/office/powerpoint/2010/main" val="3857590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073E54-D085-4E2E-B9A5-A53D7E51940E}"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199044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FF388A-3BC8-A142-AF66-8F5EA441DA44}" type="slidenum">
              <a:rPr lang="en-US" smtClean="0"/>
              <a:t>16</a:t>
            </a:fld>
            <a:endParaRPr lang="en-US"/>
          </a:p>
        </p:txBody>
      </p:sp>
    </p:spTree>
    <p:extLst>
      <p:ext uri="{BB962C8B-B14F-4D97-AF65-F5344CB8AC3E}">
        <p14:creationId xmlns:p14="http://schemas.microsoft.com/office/powerpoint/2010/main" val="40288936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FF388A-3BC8-A142-AF66-8F5EA441DA44}" type="slidenum">
              <a:rPr lang="en-US" smtClean="0"/>
              <a:t>17</a:t>
            </a:fld>
            <a:endParaRPr lang="en-US"/>
          </a:p>
        </p:txBody>
      </p:sp>
    </p:spTree>
    <p:extLst>
      <p:ext uri="{BB962C8B-B14F-4D97-AF65-F5344CB8AC3E}">
        <p14:creationId xmlns:p14="http://schemas.microsoft.com/office/powerpoint/2010/main" val="15437634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FF388A-3BC8-A142-AF66-8F5EA441DA44}" type="slidenum">
              <a:rPr lang="en-US" smtClean="0"/>
              <a:t>20</a:t>
            </a:fld>
            <a:endParaRPr lang="en-US"/>
          </a:p>
        </p:txBody>
      </p:sp>
    </p:spTree>
    <p:extLst>
      <p:ext uri="{BB962C8B-B14F-4D97-AF65-F5344CB8AC3E}">
        <p14:creationId xmlns:p14="http://schemas.microsoft.com/office/powerpoint/2010/main" val="24394505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FF388A-3BC8-A142-AF66-8F5EA441DA44}" type="slidenum">
              <a:rPr lang="en-US" smtClean="0"/>
              <a:t>25</a:t>
            </a:fld>
            <a:endParaRPr lang="en-US"/>
          </a:p>
        </p:txBody>
      </p:sp>
    </p:spTree>
    <p:extLst>
      <p:ext uri="{BB962C8B-B14F-4D97-AF65-F5344CB8AC3E}">
        <p14:creationId xmlns:p14="http://schemas.microsoft.com/office/powerpoint/2010/main" val="42818902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FF388A-3BC8-A142-AF66-8F5EA441DA44}" type="slidenum">
              <a:rPr lang="en-US" smtClean="0"/>
              <a:t>26</a:t>
            </a:fld>
            <a:endParaRPr lang="en-US"/>
          </a:p>
        </p:txBody>
      </p:sp>
    </p:spTree>
    <p:extLst>
      <p:ext uri="{BB962C8B-B14F-4D97-AF65-F5344CB8AC3E}">
        <p14:creationId xmlns:p14="http://schemas.microsoft.com/office/powerpoint/2010/main" val="3211040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FF388A-3BC8-A142-AF66-8F5EA441DA44}" type="slidenum">
              <a:rPr lang="en-US" smtClean="0"/>
              <a:t>28</a:t>
            </a:fld>
            <a:endParaRPr lang="en-US"/>
          </a:p>
        </p:txBody>
      </p:sp>
    </p:spTree>
    <p:extLst>
      <p:ext uri="{BB962C8B-B14F-4D97-AF65-F5344CB8AC3E}">
        <p14:creationId xmlns:p14="http://schemas.microsoft.com/office/powerpoint/2010/main" val="22564167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FF388A-3BC8-A142-AF66-8F5EA441DA44}" type="slidenum">
              <a:rPr lang="en-US" smtClean="0"/>
              <a:t>29</a:t>
            </a:fld>
            <a:endParaRPr lang="en-US"/>
          </a:p>
        </p:txBody>
      </p:sp>
    </p:spTree>
    <p:extLst>
      <p:ext uri="{BB962C8B-B14F-4D97-AF65-F5344CB8AC3E}">
        <p14:creationId xmlns:p14="http://schemas.microsoft.com/office/powerpoint/2010/main" val="35399289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FF388A-3BC8-A142-AF66-8F5EA441DA44}" type="slidenum">
              <a:rPr lang="en-US" smtClean="0"/>
              <a:t>30</a:t>
            </a:fld>
            <a:endParaRPr lang="en-US"/>
          </a:p>
        </p:txBody>
      </p:sp>
    </p:spTree>
    <p:extLst>
      <p:ext uri="{BB962C8B-B14F-4D97-AF65-F5344CB8AC3E}">
        <p14:creationId xmlns:p14="http://schemas.microsoft.com/office/powerpoint/2010/main" val="18172030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FF388A-3BC8-A142-AF66-8F5EA441DA44}" type="slidenum">
              <a:rPr lang="en-US" smtClean="0"/>
              <a:t>41</a:t>
            </a:fld>
            <a:endParaRPr lang="en-US"/>
          </a:p>
        </p:txBody>
      </p:sp>
    </p:spTree>
    <p:extLst>
      <p:ext uri="{BB962C8B-B14F-4D97-AF65-F5344CB8AC3E}">
        <p14:creationId xmlns:p14="http://schemas.microsoft.com/office/powerpoint/2010/main" val="12640003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FF388A-3BC8-A142-AF66-8F5EA441DA44}" type="slidenum">
              <a:rPr lang="en-US" smtClean="0"/>
              <a:t>47</a:t>
            </a:fld>
            <a:endParaRPr lang="en-US"/>
          </a:p>
        </p:txBody>
      </p:sp>
    </p:spTree>
    <p:extLst>
      <p:ext uri="{BB962C8B-B14F-4D97-AF65-F5344CB8AC3E}">
        <p14:creationId xmlns:p14="http://schemas.microsoft.com/office/powerpoint/2010/main" val="20879290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11" name="Content Placeholder 10"/>
          <p:cNvSpPr>
            <a:spLocks noGrp="1"/>
          </p:cNvSpPr>
          <p:nvPr>
            <p:ph sz="quarter" idx="16"/>
          </p:nvPr>
        </p:nvSpPr>
        <p:spPr>
          <a:xfrm>
            <a:off x="406400" y="1752600"/>
            <a:ext cx="11379200" cy="32766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cNvSpPr>
            <a:spLocks noGrp="1"/>
          </p:cNvSpPr>
          <p:nvPr>
            <p:ph sz="quarter" idx="15" hasCustomPrompt="1"/>
          </p:nvPr>
        </p:nvSpPr>
        <p:spPr>
          <a:xfrm>
            <a:off x="406400" y="5029200"/>
            <a:ext cx="11379200" cy="1143000"/>
          </a:xfrm>
          <a:prstGeom prst="rect">
            <a:avLst/>
          </a:prstGeom>
        </p:spPr>
        <p:txBody>
          <a:bodyPr/>
          <a:lstStyle>
            <a:lvl1pPr marL="0" indent="0">
              <a:spcBef>
                <a:spcPts val="1000"/>
              </a:spcBef>
              <a:buFont typeface="Arial" charset="0"/>
              <a:buNone/>
              <a:defRPr sz="2000" b="0" i="0" baseline="0">
                <a:solidFill>
                  <a:schemeClr val="tx1"/>
                </a:solidFill>
                <a:latin typeface="Times New Roman" charset="0"/>
                <a:ea typeface="Times New Roman" charset="0"/>
                <a:cs typeface="Times New Roman"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3566866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620886"/>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8"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8610600" y="6356351"/>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9" name="Footer Placeholder 4">
            <a:extLst>
              <a:ext uri="{FF2B5EF4-FFF2-40B4-BE49-F238E27FC236}">
                <a16:creationId xmlns:a16="http://schemas.microsoft.com/office/drawing/2014/main" id="{8894F196-3B10-478F-B710-339354FA9E3E}"/>
              </a:ext>
            </a:extLst>
          </p:cNvPr>
          <p:cNvSpPr txBox="1">
            <a:spLocks/>
          </p:cNvSpPr>
          <p:nvPr userDrawn="1"/>
        </p:nvSpPr>
        <p:spPr>
          <a:xfrm>
            <a:off x="4038600" y="6356351"/>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406400" y="1911351"/>
            <a:ext cx="11379200" cy="3946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61818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620886"/>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8"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8610600" y="6356351"/>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9" name="Footer Placeholder 4">
            <a:extLst>
              <a:ext uri="{FF2B5EF4-FFF2-40B4-BE49-F238E27FC236}">
                <a16:creationId xmlns:a16="http://schemas.microsoft.com/office/drawing/2014/main" id="{8894F196-3B10-478F-B710-339354FA9E3E}"/>
              </a:ext>
            </a:extLst>
          </p:cNvPr>
          <p:cNvSpPr txBox="1">
            <a:spLocks/>
          </p:cNvSpPr>
          <p:nvPr userDrawn="1"/>
        </p:nvSpPr>
        <p:spPr>
          <a:xfrm>
            <a:off x="4038600" y="6356351"/>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406400" y="1911351"/>
            <a:ext cx="11379200" cy="3946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4E431D40-8659-490C-A847-96CF64C15299}"/>
              </a:ext>
            </a:extLst>
          </p:cNvPr>
          <p:cNvSpPr>
            <a:spLocks noGrp="1"/>
          </p:cNvSpPr>
          <p:nvPr>
            <p:ph sz="quarter" idx="13"/>
          </p:nvPr>
        </p:nvSpPr>
        <p:spPr>
          <a:xfrm>
            <a:off x="-1291113" y="2290576"/>
            <a:ext cx="11379200" cy="390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62516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9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620886"/>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406400" y="1911351"/>
            <a:ext cx="11379200" cy="1973020"/>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4E431D40-8659-490C-A847-96CF64C15299}"/>
              </a:ext>
            </a:extLst>
          </p:cNvPr>
          <p:cNvSpPr>
            <a:spLocks noGrp="1"/>
          </p:cNvSpPr>
          <p:nvPr>
            <p:ph sz="quarter" idx="13"/>
          </p:nvPr>
        </p:nvSpPr>
        <p:spPr>
          <a:xfrm>
            <a:off x="406400" y="4339741"/>
            <a:ext cx="11379200" cy="390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0AC5F648-714F-41B3-B0A9-EFB467D0BFB2}"/>
              </a:ext>
            </a:extLst>
          </p:cNvPr>
          <p:cNvSpPr>
            <a:spLocks noGrp="1"/>
          </p:cNvSpPr>
          <p:nvPr>
            <p:ph sz="quarter" idx="14"/>
          </p:nvPr>
        </p:nvSpPr>
        <p:spPr>
          <a:xfrm>
            <a:off x="406400" y="5022851"/>
            <a:ext cx="11379200" cy="606425"/>
          </a:xfrm>
          <a:prstGeom prst="rect">
            <a:avLst/>
          </a:prstGeom>
        </p:spPr>
        <p:txBody>
          <a:bodyPr/>
          <a:lstStyle>
            <a:lvl1pPr>
              <a:buClr>
                <a:srgbClr val="911B21"/>
              </a:buClr>
              <a:defRPr sz="2600">
                <a:latin typeface="Times New Roman" panose="02020603050405020304" pitchFamily="18" charset="0"/>
                <a:cs typeface="Times New Roman" panose="02020603050405020304" pitchFamily="18" charset="0"/>
              </a:defRPr>
            </a:lvl1pPr>
            <a:lvl2pPr marL="685800" indent="-228600">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a:extLst>
              <a:ext uri="{FF2B5EF4-FFF2-40B4-BE49-F238E27FC236}">
                <a16:creationId xmlns:a16="http://schemas.microsoft.com/office/drawing/2014/main" id="{D94DD2EA-EA3F-4637-934F-678F8B946642}"/>
              </a:ext>
            </a:extLst>
          </p:cNvPr>
          <p:cNvSpPr>
            <a:spLocks noGrp="1"/>
          </p:cNvSpPr>
          <p:nvPr>
            <p:ph sz="quarter" idx="15"/>
          </p:nvPr>
        </p:nvSpPr>
        <p:spPr>
          <a:xfrm>
            <a:off x="406400" y="5781676"/>
            <a:ext cx="11379200" cy="606425"/>
          </a:xfrm>
          <a:prstGeom prst="rect">
            <a:avLst/>
          </a:prstGeom>
        </p:spPr>
        <p:txBody>
          <a:bodyPr/>
          <a:lstStyle>
            <a:lvl1pPr>
              <a:buClr>
                <a:srgbClr val="911B21"/>
              </a:buClr>
              <a:defRPr>
                <a:latin typeface="Times New Roman" panose="02020603050405020304" pitchFamily="18" charset="0"/>
                <a:cs typeface="Times New Roman" panose="02020603050405020304" pitchFamily="18" charset="0"/>
              </a:defRPr>
            </a:lvl1pPr>
            <a:lvl2pPr marL="685800" indent="-228600">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a:extLst>
              <a:ext uri="{FF2B5EF4-FFF2-40B4-BE49-F238E27FC236}">
                <a16:creationId xmlns:a16="http://schemas.microsoft.com/office/drawing/2014/main" id="{AB0A3D6A-283C-43F3-B8C1-9A067413E002}"/>
              </a:ext>
            </a:extLst>
          </p:cNvPr>
          <p:cNvSpPr txBox="1">
            <a:spLocks/>
          </p:cNvSpPr>
          <p:nvPr userDrawn="1"/>
        </p:nvSpPr>
        <p:spPr>
          <a:xfrm>
            <a:off x="8606769" y="6351500"/>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4" name="Footer Placeholder 4">
            <a:extLst>
              <a:ext uri="{FF2B5EF4-FFF2-40B4-BE49-F238E27FC236}">
                <a16:creationId xmlns:a16="http://schemas.microsoft.com/office/drawing/2014/main" id="{C0241161-D882-4165-B334-2C14A08BB8E0}"/>
              </a:ext>
            </a:extLst>
          </p:cNvPr>
          <p:cNvSpPr txBox="1">
            <a:spLocks/>
          </p:cNvSpPr>
          <p:nvPr userDrawn="1"/>
        </p:nvSpPr>
        <p:spPr>
          <a:xfrm>
            <a:off x="4034769" y="635150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Tree>
    <p:extLst>
      <p:ext uri="{BB962C8B-B14F-4D97-AF65-F5344CB8AC3E}">
        <p14:creationId xmlns:p14="http://schemas.microsoft.com/office/powerpoint/2010/main" val="1596556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620886"/>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8"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8610600" y="6356351"/>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9" name="Footer Placeholder 4">
            <a:extLst>
              <a:ext uri="{FF2B5EF4-FFF2-40B4-BE49-F238E27FC236}">
                <a16:creationId xmlns:a16="http://schemas.microsoft.com/office/drawing/2014/main" id="{8894F196-3B10-478F-B710-339354FA9E3E}"/>
              </a:ext>
            </a:extLst>
          </p:cNvPr>
          <p:cNvSpPr txBox="1">
            <a:spLocks/>
          </p:cNvSpPr>
          <p:nvPr userDrawn="1"/>
        </p:nvSpPr>
        <p:spPr>
          <a:xfrm>
            <a:off x="4038600" y="6356351"/>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406400" y="1911351"/>
            <a:ext cx="11379200" cy="3946525"/>
          </a:xfrm>
          <a:prstGeom prst="rect">
            <a:avLst/>
          </a:prstGeom>
        </p:spPr>
        <p:txBody>
          <a:bodyPr/>
          <a:lstStyle>
            <a:lvl1pPr>
              <a:lnSpc>
                <a:spcPct val="100000"/>
              </a:lnSpc>
              <a:spcBef>
                <a:spcPts val="624"/>
              </a:spcBef>
              <a:buClr>
                <a:srgbClr val="911B21"/>
              </a:buClr>
              <a:defRPr lang="en-US" sz="2600" smtClean="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lang="en-US" smtClean="0">
                <a:latin typeface="Times New Roman" panose="02020603050405020304" pitchFamily="18" charset="0"/>
                <a:cs typeface="Times New Roman" panose="02020603050405020304" pitchFamily="18" charset="0"/>
              </a:defRPr>
            </a:lvl2pPr>
            <a:lvl3pPr>
              <a:lnSpc>
                <a:spcPct val="100000"/>
              </a:lnSpc>
              <a:spcBef>
                <a:spcPts val="624"/>
              </a:spcBef>
              <a:defRPr lang="en-US" smtClean="0">
                <a:latin typeface="Times New Roman" panose="02020603050405020304" pitchFamily="18" charset="0"/>
                <a:cs typeface="Times New Roman" panose="02020603050405020304" pitchFamily="18" charset="0"/>
              </a:defRPr>
            </a:lvl3pPr>
            <a:lvl4pPr>
              <a:lnSpc>
                <a:spcPct val="100000"/>
              </a:lnSpc>
              <a:spcBef>
                <a:spcPts val="624"/>
              </a:spcBef>
              <a:defRPr lang="en-US" smtClean="0">
                <a:latin typeface="Times New Roman" panose="02020603050405020304" pitchFamily="18" charset="0"/>
                <a:cs typeface="Times New Roman" panose="02020603050405020304" pitchFamily="18" charset="0"/>
              </a:defRPr>
            </a:lvl4pPr>
            <a:lvl5pPr>
              <a:lnSpc>
                <a:spcPct val="100000"/>
              </a:lnSpc>
              <a:spcBef>
                <a:spcPts val="624"/>
              </a:spcBef>
              <a:defRPr lang="en-US">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CE5805C8-4641-4DD9-8EEE-8E3542D17AA8}"/>
              </a:ext>
            </a:extLst>
          </p:cNvPr>
          <p:cNvSpPr>
            <a:spLocks noGrp="1"/>
          </p:cNvSpPr>
          <p:nvPr>
            <p:ph type="pic" sz="quarter" idx="13"/>
          </p:nvPr>
        </p:nvSpPr>
        <p:spPr>
          <a:xfrm>
            <a:off x="11154834" y="4035425"/>
            <a:ext cx="1113367" cy="1290638"/>
          </a:xfrm>
          <a:prstGeom prst="rect">
            <a:avLst/>
          </a:prstGeom>
        </p:spPr>
        <p:txBody>
          <a:bodyPr/>
          <a:lstStyle/>
          <a:p>
            <a:endParaRPr lang="en-US"/>
          </a:p>
        </p:txBody>
      </p:sp>
      <p:sp>
        <p:nvSpPr>
          <p:cNvPr id="4" name="Table Placeholder 3">
            <a:extLst>
              <a:ext uri="{FF2B5EF4-FFF2-40B4-BE49-F238E27FC236}">
                <a16:creationId xmlns:a16="http://schemas.microsoft.com/office/drawing/2014/main" id="{9A1B72CE-EF87-477F-BA79-2E8C1521179A}"/>
              </a:ext>
            </a:extLst>
          </p:cNvPr>
          <p:cNvSpPr>
            <a:spLocks noGrp="1"/>
          </p:cNvSpPr>
          <p:nvPr>
            <p:ph type="tbl" sz="quarter" idx="14"/>
          </p:nvPr>
        </p:nvSpPr>
        <p:spPr>
          <a:xfrm>
            <a:off x="11154834" y="3125789"/>
            <a:ext cx="912284" cy="682625"/>
          </a:xfrm>
          <a:prstGeom prst="rect">
            <a:avLst/>
          </a:prstGeom>
        </p:spPr>
        <p:txBody>
          <a:bodyPr/>
          <a:lstStyle/>
          <a:p>
            <a:endParaRPr lang="en-US"/>
          </a:p>
        </p:txBody>
      </p:sp>
      <p:sp>
        <p:nvSpPr>
          <p:cNvPr id="10" name="Picture Placeholder 9">
            <a:extLst>
              <a:ext uri="{FF2B5EF4-FFF2-40B4-BE49-F238E27FC236}">
                <a16:creationId xmlns:a16="http://schemas.microsoft.com/office/drawing/2014/main" id="{C4B1DF00-9DC3-492A-B100-4D3272B82AD0}"/>
              </a:ext>
            </a:extLst>
          </p:cNvPr>
          <p:cNvSpPr>
            <a:spLocks noGrp="1"/>
          </p:cNvSpPr>
          <p:nvPr>
            <p:ph type="pic" sz="quarter" idx="15"/>
          </p:nvPr>
        </p:nvSpPr>
        <p:spPr>
          <a:xfrm>
            <a:off x="11154834" y="2214564"/>
            <a:ext cx="1037167" cy="682625"/>
          </a:xfrm>
          <a:prstGeom prst="rect">
            <a:avLst/>
          </a:prstGeom>
        </p:spPr>
        <p:txBody>
          <a:bodyPr/>
          <a:lstStyle/>
          <a:p>
            <a:endParaRPr lang="en-US"/>
          </a:p>
        </p:txBody>
      </p:sp>
      <p:sp>
        <p:nvSpPr>
          <p:cNvPr id="12" name="Content Placeholder 11">
            <a:extLst>
              <a:ext uri="{FF2B5EF4-FFF2-40B4-BE49-F238E27FC236}">
                <a16:creationId xmlns:a16="http://schemas.microsoft.com/office/drawing/2014/main" id="{7776DD1F-6897-4F1A-BC22-7DBC28584A42}"/>
              </a:ext>
            </a:extLst>
          </p:cNvPr>
          <p:cNvSpPr>
            <a:spLocks noGrp="1"/>
          </p:cNvSpPr>
          <p:nvPr>
            <p:ph sz="quarter" idx="16"/>
          </p:nvPr>
        </p:nvSpPr>
        <p:spPr>
          <a:xfrm>
            <a:off x="366940" y="4768589"/>
            <a:ext cx="11379200" cy="758825"/>
          </a:xfrm>
          <a:prstGeom prst="rect">
            <a:avLst/>
          </a:prstGeom>
        </p:spPr>
        <p:txBody>
          <a:bodyPr/>
          <a:lstStyle>
            <a:lvl1pPr>
              <a:defRPr lang="en-US" sz="2600" smtClean="0">
                <a:latin typeface="Times New Roman" panose="02020603050405020304" pitchFamily="18" charset="0"/>
                <a:cs typeface="Times New Roman" panose="02020603050405020304" pitchFamily="18" charset="0"/>
              </a:defRPr>
            </a:lvl1pPr>
            <a:lvl2pPr>
              <a:defRPr lang="en-US" smtClean="0">
                <a:latin typeface="Times New Roman" panose="02020603050405020304" pitchFamily="18" charset="0"/>
                <a:cs typeface="Times New Roman" panose="02020603050405020304" pitchFamily="18" charset="0"/>
              </a:defRPr>
            </a:lvl2pPr>
            <a:lvl3pPr>
              <a:defRPr lang="en-US" smtClean="0">
                <a:latin typeface="Times New Roman" panose="02020603050405020304" pitchFamily="18" charset="0"/>
                <a:cs typeface="Times New Roman" panose="02020603050405020304" pitchFamily="18" charset="0"/>
              </a:defRPr>
            </a:lvl3pPr>
            <a:lvl4pPr>
              <a:defRPr lang="en-US" smtClean="0">
                <a:latin typeface="Times New Roman" panose="02020603050405020304" pitchFamily="18" charset="0"/>
                <a:cs typeface="Times New Roman" panose="02020603050405020304" pitchFamily="18" charset="0"/>
              </a:defRPr>
            </a:lvl4pPr>
            <a:lvl5pPr>
              <a:defRPr lang="en-US">
                <a:latin typeface="Times New Roman" panose="02020603050405020304" pitchFamily="18" charset="0"/>
                <a:cs typeface="Times New Roman" panose="02020603050405020304" pitchFamily="18" charset="0"/>
              </a:defRPr>
            </a:lvl5pPr>
          </a:lstStyle>
          <a:p>
            <a:pPr lvl="0">
              <a:lnSpc>
                <a:spcPct val="100000"/>
              </a:lnSpc>
              <a:spcBef>
                <a:spcPts val="624"/>
              </a:spcBef>
              <a:buClr>
                <a:srgbClr val="911B21"/>
              </a:buClr>
            </a:pPr>
            <a:r>
              <a:rPr lang="en-US" dirty="0"/>
              <a:t>Click to edit Master text styles</a:t>
            </a:r>
          </a:p>
          <a:p>
            <a:pPr lvl="1">
              <a:lnSpc>
                <a:spcPct val="100000"/>
              </a:lnSpc>
              <a:spcBef>
                <a:spcPts val="624"/>
              </a:spcBef>
              <a:buClr>
                <a:srgbClr val="911B21"/>
              </a:buClr>
              <a:buSzPct val="80000"/>
              <a:buFont typeface="Courier New" panose="02070309020205020404" pitchFamily="49" charset="0"/>
              <a:buChar char="o"/>
            </a:pPr>
            <a:r>
              <a:rPr lang="en-US" dirty="0"/>
              <a:t>Second level</a:t>
            </a:r>
          </a:p>
          <a:p>
            <a:pPr lvl="2">
              <a:lnSpc>
                <a:spcPct val="100000"/>
              </a:lnSpc>
              <a:spcBef>
                <a:spcPts val="624"/>
              </a:spcBef>
            </a:pPr>
            <a:r>
              <a:rPr lang="en-US" dirty="0"/>
              <a:t>Third level</a:t>
            </a:r>
          </a:p>
          <a:p>
            <a:pPr lvl="3">
              <a:lnSpc>
                <a:spcPct val="100000"/>
              </a:lnSpc>
              <a:spcBef>
                <a:spcPts val="624"/>
              </a:spcBef>
            </a:pPr>
            <a:r>
              <a:rPr lang="en-US" dirty="0"/>
              <a:t>Fourth level</a:t>
            </a:r>
          </a:p>
          <a:p>
            <a:pPr lvl="4">
              <a:lnSpc>
                <a:spcPct val="100000"/>
              </a:lnSpc>
              <a:spcBef>
                <a:spcPts val="624"/>
              </a:spcBef>
            </a:pPr>
            <a:r>
              <a:rPr lang="en-US" dirty="0"/>
              <a:t>Fifth level</a:t>
            </a:r>
          </a:p>
        </p:txBody>
      </p:sp>
      <p:sp>
        <p:nvSpPr>
          <p:cNvPr id="14" name="Content Placeholder 13">
            <a:extLst>
              <a:ext uri="{FF2B5EF4-FFF2-40B4-BE49-F238E27FC236}">
                <a16:creationId xmlns:a16="http://schemas.microsoft.com/office/drawing/2014/main" id="{98CFB20B-7480-4C5A-8DF1-F11AAD7E5605}"/>
              </a:ext>
            </a:extLst>
          </p:cNvPr>
          <p:cNvSpPr>
            <a:spLocks noGrp="1"/>
          </p:cNvSpPr>
          <p:nvPr>
            <p:ph sz="quarter" idx="17"/>
          </p:nvPr>
        </p:nvSpPr>
        <p:spPr>
          <a:xfrm>
            <a:off x="-1088727" y="5053134"/>
            <a:ext cx="11379200" cy="257175"/>
          </a:xfrm>
          <a:prstGeom prst="rect">
            <a:avLst/>
          </a:prstGeom>
        </p:spPr>
        <p:txBody>
          <a:bodyPr/>
          <a:lstStyle>
            <a:lvl1pPr>
              <a:defRPr lang="en-US" sz="2600" smtClean="0">
                <a:latin typeface="Times New Roman" panose="02020603050405020304" pitchFamily="18" charset="0"/>
                <a:cs typeface="Times New Roman" panose="02020603050405020304" pitchFamily="18" charset="0"/>
              </a:defRPr>
            </a:lvl1pPr>
            <a:lvl2pPr>
              <a:defRPr lang="en-US" smtClean="0">
                <a:latin typeface="Times New Roman" panose="02020603050405020304" pitchFamily="18" charset="0"/>
                <a:cs typeface="Times New Roman" panose="02020603050405020304" pitchFamily="18" charset="0"/>
              </a:defRPr>
            </a:lvl2pPr>
            <a:lvl3pPr>
              <a:defRPr lang="en-US" smtClean="0">
                <a:latin typeface="Times New Roman" panose="02020603050405020304" pitchFamily="18" charset="0"/>
                <a:cs typeface="Times New Roman" panose="02020603050405020304" pitchFamily="18" charset="0"/>
              </a:defRPr>
            </a:lvl3pPr>
            <a:lvl4pPr>
              <a:defRPr lang="en-US" smtClean="0">
                <a:latin typeface="Times New Roman" panose="02020603050405020304" pitchFamily="18" charset="0"/>
                <a:cs typeface="Times New Roman" panose="02020603050405020304" pitchFamily="18" charset="0"/>
              </a:defRPr>
            </a:lvl4pPr>
            <a:lvl5pPr>
              <a:defRPr lang="en-US">
                <a:latin typeface="Times New Roman" panose="02020603050405020304" pitchFamily="18" charset="0"/>
                <a:cs typeface="Times New Roman" panose="02020603050405020304" pitchFamily="18" charset="0"/>
              </a:defRPr>
            </a:lvl5pPr>
          </a:lstStyle>
          <a:p>
            <a:pPr lvl="0">
              <a:lnSpc>
                <a:spcPct val="100000"/>
              </a:lnSpc>
              <a:spcBef>
                <a:spcPts val="624"/>
              </a:spcBef>
              <a:buClr>
                <a:srgbClr val="911B21"/>
              </a:buClr>
            </a:pPr>
            <a:r>
              <a:rPr lang="en-US" dirty="0"/>
              <a:t>Click to edit Master text styles</a:t>
            </a:r>
          </a:p>
          <a:p>
            <a:pPr lvl="1">
              <a:lnSpc>
                <a:spcPct val="100000"/>
              </a:lnSpc>
              <a:spcBef>
                <a:spcPts val="624"/>
              </a:spcBef>
              <a:buClr>
                <a:srgbClr val="911B21"/>
              </a:buClr>
              <a:buSzPct val="80000"/>
              <a:buFont typeface="Courier New" panose="02070309020205020404" pitchFamily="49" charset="0"/>
              <a:buChar char="o"/>
            </a:pPr>
            <a:r>
              <a:rPr lang="en-US" dirty="0"/>
              <a:t>Second level</a:t>
            </a:r>
          </a:p>
          <a:p>
            <a:pPr lvl="2">
              <a:lnSpc>
                <a:spcPct val="100000"/>
              </a:lnSpc>
              <a:spcBef>
                <a:spcPts val="624"/>
              </a:spcBef>
            </a:pPr>
            <a:r>
              <a:rPr lang="en-US" dirty="0"/>
              <a:t>Third level</a:t>
            </a:r>
          </a:p>
          <a:p>
            <a:pPr lvl="3">
              <a:lnSpc>
                <a:spcPct val="100000"/>
              </a:lnSpc>
              <a:spcBef>
                <a:spcPts val="624"/>
              </a:spcBef>
            </a:pPr>
            <a:r>
              <a:rPr lang="en-US" dirty="0"/>
              <a:t>Fourth level</a:t>
            </a:r>
          </a:p>
          <a:p>
            <a:pPr lvl="4">
              <a:lnSpc>
                <a:spcPct val="100000"/>
              </a:lnSpc>
              <a:spcBef>
                <a:spcPts val="624"/>
              </a:spcBef>
            </a:pPr>
            <a:r>
              <a:rPr lang="en-US" dirty="0"/>
              <a:t>Fifth level</a:t>
            </a:r>
          </a:p>
        </p:txBody>
      </p:sp>
      <p:sp>
        <p:nvSpPr>
          <p:cNvPr id="5" name="Picture Placeholder 4">
            <a:extLst>
              <a:ext uri="{FF2B5EF4-FFF2-40B4-BE49-F238E27FC236}">
                <a16:creationId xmlns:a16="http://schemas.microsoft.com/office/drawing/2014/main" id="{EB687367-93D1-4521-BBD6-A0564CA4FC64}"/>
              </a:ext>
            </a:extLst>
          </p:cNvPr>
          <p:cNvSpPr>
            <a:spLocks noGrp="1"/>
          </p:cNvSpPr>
          <p:nvPr>
            <p:ph type="pic" sz="quarter" idx="18"/>
          </p:nvPr>
        </p:nvSpPr>
        <p:spPr>
          <a:xfrm>
            <a:off x="12268201" y="3049589"/>
            <a:ext cx="1113367" cy="985837"/>
          </a:xfrm>
          <a:prstGeom prst="rect">
            <a:avLst/>
          </a:prstGeom>
        </p:spPr>
        <p:txBody>
          <a:bodyPr/>
          <a:lstStyle/>
          <a:p>
            <a:endParaRPr lang="en-US"/>
          </a:p>
        </p:txBody>
      </p:sp>
    </p:spTree>
    <p:extLst>
      <p:ext uri="{BB962C8B-B14F-4D97-AF65-F5344CB8AC3E}">
        <p14:creationId xmlns:p14="http://schemas.microsoft.com/office/powerpoint/2010/main" val="2714482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15240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IN" dirty="0"/>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3429000"/>
            <a:ext cx="11379200" cy="152400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406400" y="5029200"/>
            <a:ext cx="11379200" cy="99060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Slide Number Placeholder 3">
            <a:extLst>
              <a:ext uri="{FF2B5EF4-FFF2-40B4-BE49-F238E27FC236}">
                <a16:creationId xmlns:a16="http://schemas.microsoft.com/office/drawing/2014/main" id="{A72BACE4-69FF-4409-99CE-9BCD2C9878D8}"/>
              </a:ext>
            </a:extLst>
          </p:cNvPr>
          <p:cNvSpPr txBox="1">
            <a:spLocks/>
          </p:cNvSpPr>
          <p:nvPr userDrawn="1"/>
        </p:nvSpPr>
        <p:spPr>
          <a:xfrm>
            <a:off x="8610600" y="6363506"/>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0" name="Footer Placeholder 4">
            <a:extLst>
              <a:ext uri="{FF2B5EF4-FFF2-40B4-BE49-F238E27FC236}">
                <a16:creationId xmlns:a16="http://schemas.microsoft.com/office/drawing/2014/main" id="{277DF617-D7C9-4AAC-ABB4-DFF0A77AE8FF}"/>
              </a:ext>
            </a:extLst>
          </p:cNvPr>
          <p:cNvSpPr txBox="1">
            <a:spLocks/>
          </p:cNvSpPr>
          <p:nvPr userDrawn="1"/>
        </p:nvSpPr>
        <p:spPr>
          <a:xfrm>
            <a:off x="4038600" y="6363506"/>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Copyright ©2020 John Wiley &amp; Sons, Inc. </a:t>
            </a:r>
            <a:endParaRPr lang="en-US" sz="1200" dirty="0"/>
          </a:p>
        </p:txBody>
      </p:sp>
    </p:spTree>
    <p:extLst>
      <p:ext uri="{BB962C8B-B14F-4D97-AF65-F5344CB8AC3E}">
        <p14:creationId xmlns:p14="http://schemas.microsoft.com/office/powerpoint/2010/main" val="3535747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84155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IN" dirty="0"/>
              <a:t>Copyright ©2021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2973631"/>
            <a:ext cx="11379200" cy="834845"/>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406400" y="4118460"/>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Content Placeholder 8">
            <a:extLst>
              <a:ext uri="{FF2B5EF4-FFF2-40B4-BE49-F238E27FC236}">
                <a16:creationId xmlns:a16="http://schemas.microsoft.com/office/drawing/2014/main" id="{F641CCC3-3BAF-49BA-81A2-3696342DF5C5}"/>
              </a:ext>
            </a:extLst>
          </p:cNvPr>
          <p:cNvSpPr>
            <a:spLocks noGrp="1"/>
          </p:cNvSpPr>
          <p:nvPr>
            <p:ph sz="quarter" idx="19"/>
          </p:nvPr>
        </p:nvSpPr>
        <p:spPr>
          <a:xfrm>
            <a:off x="406400" y="4953305"/>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0" name="Content Placeholder 8">
            <a:extLst>
              <a:ext uri="{FF2B5EF4-FFF2-40B4-BE49-F238E27FC236}">
                <a16:creationId xmlns:a16="http://schemas.microsoft.com/office/drawing/2014/main" id="{F641CCC3-3BAF-49BA-81A2-3696342DF5C5}"/>
              </a:ext>
            </a:extLst>
          </p:cNvPr>
          <p:cNvSpPr>
            <a:spLocks noGrp="1"/>
          </p:cNvSpPr>
          <p:nvPr>
            <p:ph sz="quarter" idx="20"/>
          </p:nvPr>
        </p:nvSpPr>
        <p:spPr>
          <a:xfrm>
            <a:off x="406400" y="5766107"/>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1" name="Slide Number Placeholder 3">
            <a:extLst>
              <a:ext uri="{FF2B5EF4-FFF2-40B4-BE49-F238E27FC236}">
                <a16:creationId xmlns:a16="http://schemas.microsoft.com/office/drawing/2014/main" id="{C3A17AB6-8208-4636-B70A-4B280921E8E8}"/>
              </a:ext>
            </a:extLst>
          </p:cNvPr>
          <p:cNvSpPr txBox="1">
            <a:spLocks/>
          </p:cNvSpPr>
          <p:nvPr userDrawn="1"/>
        </p:nvSpPr>
        <p:spPr>
          <a:xfrm>
            <a:off x="8610600" y="6356351"/>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3" name="Footer Placeholder 3"/>
          <p:cNvSpPr txBox="1">
            <a:spLocks/>
          </p:cNvSpPr>
          <p:nvPr userDrawn="1"/>
        </p:nvSpPr>
        <p:spPr>
          <a:xfrm>
            <a:off x="4038600" y="635878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Tree>
    <p:extLst>
      <p:ext uri="{BB962C8B-B14F-4D97-AF65-F5344CB8AC3E}">
        <p14:creationId xmlns:p14="http://schemas.microsoft.com/office/powerpoint/2010/main" val="360914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1"/>
            <a:ext cx="11379200" cy="68976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2518260"/>
            <a:ext cx="11379200" cy="75895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406400" y="3353105"/>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Content Placeholder 8">
            <a:extLst>
              <a:ext uri="{FF2B5EF4-FFF2-40B4-BE49-F238E27FC236}">
                <a16:creationId xmlns:a16="http://schemas.microsoft.com/office/drawing/2014/main" id="{F641CCC3-3BAF-49BA-81A2-3696342DF5C5}"/>
              </a:ext>
            </a:extLst>
          </p:cNvPr>
          <p:cNvSpPr>
            <a:spLocks noGrp="1"/>
          </p:cNvSpPr>
          <p:nvPr>
            <p:ph sz="quarter" idx="19"/>
          </p:nvPr>
        </p:nvSpPr>
        <p:spPr>
          <a:xfrm>
            <a:off x="406400" y="4036160"/>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0" name="Content Placeholder 8">
            <a:extLst>
              <a:ext uri="{FF2B5EF4-FFF2-40B4-BE49-F238E27FC236}">
                <a16:creationId xmlns:a16="http://schemas.microsoft.com/office/drawing/2014/main" id="{F641CCC3-3BAF-49BA-81A2-3696342DF5C5}"/>
              </a:ext>
            </a:extLst>
          </p:cNvPr>
          <p:cNvSpPr>
            <a:spLocks noGrp="1"/>
          </p:cNvSpPr>
          <p:nvPr>
            <p:ph sz="quarter" idx="20"/>
          </p:nvPr>
        </p:nvSpPr>
        <p:spPr>
          <a:xfrm>
            <a:off x="406400" y="4795110"/>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IN" dirty="0"/>
              <a:t>Copyright ©2020 John Wiley &amp; Sons, Inc. </a:t>
            </a:r>
            <a:endParaRPr lang="en-US" dirty="0"/>
          </a:p>
        </p:txBody>
      </p:sp>
      <p:sp>
        <p:nvSpPr>
          <p:cNvPr id="11" name="Content Placeholder 8">
            <a:extLst>
              <a:ext uri="{FF2B5EF4-FFF2-40B4-BE49-F238E27FC236}">
                <a16:creationId xmlns:a16="http://schemas.microsoft.com/office/drawing/2014/main" id="{F641CCC3-3BAF-49BA-81A2-3696342DF5C5}"/>
              </a:ext>
            </a:extLst>
          </p:cNvPr>
          <p:cNvSpPr>
            <a:spLocks noGrp="1"/>
          </p:cNvSpPr>
          <p:nvPr>
            <p:ph sz="quarter" idx="21"/>
          </p:nvPr>
        </p:nvSpPr>
        <p:spPr>
          <a:xfrm>
            <a:off x="406400" y="5554060"/>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2" name="Slide Number Placeholder 3">
            <a:extLst>
              <a:ext uri="{FF2B5EF4-FFF2-40B4-BE49-F238E27FC236}">
                <a16:creationId xmlns:a16="http://schemas.microsoft.com/office/drawing/2014/main" id="{3FC7C8C2-8E53-4648-8149-C8D83CA97CE9}"/>
              </a:ext>
            </a:extLst>
          </p:cNvPr>
          <p:cNvSpPr txBox="1">
            <a:spLocks/>
          </p:cNvSpPr>
          <p:nvPr userDrawn="1"/>
        </p:nvSpPr>
        <p:spPr>
          <a:xfrm>
            <a:off x="8610600" y="6363506"/>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3" name="Footer Placeholder 4">
            <a:extLst>
              <a:ext uri="{FF2B5EF4-FFF2-40B4-BE49-F238E27FC236}">
                <a16:creationId xmlns:a16="http://schemas.microsoft.com/office/drawing/2014/main" id="{37BE712D-A6E6-4E02-9B94-8A539F732706}"/>
              </a:ext>
            </a:extLst>
          </p:cNvPr>
          <p:cNvSpPr txBox="1">
            <a:spLocks/>
          </p:cNvSpPr>
          <p:nvPr userDrawn="1"/>
        </p:nvSpPr>
        <p:spPr>
          <a:xfrm>
            <a:off x="4038600" y="6363506"/>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Copyright ©2020 John Wiley &amp; Sons, Inc. </a:t>
            </a:r>
            <a:endParaRPr lang="en-US" sz="1200" dirty="0"/>
          </a:p>
        </p:txBody>
      </p:sp>
    </p:spTree>
    <p:extLst>
      <p:ext uri="{BB962C8B-B14F-4D97-AF65-F5344CB8AC3E}">
        <p14:creationId xmlns:p14="http://schemas.microsoft.com/office/powerpoint/2010/main" val="2072379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84155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2973631"/>
            <a:ext cx="11379200" cy="834845"/>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406400" y="4118460"/>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Content Placeholder 8">
            <a:extLst>
              <a:ext uri="{FF2B5EF4-FFF2-40B4-BE49-F238E27FC236}">
                <a16:creationId xmlns:a16="http://schemas.microsoft.com/office/drawing/2014/main" id="{F641CCC3-3BAF-49BA-81A2-3696342DF5C5}"/>
              </a:ext>
            </a:extLst>
          </p:cNvPr>
          <p:cNvSpPr>
            <a:spLocks noGrp="1"/>
          </p:cNvSpPr>
          <p:nvPr>
            <p:ph sz="quarter" idx="19"/>
          </p:nvPr>
        </p:nvSpPr>
        <p:spPr>
          <a:xfrm>
            <a:off x="406401" y="4953305"/>
            <a:ext cx="326096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0" name="Content Placeholder 8">
            <a:extLst>
              <a:ext uri="{FF2B5EF4-FFF2-40B4-BE49-F238E27FC236}">
                <a16:creationId xmlns:a16="http://schemas.microsoft.com/office/drawing/2014/main" id="{F641CCC3-3BAF-49BA-81A2-3696342DF5C5}"/>
              </a:ext>
            </a:extLst>
          </p:cNvPr>
          <p:cNvSpPr>
            <a:spLocks noGrp="1"/>
          </p:cNvSpPr>
          <p:nvPr>
            <p:ph sz="quarter" idx="20"/>
          </p:nvPr>
        </p:nvSpPr>
        <p:spPr>
          <a:xfrm>
            <a:off x="406401" y="5766107"/>
            <a:ext cx="326096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1" name="Content Placeholder 8">
            <a:extLst>
              <a:ext uri="{FF2B5EF4-FFF2-40B4-BE49-F238E27FC236}">
                <a16:creationId xmlns:a16="http://schemas.microsoft.com/office/drawing/2014/main" id="{F641CCC3-3BAF-49BA-81A2-3696342DF5C5}"/>
              </a:ext>
            </a:extLst>
          </p:cNvPr>
          <p:cNvSpPr>
            <a:spLocks noGrp="1"/>
          </p:cNvSpPr>
          <p:nvPr>
            <p:ph sz="quarter" idx="21"/>
          </p:nvPr>
        </p:nvSpPr>
        <p:spPr>
          <a:xfrm>
            <a:off x="4173327" y="4948654"/>
            <a:ext cx="333938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2" name="Content Placeholder 8">
            <a:extLst>
              <a:ext uri="{FF2B5EF4-FFF2-40B4-BE49-F238E27FC236}">
                <a16:creationId xmlns:a16="http://schemas.microsoft.com/office/drawing/2014/main" id="{F641CCC3-3BAF-49BA-81A2-3696342DF5C5}"/>
              </a:ext>
            </a:extLst>
          </p:cNvPr>
          <p:cNvSpPr>
            <a:spLocks noGrp="1"/>
          </p:cNvSpPr>
          <p:nvPr>
            <p:ph sz="quarter" idx="22"/>
          </p:nvPr>
        </p:nvSpPr>
        <p:spPr>
          <a:xfrm>
            <a:off x="4173327" y="5761456"/>
            <a:ext cx="333938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3" name="Content Placeholder 8">
            <a:extLst>
              <a:ext uri="{FF2B5EF4-FFF2-40B4-BE49-F238E27FC236}">
                <a16:creationId xmlns:a16="http://schemas.microsoft.com/office/drawing/2014/main" id="{F641CCC3-3BAF-49BA-81A2-3696342DF5C5}"/>
              </a:ext>
            </a:extLst>
          </p:cNvPr>
          <p:cNvSpPr>
            <a:spLocks noGrp="1"/>
          </p:cNvSpPr>
          <p:nvPr>
            <p:ph sz="quarter" idx="23"/>
          </p:nvPr>
        </p:nvSpPr>
        <p:spPr>
          <a:xfrm>
            <a:off x="8153401" y="4948654"/>
            <a:ext cx="333938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4" name="Content Placeholder 8">
            <a:extLst>
              <a:ext uri="{FF2B5EF4-FFF2-40B4-BE49-F238E27FC236}">
                <a16:creationId xmlns:a16="http://schemas.microsoft.com/office/drawing/2014/main" id="{F641CCC3-3BAF-49BA-81A2-3696342DF5C5}"/>
              </a:ext>
            </a:extLst>
          </p:cNvPr>
          <p:cNvSpPr>
            <a:spLocks noGrp="1"/>
          </p:cNvSpPr>
          <p:nvPr>
            <p:ph sz="quarter" idx="24"/>
          </p:nvPr>
        </p:nvSpPr>
        <p:spPr>
          <a:xfrm>
            <a:off x="8153401" y="5761456"/>
            <a:ext cx="333938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5" name="Slide Number Placeholder 3">
            <a:extLst>
              <a:ext uri="{FF2B5EF4-FFF2-40B4-BE49-F238E27FC236}">
                <a16:creationId xmlns:a16="http://schemas.microsoft.com/office/drawing/2014/main" id="{4BE15919-8751-4BE4-AA33-50DF1CCA64E4}"/>
              </a:ext>
            </a:extLst>
          </p:cNvPr>
          <p:cNvSpPr txBox="1">
            <a:spLocks/>
          </p:cNvSpPr>
          <p:nvPr userDrawn="1"/>
        </p:nvSpPr>
        <p:spPr>
          <a:xfrm>
            <a:off x="8610600" y="6363506"/>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6" name="Footer Placeholder 4">
            <a:extLst>
              <a:ext uri="{FF2B5EF4-FFF2-40B4-BE49-F238E27FC236}">
                <a16:creationId xmlns:a16="http://schemas.microsoft.com/office/drawing/2014/main" id="{35B39872-5D7C-431B-B547-3FC6F0E6034C}"/>
              </a:ext>
            </a:extLst>
          </p:cNvPr>
          <p:cNvSpPr txBox="1">
            <a:spLocks/>
          </p:cNvSpPr>
          <p:nvPr userDrawn="1"/>
        </p:nvSpPr>
        <p:spPr>
          <a:xfrm>
            <a:off x="4038600" y="6363506"/>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Copyright ©2020 John Wiley &amp; Sons, Inc. </a:t>
            </a:r>
            <a:endParaRPr lang="en-US" sz="1200" dirty="0"/>
          </a:p>
        </p:txBody>
      </p:sp>
    </p:spTree>
    <p:extLst>
      <p:ext uri="{BB962C8B-B14F-4D97-AF65-F5344CB8AC3E}">
        <p14:creationId xmlns:p14="http://schemas.microsoft.com/office/powerpoint/2010/main" val="3493314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5334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2375848"/>
            <a:ext cx="11379200" cy="291152"/>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388203" y="2764808"/>
            <a:ext cx="11379200" cy="394648"/>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10" name="Content Placeholder 9"/>
          <p:cNvSpPr>
            <a:spLocks noGrp="1"/>
          </p:cNvSpPr>
          <p:nvPr>
            <p:ph sz="quarter" idx="19"/>
          </p:nvPr>
        </p:nvSpPr>
        <p:spPr>
          <a:xfrm>
            <a:off x="406400" y="3298208"/>
            <a:ext cx="113792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2" name="Content Placeholder 11"/>
          <p:cNvSpPr>
            <a:spLocks noGrp="1"/>
          </p:cNvSpPr>
          <p:nvPr>
            <p:ph sz="quarter" idx="20"/>
          </p:nvPr>
        </p:nvSpPr>
        <p:spPr>
          <a:xfrm>
            <a:off x="406400" y="3831608"/>
            <a:ext cx="113792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4" name="Content Placeholder 13"/>
          <p:cNvSpPr>
            <a:spLocks noGrp="1"/>
          </p:cNvSpPr>
          <p:nvPr>
            <p:ph sz="quarter" idx="21"/>
          </p:nvPr>
        </p:nvSpPr>
        <p:spPr>
          <a:xfrm>
            <a:off x="406400" y="4365008"/>
            <a:ext cx="11379200" cy="3048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6" name="Content Placeholder 15"/>
          <p:cNvSpPr>
            <a:spLocks noGrp="1"/>
          </p:cNvSpPr>
          <p:nvPr>
            <p:ph sz="quarter" idx="22"/>
          </p:nvPr>
        </p:nvSpPr>
        <p:spPr>
          <a:xfrm>
            <a:off x="406400" y="4822208"/>
            <a:ext cx="11379200" cy="304800"/>
          </a:xfrm>
          <a:prstGeom prst="rect">
            <a:avLst/>
          </a:prstGeom>
        </p:spPr>
        <p:txBody>
          <a:bodyPr/>
          <a:lstStyle>
            <a:lvl1pPr>
              <a:buNone/>
              <a:defRPr cap="none" baseline="0">
                <a:latin typeface="Times New Roman" pitchFamily="18" charset="0"/>
              </a:defRPr>
            </a:lvl1pPr>
          </a:lstStyle>
          <a:p>
            <a:pPr lvl="0"/>
            <a:endParaRPr lang="en-US" dirty="0"/>
          </a:p>
        </p:txBody>
      </p:sp>
      <p:sp>
        <p:nvSpPr>
          <p:cNvPr id="18" name="Content Placeholder 17"/>
          <p:cNvSpPr>
            <a:spLocks noGrp="1"/>
          </p:cNvSpPr>
          <p:nvPr>
            <p:ph sz="quarter" idx="23"/>
          </p:nvPr>
        </p:nvSpPr>
        <p:spPr>
          <a:xfrm>
            <a:off x="406400" y="5279408"/>
            <a:ext cx="11379200" cy="304800"/>
          </a:xfrm>
          <a:prstGeom prst="rect">
            <a:avLst/>
          </a:prstGeom>
        </p:spPr>
        <p:txBody>
          <a:bodyPr/>
          <a:lstStyle>
            <a:lvl1pPr>
              <a:buNone/>
              <a:defRPr baseline="0">
                <a:latin typeface="Times New Roman" pitchFamily="18" charset="0"/>
              </a:defRPr>
            </a:lvl1pPr>
          </a:lstStyle>
          <a:p>
            <a:pPr lvl="0"/>
            <a:endParaRPr lang="en-US" dirty="0"/>
          </a:p>
        </p:txBody>
      </p:sp>
      <p:sp>
        <p:nvSpPr>
          <p:cNvPr id="20" name="Content Placeholder 19"/>
          <p:cNvSpPr>
            <a:spLocks noGrp="1"/>
          </p:cNvSpPr>
          <p:nvPr>
            <p:ph sz="quarter" idx="24"/>
          </p:nvPr>
        </p:nvSpPr>
        <p:spPr>
          <a:xfrm>
            <a:off x="508000" y="5660408"/>
            <a:ext cx="11277600" cy="228600"/>
          </a:xfrm>
          <a:prstGeom prst="rect">
            <a:avLst/>
          </a:prstGeom>
        </p:spPr>
        <p:txBody>
          <a:bodyPr/>
          <a:lstStyle>
            <a:lvl1pPr>
              <a:buNone/>
              <a:defRPr baseline="0">
                <a:latin typeface="Times New Roman" pitchFamily="18" charset="0"/>
              </a:defRPr>
            </a:lvl1pPr>
          </a:lstStyle>
          <a:p>
            <a:pPr lvl="0"/>
            <a:endParaRPr lang="en-US" dirty="0"/>
          </a:p>
        </p:txBody>
      </p:sp>
      <p:sp>
        <p:nvSpPr>
          <p:cNvPr id="19" name="Footer Placeholder 3"/>
          <p:cNvSpPr txBox="1">
            <a:spLocks/>
          </p:cNvSpPr>
          <p:nvPr userDrawn="1"/>
        </p:nvSpPr>
        <p:spPr>
          <a:xfrm>
            <a:off x="4028996" y="635987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
        <p:nvSpPr>
          <p:cNvPr id="21" name="Slide Number Placeholder"/>
          <p:cNvSpPr txBox="1">
            <a:spLocks/>
          </p:cNvSpPr>
          <p:nvPr userDrawn="1"/>
        </p:nvSpPr>
        <p:spPr>
          <a:xfrm>
            <a:off x="8603145" y="6361528"/>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Tree>
    <p:extLst>
      <p:ext uri="{BB962C8B-B14F-4D97-AF65-F5344CB8AC3E}">
        <p14:creationId xmlns:p14="http://schemas.microsoft.com/office/powerpoint/2010/main" val="564357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408709"/>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2214680"/>
            <a:ext cx="11379200" cy="291152"/>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388203" y="2594155"/>
            <a:ext cx="11379200" cy="394648"/>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10" name="Content Placeholder 9"/>
          <p:cNvSpPr>
            <a:spLocks noGrp="1"/>
          </p:cNvSpPr>
          <p:nvPr>
            <p:ph sz="quarter" idx="19"/>
          </p:nvPr>
        </p:nvSpPr>
        <p:spPr>
          <a:xfrm>
            <a:off x="406400" y="3049525"/>
            <a:ext cx="113792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2" name="Content Placeholder 11"/>
          <p:cNvSpPr>
            <a:spLocks noGrp="1"/>
          </p:cNvSpPr>
          <p:nvPr>
            <p:ph sz="quarter" idx="20"/>
          </p:nvPr>
        </p:nvSpPr>
        <p:spPr>
          <a:xfrm>
            <a:off x="406400" y="3504895"/>
            <a:ext cx="113792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4" name="Content Placeholder 13"/>
          <p:cNvSpPr>
            <a:spLocks noGrp="1"/>
          </p:cNvSpPr>
          <p:nvPr>
            <p:ph sz="quarter" idx="21"/>
          </p:nvPr>
        </p:nvSpPr>
        <p:spPr>
          <a:xfrm>
            <a:off x="406400" y="3960265"/>
            <a:ext cx="11379200" cy="3048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6" name="Content Placeholder 15"/>
          <p:cNvSpPr>
            <a:spLocks noGrp="1"/>
          </p:cNvSpPr>
          <p:nvPr>
            <p:ph sz="quarter" idx="22"/>
          </p:nvPr>
        </p:nvSpPr>
        <p:spPr>
          <a:xfrm>
            <a:off x="406400" y="4415635"/>
            <a:ext cx="11379200" cy="304800"/>
          </a:xfrm>
          <a:prstGeom prst="rect">
            <a:avLst/>
          </a:prstGeom>
        </p:spPr>
        <p:txBody>
          <a:bodyPr/>
          <a:lstStyle>
            <a:lvl1pPr>
              <a:buNone/>
              <a:defRPr cap="none" baseline="0">
                <a:latin typeface="Times New Roman" pitchFamily="18" charset="0"/>
              </a:defRPr>
            </a:lvl1pPr>
          </a:lstStyle>
          <a:p>
            <a:pPr lvl="0"/>
            <a:endParaRPr lang="en-US" dirty="0"/>
          </a:p>
        </p:txBody>
      </p:sp>
      <p:sp>
        <p:nvSpPr>
          <p:cNvPr id="18" name="Content Placeholder 17"/>
          <p:cNvSpPr>
            <a:spLocks noGrp="1"/>
          </p:cNvSpPr>
          <p:nvPr>
            <p:ph sz="quarter" idx="23"/>
          </p:nvPr>
        </p:nvSpPr>
        <p:spPr>
          <a:xfrm>
            <a:off x="406400" y="4871005"/>
            <a:ext cx="11379200" cy="304800"/>
          </a:xfrm>
          <a:prstGeom prst="rect">
            <a:avLst/>
          </a:prstGeom>
        </p:spPr>
        <p:txBody>
          <a:bodyPr/>
          <a:lstStyle>
            <a:lvl1pPr>
              <a:buNone/>
              <a:defRPr baseline="0">
                <a:latin typeface="Times New Roman" pitchFamily="18" charset="0"/>
              </a:defRPr>
            </a:lvl1pPr>
          </a:lstStyle>
          <a:p>
            <a:pPr lvl="0"/>
            <a:endParaRPr lang="en-US" dirty="0"/>
          </a:p>
        </p:txBody>
      </p:sp>
      <p:sp>
        <p:nvSpPr>
          <p:cNvPr id="20" name="Content Placeholder 19"/>
          <p:cNvSpPr>
            <a:spLocks noGrp="1"/>
          </p:cNvSpPr>
          <p:nvPr>
            <p:ph sz="quarter" idx="24"/>
          </p:nvPr>
        </p:nvSpPr>
        <p:spPr>
          <a:xfrm>
            <a:off x="508000" y="5326375"/>
            <a:ext cx="11277600" cy="228600"/>
          </a:xfrm>
          <a:prstGeom prst="rect">
            <a:avLst/>
          </a:prstGeom>
        </p:spPr>
        <p:txBody>
          <a:bodyPr/>
          <a:lstStyle>
            <a:lvl1pPr>
              <a:buNone/>
              <a:defRPr baseline="0">
                <a:latin typeface="Times New Roman" pitchFamily="18" charset="0"/>
              </a:defRPr>
            </a:lvl1pPr>
          </a:lstStyle>
          <a:p>
            <a:pPr lvl="0"/>
            <a:endParaRPr lang="en-US" dirty="0"/>
          </a:p>
        </p:txBody>
      </p:sp>
      <p:sp>
        <p:nvSpPr>
          <p:cNvPr id="8" name="Content Placeholder 7">
            <a:extLst>
              <a:ext uri="{FF2B5EF4-FFF2-40B4-BE49-F238E27FC236}">
                <a16:creationId xmlns:a16="http://schemas.microsoft.com/office/drawing/2014/main" id="{58E4D1A0-6F20-4C86-8185-E1F69676C220}"/>
              </a:ext>
            </a:extLst>
          </p:cNvPr>
          <p:cNvSpPr>
            <a:spLocks noGrp="1"/>
          </p:cNvSpPr>
          <p:nvPr>
            <p:ph sz="quarter" idx="25"/>
          </p:nvPr>
        </p:nvSpPr>
        <p:spPr>
          <a:xfrm>
            <a:off x="429684" y="5781745"/>
            <a:ext cx="6475863" cy="304800"/>
          </a:xfrm>
          <a:prstGeom prst="rect">
            <a:avLst/>
          </a:prstGeom>
        </p:spPr>
        <p:txBody>
          <a:bodyPr/>
          <a:lstStyle>
            <a:lvl1pPr marL="0" indent="0">
              <a:buNone/>
              <a:defRPr/>
            </a:lvl1pPr>
          </a:lstStyle>
          <a:p>
            <a:pPr lvl="0"/>
            <a:endParaRPr lang="en-US" dirty="0"/>
          </a:p>
        </p:txBody>
      </p:sp>
      <p:sp>
        <p:nvSpPr>
          <p:cNvPr id="15" name="Content Placeholder 7">
            <a:extLst>
              <a:ext uri="{FF2B5EF4-FFF2-40B4-BE49-F238E27FC236}">
                <a16:creationId xmlns:a16="http://schemas.microsoft.com/office/drawing/2014/main" id="{58E4D1A0-6F20-4C86-8185-E1F69676C220}"/>
              </a:ext>
            </a:extLst>
          </p:cNvPr>
          <p:cNvSpPr>
            <a:spLocks noGrp="1"/>
          </p:cNvSpPr>
          <p:nvPr>
            <p:ph sz="quarter" idx="26"/>
          </p:nvPr>
        </p:nvSpPr>
        <p:spPr>
          <a:xfrm>
            <a:off x="5185261" y="5764248"/>
            <a:ext cx="6475863" cy="304800"/>
          </a:xfrm>
          <a:prstGeom prst="rect">
            <a:avLst/>
          </a:prstGeom>
        </p:spPr>
        <p:txBody>
          <a:bodyPr/>
          <a:lstStyle>
            <a:lvl1pPr marL="0" indent="0">
              <a:buNone/>
              <a:defRPr/>
            </a:lvl1pPr>
          </a:lstStyle>
          <a:p>
            <a:pPr lvl="0"/>
            <a:endParaRPr lang="en-US" dirty="0"/>
          </a:p>
        </p:txBody>
      </p:sp>
      <p:sp>
        <p:nvSpPr>
          <p:cNvPr id="23"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8608993" y="6370876"/>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24" name="Footer Placeholder 4">
            <a:extLst>
              <a:ext uri="{FF2B5EF4-FFF2-40B4-BE49-F238E27FC236}">
                <a16:creationId xmlns:a16="http://schemas.microsoft.com/office/drawing/2014/main" id="{8894F196-3B10-478F-B710-339354FA9E3E}"/>
              </a:ext>
            </a:extLst>
          </p:cNvPr>
          <p:cNvSpPr txBox="1">
            <a:spLocks/>
          </p:cNvSpPr>
          <p:nvPr userDrawn="1"/>
        </p:nvSpPr>
        <p:spPr>
          <a:xfrm>
            <a:off x="4036993" y="635636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Tree>
    <p:extLst>
      <p:ext uri="{BB962C8B-B14F-4D97-AF65-F5344CB8AC3E}">
        <p14:creationId xmlns:p14="http://schemas.microsoft.com/office/powerpoint/2010/main" val="18983544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1"/>
          <p:cNvSpPr>
            <a:spLocks noGrp="1"/>
          </p:cNvSpPr>
          <p:nvPr>
            <p:ph sz="quarter" idx="16"/>
          </p:nvPr>
        </p:nvSpPr>
        <p:spPr>
          <a:xfrm>
            <a:off x="406400" y="1752600"/>
            <a:ext cx="5486400" cy="445135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2"/>
          <p:cNvSpPr>
            <a:spLocks noGrp="1"/>
          </p:cNvSpPr>
          <p:nvPr>
            <p:ph sz="quarter" idx="17"/>
          </p:nvPr>
        </p:nvSpPr>
        <p:spPr>
          <a:xfrm>
            <a:off x="6299200" y="1752600"/>
            <a:ext cx="5486400" cy="445135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8" name="Slide Number Placeholder 3">
            <a:extLst>
              <a:ext uri="{FF2B5EF4-FFF2-40B4-BE49-F238E27FC236}">
                <a16:creationId xmlns:a16="http://schemas.microsoft.com/office/drawing/2014/main" id="{46ACF59F-042B-4CE1-AAE4-2FA4499AB366}"/>
              </a:ext>
            </a:extLst>
          </p:cNvPr>
          <p:cNvSpPr txBox="1">
            <a:spLocks/>
          </p:cNvSpPr>
          <p:nvPr userDrawn="1"/>
        </p:nvSpPr>
        <p:spPr>
          <a:xfrm>
            <a:off x="8610600" y="6356351"/>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9" name="Footer Placeholder 4">
            <a:extLst>
              <a:ext uri="{FF2B5EF4-FFF2-40B4-BE49-F238E27FC236}">
                <a16:creationId xmlns:a16="http://schemas.microsoft.com/office/drawing/2014/main" id="{7642CDE9-7E9A-40FF-9BB8-77380C68654E}"/>
              </a:ext>
            </a:extLst>
          </p:cNvPr>
          <p:cNvSpPr txBox="1">
            <a:spLocks/>
          </p:cNvSpPr>
          <p:nvPr userDrawn="1"/>
        </p:nvSpPr>
        <p:spPr>
          <a:xfrm>
            <a:off x="4038600" y="6356351"/>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Copyright ©2020 John Wiley &amp; Sons, Inc. </a:t>
            </a:r>
            <a:endParaRPr lang="en-US" sz="1200" dirty="0"/>
          </a:p>
        </p:txBody>
      </p:sp>
    </p:spTree>
    <p:extLst>
      <p:ext uri="{BB962C8B-B14F-4D97-AF65-F5344CB8AC3E}">
        <p14:creationId xmlns:p14="http://schemas.microsoft.com/office/powerpoint/2010/main" val="23650748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1"/>
          <p:cNvSpPr>
            <a:spLocks noGrp="1"/>
          </p:cNvSpPr>
          <p:nvPr>
            <p:ph sz="quarter" idx="16"/>
          </p:nvPr>
        </p:nvSpPr>
        <p:spPr>
          <a:xfrm>
            <a:off x="406400" y="1752600"/>
            <a:ext cx="5486400" cy="28194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2"/>
          <p:cNvSpPr>
            <a:spLocks noGrp="1"/>
          </p:cNvSpPr>
          <p:nvPr>
            <p:ph sz="quarter" idx="17"/>
          </p:nvPr>
        </p:nvSpPr>
        <p:spPr>
          <a:xfrm>
            <a:off x="6299200" y="1752600"/>
            <a:ext cx="5486400" cy="28194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9" name="Content Placeholder 8"/>
          <p:cNvSpPr>
            <a:spLocks noGrp="1"/>
          </p:cNvSpPr>
          <p:nvPr>
            <p:ph sz="quarter" idx="18"/>
          </p:nvPr>
        </p:nvSpPr>
        <p:spPr>
          <a:xfrm>
            <a:off x="3048000" y="4724401"/>
            <a:ext cx="6096000" cy="148907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Tree>
    <p:extLst>
      <p:ext uri="{BB962C8B-B14F-4D97-AF65-F5344CB8AC3E}">
        <p14:creationId xmlns:p14="http://schemas.microsoft.com/office/powerpoint/2010/main" val="13056688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1"/>
          <p:cNvSpPr>
            <a:spLocks noGrp="1"/>
          </p:cNvSpPr>
          <p:nvPr>
            <p:ph sz="quarter" idx="16"/>
          </p:nvPr>
        </p:nvSpPr>
        <p:spPr>
          <a:xfrm>
            <a:off x="406400" y="1752600"/>
            <a:ext cx="5486400" cy="182819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2"/>
          <p:cNvSpPr>
            <a:spLocks noGrp="1"/>
          </p:cNvSpPr>
          <p:nvPr>
            <p:ph sz="quarter" idx="17"/>
          </p:nvPr>
        </p:nvSpPr>
        <p:spPr>
          <a:xfrm>
            <a:off x="6299200" y="1752600"/>
            <a:ext cx="5486400" cy="182819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9" name="Content Placeholder 8"/>
          <p:cNvSpPr>
            <a:spLocks noGrp="1"/>
          </p:cNvSpPr>
          <p:nvPr>
            <p:ph sz="quarter" idx="18"/>
          </p:nvPr>
        </p:nvSpPr>
        <p:spPr>
          <a:xfrm>
            <a:off x="429174" y="3808475"/>
            <a:ext cx="5565633" cy="83484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8" name="Content Placeholder 7">
            <a:extLst>
              <a:ext uri="{FF2B5EF4-FFF2-40B4-BE49-F238E27FC236}">
                <a16:creationId xmlns:a16="http://schemas.microsoft.com/office/drawing/2014/main" id="{ECAAD719-5BF0-4C5E-BE8A-5C3956869DF9}"/>
              </a:ext>
            </a:extLst>
          </p:cNvPr>
          <p:cNvSpPr>
            <a:spLocks noGrp="1"/>
          </p:cNvSpPr>
          <p:nvPr>
            <p:ph sz="quarter" idx="19"/>
          </p:nvPr>
        </p:nvSpPr>
        <p:spPr>
          <a:xfrm>
            <a:off x="6299200" y="3808414"/>
            <a:ext cx="5463117" cy="835025"/>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1" name="Content Placeholder 10">
            <a:extLst>
              <a:ext uri="{FF2B5EF4-FFF2-40B4-BE49-F238E27FC236}">
                <a16:creationId xmlns:a16="http://schemas.microsoft.com/office/drawing/2014/main" id="{DA815FFC-5DD1-44FE-91D7-17E9AFE9E701}"/>
              </a:ext>
            </a:extLst>
          </p:cNvPr>
          <p:cNvSpPr>
            <a:spLocks noGrp="1"/>
          </p:cNvSpPr>
          <p:nvPr>
            <p:ph sz="quarter" idx="20"/>
          </p:nvPr>
        </p:nvSpPr>
        <p:spPr>
          <a:xfrm>
            <a:off x="429683" y="4795839"/>
            <a:ext cx="5666317" cy="682327"/>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3" name="Content Placeholder 12">
            <a:extLst>
              <a:ext uri="{FF2B5EF4-FFF2-40B4-BE49-F238E27FC236}">
                <a16:creationId xmlns:a16="http://schemas.microsoft.com/office/drawing/2014/main" id="{5C82916B-0585-4B7E-9C9B-A7650469BF47}"/>
              </a:ext>
            </a:extLst>
          </p:cNvPr>
          <p:cNvSpPr>
            <a:spLocks noGrp="1"/>
          </p:cNvSpPr>
          <p:nvPr>
            <p:ph sz="quarter" idx="21"/>
          </p:nvPr>
        </p:nvSpPr>
        <p:spPr>
          <a:xfrm>
            <a:off x="6197600" y="4795839"/>
            <a:ext cx="5362840" cy="758222"/>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Tree>
    <p:extLst>
      <p:ext uri="{BB962C8B-B14F-4D97-AF65-F5344CB8AC3E}">
        <p14:creationId xmlns:p14="http://schemas.microsoft.com/office/powerpoint/2010/main" val="11625017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Image Slide: Version A">
    <p:spTree>
      <p:nvGrpSpPr>
        <p:cNvPr id="1" name=""/>
        <p:cNvGrpSpPr/>
        <p:nvPr/>
      </p:nvGrpSpPr>
      <p:grpSpPr>
        <a:xfrm>
          <a:off x="0" y="0"/>
          <a:ext cx="0" cy="0"/>
          <a:chOff x="0" y="0"/>
          <a:chExt cx="0" cy="0"/>
        </a:xfrm>
      </p:grpSpPr>
      <p:sp>
        <p:nvSpPr>
          <p:cNvPr id="6" name="Title 1"/>
          <p:cNvSpPr>
            <a:spLocks noGrp="1"/>
          </p:cNvSpPr>
          <p:nvPr>
            <p:ph type="title"/>
          </p:nvPr>
        </p:nvSpPr>
        <p:spPr>
          <a:xfrm>
            <a:off x="406400" y="5410202"/>
            <a:ext cx="11379200" cy="380999"/>
          </a:xfrm>
          <a:prstGeom prst="rect">
            <a:avLst/>
          </a:prstGeom>
        </p:spPr>
        <p:txBody>
          <a:bodyPr/>
          <a:lstStyle>
            <a:lvl1pPr>
              <a:defRPr sz="2000">
                <a:latin typeface="Times New Roman" charset="0"/>
                <a:ea typeface="Times New Roman" charset="0"/>
                <a:cs typeface="Times New Roman" charset="0"/>
              </a:defRPr>
            </a:lvl1pPr>
          </a:lstStyle>
          <a:p>
            <a:r>
              <a:rPr lang="en-US" dirty="0"/>
              <a:t>Click to edit Master title style</a:t>
            </a:r>
          </a:p>
        </p:txBody>
      </p:sp>
      <p:sp>
        <p:nvSpPr>
          <p:cNvPr id="5" name="Content Placeholder 2"/>
          <p:cNvSpPr>
            <a:spLocks noGrp="1"/>
          </p:cNvSpPr>
          <p:nvPr>
            <p:ph idx="1"/>
          </p:nvPr>
        </p:nvSpPr>
        <p:spPr>
          <a:xfrm>
            <a:off x="406400" y="609602"/>
            <a:ext cx="11379200" cy="4726179"/>
          </a:xfrm>
          <a:prstGeom prst="rect">
            <a:avLst/>
          </a:prstGeom>
        </p:spPr>
        <p:txBody>
          <a:bodyPr/>
          <a:lstStyle>
            <a:lvl1pPr marL="0" indent="0">
              <a:buNone/>
              <a:defRPr b="0" i="0">
                <a:latin typeface="Times New Roman" charset="0"/>
                <a:ea typeface="Times New Roman" charset="0"/>
                <a:cs typeface="Times New Roman" charset="0"/>
              </a:defRPr>
            </a:lvl1pPr>
          </a:lstStyle>
          <a:p>
            <a:pPr lvl="0"/>
            <a:endParaRPr lang="en-US" dirty="0"/>
          </a:p>
        </p:txBody>
      </p:sp>
      <p:sp>
        <p:nvSpPr>
          <p:cNvPr id="8" name="Content Placeholder 7"/>
          <p:cNvSpPr>
            <a:spLocks noGrp="1"/>
          </p:cNvSpPr>
          <p:nvPr>
            <p:ph sz="quarter" idx="12"/>
          </p:nvPr>
        </p:nvSpPr>
        <p:spPr>
          <a:xfrm>
            <a:off x="406400" y="5791201"/>
            <a:ext cx="11379200" cy="457199"/>
          </a:xfrm>
          <a:prstGeom prst="rect">
            <a:avLst/>
          </a:prstGeom>
        </p:spPr>
        <p:txBody>
          <a:bodyPr/>
          <a:lstStyle>
            <a:lvl1pPr marL="0" indent="0">
              <a:buNone/>
              <a:defRPr sz="2000" b="0" i="0">
                <a:latin typeface="Times New Roman" charset="0"/>
                <a:ea typeface="Times New Roman" charset="0"/>
                <a:cs typeface="Times New Roman" charset="0"/>
              </a:defRPr>
            </a:lvl1pPr>
          </a:lstStyle>
          <a:p>
            <a:pPr lvl="0"/>
            <a:endParaRPr lang="en-US" dirty="0"/>
          </a:p>
        </p:txBody>
      </p:sp>
      <p:sp>
        <p:nvSpPr>
          <p:cNvPr id="4" name="Slide Number Placeholder 3"/>
          <p:cNvSpPr>
            <a:spLocks noGrp="1"/>
          </p:cNvSpPr>
          <p:nvPr>
            <p:ph type="sldNum" sz="quarter" idx="11"/>
          </p:nvPr>
        </p:nvSpPr>
        <p:spPr>
          <a:xfrm>
            <a:off x="8610600" y="6356351"/>
            <a:ext cx="3175000" cy="365125"/>
          </a:xfrm>
        </p:spPr>
        <p:txBody>
          <a:bodyPr/>
          <a:lstStyle/>
          <a:p>
            <a:fld id="{43DD970A-8A59-5645-997B-8F1EF841716D}" type="slidenum">
              <a:rPr lang="en-US" smtClean="0"/>
              <a:pPr/>
              <a:t>‹#›</a:t>
            </a:fld>
            <a:endParaRPr lang="en-US" dirty="0"/>
          </a:p>
        </p:txBody>
      </p:sp>
      <p:sp>
        <p:nvSpPr>
          <p:cNvPr id="3" name="Footer Placeholder 2"/>
          <p:cNvSpPr>
            <a:spLocks noGrp="1"/>
          </p:cNvSpPr>
          <p:nvPr>
            <p:ph type="ftr" sz="quarter" idx="10"/>
          </p:nvPr>
        </p:nvSpPr>
        <p:spPr>
          <a:xfrm>
            <a:off x="4038600" y="6356351"/>
            <a:ext cx="41148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11788790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E4D96-C503-4BE0-9F48-7B0E0326CE62}"/>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E78F8EB2-C64A-42B7-AC64-C10457D985C9}"/>
              </a:ext>
            </a:extLst>
          </p:cNvP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a:extLst>
              <a:ext uri="{FF2B5EF4-FFF2-40B4-BE49-F238E27FC236}">
                <a16:creationId xmlns:a16="http://schemas.microsoft.com/office/drawing/2014/main" id="{1FA8BEA2-6D75-4F5A-A26E-60D47B7D78ED}"/>
              </a:ext>
            </a:extLst>
          </p:cNvPr>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36654848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203200" y="365125"/>
            <a:ext cx="11785600" cy="1387475"/>
          </a:xfrm>
          <a:prstGeom prst="rect">
            <a:avLst/>
          </a:prstGeom>
        </p:spPr>
        <p:txBody>
          <a:bodyPr anchor="b"/>
          <a:lstStyle>
            <a:lvl1pPr>
              <a:defRPr sz="6200" b="0" i="0" baseline="0">
                <a:latin typeface="Times New Roman" charset="0"/>
                <a:ea typeface="Times New Roman" charset="0"/>
                <a:cs typeface="Times New Roman" charset="0"/>
              </a:defRPr>
            </a:lvl1pPr>
          </a:lstStyle>
          <a:p>
            <a:r>
              <a:rPr lang="en-US" dirty="0"/>
              <a:t>Click to Edit Book Title</a:t>
            </a:r>
          </a:p>
        </p:txBody>
      </p:sp>
      <p:sp>
        <p:nvSpPr>
          <p:cNvPr id="3" name="Edition"/>
          <p:cNvSpPr>
            <a:spLocks noGrp="1"/>
          </p:cNvSpPr>
          <p:nvPr>
            <p:ph sz="quarter" idx="21" hasCustomPrompt="1"/>
          </p:nvPr>
        </p:nvSpPr>
        <p:spPr>
          <a:xfrm>
            <a:off x="203200" y="1828800"/>
            <a:ext cx="11785600" cy="457200"/>
          </a:xfrm>
          <a:prstGeom prst="rect">
            <a:avLst/>
          </a:prstGeom>
        </p:spPr>
        <p:txBody>
          <a:bodyPr/>
          <a:lstStyle>
            <a:lvl1pPr marL="0" indent="0" algn="ctr">
              <a:buNone/>
              <a:defRPr sz="2900" b="1" i="0">
                <a:latin typeface="Times New Roman" charset="0"/>
                <a:ea typeface="Times New Roman" charset="0"/>
                <a:cs typeface="Times New Roman" charset="0"/>
              </a:defRPr>
            </a:lvl1pPr>
            <a:lvl2pPr marL="457200" indent="0" algn="ctr">
              <a:buNone/>
              <a:defRPr b="1" i="0">
                <a:latin typeface="Times New Roman" charset="0"/>
                <a:ea typeface="Times New Roman" charset="0"/>
                <a:cs typeface="Times New Roman" charset="0"/>
              </a:defRPr>
            </a:lvl2pPr>
            <a:lvl3pPr marL="914400" indent="0" algn="ctr">
              <a:buNone/>
              <a:defRPr b="1" i="0">
                <a:latin typeface="Times New Roman" charset="0"/>
                <a:ea typeface="Times New Roman" charset="0"/>
                <a:cs typeface="Times New Roman" charset="0"/>
              </a:defRPr>
            </a:lvl3pPr>
            <a:lvl4pPr marL="1371600" indent="0" algn="ctr">
              <a:buNone/>
              <a:defRPr b="1" i="0">
                <a:latin typeface="Times New Roman" charset="0"/>
                <a:ea typeface="Times New Roman" charset="0"/>
                <a:cs typeface="Times New Roman" charset="0"/>
              </a:defRPr>
            </a:lvl4pPr>
            <a:lvl5pPr marL="1828800" indent="0" algn="ctr">
              <a:buNone/>
              <a:defRPr b="1" i="0">
                <a:latin typeface="Times New Roman" charset="0"/>
                <a:ea typeface="Times New Roman" charset="0"/>
                <a:cs typeface="Times New Roman" charset="0"/>
              </a:defRPr>
            </a:lvl5pPr>
          </a:lstStyle>
          <a:p>
            <a:pPr lvl="0"/>
            <a:r>
              <a:rPr lang="en-US" dirty="0"/>
              <a:t>Third Edition</a:t>
            </a:r>
          </a:p>
        </p:txBody>
      </p:sp>
      <p:sp>
        <p:nvSpPr>
          <p:cNvPr id="5" name="Author"/>
          <p:cNvSpPr>
            <a:spLocks noGrp="1"/>
          </p:cNvSpPr>
          <p:nvPr>
            <p:ph sz="quarter" idx="22" hasCustomPrompt="1"/>
          </p:nvPr>
        </p:nvSpPr>
        <p:spPr>
          <a:xfrm>
            <a:off x="203200" y="2363724"/>
            <a:ext cx="11785600" cy="685800"/>
          </a:xfrm>
          <a:prstGeom prst="rect">
            <a:avLst/>
          </a:prstGeom>
        </p:spPr>
        <p:txBody>
          <a:bodyPr/>
          <a:lstStyle>
            <a:lvl1pPr marL="0" indent="0" algn="ctr">
              <a:buNone/>
              <a:defRPr b="0" i="0">
                <a:solidFill>
                  <a:schemeClr val="accent2"/>
                </a:solidFill>
                <a:latin typeface="Times New Roman" charset="0"/>
                <a:ea typeface="Times New Roman" charset="0"/>
                <a:cs typeface="Times New Roman" charset="0"/>
              </a:defRPr>
            </a:lvl1pPr>
          </a:lstStyle>
          <a:p>
            <a:pPr lvl="0"/>
            <a:r>
              <a:rPr lang="en-US" dirty="0"/>
              <a:t>David Klein</a:t>
            </a:r>
          </a:p>
        </p:txBody>
      </p:sp>
      <p:sp>
        <p:nvSpPr>
          <p:cNvPr id="29" name="CN"/>
          <p:cNvSpPr>
            <a:spLocks noGrp="1"/>
          </p:cNvSpPr>
          <p:nvPr>
            <p:ph sz="quarter" idx="19" hasCustomPrompt="1"/>
          </p:nvPr>
        </p:nvSpPr>
        <p:spPr>
          <a:xfrm>
            <a:off x="203200" y="3733800"/>
            <a:ext cx="11785600" cy="533400"/>
          </a:xfrm>
          <a:prstGeom prst="rect">
            <a:avLst/>
          </a:prstGeom>
        </p:spPr>
        <p:txBody>
          <a:bodyPr/>
          <a:lstStyle>
            <a:lvl1pPr marL="0" indent="0" algn="ctr">
              <a:buNone/>
              <a:defRPr sz="4000" b="1" i="0" baseline="0">
                <a:solidFill>
                  <a:schemeClr val="accent1"/>
                </a:solidFill>
                <a:latin typeface="Times New Roman" charset="0"/>
                <a:ea typeface="Times New Roman" charset="0"/>
                <a:cs typeface="Times New Roman" charset="0"/>
              </a:defRPr>
            </a:lvl1pPr>
          </a:lstStyle>
          <a:p>
            <a:pPr lvl="0"/>
            <a:r>
              <a:rPr lang="en-US" dirty="0"/>
              <a:t>Chapter 1</a:t>
            </a:r>
          </a:p>
        </p:txBody>
      </p:sp>
      <p:sp>
        <p:nvSpPr>
          <p:cNvPr id="31" name="CT"/>
          <p:cNvSpPr>
            <a:spLocks noGrp="1"/>
          </p:cNvSpPr>
          <p:nvPr>
            <p:ph sz="quarter" idx="20" hasCustomPrompt="1"/>
          </p:nvPr>
        </p:nvSpPr>
        <p:spPr>
          <a:xfrm>
            <a:off x="203200" y="4419600"/>
            <a:ext cx="11785600" cy="2286000"/>
          </a:xfrm>
          <a:prstGeom prst="rect">
            <a:avLst/>
          </a:prstGeom>
        </p:spPr>
        <p:txBody>
          <a:bodyPr anchor="ctr"/>
          <a:lstStyle>
            <a:lvl1pPr marL="0" indent="0" algn="ctr">
              <a:buNone/>
              <a:defRPr sz="3800" b="0" i="0">
                <a:latin typeface="Times New Roman" charset="0"/>
                <a:ea typeface="Times New Roman" charset="0"/>
                <a:cs typeface="Times New Roman"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Tree>
    <p:extLst>
      <p:ext uri="{BB962C8B-B14F-4D97-AF65-F5344CB8AC3E}">
        <p14:creationId xmlns:p14="http://schemas.microsoft.com/office/powerpoint/2010/main" val="28064577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pener: Version B">
    <p:spTree>
      <p:nvGrpSpPr>
        <p:cNvPr id="1" name=""/>
        <p:cNvGrpSpPr/>
        <p:nvPr/>
      </p:nvGrpSpPr>
      <p:grpSpPr>
        <a:xfrm>
          <a:off x="0" y="0"/>
          <a:ext cx="0" cy="0"/>
          <a:chOff x="0" y="0"/>
          <a:chExt cx="0" cy="0"/>
        </a:xfrm>
      </p:grpSpPr>
      <p:sp>
        <p:nvSpPr>
          <p:cNvPr id="13" name="CN"/>
          <p:cNvSpPr>
            <a:spLocks noGrp="1"/>
          </p:cNvSpPr>
          <p:nvPr>
            <p:ph sz="quarter" idx="19" hasCustomPrompt="1"/>
          </p:nvPr>
        </p:nvSpPr>
        <p:spPr>
          <a:xfrm>
            <a:off x="203200" y="228600"/>
            <a:ext cx="11785600" cy="533400"/>
          </a:xfrm>
          <a:prstGeom prst="rect">
            <a:avLst/>
          </a:prstGeom>
        </p:spPr>
        <p:txBody>
          <a:bodyPr/>
          <a:lstStyle>
            <a:lvl1pPr marL="0" indent="0" algn="ctr">
              <a:buNone/>
              <a:defRPr sz="4000" b="1" i="0" baseline="0">
                <a:solidFill>
                  <a:schemeClr val="accent1"/>
                </a:solidFill>
                <a:latin typeface="Times New Roman" charset="0"/>
                <a:ea typeface="Times New Roman" charset="0"/>
                <a:cs typeface="Times New Roman" charset="0"/>
              </a:defRPr>
            </a:lvl1pPr>
          </a:lstStyle>
          <a:p>
            <a:pPr lvl="0"/>
            <a:r>
              <a:rPr lang="en-US" dirty="0"/>
              <a:t>Chapter 1</a:t>
            </a:r>
          </a:p>
        </p:txBody>
      </p:sp>
      <p:sp>
        <p:nvSpPr>
          <p:cNvPr id="14" name="CT"/>
          <p:cNvSpPr>
            <a:spLocks noGrp="1"/>
          </p:cNvSpPr>
          <p:nvPr>
            <p:ph sz="quarter" idx="20" hasCustomPrompt="1"/>
          </p:nvPr>
        </p:nvSpPr>
        <p:spPr>
          <a:xfrm>
            <a:off x="203200" y="838200"/>
            <a:ext cx="11785600" cy="2209800"/>
          </a:xfrm>
          <a:prstGeom prst="rect">
            <a:avLst/>
          </a:prstGeom>
        </p:spPr>
        <p:txBody>
          <a:bodyPr anchor="ctr"/>
          <a:lstStyle>
            <a:lvl1pPr marL="0" indent="0" algn="ctr">
              <a:buNone/>
              <a:defRPr sz="3800" b="0" i="0">
                <a:latin typeface="Times New Roman" charset="0"/>
                <a:ea typeface="Times New Roman" charset="0"/>
                <a:cs typeface="Times New Roman"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8" name="Title "/>
          <p:cNvSpPr>
            <a:spLocks noGrp="1"/>
          </p:cNvSpPr>
          <p:nvPr>
            <p:ph type="title" hasCustomPrompt="1"/>
          </p:nvPr>
        </p:nvSpPr>
        <p:spPr>
          <a:xfrm>
            <a:off x="203200" y="3505200"/>
            <a:ext cx="11785600" cy="1447800"/>
          </a:xfrm>
          <a:prstGeom prst="rect">
            <a:avLst/>
          </a:prstGeom>
        </p:spPr>
        <p:txBody>
          <a:bodyPr anchor="b"/>
          <a:lstStyle>
            <a:lvl1pPr>
              <a:defRPr sz="6200" b="0" i="0" baseline="0">
                <a:latin typeface="Times New Roman" charset="0"/>
                <a:ea typeface="Times New Roman" charset="0"/>
                <a:cs typeface="Times New Roman" charset="0"/>
              </a:defRPr>
            </a:lvl1pPr>
          </a:lstStyle>
          <a:p>
            <a:r>
              <a:rPr lang="en-US" dirty="0"/>
              <a:t>Click to Edit Book Title</a:t>
            </a:r>
          </a:p>
        </p:txBody>
      </p:sp>
      <p:sp>
        <p:nvSpPr>
          <p:cNvPr id="15" name="Edition"/>
          <p:cNvSpPr>
            <a:spLocks noGrp="1"/>
          </p:cNvSpPr>
          <p:nvPr>
            <p:ph sz="quarter" idx="17" hasCustomPrompt="1"/>
          </p:nvPr>
        </p:nvSpPr>
        <p:spPr>
          <a:xfrm>
            <a:off x="203200" y="5029200"/>
            <a:ext cx="11785600" cy="762000"/>
          </a:xfrm>
          <a:prstGeom prst="rect">
            <a:avLst/>
          </a:prstGeom>
        </p:spPr>
        <p:txBody>
          <a:bodyPr/>
          <a:lstStyle>
            <a:lvl1pPr marL="0" indent="0" algn="ctr">
              <a:buNone/>
              <a:defRPr sz="2900" b="1" i="0" baseline="0">
                <a:latin typeface="Times New Roman" charset="0"/>
                <a:ea typeface="Times New Roman" charset="0"/>
                <a:cs typeface="Times New Roman" charset="0"/>
              </a:defRPr>
            </a:lvl1pPr>
          </a:lstStyle>
          <a:p>
            <a:pPr lvl="0"/>
            <a:r>
              <a:rPr lang="en-US" dirty="0"/>
              <a:t>Third Edition</a:t>
            </a:r>
          </a:p>
        </p:txBody>
      </p:sp>
      <p:sp>
        <p:nvSpPr>
          <p:cNvPr id="16" name="Author"/>
          <p:cNvSpPr>
            <a:spLocks noGrp="1"/>
          </p:cNvSpPr>
          <p:nvPr>
            <p:ph sz="quarter" idx="18" hasCustomPrompt="1"/>
          </p:nvPr>
        </p:nvSpPr>
        <p:spPr>
          <a:xfrm>
            <a:off x="203200" y="6096000"/>
            <a:ext cx="11785600" cy="533400"/>
          </a:xfrm>
          <a:prstGeom prst="rect">
            <a:avLst/>
          </a:prstGeom>
        </p:spPr>
        <p:txBody>
          <a:bodyPr/>
          <a:lstStyle>
            <a:lvl1pPr marL="0" indent="0" algn="ctr">
              <a:buNone/>
              <a:defRPr b="0" i="0" baseline="0">
                <a:solidFill>
                  <a:schemeClr val="accent2"/>
                </a:solidFill>
                <a:latin typeface="STIX" charset="0"/>
                <a:ea typeface="STIX" charset="0"/>
                <a:cs typeface="STIX" charset="0"/>
              </a:defRPr>
            </a:lvl1pPr>
          </a:lstStyle>
          <a:p>
            <a:pPr lvl="0"/>
            <a:r>
              <a:rPr lang="en-US" dirty="0"/>
              <a:t>David Klein</a:t>
            </a:r>
          </a:p>
        </p:txBody>
      </p:sp>
    </p:spTree>
    <p:extLst>
      <p:ext uri="{BB962C8B-B14F-4D97-AF65-F5344CB8AC3E}">
        <p14:creationId xmlns:p14="http://schemas.microsoft.com/office/powerpoint/2010/main" val="42273921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203200" y="365125"/>
            <a:ext cx="11785600" cy="1387475"/>
          </a:xfrm>
          <a:prstGeom prst="rect">
            <a:avLst/>
          </a:prstGeom>
        </p:spPr>
        <p:txBody>
          <a:bodyPr anchor="b"/>
          <a:lstStyle>
            <a:lvl1pPr>
              <a:defRPr sz="6200" b="0" i="0" baseline="0">
                <a:latin typeface="Times New Roman" charset="0"/>
                <a:ea typeface="Times New Roman" charset="0"/>
                <a:cs typeface="Times New Roman" charset="0"/>
              </a:defRPr>
            </a:lvl1pPr>
          </a:lstStyle>
          <a:p>
            <a:r>
              <a:rPr lang="en-US" dirty="0"/>
              <a:t>Click to Edit Book Title</a:t>
            </a:r>
          </a:p>
        </p:txBody>
      </p:sp>
      <p:sp>
        <p:nvSpPr>
          <p:cNvPr id="3" name="Edition"/>
          <p:cNvSpPr>
            <a:spLocks noGrp="1"/>
          </p:cNvSpPr>
          <p:nvPr>
            <p:ph sz="quarter" idx="21" hasCustomPrompt="1"/>
          </p:nvPr>
        </p:nvSpPr>
        <p:spPr>
          <a:xfrm>
            <a:off x="203200" y="1755648"/>
            <a:ext cx="11785600" cy="609600"/>
          </a:xfrm>
          <a:prstGeom prst="rect">
            <a:avLst/>
          </a:prstGeom>
        </p:spPr>
        <p:txBody>
          <a:bodyPr/>
          <a:lstStyle>
            <a:lvl1pPr marL="0" indent="0" algn="ctr">
              <a:buNone/>
              <a:defRPr sz="2900" b="1" i="0">
                <a:latin typeface="Times New Roman" charset="0"/>
                <a:ea typeface="Times New Roman" charset="0"/>
                <a:cs typeface="Times New Roman" charset="0"/>
              </a:defRPr>
            </a:lvl1pPr>
            <a:lvl2pPr marL="457200" indent="0" algn="ctr">
              <a:buNone/>
              <a:defRPr b="1" i="0">
                <a:latin typeface="Times New Roman" charset="0"/>
                <a:ea typeface="Times New Roman" charset="0"/>
                <a:cs typeface="Times New Roman" charset="0"/>
              </a:defRPr>
            </a:lvl2pPr>
            <a:lvl3pPr marL="914400" indent="0" algn="ctr">
              <a:buNone/>
              <a:defRPr b="1" i="0">
                <a:latin typeface="Times New Roman" charset="0"/>
                <a:ea typeface="Times New Roman" charset="0"/>
                <a:cs typeface="Times New Roman" charset="0"/>
              </a:defRPr>
            </a:lvl3pPr>
            <a:lvl4pPr marL="1371600" indent="0" algn="ctr">
              <a:buNone/>
              <a:defRPr b="1" i="0">
                <a:latin typeface="Times New Roman" charset="0"/>
                <a:ea typeface="Times New Roman" charset="0"/>
                <a:cs typeface="Times New Roman" charset="0"/>
              </a:defRPr>
            </a:lvl4pPr>
            <a:lvl5pPr marL="1828800" indent="0" algn="ctr">
              <a:buNone/>
              <a:defRPr b="1" i="0">
                <a:latin typeface="Times New Roman" charset="0"/>
                <a:ea typeface="Times New Roman" charset="0"/>
                <a:cs typeface="Times New Roman" charset="0"/>
              </a:defRPr>
            </a:lvl5pPr>
          </a:lstStyle>
          <a:p>
            <a:pPr lvl="0"/>
            <a:r>
              <a:rPr lang="en-US" dirty="0"/>
              <a:t>Third Edition</a:t>
            </a:r>
          </a:p>
        </p:txBody>
      </p:sp>
      <p:sp>
        <p:nvSpPr>
          <p:cNvPr id="5" name="Author"/>
          <p:cNvSpPr>
            <a:spLocks noGrp="1"/>
          </p:cNvSpPr>
          <p:nvPr>
            <p:ph sz="quarter" idx="22" hasCustomPrompt="1"/>
          </p:nvPr>
        </p:nvSpPr>
        <p:spPr>
          <a:xfrm>
            <a:off x="203200" y="2363724"/>
            <a:ext cx="11785600" cy="685800"/>
          </a:xfrm>
          <a:prstGeom prst="rect">
            <a:avLst/>
          </a:prstGeom>
        </p:spPr>
        <p:txBody>
          <a:bodyPr/>
          <a:lstStyle>
            <a:lvl1pPr marL="0" indent="0" algn="ctr">
              <a:buNone/>
              <a:defRPr b="0" i="0">
                <a:solidFill>
                  <a:schemeClr val="accent2"/>
                </a:solidFill>
                <a:latin typeface="Times New Roman" charset="0"/>
                <a:ea typeface="Times New Roman" charset="0"/>
                <a:cs typeface="Times New Roman" charset="0"/>
              </a:defRPr>
            </a:lvl1pPr>
          </a:lstStyle>
          <a:p>
            <a:pPr lvl="0"/>
            <a:r>
              <a:rPr lang="en-US" dirty="0"/>
              <a:t>David Klein</a:t>
            </a:r>
          </a:p>
        </p:txBody>
      </p:sp>
      <p:sp>
        <p:nvSpPr>
          <p:cNvPr id="29" name="CN"/>
          <p:cNvSpPr>
            <a:spLocks noGrp="1"/>
          </p:cNvSpPr>
          <p:nvPr>
            <p:ph sz="quarter" idx="19" hasCustomPrompt="1"/>
          </p:nvPr>
        </p:nvSpPr>
        <p:spPr>
          <a:xfrm>
            <a:off x="203200" y="3733800"/>
            <a:ext cx="11785600" cy="533400"/>
          </a:xfrm>
          <a:prstGeom prst="rect">
            <a:avLst/>
          </a:prstGeom>
        </p:spPr>
        <p:txBody>
          <a:bodyPr/>
          <a:lstStyle>
            <a:lvl1pPr marL="0" indent="0" algn="ctr">
              <a:buNone/>
              <a:defRPr sz="4000" b="1" i="0" baseline="0">
                <a:solidFill>
                  <a:srgbClr val="007787"/>
                </a:solidFill>
                <a:latin typeface="Times New Roman" charset="0"/>
                <a:ea typeface="Times New Roman" charset="0"/>
                <a:cs typeface="Times New Roman" charset="0"/>
              </a:defRPr>
            </a:lvl1pPr>
          </a:lstStyle>
          <a:p>
            <a:pPr lvl="0"/>
            <a:r>
              <a:rPr lang="en-US" dirty="0"/>
              <a:t>Chapter 1</a:t>
            </a:r>
          </a:p>
        </p:txBody>
      </p:sp>
      <p:sp>
        <p:nvSpPr>
          <p:cNvPr id="31" name="CT"/>
          <p:cNvSpPr>
            <a:spLocks noGrp="1"/>
          </p:cNvSpPr>
          <p:nvPr>
            <p:ph sz="quarter" idx="20" hasCustomPrompt="1"/>
          </p:nvPr>
        </p:nvSpPr>
        <p:spPr>
          <a:xfrm>
            <a:off x="203200" y="4267200"/>
            <a:ext cx="11785600" cy="2438400"/>
          </a:xfrm>
          <a:prstGeom prst="rect">
            <a:avLst/>
          </a:prstGeom>
        </p:spPr>
        <p:txBody>
          <a:bodyPr anchor="ctr"/>
          <a:lstStyle>
            <a:lvl1pPr marL="0" indent="0" algn="ctr">
              <a:buNone/>
              <a:defRPr sz="3800" b="0" i="0">
                <a:latin typeface="Times New Roman" charset="0"/>
                <a:ea typeface="Times New Roman" charset="0"/>
                <a:cs typeface="Times New Roman"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4" name="Content Placeholder 3"/>
          <p:cNvSpPr>
            <a:spLocks noGrp="1"/>
          </p:cNvSpPr>
          <p:nvPr>
            <p:ph sz="quarter" idx="23" hasCustomPrompt="1"/>
          </p:nvPr>
        </p:nvSpPr>
        <p:spPr>
          <a:xfrm>
            <a:off x="2091891" y="6248400"/>
            <a:ext cx="8779309" cy="457200"/>
          </a:xfrm>
          <a:prstGeom prst="rect">
            <a:avLst/>
          </a:prstGeom>
        </p:spPr>
        <p:txBody>
          <a:bodyPr/>
          <a:lstStyle>
            <a:lvl1pPr marL="0" indent="0">
              <a:buNone/>
              <a:defRPr/>
            </a:lvl1pPr>
          </a:lstStyle>
          <a:p>
            <a:pPr lvl="0"/>
            <a:r>
              <a:rPr lang="en-US" dirty="0"/>
              <a:t>Copyright ©2019 John Wiley &amp; Sons, Inc.</a:t>
            </a:r>
          </a:p>
        </p:txBody>
      </p:sp>
      <p:sp>
        <p:nvSpPr>
          <p:cNvPr id="6" name="Content Placeholder 5"/>
          <p:cNvSpPr>
            <a:spLocks noGrp="1"/>
          </p:cNvSpPr>
          <p:nvPr>
            <p:ph sz="quarter" idx="24"/>
          </p:nvPr>
        </p:nvSpPr>
        <p:spPr>
          <a:xfrm>
            <a:off x="203200" y="6092825"/>
            <a:ext cx="11785600" cy="273050"/>
          </a:xfrm>
          <a:prstGeom prst="rect">
            <a:avLst/>
          </a:prstGeom>
        </p:spPr>
        <p:txBody>
          <a:bodyPr/>
          <a:lstStyle>
            <a:lvl1pPr marL="0" indent="0">
              <a:buNone/>
              <a:defRPr/>
            </a:lvl1pPr>
          </a:lstStyle>
          <a:p>
            <a:pPr lvl="0"/>
            <a:endParaRPr lang="en-US" dirty="0"/>
          </a:p>
        </p:txBody>
      </p:sp>
    </p:spTree>
    <p:extLst>
      <p:ext uri="{BB962C8B-B14F-4D97-AF65-F5344CB8AC3E}">
        <p14:creationId xmlns:p14="http://schemas.microsoft.com/office/powerpoint/2010/main" val="1593901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06400" y="762001"/>
            <a:ext cx="11379200" cy="838198"/>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8" name="Straight Connector 7"/>
          <p:cNvCxnSpPr/>
          <p:nvPr userDrawn="1"/>
        </p:nvCxnSpPr>
        <p:spPr>
          <a:xfrm>
            <a:off x="0" y="6324600"/>
            <a:ext cx="12192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8610600" y="6356351"/>
            <a:ext cx="3175000" cy="365125"/>
          </a:xfrm>
          <a:prstGeom prst="rect">
            <a:avLst/>
          </a:prstGeom>
        </p:spPr>
        <p:txBody>
          <a:bodyPr vert="horz" lIns="91440" tIns="45720" rIns="91440" bIns="45720" rtlCol="0" anchor="ctr"/>
          <a:lstStyle>
            <a:lvl1pPr algn="r">
              <a:defRPr sz="1200" b="0" i="0">
                <a:solidFill>
                  <a:schemeClr val="tx1">
                    <a:tint val="75000"/>
                  </a:schemeClr>
                </a:solidFill>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2327636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dt="0"/>
  <p:txStyles>
    <p:titleStyle>
      <a:lvl1pPr algn="l" defTabSz="914400" rtl="0" eaLnBrk="1" latinLnBrk="0" hangingPunct="1">
        <a:lnSpc>
          <a:spcPct val="90000"/>
        </a:lnSpc>
        <a:spcBef>
          <a:spcPct val="0"/>
        </a:spcBef>
        <a:buNone/>
        <a:defRPr sz="4000" b="1" i="0" kern="1200">
          <a:solidFill>
            <a:schemeClr val="accent1"/>
          </a:solidFill>
          <a:latin typeface="Times New Roman" charset="0"/>
          <a:ea typeface="Times New Roman" charset="0"/>
          <a:cs typeface="Times New Roman"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304800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33847002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Lst>
  <p:hf hdr="0" dt="0"/>
  <p:txStyles>
    <p:titleStyle>
      <a:lvl1pPr algn="ctr" defTabSz="914400" rtl="0" eaLnBrk="1" latinLnBrk="0" hangingPunct="1">
        <a:lnSpc>
          <a:spcPct val="90000"/>
        </a:lnSpc>
        <a:spcBef>
          <a:spcPct val="0"/>
        </a:spcBef>
        <a:buNone/>
        <a:defRPr sz="110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wmf"/></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3.bin"/><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7.wmf"/></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5.bin"/><Relationship Id="rId1" Type="http://schemas.openxmlformats.org/officeDocument/2006/relationships/slideLayout" Target="../slideLayouts/slideLayout4.xml"/><Relationship Id="rId5" Type="http://schemas.openxmlformats.org/officeDocument/2006/relationships/image" Target="../media/image10.wmf"/><Relationship Id="rId4" Type="http://schemas.openxmlformats.org/officeDocument/2006/relationships/oleObject" Target="../embeddings/oleObject6.bin"/></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13.wmf"/><Relationship Id="rId5" Type="http://schemas.openxmlformats.org/officeDocument/2006/relationships/oleObject" Target="../embeddings/oleObject8.bin"/><Relationship Id="rId4" Type="http://schemas.openxmlformats.org/officeDocument/2006/relationships/image" Target="../media/image12.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9.bin"/><Relationship Id="rId1" Type="http://schemas.openxmlformats.org/officeDocument/2006/relationships/slideLayout" Target="../slideLayouts/slideLayout4.xml"/><Relationship Id="rId5" Type="http://schemas.openxmlformats.org/officeDocument/2006/relationships/image" Target="../media/image18.wmf"/><Relationship Id="rId4" Type="http://schemas.openxmlformats.org/officeDocument/2006/relationships/oleObject" Target="../embeddings/oleObject10.bin"/></Relationships>
</file>

<file path=ppt/slides/_rels/slide36.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1.bin"/><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12.bin"/><Relationship Id="rId1" Type="http://schemas.openxmlformats.org/officeDocument/2006/relationships/slideLayout" Target="../slideLayouts/slideLayout11.xml"/><Relationship Id="rId5" Type="http://schemas.openxmlformats.org/officeDocument/2006/relationships/image" Target="../media/image21.wmf"/><Relationship Id="rId4" Type="http://schemas.openxmlformats.org/officeDocument/2006/relationships/oleObject" Target="../embeddings/oleObject13.bin"/></Relationships>
</file>

<file path=ppt/slides/_rels/slide38.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4.bin"/><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15.bin"/><Relationship Id="rId1" Type="http://schemas.openxmlformats.org/officeDocument/2006/relationships/slideLayout" Target="../slideLayouts/slideLayout11.xml"/><Relationship Id="rId5" Type="http://schemas.openxmlformats.org/officeDocument/2006/relationships/image" Target="../media/image26.wmf"/><Relationship Id="rId4" Type="http://schemas.openxmlformats.org/officeDocument/2006/relationships/oleObject" Target="../embeddings/oleObject16.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nchor="ctr"/>
          <a:lstStyle/>
          <a:p>
            <a:r>
              <a:rPr lang="en-US" sz="4000" dirty="0"/>
              <a:t>Introduction to Statistical Investigations</a:t>
            </a:r>
            <a:endParaRPr lang="en-US" sz="4000" dirty="0">
              <a:latin typeface="Times New Roman" panose="02020603050405020304" pitchFamily="18" charset="0"/>
              <a:cs typeface="Times New Roman" panose="02020603050405020304" pitchFamily="18" charset="0"/>
            </a:endParaRPr>
          </a:p>
        </p:txBody>
      </p:sp>
      <p:sp>
        <p:nvSpPr>
          <p:cNvPr id="4" name="Author"/>
          <p:cNvSpPr>
            <a:spLocks noGrp="1"/>
          </p:cNvSpPr>
          <p:nvPr>
            <p:ph sz="quarter" idx="21"/>
          </p:nvPr>
        </p:nvSpPr>
        <p:spPr>
          <a:prstGeom prst="rect">
            <a:avLst/>
          </a:prstGeom>
        </p:spPr>
        <p:txBody>
          <a:bodyPr/>
          <a:lstStyle/>
          <a:p>
            <a:r>
              <a:rPr lang="en-US" dirty="0">
                <a:latin typeface="Times New Roman" panose="02020603050405020304" pitchFamily="18" charset="0"/>
                <a:cs typeface="Times New Roman" panose="02020603050405020304" pitchFamily="18" charset="0"/>
              </a:rPr>
              <a:t>Second Edition</a:t>
            </a:r>
          </a:p>
        </p:txBody>
      </p:sp>
      <p:sp>
        <p:nvSpPr>
          <p:cNvPr id="3" name="Edition"/>
          <p:cNvSpPr>
            <a:spLocks noGrp="1"/>
          </p:cNvSpPr>
          <p:nvPr>
            <p:ph sz="quarter" idx="22"/>
          </p:nvPr>
        </p:nvSpPr>
        <p:spPr>
          <a:xfrm>
            <a:off x="1752600" y="2363724"/>
            <a:ext cx="8686800" cy="685800"/>
          </a:xfrm>
          <a:prstGeom prst="rect">
            <a:avLst/>
          </a:prstGeom>
        </p:spPr>
        <p:txBody>
          <a:bodyPr anchor="ctr"/>
          <a:lstStyle/>
          <a:p>
            <a:r>
              <a:rPr lang="en-US" sz="2600" dirty="0">
                <a:latin typeface="Times New Roman" panose="02020603050405020304" pitchFamily="18" charset="0"/>
                <a:cs typeface="Times New Roman" panose="02020603050405020304" pitchFamily="18" charset="0"/>
              </a:rPr>
              <a:t>Tintle, Chance, Cobb, Rossman, Roy, Swanson, VanderStoep</a:t>
            </a:r>
            <a:endParaRPr lang="en-US" sz="2600" baseline="30000" dirty="0">
              <a:latin typeface="Times New Roman" panose="02020603050405020304" pitchFamily="18" charset="0"/>
              <a:cs typeface="Times New Roman" panose="02020603050405020304" pitchFamily="18" charset="0"/>
            </a:endParaRPr>
          </a:p>
        </p:txBody>
      </p:sp>
      <p:sp>
        <p:nvSpPr>
          <p:cNvPr id="5" name="CN"/>
          <p:cNvSpPr>
            <a:spLocks noGrp="1"/>
          </p:cNvSpPr>
          <p:nvPr>
            <p:ph sz="quarter" idx="19"/>
          </p:nvPr>
        </p:nvSpPr>
        <p:spPr>
          <a:xfrm>
            <a:off x="1676400" y="3657600"/>
            <a:ext cx="8839200" cy="533400"/>
          </a:xfrm>
        </p:spPr>
        <p:txBody>
          <a:bodyPr anchor="ctr"/>
          <a:lstStyle/>
          <a:p>
            <a:r>
              <a:rPr lang="en-US" dirty="0">
                <a:latin typeface="Times New Roman" panose="02020603050405020304" pitchFamily="18" charset="0"/>
                <a:cs typeface="Times New Roman" panose="02020603050405020304" pitchFamily="18" charset="0"/>
              </a:rPr>
              <a:t>Chapter 2.2, 2.3</a:t>
            </a:r>
          </a:p>
        </p:txBody>
      </p:sp>
      <p:sp>
        <p:nvSpPr>
          <p:cNvPr id="6" name="CT"/>
          <p:cNvSpPr>
            <a:spLocks noGrp="1"/>
          </p:cNvSpPr>
          <p:nvPr>
            <p:ph sz="quarter" idx="20"/>
          </p:nvPr>
        </p:nvSpPr>
        <p:spPr>
          <a:xfrm>
            <a:off x="1676400" y="4799076"/>
            <a:ext cx="8839200" cy="1825752"/>
          </a:xfrm>
        </p:spPr>
        <p:txBody>
          <a:bodyPr anchor="ctr"/>
          <a:lstStyle/>
          <a:p>
            <a:r>
              <a:rPr lang="en-US" sz="4000" dirty="0"/>
              <a:t>Generalization: How Broadly Do the Results Apply?</a:t>
            </a:r>
          </a:p>
          <a:p>
            <a:r>
              <a:rPr lang="en-US" sz="4000" dirty="0">
                <a:solidFill>
                  <a:srgbClr val="00007F"/>
                </a:solidFill>
              </a:rPr>
              <a:t>Quantitative Data / Inference for a Single Quantitative Variable</a:t>
            </a:r>
          </a:p>
          <a:p>
            <a:endParaRPr lang="en-US" sz="4000" dirty="0"/>
          </a:p>
        </p:txBody>
      </p:sp>
      <p:sp>
        <p:nvSpPr>
          <p:cNvPr id="14" name="Content Placeholder 13"/>
          <p:cNvSpPr>
            <a:spLocks noGrp="1"/>
          </p:cNvSpPr>
          <p:nvPr>
            <p:ph sz="quarter" idx="24"/>
          </p:nvPr>
        </p:nvSpPr>
        <p:spPr>
          <a:xfrm>
            <a:off x="1676400" y="6156325"/>
            <a:ext cx="8839200" cy="273050"/>
          </a:xfrm>
        </p:spPr>
        <p:txBody>
          <a:bodyPr/>
          <a:lstStyle/>
          <a:p>
            <a:r>
              <a:rPr lang="en-IN" sz="1200" dirty="0">
                <a:solidFill>
                  <a:schemeClr val="bg1"/>
                </a:solidFill>
                <a:latin typeface="Times New Roman" panose="02020603050405020304" pitchFamily="18" charset="0"/>
                <a:cs typeface="Times New Roman" panose="02020603050405020304" pitchFamily="18" charset="0"/>
              </a:rPr>
              <a:t>This slide deck contains animations. Please disable animations if they cause issues with your device.</a:t>
            </a:r>
          </a:p>
        </p:txBody>
      </p:sp>
      <p:sp>
        <p:nvSpPr>
          <p:cNvPr id="10" name="Content Placeholder 9"/>
          <p:cNvSpPr>
            <a:spLocks noGrp="1"/>
          </p:cNvSpPr>
          <p:nvPr>
            <p:ph sz="quarter" idx="23"/>
          </p:nvPr>
        </p:nvSpPr>
        <p:spPr>
          <a:xfrm>
            <a:off x="2803759" y="6323058"/>
            <a:ext cx="6584482" cy="457200"/>
          </a:xfrm>
          <a:prstGeom prst="rect">
            <a:avLst/>
          </a:prstGeom>
        </p:spPr>
        <p:txBody>
          <a:bodyPr anchor="ctr"/>
          <a:lstStyle/>
          <a:p>
            <a:pPr algn="ctr"/>
            <a:r>
              <a:rPr lang="en-US" sz="1200" dirty="0">
                <a:solidFill>
                  <a:schemeClr val="tx1">
                    <a:tint val="75000"/>
                  </a:schemeClr>
                </a:solidFill>
                <a:latin typeface="Times New Roman" panose="02020603050405020304" pitchFamily="18" charset="0"/>
                <a:ea typeface="Times New Roman" charset="0"/>
                <a:cs typeface="Times New Roman" panose="02020603050405020304" pitchFamily="18" charset="0"/>
              </a:rPr>
              <a:t>Copyright ©2021 John Wiley &amp; Sons, Inc.</a:t>
            </a:r>
          </a:p>
        </p:txBody>
      </p:sp>
    </p:spTree>
    <p:extLst>
      <p:ext uri="{BB962C8B-B14F-4D97-AF65-F5344CB8AC3E}">
        <p14:creationId xmlns:p14="http://schemas.microsoft.com/office/powerpoint/2010/main" val="1261288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B1617-A560-F6EE-8013-83909D8981B4}"/>
              </a:ext>
            </a:extLst>
          </p:cNvPr>
          <p:cNvSpPr>
            <a:spLocks noGrp="1"/>
          </p:cNvSpPr>
          <p:nvPr>
            <p:ph type="title"/>
          </p:nvPr>
        </p:nvSpPr>
        <p:spPr/>
        <p:txBody>
          <a:bodyPr/>
          <a:lstStyle/>
          <a:p>
            <a:r>
              <a:rPr lang="en-US" dirty="0"/>
              <a:t>Warm Up</a:t>
            </a:r>
          </a:p>
        </p:txBody>
      </p:sp>
      <p:sp>
        <p:nvSpPr>
          <p:cNvPr id="3" name="Footer Placeholder 2">
            <a:extLst>
              <a:ext uri="{FF2B5EF4-FFF2-40B4-BE49-F238E27FC236}">
                <a16:creationId xmlns:a16="http://schemas.microsoft.com/office/drawing/2014/main" id="{33A3B6E4-F09D-A9FD-B6A8-BF0EF023B0A8}"/>
              </a:ext>
            </a:extLst>
          </p:cNvPr>
          <p:cNvSpPr>
            <a:spLocks noGrp="1"/>
          </p:cNvSpPr>
          <p:nvPr>
            <p:ph type="ftr" sz="quarter" idx="11"/>
          </p:nvPr>
        </p:nvSpPr>
        <p:spPr/>
        <p:txBody>
          <a:bodyPr/>
          <a:lstStyle/>
          <a:p>
            <a:r>
              <a:rPr lang="en-US"/>
              <a:t>Copyright ©2020 John Wiley &amp; Sons, Inc. </a:t>
            </a:r>
            <a:endParaRPr lang="en-US" dirty="0"/>
          </a:p>
        </p:txBody>
      </p:sp>
      <p:sp>
        <p:nvSpPr>
          <p:cNvPr id="4" name="Content Placeholder 3">
            <a:extLst>
              <a:ext uri="{FF2B5EF4-FFF2-40B4-BE49-F238E27FC236}">
                <a16:creationId xmlns:a16="http://schemas.microsoft.com/office/drawing/2014/main" id="{84C7E81D-9598-0F44-187E-654A3E4FA9A5}"/>
              </a:ext>
            </a:extLst>
          </p:cNvPr>
          <p:cNvSpPr>
            <a:spLocks noGrp="1"/>
          </p:cNvSpPr>
          <p:nvPr>
            <p:ph sz="quarter" idx="12"/>
          </p:nvPr>
        </p:nvSpPr>
        <p:spPr/>
        <p:txBody>
          <a:bodyPr/>
          <a:lstStyle/>
          <a:p>
            <a:r>
              <a:rPr lang="en-US" dirty="0"/>
              <a:t>Let's say you want to find out how many hours SMC students sleep. You want to find out if the average number of hours all students sleep is less than 8.</a:t>
            </a:r>
          </a:p>
          <a:p>
            <a:endParaRPr lang="en-US" dirty="0"/>
          </a:p>
          <a:p>
            <a:pPr marL="0" indent="0">
              <a:buNone/>
            </a:pPr>
            <a:r>
              <a:rPr lang="en-US" dirty="0"/>
              <a:t>A. How would you obtain a sample?</a:t>
            </a:r>
          </a:p>
          <a:p>
            <a:pPr marL="0" indent="0">
              <a:buNone/>
            </a:pPr>
            <a:r>
              <a:rPr lang="en-US" dirty="0"/>
              <a:t>B. What variable would you measure on each student? Is it quantitative, or categorical?</a:t>
            </a:r>
          </a:p>
          <a:p>
            <a:pPr marL="0" indent="0">
              <a:buNone/>
            </a:pPr>
            <a:r>
              <a:rPr lang="en-US" dirty="0"/>
              <a:t>C. Give an example of </a:t>
            </a:r>
            <a:r>
              <a:rPr lang="en-US" i="1" dirty="0"/>
              <a:t>convenience </a:t>
            </a:r>
            <a:r>
              <a:rPr lang="en-US" dirty="0"/>
              <a:t>sampling in this scenario.</a:t>
            </a:r>
          </a:p>
          <a:p>
            <a:pPr marL="0" indent="0">
              <a:buNone/>
            </a:pPr>
            <a:r>
              <a:rPr lang="en-US" dirty="0"/>
              <a:t>D. Give an example of </a:t>
            </a:r>
            <a:r>
              <a:rPr lang="en-US" i="1" dirty="0"/>
              <a:t>simple random</a:t>
            </a:r>
            <a:r>
              <a:rPr lang="en-US" dirty="0"/>
              <a:t> sampling in this scenario.</a:t>
            </a:r>
          </a:p>
        </p:txBody>
      </p:sp>
    </p:spTree>
    <p:extLst>
      <p:ext uri="{BB962C8B-B14F-4D97-AF65-F5344CB8AC3E}">
        <p14:creationId xmlns:p14="http://schemas.microsoft.com/office/powerpoint/2010/main" val="3333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t>Example 2.2</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1828800" y="1889722"/>
            <a:ext cx="8534400" cy="4369023"/>
          </a:xfrm>
          <a:prstGeom prst="rect">
            <a:avLst/>
          </a:prstGeom>
        </p:spPr>
        <p:txBody>
          <a:bodyPr/>
          <a:lstStyle/>
          <a:p>
            <a:pPr marL="0" indent="0">
              <a:spcAft>
                <a:spcPts val="1200"/>
              </a:spcAft>
              <a:buNone/>
            </a:pPr>
            <a:r>
              <a:rPr lang="en-US" dirty="0">
                <a:solidFill>
                  <a:srgbClr val="00007F"/>
                </a:solidFill>
              </a:rPr>
              <a:t>Sampling Students</a:t>
            </a:r>
          </a:p>
          <a:p>
            <a:pPr marL="457200" indent="-457200">
              <a:buClr>
                <a:schemeClr val="accent2"/>
              </a:buClr>
              <a:buFont typeface="Arial" panose="020B0604020202020204" pitchFamily="34" charset="0"/>
              <a:buChar char="•"/>
            </a:pPr>
            <a:r>
              <a:rPr lang="en-US" dirty="0"/>
              <a:t>Last time we looked at the categorical variable “whether or not the student lives on campus” for all students living in a small midwestern college.</a:t>
            </a:r>
          </a:p>
          <a:p>
            <a:pPr marL="457200" indent="-457200">
              <a:buClr>
                <a:schemeClr val="accent2"/>
              </a:buClr>
              <a:buFont typeface="Arial" panose="020B0604020202020204" pitchFamily="34" charset="0"/>
              <a:buChar char="•"/>
            </a:pPr>
            <a:r>
              <a:rPr lang="en-US" dirty="0"/>
              <a:t>We will now look at the quantitative variable “cumulative GPA” for all students enrolled that particular semester. </a:t>
            </a:r>
            <a:endParaRPr lang="en-US" b="1" dirty="0">
              <a:solidFill>
                <a:srgbClr val="00007F"/>
              </a:solidFill>
            </a:endParaRPr>
          </a:p>
        </p:txBody>
      </p:sp>
      <p:sp>
        <p:nvSpPr>
          <p:cNvPr id="4" name="TextBox 3">
            <a:extLst>
              <a:ext uri="{FF2B5EF4-FFF2-40B4-BE49-F238E27FC236}">
                <a16:creationId xmlns:a16="http://schemas.microsoft.com/office/drawing/2014/main" id="{EC49759F-0A49-E23B-CEF0-D54B45C23570}"/>
              </a:ext>
            </a:extLst>
          </p:cNvPr>
          <p:cNvSpPr txBox="1"/>
          <p:nvPr/>
        </p:nvSpPr>
        <p:spPr>
          <a:xfrm>
            <a:off x="4605592" y="4905631"/>
            <a:ext cx="3218060" cy="830997"/>
          </a:xfrm>
          <a:prstGeom prst="rect">
            <a:avLst/>
          </a:prstGeom>
          <a:noFill/>
        </p:spPr>
        <p:txBody>
          <a:bodyPr wrap="none" rtlCol="0">
            <a:spAutoFit/>
          </a:bodyPr>
          <a:lstStyle/>
          <a:p>
            <a:r>
              <a:rPr lang="en-US" sz="4800" dirty="0"/>
              <a:t>✅/❎ vs. 📈</a:t>
            </a:r>
          </a:p>
        </p:txBody>
      </p:sp>
    </p:spTree>
    <p:extLst>
      <p:ext uri="{BB962C8B-B14F-4D97-AF65-F5344CB8AC3E}">
        <p14:creationId xmlns:p14="http://schemas.microsoft.com/office/powerpoint/2010/main" val="2167877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a:xfrm>
            <a:off x="1828800" y="620886"/>
            <a:ext cx="8745005" cy="838199"/>
          </a:xfrm>
        </p:spPr>
        <p:txBody>
          <a:bodyPr>
            <a:normAutofit/>
          </a:bodyPr>
          <a:lstStyle/>
          <a:p>
            <a:r>
              <a:rPr lang="en-US" dirty="0">
                <a:solidFill>
                  <a:srgbClr val="196E78"/>
                </a:solidFill>
              </a:rPr>
              <a:t>Example 2.2: </a:t>
            </a:r>
            <a:r>
              <a:rPr lang="en-US" dirty="0"/>
              <a:t>Sampling Students </a:t>
            </a:r>
            <a:r>
              <a:rPr lang="en-US" sz="2200" dirty="0">
                <a:solidFill>
                  <a:srgbClr val="196E78"/>
                </a:solidFill>
              </a:rPr>
              <a:t>(1 of 2)</a:t>
            </a:r>
          </a:p>
        </p:txBody>
      </p:sp>
      <p:sp>
        <p:nvSpPr>
          <p:cNvPr id="8" name="Content Placeholder 7">
            <a:extLst>
              <a:ext uri="{FF2B5EF4-FFF2-40B4-BE49-F238E27FC236}">
                <a16:creationId xmlns:a16="http://schemas.microsoft.com/office/drawing/2014/main" id="{C89A3A17-1EFE-4D71-B333-634D08C9C01E}"/>
              </a:ext>
            </a:extLst>
          </p:cNvPr>
          <p:cNvSpPr>
            <a:spLocks noGrp="1"/>
          </p:cNvSpPr>
          <p:nvPr>
            <p:ph sz="quarter" idx="12"/>
          </p:nvPr>
        </p:nvSpPr>
        <p:spPr>
          <a:xfrm>
            <a:off x="1802975" y="1883216"/>
            <a:ext cx="8517320" cy="834594"/>
          </a:xfrm>
        </p:spPr>
        <p:txBody>
          <a:bodyPr/>
          <a:lstStyle/>
          <a:p>
            <a:pPr marL="292608" indent="-292608">
              <a:buClr>
                <a:schemeClr val="accent2"/>
              </a:buClr>
              <a:buFont typeface="Arial" panose="020B0604020202020204" pitchFamily="34" charset="0"/>
              <a:buChar char="•"/>
            </a:pPr>
            <a:r>
              <a:rPr lang="en-US" dirty="0"/>
              <a:t>The registrar gave us all 2,919 students' cumulative GPAs.</a:t>
            </a:r>
          </a:p>
          <a:p>
            <a:pPr marL="292608" indent="-292608">
              <a:buClr>
                <a:schemeClr val="accent2"/>
              </a:buClr>
              <a:buFont typeface="Arial" panose="020B0604020202020204" pitchFamily="34" charset="0"/>
              <a:buChar char="•"/>
            </a:pPr>
            <a:r>
              <a:rPr lang="en-US" dirty="0"/>
              <a:t>Here's the distribution:</a:t>
            </a:r>
          </a:p>
        </p:txBody>
      </p:sp>
      <p:pic>
        <p:nvPicPr>
          <p:cNvPr id="6" name="Content Placeholder 3" descr="A histogram describes the distribution of cumulative G P A for a population of college students. The horizontal axis is labeled Cumulative G P A and has markings from negative 1 to 4 in increments of 1. The vertical axis is labeled count and ranges from 0 to 400 in increments of 200. The distribution of bars is approximately left skewed. From 0 to 1, the bars extend up to the counts, 5, 0, 3, 0, 3, 3, and 5. From 1 to 2, the bars extend up to the counts, 5, 10, 12, 15, 20, and 18. From 2 to 3, the bars extend up to the counts, 50, 80, 100, 105, 180, and 210. From 3 to 4, the bars extend up to the counts, 250, 300, 415, 390, 395, and 410. There are no bars to the left of 0. The mean is 3.288, the standard deviation is 0.551, and the population size is 2919. All values are approximate."/>
          <p:cNvPicPr>
            <a:picLocks noGrp="1" noChangeAspect="1" noChangeArrowheads="1"/>
          </p:cNvPicPr>
          <p:nvPr>
            <p:ph type="pic" sz="quarter" idx="13"/>
          </p:nvPr>
        </p:nvPicPr>
        <p:blipFill>
          <a:blip r:embed="rId2" cstate="print">
            <a:extLst>
              <a:ext uri="{28A0092B-C50C-407E-A947-70E740481C1C}">
                <a14:useLocalDpi xmlns:a14="http://schemas.microsoft.com/office/drawing/2010/main" val="0"/>
              </a:ext>
            </a:extLst>
          </a:blip>
          <a:stretch>
            <a:fillRect/>
          </a:stretch>
        </p:blipFill>
        <p:spPr bwMode="auto">
          <a:xfrm>
            <a:off x="3674525" y="2952590"/>
            <a:ext cx="4774220" cy="3208630"/>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3211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solidFill>
                  <a:srgbClr val="196E78"/>
                </a:solidFill>
              </a:rPr>
              <a:t>Example 2.2: </a:t>
            </a:r>
            <a:r>
              <a:rPr lang="en-US" dirty="0"/>
              <a:t>Skewed</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prstGeom prst="rect">
            <a:avLst/>
          </a:prstGeom>
        </p:spPr>
        <p:txBody>
          <a:bodyPr/>
          <a:lstStyle/>
          <a:p>
            <a:pPr marL="292608" indent="-292608">
              <a:buClr>
                <a:schemeClr val="accent2"/>
              </a:buClr>
              <a:buFont typeface="Arial" panose="020B0604020202020204" pitchFamily="34" charset="0"/>
              <a:buChar char="•"/>
            </a:pPr>
            <a:r>
              <a:rPr lang="en-US" dirty="0"/>
              <a:t>A distribution of data is </a:t>
            </a:r>
            <a:r>
              <a:rPr lang="en-US" b="1" dirty="0"/>
              <a:t>skewed</a:t>
            </a:r>
            <a:r>
              <a:rPr lang="en-US" dirty="0"/>
              <a:t> if it is not symmetric </a:t>
            </a:r>
          </a:p>
          <a:p>
            <a:pPr marL="749808" lvl="1" indent="-292608">
              <a:buClr>
                <a:schemeClr val="accent2"/>
              </a:buClr>
              <a:buFont typeface="Arial" panose="020B0604020202020204" pitchFamily="34" charset="0"/>
              <a:buChar char="•"/>
            </a:pPr>
            <a:r>
              <a:rPr lang="en-US" dirty="0"/>
              <a:t>Bulk of the values tend to fall on one side of the distribution with the “longer tail”</a:t>
            </a:r>
          </a:p>
          <a:p>
            <a:pPr marL="749808" lvl="1" indent="-292608">
              <a:buClr>
                <a:schemeClr val="accent2"/>
              </a:buClr>
              <a:buFont typeface="Arial" panose="020B0604020202020204" pitchFamily="34" charset="0"/>
              <a:buChar char="•"/>
            </a:pPr>
            <a:endParaRPr lang="en-US" dirty="0"/>
          </a:p>
          <a:p>
            <a:pPr marL="292608" indent="-292608">
              <a:buClr>
                <a:schemeClr val="accent2"/>
              </a:buClr>
              <a:buFont typeface="Arial" panose="020B0604020202020204" pitchFamily="34" charset="0"/>
              <a:buChar char="•"/>
            </a:pPr>
            <a:r>
              <a:rPr lang="en-US" b="1" dirty="0"/>
              <a:t>Right-skewed</a:t>
            </a:r>
            <a:r>
              <a:rPr lang="en-US" dirty="0"/>
              <a:t> distributions have their longer tail </a:t>
            </a:r>
            <a:r>
              <a:rPr lang="en-US" i="1" dirty="0"/>
              <a:t>on the right</a:t>
            </a:r>
            <a:r>
              <a:rPr lang="en-US" dirty="0"/>
              <a:t>.</a:t>
            </a:r>
          </a:p>
          <a:p>
            <a:pPr marL="292608" indent="-292608">
              <a:buClr>
                <a:schemeClr val="accent2"/>
              </a:buClr>
              <a:buFont typeface="Arial" panose="020B0604020202020204" pitchFamily="34" charset="0"/>
              <a:buChar char="•"/>
            </a:pPr>
            <a:r>
              <a:rPr lang="en-US" b="1" dirty="0"/>
              <a:t>Left-skewed</a:t>
            </a:r>
            <a:r>
              <a:rPr lang="en-US" dirty="0"/>
              <a:t> distributions have their longer tail </a:t>
            </a:r>
            <a:r>
              <a:rPr lang="en-US" i="1" dirty="0"/>
              <a:t>on the left</a:t>
            </a:r>
            <a:r>
              <a:rPr lang="en-US" dirty="0"/>
              <a:t>.</a:t>
            </a:r>
          </a:p>
          <a:p>
            <a:pPr marL="292608" indent="-292608">
              <a:buClr>
                <a:schemeClr val="accent2"/>
              </a:buClr>
              <a:buFont typeface="Arial" panose="020B0604020202020204" pitchFamily="34" charset="0"/>
              <a:buChar char="•"/>
            </a:pPr>
            <a:r>
              <a:rPr lang="en-US" dirty="0"/>
              <a:t>The distribution of cumulative GPAs is highly skewed to the left.</a:t>
            </a:r>
          </a:p>
        </p:txBody>
      </p:sp>
      <p:sp>
        <p:nvSpPr>
          <p:cNvPr id="4" name="TextBox 3">
            <a:extLst>
              <a:ext uri="{FF2B5EF4-FFF2-40B4-BE49-F238E27FC236}">
                <a16:creationId xmlns:a16="http://schemas.microsoft.com/office/drawing/2014/main" id="{D2A9EAD5-C5A9-93CF-18B8-2E47291EC5AE}"/>
              </a:ext>
            </a:extLst>
          </p:cNvPr>
          <p:cNvSpPr txBox="1"/>
          <p:nvPr/>
        </p:nvSpPr>
        <p:spPr>
          <a:xfrm>
            <a:off x="4387519" y="4967024"/>
            <a:ext cx="3416961" cy="584775"/>
          </a:xfrm>
          <a:prstGeom prst="rect">
            <a:avLst/>
          </a:prstGeom>
          <a:noFill/>
        </p:spPr>
        <p:txBody>
          <a:bodyPr wrap="none" rtlCol="0">
            <a:spAutoFit/>
          </a:bodyPr>
          <a:lstStyle/>
          <a:p>
            <a:r>
              <a:rPr lang="en-US" sz="3200" dirty="0"/>
              <a:t>Skew = the long tail</a:t>
            </a:r>
          </a:p>
        </p:txBody>
      </p:sp>
    </p:spTree>
    <p:extLst>
      <p:ext uri="{BB962C8B-B14F-4D97-AF65-F5344CB8AC3E}">
        <p14:creationId xmlns:p14="http://schemas.microsoft.com/office/powerpoint/2010/main" val="2723447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solidFill>
                  <a:srgbClr val="196E78"/>
                </a:solidFill>
              </a:rPr>
              <a:t>Example 2.2: </a:t>
            </a:r>
            <a:r>
              <a:rPr lang="en-US" dirty="0"/>
              <a:t>Median</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prstGeom prst="rect">
            <a:avLst/>
          </a:prstGeom>
        </p:spPr>
        <p:txBody>
          <a:bodyPr/>
          <a:lstStyle/>
          <a:p>
            <a:pPr marL="292608" indent="-292608">
              <a:buClr>
                <a:schemeClr val="accent2"/>
              </a:buClr>
              <a:buFont typeface="Arial" panose="020B0604020202020204" pitchFamily="34" charset="0"/>
              <a:buChar char="•"/>
            </a:pPr>
            <a:r>
              <a:rPr lang="en-US" dirty="0"/>
              <a:t>Sort the data from smallest to largest </a:t>
            </a:r>
            <a:r>
              <a:rPr lang="en-US" dirty="0">
                <a:sym typeface="Wingdings" pitchFamily="2" charset="2"/>
              </a:rPr>
              <a:t> Grab the </a:t>
            </a:r>
            <a:r>
              <a:rPr lang="en-US" b="1" dirty="0">
                <a:sym typeface="Wingdings" pitchFamily="2" charset="2"/>
              </a:rPr>
              <a:t>middle</a:t>
            </a:r>
            <a:r>
              <a:rPr lang="en-US" dirty="0">
                <a:sym typeface="Wingdings" pitchFamily="2" charset="2"/>
              </a:rPr>
              <a:t> value</a:t>
            </a:r>
          </a:p>
          <a:p>
            <a:pPr marL="292608" indent="-292608">
              <a:buClr>
                <a:schemeClr val="accent2"/>
              </a:buClr>
              <a:buFont typeface="Arial" panose="020B0604020202020204" pitchFamily="34" charset="0"/>
              <a:buChar char="•"/>
            </a:pPr>
            <a:r>
              <a:rPr lang="en-US" dirty="0">
                <a:sym typeface="Wingdings" pitchFamily="2" charset="2"/>
              </a:rPr>
              <a:t>Middle value is known as the </a:t>
            </a:r>
            <a:r>
              <a:rPr lang="en-US" b="1" dirty="0">
                <a:sym typeface="Wingdings" pitchFamily="2" charset="2"/>
              </a:rPr>
              <a:t>median</a:t>
            </a:r>
            <a:r>
              <a:rPr lang="en-US" dirty="0">
                <a:sym typeface="Wingdings" pitchFamily="2" charset="2"/>
              </a:rPr>
              <a:t>.</a:t>
            </a:r>
          </a:p>
          <a:p>
            <a:pPr marL="292608" indent="-292608">
              <a:buClr>
                <a:schemeClr val="accent2"/>
              </a:buClr>
              <a:buFont typeface="Arial" panose="020B0604020202020204" pitchFamily="34" charset="0"/>
              <a:buChar char="•"/>
            </a:pPr>
            <a:endParaRPr lang="en-US" dirty="0"/>
          </a:p>
          <a:p>
            <a:pPr marL="292608" indent="-292608">
              <a:buClr>
                <a:schemeClr val="accent2"/>
              </a:buClr>
              <a:buFont typeface="Arial" panose="020B0604020202020204" pitchFamily="34" charset="0"/>
              <a:buChar char="•"/>
            </a:pPr>
            <a:r>
              <a:rPr lang="en-US" dirty="0"/>
              <a:t>The median of the GPA data is 3.41 (the 1460</a:t>
            </a:r>
            <a:r>
              <a:rPr lang="en-US" baseline="30000" dirty="0"/>
              <a:t>th</a:t>
            </a:r>
            <a:r>
              <a:rPr lang="en-US" dirty="0"/>
              <a:t> observation) in the sorted GPAs.</a:t>
            </a:r>
          </a:p>
          <a:p>
            <a:pPr marL="292608" indent="-292608">
              <a:buClr>
                <a:schemeClr val="accent2"/>
              </a:buClr>
              <a:buFont typeface="Arial" panose="020B0604020202020204" pitchFamily="34" charset="0"/>
              <a:buChar char="•"/>
            </a:pPr>
            <a:r>
              <a:rPr lang="en-US" dirty="0"/>
              <a:t>So half the students have a GPA of 3.41 or higher.</a:t>
            </a:r>
          </a:p>
          <a:p>
            <a:pPr marL="292608" indent="-292608">
              <a:buClr>
                <a:schemeClr val="accent2"/>
              </a:buClr>
              <a:buFont typeface="Arial" panose="020B0604020202020204" pitchFamily="34" charset="0"/>
              <a:buChar char="•"/>
            </a:pPr>
            <a:r>
              <a:rPr lang="en-US" dirty="0"/>
              <a:t>The mean of the distribution is lower at 3.288.</a:t>
            </a:r>
          </a:p>
          <a:p>
            <a:pPr marL="292608" indent="-292608">
              <a:buClr>
                <a:schemeClr val="accent2"/>
              </a:buClr>
              <a:buFont typeface="Arial" panose="020B0604020202020204" pitchFamily="34" charset="0"/>
              <a:buChar char="•"/>
            </a:pPr>
            <a:r>
              <a:rPr lang="en-US" dirty="0"/>
              <a:t>The mean gets pulled in the direction of the </a:t>
            </a:r>
            <a:r>
              <a:rPr lang="en-US" dirty="0" err="1"/>
              <a:t>skewness</a:t>
            </a:r>
            <a:r>
              <a:rPr lang="en-US" dirty="0"/>
              <a:t> compared to the median.</a:t>
            </a:r>
            <a:endParaRPr lang="en-US" b="1" dirty="0">
              <a:solidFill>
                <a:srgbClr val="00007F"/>
              </a:solidFill>
            </a:endParaRPr>
          </a:p>
        </p:txBody>
      </p:sp>
    </p:spTree>
    <p:extLst>
      <p:ext uri="{BB962C8B-B14F-4D97-AF65-F5344CB8AC3E}">
        <p14:creationId xmlns:p14="http://schemas.microsoft.com/office/powerpoint/2010/main" val="2596751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solidFill>
                  <a:srgbClr val="196E78"/>
                </a:solidFill>
              </a:rPr>
              <a:t>Example 2.2: </a:t>
            </a:r>
            <a:r>
              <a:rPr lang="en-US" dirty="0"/>
              <a:t>Standard Deviation</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1828800" y="1889722"/>
            <a:ext cx="8534400" cy="4369023"/>
          </a:xfrm>
          <a:prstGeom prst="rect">
            <a:avLst/>
          </a:prstGeom>
        </p:spPr>
        <p:txBody>
          <a:bodyPr/>
          <a:lstStyle/>
          <a:p>
            <a:pPr marL="292608" indent="-292608">
              <a:buClr>
                <a:schemeClr val="accent2"/>
              </a:buClr>
              <a:buFont typeface="Arial" panose="020B0604020202020204" pitchFamily="34" charset="0"/>
              <a:buChar char="•"/>
            </a:pPr>
            <a:r>
              <a:rPr lang="en-US" dirty="0"/>
              <a:t>Remember that often we think of standard deviation as the “typical” distance from the mean.</a:t>
            </a:r>
          </a:p>
          <a:p>
            <a:pPr marL="292608" indent="-292608">
              <a:buClr>
                <a:schemeClr val="accent2"/>
              </a:buClr>
              <a:buFont typeface="Arial" panose="020B0604020202020204" pitchFamily="34" charset="0"/>
              <a:buChar char="•"/>
            </a:pPr>
            <a:r>
              <a:rPr lang="en-US" dirty="0"/>
              <a:t>But we should be cautious in doing this with a skewed distribution like we have.</a:t>
            </a:r>
          </a:p>
          <a:p>
            <a:pPr marL="292608" indent="-292608">
              <a:buClr>
                <a:schemeClr val="accent2"/>
              </a:buClr>
              <a:buFont typeface="Arial" panose="020B0604020202020204" pitchFamily="34" charset="0"/>
              <a:buChar char="•"/>
            </a:pPr>
            <a:r>
              <a:rPr lang="en-US" dirty="0"/>
              <a:t>The mean isn't where it is on the normal distribution!</a:t>
            </a:r>
          </a:p>
        </p:txBody>
      </p:sp>
    </p:spTree>
    <p:extLst>
      <p:ext uri="{BB962C8B-B14F-4D97-AF65-F5344CB8AC3E}">
        <p14:creationId xmlns:p14="http://schemas.microsoft.com/office/powerpoint/2010/main" val="1749130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5AEA1-73A7-0116-BC09-EC0D985906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41A74D-6D2B-92DE-DD42-C216E2A4B9CF}"/>
              </a:ext>
            </a:extLst>
          </p:cNvPr>
          <p:cNvSpPr>
            <a:spLocks noGrp="1"/>
          </p:cNvSpPr>
          <p:nvPr>
            <p:ph type="title"/>
          </p:nvPr>
        </p:nvSpPr>
        <p:spPr/>
        <p:txBody>
          <a:bodyPr>
            <a:normAutofit/>
          </a:bodyPr>
          <a:lstStyle/>
          <a:p>
            <a:r>
              <a:rPr lang="en-US" dirty="0">
                <a:solidFill>
                  <a:srgbClr val="196E78"/>
                </a:solidFill>
              </a:rPr>
              <a:t>Example 2.2: </a:t>
            </a:r>
            <a:r>
              <a:rPr lang="en-US" dirty="0"/>
              <a:t>Symbols</a:t>
            </a:r>
          </a:p>
        </p:txBody>
      </p:sp>
      <p:sp>
        <p:nvSpPr>
          <p:cNvPr id="3" name="Content Placeholder 2">
            <a:extLst>
              <a:ext uri="{FF2B5EF4-FFF2-40B4-BE49-F238E27FC236}">
                <a16:creationId xmlns:a16="http://schemas.microsoft.com/office/drawing/2014/main" id="{88A6FC91-DA17-F5F3-B1BE-EFF6BE7A8B3B}"/>
              </a:ext>
            </a:extLst>
          </p:cNvPr>
          <p:cNvSpPr>
            <a:spLocks noGrp="1"/>
          </p:cNvSpPr>
          <p:nvPr>
            <p:ph sz="quarter" idx="12"/>
          </p:nvPr>
        </p:nvSpPr>
        <p:spPr>
          <a:xfrm>
            <a:off x="406399" y="1459085"/>
            <a:ext cx="10776465" cy="4369023"/>
          </a:xfrm>
          <a:prstGeom prst="rect">
            <a:avLst/>
          </a:prstGeom>
        </p:spPr>
        <p:txBody>
          <a:bodyPr/>
          <a:lstStyle/>
          <a:p>
            <a:pPr marL="292608" indent="-292608">
              <a:buClr>
                <a:schemeClr val="accent2"/>
              </a:buClr>
              <a:buFont typeface="Arial" panose="020B0604020202020204" pitchFamily="34" charset="0"/>
              <a:buChar char="•"/>
            </a:pPr>
            <a:r>
              <a:rPr lang="en-US" dirty="0"/>
              <a:t>Population mean: </a:t>
            </a:r>
            <a:r>
              <a:rPr lang="en-US" dirty="0" err="1"/>
              <a:t>μ</a:t>
            </a:r>
            <a:r>
              <a:rPr lang="en-US" dirty="0"/>
              <a:t> (“mu”) </a:t>
            </a:r>
          </a:p>
          <a:p>
            <a:pPr marL="749808" lvl="1" indent="-292608">
              <a:buClr>
                <a:schemeClr val="accent2"/>
              </a:buClr>
              <a:buFont typeface="Arial" panose="020B0604020202020204" pitchFamily="34" charset="0"/>
              <a:buChar char="•"/>
            </a:pPr>
            <a:r>
              <a:rPr lang="en-US" dirty="0"/>
              <a:t>Mean is just "average" – easy to compute wherever we are.</a:t>
            </a:r>
          </a:p>
          <a:p>
            <a:pPr marL="292608" indent="-292608">
              <a:buClr>
                <a:schemeClr val="accent2"/>
              </a:buClr>
              <a:buFont typeface="Arial" panose="020B0604020202020204" pitchFamily="34" charset="0"/>
              <a:buChar char="•"/>
            </a:pPr>
            <a:r>
              <a:rPr lang="en-US" dirty="0"/>
              <a:t>Population standard deviation: </a:t>
            </a:r>
            <a:r>
              <a:rPr lang="en-US" dirty="0">
                <a:sym typeface="Symbol" panose="05050102010706020507" pitchFamily="18" charset="2"/>
              </a:rPr>
              <a:t></a:t>
            </a:r>
            <a:r>
              <a:rPr lang="en-US" dirty="0"/>
              <a:t> (“sigma”)</a:t>
            </a:r>
          </a:p>
          <a:p>
            <a:pPr marL="292608" indent="-292608">
              <a:buClr>
                <a:schemeClr val="accent2"/>
              </a:buClr>
              <a:buFont typeface="Arial" panose="020B0604020202020204" pitchFamily="34" charset="0"/>
              <a:buChar char="•"/>
            </a:pPr>
            <a:r>
              <a:rPr lang="en-US" dirty="0"/>
              <a:t>The population mean GPA is μ =3.288</a:t>
            </a:r>
          </a:p>
          <a:p>
            <a:pPr marL="292608" indent="-292608">
              <a:buClr>
                <a:schemeClr val="accent2"/>
              </a:buClr>
              <a:buFont typeface="Arial" panose="020B0604020202020204" pitchFamily="34" charset="0"/>
              <a:buChar char="•"/>
            </a:pPr>
            <a:r>
              <a:rPr lang="en-US" dirty="0"/>
              <a:t>The population standard deviation GPA is  </a:t>
            </a:r>
            <a:r>
              <a:rPr lang="en-US" dirty="0">
                <a:sym typeface="Symbol" panose="05050102010706020507" pitchFamily="18" charset="2"/>
              </a:rPr>
              <a:t></a:t>
            </a:r>
            <a:r>
              <a:rPr lang="en-US" dirty="0"/>
              <a:t> = 0.551.</a:t>
            </a:r>
          </a:p>
          <a:p>
            <a:pPr marL="749808" lvl="1" indent="-292608">
              <a:buClr>
                <a:schemeClr val="accent2"/>
              </a:buClr>
              <a:buFont typeface="Arial" panose="020B0604020202020204" pitchFamily="34" charset="0"/>
              <a:buChar char="•"/>
            </a:pPr>
            <a:r>
              <a:rPr lang="en-US" dirty="0"/>
              <a:t>These numbers come from the applet</a:t>
            </a:r>
          </a:p>
        </p:txBody>
      </p:sp>
      <p:pic>
        <p:nvPicPr>
          <p:cNvPr id="4" name="Content Placeholder 3" descr="A histogram describes the distribution of cumulative G P A for a population of college students. The horizontal axis is labeled Cumulative G P A and has markings from negative 1 to 4 in increments of 1. The vertical axis is labeled count and ranges from 0 to 400 in increments of 200. The distribution of bars is approximately left skewed. From 0 to 1, the bars extend up to the counts, 5, 0, 3, 0, 3, 3, and 5. From 1 to 2, the bars extend up to the counts, 5, 10, 12, 15, 20, and 18. From 2 to 3, the bars extend up to the counts, 50, 80, 100, 105, 180, and 210. From 3 to 4, the bars extend up to the counts, 250, 300, 415, 390, 395, and 410. There are no bars to the left of 0. The mean is 3.288, the standard deviation is 0.551, and the population size is 2919. All values are approximate.">
            <a:extLst>
              <a:ext uri="{FF2B5EF4-FFF2-40B4-BE49-F238E27FC236}">
                <a16:creationId xmlns:a16="http://schemas.microsoft.com/office/drawing/2014/main" id="{F74C5B6E-95B1-EF5B-B1C1-FDF75D14CC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6563546" y="3849012"/>
            <a:ext cx="4477167" cy="3008988"/>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2238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18FD017-F051-437B-86C0-01B5E3255C99}"/>
              </a:ext>
            </a:extLst>
          </p:cNvPr>
          <p:cNvSpPr>
            <a:spLocks noGrp="1"/>
          </p:cNvSpPr>
          <p:nvPr>
            <p:ph type="title"/>
          </p:nvPr>
        </p:nvSpPr>
        <p:spPr/>
        <p:txBody>
          <a:bodyPr>
            <a:normAutofit/>
          </a:bodyPr>
          <a:lstStyle/>
          <a:p>
            <a:r>
              <a:rPr lang="en-US" dirty="0">
                <a:solidFill>
                  <a:srgbClr val="196E78"/>
                </a:solidFill>
              </a:rPr>
              <a:t>Example 2.2: </a:t>
            </a:r>
            <a:r>
              <a:rPr lang="en-US" dirty="0"/>
              <a:t>Sample of 30 Students </a:t>
            </a:r>
            <a:r>
              <a:rPr lang="en-US" sz="2000" b="0" dirty="0"/>
              <a:t>(1 of 2)</a:t>
            </a:r>
          </a:p>
        </p:txBody>
      </p:sp>
      <p:sp>
        <p:nvSpPr>
          <p:cNvPr id="2" name="Content Placeholder 1"/>
          <p:cNvSpPr>
            <a:spLocks noGrp="1"/>
          </p:cNvSpPr>
          <p:nvPr>
            <p:ph sz="quarter" idx="12"/>
          </p:nvPr>
        </p:nvSpPr>
        <p:spPr>
          <a:xfrm>
            <a:off x="1828800" y="1835206"/>
            <a:ext cx="8534400" cy="834595"/>
          </a:xfrm>
        </p:spPr>
        <p:txBody>
          <a:bodyPr/>
          <a:lstStyle/>
          <a:p>
            <a:pPr marL="0" indent="0">
              <a:buNone/>
            </a:pPr>
            <a:r>
              <a:rPr lang="en-US" dirty="0"/>
              <a:t>Let’s pretend we didn’t have access to the population, but only this random sample of 30 student GPAs.</a:t>
            </a:r>
          </a:p>
        </p:txBody>
      </p:sp>
      <p:graphicFrame>
        <p:nvGraphicFramePr>
          <p:cNvPr id="11" name="Content Placeholder 3"/>
          <p:cNvGraphicFramePr>
            <a:graphicFrameLocks noGrp="1"/>
          </p:cNvGraphicFramePr>
          <p:nvPr>
            <p:ph type="tbl" sz="quarter" idx="14"/>
            <p:extLst>
              <p:ext uri="{D42A27DB-BD31-4B8C-83A1-F6EECF244321}">
                <p14:modId xmlns:p14="http://schemas.microsoft.com/office/powerpoint/2010/main" val="1071478708"/>
              </p:ext>
            </p:extLst>
          </p:nvPr>
        </p:nvGraphicFramePr>
        <p:xfrm>
          <a:off x="2016415" y="2745946"/>
          <a:ext cx="8044870" cy="3346742"/>
        </p:xfrm>
        <a:graphic>
          <a:graphicData uri="http://schemas.openxmlformats.org/drawingml/2006/table">
            <a:tbl>
              <a:tblPr firstRow="1">
                <a:tableStyleId>{5C22544A-7EE6-4342-B048-85BDC9FD1C3A}</a:tableStyleId>
              </a:tblPr>
              <a:tblGrid>
                <a:gridCol w="1182893">
                  <a:extLst>
                    <a:ext uri="{9D8B030D-6E8A-4147-A177-3AD203B41FA5}">
                      <a16:colId xmlns:a16="http://schemas.microsoft.com/office/drawing/2014/main" val="20000"/>
                    </a:ext>
                  </a:extLst>
                </a:gridCol>
                <a:gridCol w="1505496">
                  <a:extLst>
                    <a:ext uri="{9D8B030D-6E8A-4147-A177-3AD203B41FA5}">
                      <a16:colId xmlns:a16="http://schemas.microsoft.com/office/drawing/2014/main" val="20001"/>
                    </a:ext>
                  </a:extLst>
                </a:gridCol>
                <a:gridCol w="1460858">
                  <a:extLst>
                    <a:ext uri="{9D8B030D-6E8A-4147-A177-3AD203B41FA5}">
                      <a16:colId xmlns:a16="http://schemas.microsoft.com/office/drawing/2014/main" val="20003"/>
                    </a:ext>
                  </a:extLst>
                </a:gridCol>
                <a:gridCol w="1339121">
                  <a:extLst>
                    <a:ext uri="{9D8B030D-6E8A-4147-A177-3AD203B41FA5}">
                      <a16:colId xmlns:a16="http://schemas.microsoft.com/office/drawing/2014/main" val="20004"/>
                    </a:ext>
                  </a:extLst>
                </a:gridCol>
                <a:gridCol w="1190392">
                  <a:extLst>
                    <a:ext uri="{9D8B030D-6E8A-4147-A177-3AD203B41FA5}">
                      <a16:colId xmlns:a16="http://schemas.microsoft.com/office/drawing/2014/main" val="20006"/>
                    </a:ext>
                  </a:extLst>
                </a:gridCol>
                <a:gridCol w="1366110">
                  <a:extLst>
                    <a:ext uri="{9D8B030D-6E8A-4147-A177-3AD203B41FA5}">
                      <a16:colId xmlns:a16="http://schemas.microsoft.com/office/drawing/2014/main" val="20007"/>
                    </a:ext>
                  </a:extLst>
                </a:gridCol>
              </a:tblGrid>
              <a:tr h="0">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ID</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Cum GPA</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ID</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Cum GPA</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ID</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Cum GPA</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05661">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827</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3.44</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844</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3.59</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825</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3.94</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05661">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1355</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2.15</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90</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3.30</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2339</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3.07</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05661">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1455</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3.08</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1611</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3.08</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2064</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3.48</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05661">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2391</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2.91</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2550</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3.41</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2604</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3.10</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05661">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575</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3.94</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2632</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2.61</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2147</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2.84</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05661">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2049</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3.64</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2325</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3.36</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2590</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3.39</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05661">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895</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2.29</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2563</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3.02</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1718</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3.01</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05661">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1732</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3.17</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1819</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3.55</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168</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3.04</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305661">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2790</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2.88</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968</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3.86</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1777</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3.83</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305661">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2237</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3.25</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566</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3.60</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2077</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3.46</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942873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54E43-7AA2-CD84-D4D2-63C58DB0AA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AA8B95-AB72-E264-D774-59092C5537A5}"/>
              </a:ext>
            </a:extLst>
          </p:cNvPr>
          <p:cNvSpPr>
            <a:spLocks noGrp="1"/>
          </p:cNvSpPr>
          <p:nvPr>
            <p:ph type="title"/>
          </p:nvPr>
        </p:nvSpPr>
        <p:spPr/>
        <p:txBody>
          <a:bodyPr>
            <a:normAutofit/>
          </a:bodyPr>
          <a:lstStyle/>
          <a:p>
            <a:r>
              <a:rPr lang="en-US" dirty="0">
                <a:solidFill>
                  <a:srgbClr val="196E78"/>
                </a:solidFill>
              </a:rPr>
              <a:t>Example 2.2: </a:t>
            </a:r>
            <a:r>
              <a:rPr lang="en-US" dirty="0"/>
              <a:t>Symbols for Samples</a:t>
            </a:r>
          </a:p>
        </p:txBody>
      </p:sp>
      <p:sp>
        <p:nvSpPr>
          <p:cNvPr id="3" name="Content Placeholder 2">
            <a:extLst>
              <a:ext uri="{FF2B5EF4-FFF2-40B4-BE49-F238E27FC236}">
                <a16:creationId xmlns:a16="http://schemas.microsoft.com/office/drawing/2014/main" id="{741B5DC3-6845-8A35-47FD-934CFBB87DB0}"/>
              </a:ext>
            </a:extLst>
          </p:cNvPr>
          <p:cNvSpPr>
            <a:spLocks noGrp="1"/>
          </p:cNvSpPr>
          <p:nvPr>
            <p:ph sz="quarter" idx="12"/>
          </p:nvPr>
        </p:nvSpPr>
        <p:spPr>
          <a:xfrm>
            <a:off x="406400" y="1459085"/>
            <a:ext cx="8534400" cy="4369023"/>
          </a:xfrm>
          <a:prstGeom prst="rect">
            <a:avLst/>
          </a:prstGeom>
        </p:spPr>
        <p:txBody>
          <a:bodyPr/>
          <a:lstStyle/>
          <a:p>
            <a:pPr marL="292608" indent="-292608">
              <a:buClr>
                <a:schemeClr val="accent2"/>
              </a:buClr>
              <a:buFont typeface="Arial" panose="020B0604020202020204" pitchFamily="34" charset="0"/>
              <a:buChar char="•"/>
            </a:pPr>
            <a:r>
              <a:rPr lang="en-US" dirty="0"/>
              <a:t>Sample mean:    (“x-bar”) </a:t>
            </a:r>
          </a:p>
          <a:p>
            <a:pPr marL="292608" indent="-292608">
              <a:buClr>
                <a:schemeClr val="accent2"/>
              </a:buClr>
              <a:buFont typeface="Arial" panose="020B0604020202020204" pitchFamily="34" charset="0"/>
              <a:buChar char="•"/>
            </a:pPr>
            <a:r>
              <a:rPr lang="en-US" dirty="0"/>
              <a:t>Sample standard deviation: </a:t>
            </a:r>
            <a:r>
              <a:rPr lang="en-US" i="1" dirty="0">
                <a:sym typeface="Symbol" panose="05050102010706020507" pitchFamily="18" charset="2"/>
              </a:rPr>
              <a:t>s</a:t>
            </a:r>
            <a:r>
              <a:rPr lang="en-US" dirty="0"/>
              <a:t> (“s”)</a:t>
            </a:r>
          </a:p>
        </p:txBody>
      </p:sp>
      <p:graphicFrame>
        <p:nvGraphicFramePr>
          <p:cNvPr id="5" name="Object 4" descr="macron over x">
            <a:extLst>
              <a:ext uri="{FF2B5EF4-FFF2-40B4-BE49-F238E27FC236}">
                <a16:creationId xmlns:a16="http://schemas.microsoft.com/office/drawing/2014/main" id="{69277AE3-0DCB-08C1-A6AD-F93BC88817EA}"/>
              </a:ext>
            </a:extLst>
          </p:cNvPr>
          <p:cNvGraphicFramePr>
            <a:graphicFrameLocks noChangeAspect="1"/>
          </p:cNvGraphicFramePr>
          <p:nvPr>
            <p:extLst>
              <p:ext uri="{D42A27DB-BD31-4B8C-83A1-F6EECF244321}">
                <p14:modId xmlns:p14="http://schemas.microsoft.com/office/powerpoint/2010/main" val="616361317"/>
              </p:ext>
            </p:extLst>
          </p:nvPr>
        </p:nvGraphicFramePr>
        <p:xfrm>
          <a:off x="2720889" y="1554931"/>
          <a:ext cx="228600" cy="279400"/>
        </p:xfrm>
        <a:graphic>
          <a:graphicData uri="http://schemas.openxmlformats.org/presentationml/2006/ole">
            <mc:AlternateContent xmlns:mc="http://schemas.openxmlformats.org/markup-compatibility/2006">
              <mc:Choice xmlns:v="urn:schemas-microsoft-com:vml" Requires="v">
                <p:oleObj name="Equation" r:id="rId2" imgW="228600" imgH="279400" progId="Equation.DSMT4">
                  <p:embed/>
                </p:oleObj>
              </mc:Choice>
              <mc:Fallback>
                <p:oleObj name="Equation" r:id="rId2" imgW="228600" imgH="279400" progId="Equation.DSMT4">
                  <p:embed/>
                  <p:pic>
                    <p:nvPicPr>
                      <p:cNvPr id="10" name="Object 9" descr="macron over 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0889" y="1554931"/>
                        <a:ext cx="2286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324590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solidFill>
                  <a:srgbClr val="196E78"/>
                </a:solidFill>
              </a:rPr>
              <a:t>Example 2.2: </a:t>
            </a:r>
            <a:r>
              <a:rPr lang="en-US" dirty="0"/>
              <a:t>Sample of 30 Students </a:t>
            </a:r>
            <a:r>
              <a:rPr lang="en-US" sz="2000" b="0" dirty="0"/>
              <a:t>(2 of 2)</a:t>
            </a:r>
            <a:endParaRPr lang="en-US"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1783596" y="1552819"/>
            <a:ext cx="8534400" cy="2656075"/>
          </a:xfrm>
          <a:prstGeom prst="rect">
            <a:avLst/>
          </a:prstGeom>
        </p:spPr>
        <p:txBody>
          <a:bodyPr/>
          <a:lstStyle/>
          <a:p>
            <a:pPr marL="292608" indent="-292608">
              <a:buClr>
                <a:schemeClr val="accent2"/>
              </a:buClr>
              <a:buFont typeface="Arial" panose="020B0604020202020204" pitchFamily="34" charset="0"/>
              <a:buChar char="•"/>
            </a:pPr>
            <a:r>
              <a:rPr lang="en-US" sz="2400" dirty="0"/>
              <a:t>Because we have a random sample, our sample shares some characteristics of the population. (which we know because the registrar gave us the graph)</a:t>
            </a:r>
          </a:p>
          <a:p>
            <a:pPr marL="292608" indent="-292608">
              <a:buClr>
                <a:schemeClr val="accent2"/>
              </a:buClr>
              <a:buFont typeface="Arial" panose="020B0604020202020204" pitchFamily="34" charset="0"/>
              <a:buChar char="•"/>
            </a:pPr>
            <a:r>
              <a:rPr lang="en-US" sz="2400" dirty="0"/>
              <a:t>The sample distribution is also skewed left (see graph below).</a:t>
            </a:r>
          </a:p>
          <a:p>
            <a:pPr marL="292608" indent="-292608">
              <a:buClr>
                <a:schemeClr val="accent2"/>
              </a:buClr>
              <a:buFont typeface="Arial" panose="020B0604020202020204" pitchFamily="34" charset="0"/>
              <a:buChar char="•"/>
            </a:pPr>
            <a:r>
              <a:rPr lang="en-US" sz="2400" dirty="0"/>
              <a:t>The sample mean is</a:t>
            </a:r>
          </a:p>
        </p:txBody>
      </p:sp>
      <p:graphicFrame>
        <p:nvGraphicFramePr>
          <p:cNvPr id="9" name="Object 8" descr="macron over x equals 3.243"/>
          <p:cNvGraphicFramePr>
            <a:graphicFrameLocks noChangeAspect="1"/>
          </p:cNvGraphicFramePr>
          <p:nvPr/>
        </p:nvGraphicFramePr>
        <p:xfrm>
          <a:off x="4683023" y="3259662"/>
          <a:ext cx="1282700" cy="292100"/>
        </p:xfrm>
        <a:graphic>
          <a:graphicData uri="http://schemas.openxmlformats.org/presentationml/2006/ole">
            <mc:AlternateContent xmlns:mc="http://schemas.openxmlformats.org/markup-compatibility/2006">
              <mc:Choice xmlns:v="urn:schemas-microsoft-com:vml" Requires="v">
                <p:oleObj name="Equation" r:id="rId3" imgW="1282700" imgH="292100" progId="Equation.DSMT4">
                  <p:embed/>
                </p:oleObj>
              </mc:Choice>
              <mc:Fallback>
                <p:oleObj name="Equation" r:id="rId3" imgW="1282700" imgH="292100" progId="Equation.DSMT4">
                  <p:embed/>
                  <p:pic>
                    <p:nvPicPr>
                      <p:cNvPr id="9" name="Object 8" descr="macron over x equals 3.2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023" y="3259662"/>
                        <a:ext cx="12827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Content Placeholder 5"/>
          <p:cNvSpPr>
            <a:spLocks noGrp="1"/>
          </p:cNvSpPr>
          <p:nvPr>
            <p:ph sz="quarter" idx="16"/>
          </p:nvPr>
        </p:nvSpPr>
        <p:spPr>
          <a:xfrm>
            <a:off x="1845880" y="3201316"/>
            <a:ext cx="8196660" cy="2250203"/>
          </a:xfrm>
        </p:spPr>
        <p:txBody>
          <a:bodyPr/>
          <a:lstStyle/>
          <a:p>
            <a:pPr marL="0" indent="4064000">
              <a:buClr>
                <a:schemeClr val="accent2"/>
              </a:buClr>
              <a:buNone/>
            </a:pPr>
            <a:r>
              <a:rPr lang="en-US" sz="2400" dirty="0"/>
              <a:t>and the sample SD is </a:t>
            </a:r>
            <a:r>
              <a:rPr lang="en-US" sz="2400" i="1" dirty="0"/>
              <a:t>s</a:t>
            </a:r>
            <a:r>
              <a:rPr lang="en-US" sz="2400" dirty="0"/>
              <a:t> = 0.438.</a:t>
            </a:r>
          </a:p>
        </p:txBody>
      </p:sp>
      <p:sp>
        <p:nvSpPr>
          <p:cNvPr id="7" name="Content Placeholder 6"/>
          <p:cNvSpPr>
            <a:spLocks noGrp="1"/>
          </p:cNvSpPr>
          <p:nvPr>
            <p:ph sz="quarter" idx="17"/>
          </p:nvPr>
        </p:nvSpPr>
        <p:spPr>
          <a:xfrm>
            <a:off x="0" y="3861410"/>
            <a:ext cx="9867791" cy="968796"/>
          </a:xfrm>
        </p:spPr>
        <p:txBody>
          <a:bodyPr/>
          <a:lstStyle/>
          <a:p>
            <a:pPr marL="0" indent="2235200">
              <a:lnSpc>
                <a:spcPct val="100000"/>
              </a:lnSpc>
              <a:buClr>
                <a:schemeClr val="accent2"/>
              </a:buClr>
              <a:buNone/>
            </a:pPr>
            <a:r>
              <a:rPr lang="en-US" sz="2400" dirty="0"/>
              <a:t>We'll worry about how we got the SD later.</a:t>
            </a:r>
          </a:p>
        </p:txBody>
      </p:sp>
      <p:pic>
        <p:nvPicPr>
          <p:cNvPr id="12" name="Picture Placeholder 11" descr="A dotplot describes the cumulative G P A for a random sample of 30 students. The horizontal axis is labeled Cumulative G P A (n equals 30 students) and ranges from 0 to 4 in increments of 1. A series of dots is plotted vertically on a few points of the horizontal axis. The dots are plotted as follows: 1 dot above 2.20, 2.30, 2.55, and 2.80; 2 dots above 2.85, 3, and 3.05; 3 dots above 3.10; 1 dot above 3.15, 3.25, 3.30, and 3.35; 2 dots above 3.40 and 3.45; 1 dot above 3.50 and 3.55; 2 dots above 3.60; 1 dot above 3.65; 2 dots above 3.80 and 3.90. There are no dots to the left of 2.20. All values are approximate. ">
            <a:extLst>
              <a:ext uri="{FF2B5EF4-FFF2-40B4-BE49-F238E27FC236}">
                <a16:creationId xmlns:a16="http://schemas.microsoft.com/office/drawing/2014/main" id="{A667331F-271C-4EFD-A2B2-33D9048D365F}"/>
              </a:ext>
            </a:extLst>
          </p:cNvPr>
          <p:cNvPicPr>
            <a:picLocks noGrp="1"/>
          </p:cNvPicPr>
          <p:nvPr>
            <p:ph type="pic" sz="quarter" idx="13"/>
          </p:nvPr>
        </p:nvPicPr>
        <p:blipFill>
          <a:blip r:embed="rId5"/>
          <a:stretch>
            <a:fillRect/>
          </a:stretch>
        </p:blipFill>
        <p:spPr>
          <a:xfrm>
            <a:off x="1951583" y="4895006"/>
            <a:ext cx="8234379" cy="1114425"/>
          </a:xfrm>
          <a:prstGeom prst="rect">
            <a:avLst/>
          </a:prstGeom>
          <a:noFill/>
          <a:ln>
            <a:noFill/>
          </a:ln>
        </p:spPr>
      </p:pic>
    </p:spTree>
    <p:extLst>
      <p:ext uri="{BB962C8B-B14F-4D97-AF65-F5344CB8AC3E}">
        <p14:creationId xmlns:p14="http://schemas.microsoft.com/office/powerpoint/2010/main" val="3323253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solidFill>
                  <a:srgbClr val="196E78"/>
                </a:solidFill>
              </a:rPr>
              <a:t>Example 2.2: </a:t>
            </a:r>
            <a:r>
              <a:rPr lang="en-US" dirty="0"/>
              <a:t>Sampling Students </a:t>
            </a:r>
            <a:r>
              <a:rPr lang="en-US" sz="2200" b="0" dirty="0">
                <a:solidFill>
                  <a:srgbClr val="196E78"/>
                </a:solidFill>
              </a:rPr>
              <a:t>(2 of 2)</a:t>
            </a:r>
            <a:endParaRPr lang="en-US" strike="sngStrike"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1828801" y="1911351"/>
            <a:ext cx="8289635" cy="2048915"/>
          </a:xfrm>
          <a:prstGeom prst="rect">
            <a:avLst/>
          </a:prstGeom>
        </p:spPr>
        <p:txBody>
          <a:bodyPr/>
          <a:lstStyle/>
          <a:p>
            <a:pPr>
              <a:buClr>
                <a:schemeClr val="accent2"/>
              </a:buClr>
              <a:buFont typeface="Arial" panose="020B0604020202020204" pitchFamily="34" charset="0"/>
              <a:buChar char="•"/>
              <a:tabLst>
                <a:tab pos="341313" algn="l"/>
              </a:tabLst>
            </a:pPr>
            <a:r>
              <a:rPr lang="en-US" sz="2400" dirty="0"/>
              <a:t>We know if we took a different sample of 30 students </a:t>
            </a:r>
            <a:r>
              <a:rPr lang="en-US" sz="2400" dirty="0">
                <a:solidFill>
                  <a:srgbClr val="FF0000"/>
                </a:solidFill>
              </a:rPr>
              <a:t>we </a:t>
            </a:r>
            <a:r>
              <a:rPr lang="en-US" sz="2400" dirty="0"/>
              <a:t>would probably get a different mean.</a:t>
            </a:r>
          </a:p>
          <a:p>
            <a:pPr>
              <a:buClr>
                <a:schemeClr val="accent2"/>
              </a:buClr>
              <a:buFont typeface="Arial" panose="020B0604020202020204" pitchFamily="34" charset="0"/>
              <a:buChar char="•"/>
              <a:tabLst>
                <a:tab pos="341313" algn="l"/>
              </a:tabLst>
            </a:pPr>
            <a:r>
              <a:rPr lang="en-US" sz="2400" dirty="0"/>
              <a:t>We want to know how these sample means might differ</a:t>
            </a:r>
          </a:p>
          <a:p>
            <a:pPr>
              <a:tabLst>
                <a:tab pos="341313" algn="l"/>
              </a:tabLst>
            </a:pPr>
            <a:r>
              <a:rPr lang="en-US" sz="2400" dirty="0"/>
              <a:t>We took 1,000 random samples of 30 students and the graph shows the 1,000 mean GPAs from these samples.</a:t>
            </a:r>
          </a:p>
        </p:txBody>
      </p:sp>
      <p:pic>
        <p:nvPicPr>
          <p:cNvPr id="13" name="Content Placeholder 2" descr="A histogram describes the results of distribution of 1000 samples means. The horizontal axis is labeled sample means and has markings from 2.800 to 3.600 in increments of 0.200. The vertical axis is labeled count and ranges from 0 to 160 in increments of 80. The distribution of bars is approximately normal. From 2.933 to 3.00, the bars extend up to the counts, 3, and 3. From 3.033 to 3.200, the bars extend up to the counts, 0, 20, 25, 35, 55, and 75. From 3.200 to 3.400, the bars extend up to the counts, 95, 110, 150, 130, 125, and 90. From 3.400 to 3.600, the bars extend up to the counts, 73, 40, 33, 15, 5, and 0. The tip of the bar above 3.233 is highlighted. There are no bars to the left of negative 2.933 and to the right of 3.600. The mean is 3.285, the standard deviation is 0.104, and the number of samples is 1000. All values are approximate.">
            <a:extLst>
              <a:ext uri="{FF2B5EF4-FFF2-40B4-BE49-F238E27FC236}">
                <a16:creationId xmlns:a16="http://schemas.microsoft.com/office/drawing/2014/main" id="{B5CE39AF-ED88-4288-80D2-06878FB8EA4A}"/>
              </a:ext>
            </a:extLst>
          </p:cNvPr>
          <p:cNvPicPr>
            <a:picLocks noGrp="1" noChangeAspect="1" noChangeArrowheads="1"/>
          </p:cNvPicPr>
          <p:nvPr>
            <p:ph type="pic" sz="quarter" idx="18"/>
          </p:nvPr>
        </p:nvPicPr>
        <p:blipFill>
          <a:blip r:embed="rId2" cstate="print">
            <a:extLst>
              <a:ext uri="{28A0092B-C50C-407E-A947-70E740481C1C}">
                <a14:useLocalDpi xmlns:a14="http://schemas.microsoft.com/office/drawing/2010/main" val="0"/>
              </a:ext>
            </a:extLst>
          </a:blip>
          <a:stretch>
            <a:fillRect/>
          </a:stretch>
        </p:blipFill>
        <p:spPr bwMode="auto">
          <a:xfrm>
            <a:off x="4502206" y="4036160"/>
            <a:ext cx="3223071" cy="2214208"/>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4375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solidFill>
                  <a:srgbClr val="196E78"/>
                </a:solidFill>
              </a:rPr>
              <a:t>Example 2.2: </a:t>
            </a:r>
            <a:r>
              <a:rPr lang="en-US" dirty="0"/>
              <a:t>Central Limit Theorem </a:t>
            </a:r>
            <a:r>
              <a:rPr lang="en-US" sz="2000" b="0" dirty="0"/>
              <a:t>(1 of 2)</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prstGeom prst="rect">
            <a:avLst/>
          </a:prstGeom>
        </p:spPr>
        <p:txBody>
          <a:bodyPr/>
          <a:lstStyle/>
          <a:p>
            <a:pPr marL="292608" indent="-292608">
              <a:buClr>
                <a:schemeClr val="accent2"/>
              </a:buClr>
              <a:buFont typeface="Arial" panose="020B0604020202020204" pitchFamily="34" charset="0"/>
              <a:buChar char="•"/>
            </a:pPr>
            <a:r>
              <a:rPr lang="en-US" dirty="0"/>
              <a:t>The shape of the distribution of sample means is approximately normal even though the population was quite skewed.</a:t>
            </a:r>
          </a:p>
          <a:p>
            <a:pPr marL="292608" indent="-292608">
              <a:buClr>
                <a:schemeClr val="accent2"/>
              </a:buClr>
              <a:buFont typeface="Arial" panose="020B0604020202020204" pitchFamily="34" charset="0"/>
              <a:buChar char="•"/>
            </a:pPr>
            <a:r>
              <a:rPr lang="en-US" dirty="0"/>
              <a:t>The </a:t>
            </a:r>
            <a:r>
              <a:rPr lang="en-US" b="1" i="1" dirty="0"/>
              <a:t>Central Limit Theorem for sample means </a:t>
            </a:r>
            <a:r>
              <a:rPr lang="en-US" dirty="0"/>
              <a:t>implies that the distribution of sample means is approximately normal when the sample size is large.</a:t>
            </a:r>
          </a:p>
          <a:p>
            <a:pPr marL="292608" indent="-292608">
              <a:buClr>
                <a:schemeClr val="accent2"/>
              </a:buClr>
              <a:buFont typeface="Arial" panose="020B0604020202020204" pitchFamily="34" charset="0"/>
              <a:buChar char="•"/>
            </a:pPr>
            <a:r>
              <a:rPr lang="en-US" dirty="0"/>
              <a:t>It appears as though a sample size of 30 is large enough.</a:t>
            </a:r>
          </a:p>
          <a:p>
            <a:pPr marL="292608" indent="-292608">
              <a:buClr>
                <a:schemeClr val="accent2"/>
              </a:buClr>
              <a:buFont typeface="Arial" panose="020B0604020202020204" pitchFamily="34" charset="0"/>
              <a:buChar char="•"/>
            </a:pPr>
            <a:r>
              <a:rPr lang="en-US" dirty="0"/>
              <a:t>If the population distribution is not highly skewed, the distribution of sample means will be approximately normal </a:t>
            </a:r>
            <a:r>
              <a:rPr lang="en-US" i="1" dirty="0"/>
              <a:t>if the sample size is at least 20.</a:t>
            </a:r>
          </a:p>
        </p:txBody>
      </p:sp>
    </p:spTree>
    <p:extLst>
      <p:ext uri="{BB962C8B-B14F-4D97-AF65-F5344CB8AC3E}">
        <p14:creationId xmlns:p14="http://schemas.microsoft.com/office/powerpoint/2010/main" val="2758933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solidFill>
                  <a:srgbClr val="196E78"/>
                </a:solidFill>
              </a:rPr>
              <a:t>Example 2.2: </a:t>
            </a:r>
            <a:r>
              <a:rPr lang="en-US" dirty="0"/>
              <a:t>Mean of the GPAs</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1828800" y="1889722"/>
            <a:ext cx="8534400" cy="4369023"/>
          </a:xfrm>
          <a:prstGeom prst="rect">
            <a:avLst/>
          </a:prstGeom>
        </p:spPr>
        <p:txBody>
          <a:bodyPr/>
          <a:lstStyle/>
          <a:p>
            <a:pPr marL="292608" indent="-292608">
              <a:buClr>
                <a:schemeClr val="accent2"/>
              </a:buClr>
              <a:buFont typeface="Arial" panose="020B0604020202020204" pitchFamily="34" charset="0"/>
              <a:buChar char="•"/>
            </a:pPr>
            <a:r>
              <a:rPr lang="en-US" dirty="0"/>
              <a:t>The mean of our 1,000 GPAs was 3.285.</a:t>
            </a:r>
          </a:p>
          <a:p>
            <a:pPr marL="292608" indent="-292608">
              <a:buClr>
                <a:schemeClr val="accent2"/>
              </a:buClr>
              <a:buFont typeface="Arial" panose="020B0604020202020204" pitchFamily="34" charset="0"/>
              <a:buChar char="•"/>
            </a:pPr>
            <a:r>
              <a:rPr lang="en-US" dirty="0"/>
              <a:t>This is quite similar to the population mean of 3.288.</a:t>
            </a:r>
          </a:p>
          <a:p>
            <a:pPr marL="292608" indent="-292608">
              <a:buClr>
                <a:schemeClr val="accent2"/>
              </a:buClr>
              <a:buFont typeface="Arial" panose="020B0604020202020204" pitchFamily="34" charset="0"/>
              <a:buChar char="•"/>
            </a:pPr>
            <a:r>
              <a:rPr lang="en-US" dirty="0"/>
              <a:t>If we had an actual sampling distribution, instead of just 1,000 samples, these means would match exactly.</a:t>
            </a:r>
          </a:p>
        </p:txBody>
      </p:sp>
    </p:spTree>
    <p:extLst>
      <p:ext uri="{BB962C8B-B14F-4D97-AF65-F5344CB8AC3E}">
        <p14:creationId xmlns:p14="http://schemas.microsoft.com/office/powerpoint/2010/main" val="23503315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solidFill>
                  <a:srgbClr val="196E78"/>
                </a:solidFill>
              </a:rPr>
              <a:t>Example 2.2: </a:t>
            </a:r>
            <a:r>
              <a:rPr lang="en-US" dirty="0"/>
              <a:t>Standard Deviation of GPAs</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prstGeom prst="rect">
            <a:avLst/>
          </a:prstGeom>
        </p:spPr>
        <p:txBody>
          <a:bodyPr/>
          <a:lstStyle/>
          <a:p>
            <a:pPr marL="292608" indent="-292608">
              <a:buClr>
                <a:schemeClr val="accent2"/>
              </a:buClr>
              <a:buFont typeface="Arial" panose="020B0604020202020204" pitchFamily="34" charset="0"/>
              <a:buChar char="•"/>
            </a:pPr>
            <a:r>
              <a:rPr lang="en-US" dirty="0"/>
              <a:t>The standard deviation of our 1,000 samples was 0.104.</a:t>
            </a:r>
          </a:p>
          <a:p>
            <a:pPr marL="292608" indent="-292608">
              <a:buClr>
                <a:schemeClr val="accent2"/>
              </a:buClr>
              <a:buFont typeface="Arial" panose="020B0604020202020204" pitchFamily="34" charset="0"/>
              <a:buChar char="•"/>
            </a:pPr>
            <a:r>
              <a:rPr lang="en-US" dirty="0"/>
              <a:t>Much smaller than the population SD of 0.551.</a:t>
            </a:r>
          </a:p>
          <a:p>
            <a:pPr marL="292608" indent="-292608">
              <a:buClr>
                <a:schemeClr val="accent2"/>
              </a:buClr>
              <a:buFont typeface="Arial" panose="020B0604020202020204" pitchFamily="34" charset="0"/>
              <a:buChar char="•"/>
            </a:pPr>
            <a:r>
              <a:rPr lang="en-US" dirty="0"/>
              <a:t>This too, can be predicted. The SD of the sample means is predicted to be</a:t>
            </a:r>
          </a:p>
        </p:txBody>
      </p:sp>
      <p:graphicFrame>
        <p:nvGraphicFramePr>
          <p:cNvPr id="4" name="Object 3" descr="start frac sigma over Square root of n end frac or start frac 0.551 over Square root of 30 end frac equals 0.101"/>
          <p:cNvGraphicFramePr>
            <a:graphicFrameLocks noChangeAspect="1"/>
          </p:cNvGraphicFramePr>
          <p:nvPr/>
        </p:nvGraphicFramePr>
        <p:xfrm>
          <a:off x="4316603" y="3223266"/>
          <a:ext cx="2296617" cy="718429"/>
        </p:xfrm>
        <a:graphic>
          <a:graphicData uri="http://schemas.openxmlformats.org/presentationml/2006/ole">
            <mc:AlternateContent xmlns:mc="http://schemas.openxmlformats.org/markup-compatibility/2006">
              <mc:Choice xmlns:v="urn:schemas-microsoft-com:vml" Requires="v">
                <p:oleObj name="Equation" r:id="rId2" imgW="2476500" imgH="774700" progId="Equation.DSMT4">
                  <p:embed/>
                </p:oleObj>
              </mc:Choice>
              <mc:Fallback>
                <p:oleObj name="Equation" r:id="rId2" imgW="2476500" imgH="774700" progId="Equation.DSMT4">
                  <p:embed/>
                  <p:pic>
                    <p:nvPicPr>
                      <p:cNvPr id="4" name="Object 3" descr="start frac sigma over Square root of n end frac or start frac 0.551 over Square root of 30 end frac equals 0.1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6603" y="3223266"/>
                        <a:ext cx="2296617" cy="718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Content Placeholder 4"/>
          <p:cNvSpPr>
            <a:spLocks noGrp="1"/>
          </p:cNvSpPr>
          <p:nvPr>
            <p:ph sz="quarter" idx="13"/>
          </p:nvPr>
        </p:nvSpPr>
        <p:spPr>
          <a:xfrm>
            <a:off x="6630591" y="3298620"/>
            <a:ext cx="1707435" cy="462988"/>
          </a:xfrm>
        </p:spPr>
        <p:txBody>
          <a:bodyPr/>
          <a:lstStyle/>
          <a:p>
            <a:pPr marL="0" indent="0">
              <a:buNone/>
            </a:pPr>
            <a:r>
              <a:rPr lang="en-US" dirty="0"/>
              <a:t>in our case.</a:t>
            </a:r>
          </a:p>
        </p:txBody>
      </p:sp>
    </p:spTree>
    <p:extLst>
      <p:ext uri="{BB962C8B-B14F-4D97-AF65-F5344CB8AC3E}">
        <p14:creationId xmlns:p14="http://schemas.microsoft.com/office/powerpoint/2010/main" val="403780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dirty="0">
                <a:solidFill>
                  <a:srgbClr val="196E78"/>
                </a:solidFill>
              </a:rPr>
              <a:t>Example 2.2: </a:t>
            </a:r>
            <a:r>
              <a:rPr lang="en-US" dirty="0"/>
              <a:t>Central Limit Theorem </a:t>
            </a:r>
            <a:r>
              <a:rPr lang="en-US" sz="2000" b="0" dirty="0"/>
              <a:t>(2 of 2)</a:t>
            </a:r>
          </a:p>
        </p:txBody>
      </p:sp>
      <p:sp>
        <p:nvSpPr>
          <p:cNvPr id="7" name="Content Placeholder 6"/>
          <p:cNvSpPr>
            <a:spLocks noGrp="1"/>
          </p:cNvSpPr>
          <p:nvPr>
            <p:ph sz="quarter" idx="12"/>
          </p:nvPr>
        </p:nvSpPr>
        <p:spPr>
          <a:xfrm>
            <a:off x="1828800" y="1911351"/>
            <a:ext cx="8534400" cy="2124810"/>
          </a:xfrm>
        </p:spPr>
        <p:txBody>
          <a:bodyPr/>
          <a:lstStyle/>
          <a:p>
            <a:pPr marL="292608" indent="-292608">
              <a:buClr>
                <a:schemeClr val="accent2"/>
              </a:buClr>
              <a:buFont typeface="Arial" panose="020B0604020202020204" pitchFamily="34" charset="0"/>
              <a:buChar char="•"/>
            </a:pPr>
            <a:r>
              <a:rPr lang="en-US" dirty="0"/>
              <a:t>When taking random samples from a large population (more than 20 times the size of the sample), the distribution of sample means will:</a:t>
            </a:r>
          </a:p>
          <a:p>
            <a:pPr marL="1028700" lvl="1" indent="-342900">
              <a:buClr>
                <a:schemeClr val="accent2"/>
              </a:buClr>
            </a:pPr>
            <a:r>
              <a:rPr lang="en-US" dirty="0"/>
              <a:t>Center around the population mean (μ)</a:t>
            </a:r>
          </a:p>
          <a:p>
            <a:pPr marL="1028700" lvl="1" indent="-342900">
              <a:buClr>
                <a:schemeClr val="accent2"/>
              </a:buClr>
            </a:pPr>
            <a:r>
              <a:rPr lang="en-US" dirty="0"/>
              <a:t>Have a standard deviation smaller than the population, </a:t>
            </a:r>
          </a:p>
        </p:txBody>
      </p:sp>
      <p:graphicFrame>
        <p:nvGraphicFramePr>
          <p:cNvPr id="2" name="Object 1" descr="SD left parenthesis macron over x right parenthesis equals start frac sigma over Square root of n end frac"/>
          <p:cNvGraphicFramePr>
            <a:graphicFrameLocks noChangeAspect="1"/>
          </p:cNvGraphicFramePr>
          <p:nvPr/>
        </p:nvGraphicFramePr>
        <p:xfrm>
          <a:off x="2940105" y="4020410"/>
          <a:ext cx="1562100" cy="774700"/>
        </p:xfrm>
        <a:graphic>
          <a:graphicData uri="http://schemas.openxmlformats.org/presentationml/2006/ole">
            <mc:AlternateContent xmlns:mc="http://schemas.openxmlformats.org/markup-compatibility/2006">
              <mc:Choice xmlns:v="urn:schemas-microsoft-com:vml" Requires="v">
                <p:oleObj name="Equation" r:id="rId3" imgW="1562100" imgH="774700" progId="Equation.DSMT4">
                  <p:embed/>
                </p:oleObj>
              </mc:Choice>
              <mc:Fallback>
                <p:oleObj name="Equation" r:id="rId3" imgW="1562100" imgH="774700" progId="Equation.DSMT4">
                  <p:embed/>
                  <p:pic>
                    <p:nvPicPr>
                      <p:cNvPr id="2" name="Object 1" descr="SD left parenthesis macron over x right parenthesis equals start frac sigma over Square root of n end fra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0105" y="4020410"/>
                        <a:ext cx="1562100"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p:cNvSpPr>
            <a:spLocks noGrp="1"/>
          </p:cNvSpPr>
          <p:nvPr>
            <p:ph sz="quarter" idx="13"/>
          </p:nvPr>
        </p:nvSpPr>
        <p:spPr>
          <a:xfrm>
            <a:off x="1828800" y="4643320"/>
            <a:ext cx="8534400" cy="1366110"/>
          </a:xfrm>
        </p:spPr>
        <p:txBody>
          <a:bodyPr/>
          <a:lstStyle/>
          <a:p>
            <a:r>
              <a:rPr lang="en-US" b="1" dirty="0"/>
              <a:t>Central Limit Theorem: </a:t>
            </a:r>
            <a:r>
              <a:rPr lang="en-US" dirty="0"/>
              <a:t>The distribution of sample means will be approximately normal when the sample size is large (or if the population distribution is normally distributed)</a:t>
            </a:r>
          </a:p>
        </p:txBody>
      </p:sp>
    </p:spTree>
    <p:extLst>
      <p:ext uri="{BB962C8B-B14F-4D97-AF65-F5344CB8AC3E}">
        <p14:creationId xmlns:p14="http://schemas.microsoft.com/office/powerpoint/2010/main" val="17666637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p:txBody>
          <a:bodyPr>
            <a:normAutofit/>
          </a:bodyPr>
          <a:lstStyle/>
          <a:p>
            <a:r>
              <a:rPr lang="en-US" dirty="0">
                <a:solidFill>
                  <a:srgbClr val="196E78"/>
                </a:solidFill>
              </a:rPr>
              <a:t>Example 2.2: </a:t>
            </a:r>
            <a:r>
              <a:rPr lang="en-US" dirty="0"/>
              <a:t>What if the sample size was small?</a:t>
            </a:r>
          </a:p>
        </p:txBody>
      </p:sp>
      <p:sp>
        <p:nvSpPr>
          <p:cNvPr id="8" name="Content Placeholder 7">
            <a:extLst>
              <a:ext uri="{FF2B5EF4-FFF2-40B4-BE49-F238E27FC236}">
                <a16:creationId xmlns:a16="http://schemas.microsoft.com/office/drawing/2014/main" id="{C89A3A17-1EFE-4D71-B333-634D08C9C01E}"/>
              </a:ext>
            </a:extLst>
          </p:cNvPr>
          <p:cNvSpPr>
            <a:spLocks noGrp="1"/>
          </p:cNvSpPr>
          <p:nvPr>
            <p:ph sz="quarter" idx="12"/>
          </p:nvPr>
        </p:nvSpPr>
        <p:spPr>
          <a:xfrm>
            <a:off x="1828800" y="1911351"/>
            <a:ext cx="8534400" cy="1365860"/>
          </a:xfrm>
        </p:spPr>
        <p:txBody>
          <a:bodyPr/>
          <a:lstStyle/>
          <a:p>
            <a:pPr marL="292608" indent="-292608">
              <a:buClr>
                <a:schemeClr val="accent2"/>
              </a:buClr>
              <a:buFont typeface="Arial" panose="020B0604020202020204" pitchFamily="34" charset="0"/>
              <a:buChar char="•"/>
            </a:pPr>
            <a:r>
              <a:rPr lang="en-US" dirty="0"/>
              <a:t>We took 1,000 samples of size 10 from the population.</a:t>
            </a:r>
          </a:p>
          <a:p>
            <a:pPr marL="292608" indent="-292608">
              <a:buClr>
                <a:schemeClr val="accent2"/>
              </a:buClr>
              <a:buFont typeface="Arial" panose="020B0604020202020204" pitchFamily="34" charset="0"/>
              <a:buChar char="•"/>
            </a:pPr>
            <a:r>
              <a:rPr lang="en-US" dirty="0"/>
              <a:t>We do not get a symmetric distribution of sample means.</a:t>
            </a:r>
          </a:p>
          <a:p>
            <a:pPr marL="292608" indent="-292608">
              <a:buClr>
                <a:schemeClr val="accent2"/>
              </a:buClr>
              <a:buFont typeface="Arial" panose="020B0604020202020204" pitchFamily="34" charset="0"/>
              <a:buChar char="•"/>
            </a:pPr>
            <a:r>
              <a:rPr lang="en-US" dirty="0"/>
              <a:t>This distribution is slightly skewed to the left</a:t>
            </a:r>
          </a:p>
        </p:txBody>
      </p:sp>
      <p:pic>
        <p:nvPicPr>
          <p:cNvPr id="10" name="Picture Placeholder 9" descr="A histogram describes the results of distribution of 1000 samples means. The horizontal axis is labeled sample means and has markings from 2.4 to 4.0 in increments of 0.4. The vertical axis is labeled count and ranges from 0 to 200 in increments of 100. From 2.4 to 2.8, the bars extend up to the counts, 3, 0, 5, 5, and 2. From 2.8 to 3.2, the bars extend up to the counts, 10, 25, 45, 65, and 95. From 3.2 to 3.6, the bars extend up to the counts, 150, 170, 195, 145, 100, and 30. From 3.6 to 3.84, the bars extend up to the counts, 20, 0, and 3. There is no bar at 4.0. The tip of the bar above 3.4 is highlighted. The mean is 3.283, the standard deviation is 0.180, and the number of samples is 1000. All values are approximate. ">
            <a:extLst>
              <a:ext uri="{FF2B5EF4-FFF2-40B4-BE49-F238E27FC236}">
                <a16:creationId xmlns:a16="http://schemas.microsoft.com/office/drawing/2014/main" id="{FF771F9A-36F4-43FE-ACAB-F6DC560B37D1}"/>
              </a:ext>
            </a:extLst>
          </p:cNvPr>
          <p:cNvPicPr>
            <a:picLocks noGrp="1" noChangeAspect="1"/>
          </p:cNvPicPr>
          <p:nvPr>
            <p:ph type="pic" sz="quarter" idx="15"/>
          </p:nvPr>
        </p:nvPicPr>
        <p:blipFill rotWithShape="1">
          <a:blip r:embed="rId3"/>
          <a:stretch/>
        </p:blipFill>
        <p:spPr>
          <a:xfrm>
            <a:off x="4392261" y="3456150"/>
            <a:ext cx="3449324" cy="2705071"/>
          </a:xfrm>
          <a:prstGeom prst="rect">
            <a:avLst/>
          </a:prstGeom>
          <a:noFill/>
          <a:ln>
            <a:noFill/>
          </a:ln>
        </p:spPr>
      </p:pic>
    </p:spTree>
    <p:extLst>
      <p:ext uri="{BB962C8B-B14F-4D97-AF65-F5344CB8AC3E}">
        <p14:creationId xmlns:p14="http://schemas.microsoft.com/office/powerpoint/2010/main" val="6179634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95C8C2C-1FE2-7698-3D08-E1BEFD53A314}"/>
              </a:ext>
            </a:extLst>
          </p:cNvPr>
          <p:cNvSpPr>
            <a:spLocks noGrp="1"/>
          </p:cNvSpPr>
          <p:nvPr>
            <p:ph type="title"/>
          </p:nvPr>
        </p:nvSpPr>
        <p:spPr/>
        <p:txBody>
          <a:bodyPr/>
          <a:lstStyle/>
          <a:p>
            <a:r>
              <a:rPr lang="en-US" dirty="0"/>
              <a:t>Section 2.2: Summary</a:t>
            </a:r>
          </a:p>
        </p:txBody>
      </p:sp>
      <p:sp>
        <p:nvSpPr>
          <p:cNvPr id="11" name="Content Placeholder 10">
            <a:extLst>
              <a:ext uri="{FF2B5EF4-FFF2-40B4-BE49-F238E27FC236}">
                <a16:creationId xmlns:a16="http://schemas.microsoft.com/office/drawing/2014/main" id="{11BB06F3-DA67-6734-219E-27DBB8722344}"/>
              </a:ext>
            </a:extLst>
          </p:cNvPr>
          <p:cNvSpPr>
            <a:spLocks noGrp="1"/>
          </p:cNvSpPr>
          <p:nvPr>
            <p:ph sz="quarter" idx="12"/>
          </p:nvPr>
        </p:nvSpPr>
        <p:spPr/>
        <p:txBody>
          <a:bodyPr/>
          <a:lstStyle/>
          <a:p>
            <a:r>
              <a:rPr lang="en-US" dirty="0"/>
              <a:t>With quantitative variables, sometimes the distribution is </a:t>
            </a:r>
            <a:r>
              <a:rPr lang="en-US" b="1" i="1" dirty="0"/>
              <a:t>skewed</a:t>
            </a:r>
            <a:r>
              <a:rPr lang="en-US" dirty="0"/>
              <a:t>, and has a tail.</a:t>
            </a:r>
          </a:p>
          <a:p>
            <a:pPr lvl="1"/>
            <a:r>
              <a:rPr lang="en-US" dirty="0"/>
              <a:t>Skewed left = the tail is on the left </a:t>
            </a:r>
          </a:p>
          <a:p>
            <a:pPr lvl="1"/>
            <a:r>
              <a:rPr lang="en-US" dirty="0"/>
              <a:t>Skewed right = the tail is on the right.</a:t>
            </a:r>
          </a:p>
          <a:p>
            <a:r>
              <a:rPr lang="en-US" dirty="0"/>
              <a:t>If we sort all the values we obtained, we can choose the middle value to get the </a:t>
            </a:r>
            <a:r>
              <a:rPr lang="en-US" b="1" i="1" dirty="0"/>
              <a:t>median</a:t>
            </a:r>
            <a:r>
              <a:rPr lang="en-US" dirty="0"/>
              <a:t>.</a:t>
            </a:r>
          </a:p>
          <a:p>
            <a:r>
              <a:rPr lang="en-US" dirty="0"/>
              <a:t>If we sample, we can computer the population mean      and the standard deviation.</a:t>
            </a:r>
          </a:p>
          <a:p>
            <a:r>
              <a:rPr lang="en-US" dirty="0"/>
              <a:t>If our sample is large enough,   &gt;20, we can assume the variable will be approximately normal, then use the Central Limit Theorem.</a:t>
            </a:r>
          </a:p>
        </p:txBody>
      </p:sp>
      <p:graphicFrame>
        <p:nvGraphicFramePr>
          <p:cNvPr id="12" name="Object 11" descr="macron over x">
            <a:extLst>
              <a:ext uri="{FF2B5EF4-FFF2-40B4-BE49-F238E27FC236}">
                <a16:creationId xmlns:a16="http://schemas.microsoft.com/office/drawing/2014/main" id="{30C46C83-13BC-C1C0-57FC-8373B4052937}"/>
              </a:ext>
            </a:extLst>
          </p:cNvPr>
          <p:cNvGraphicFramePr>
            <a:graphicFrameLocks noChangeAspect="1"/>
          </p:cNvGraphicFramePr>
          <p:nvPr>
            <p:extLst>
              <p:ext uri="{D42A27DB-BD31-4B8C-83A1-F6EECF244321}">
                <p14:modId xmlns:p14="http://schemas.microsoft.com/office/powerpoint/2010/main" val="2097339242"/>
              </p:ext>
            </p:extLst>
          </p:nvPr>
        </p:nvGraphicFramePr>
        <p:xfrm>
          <a:off x="7725375" y="4248704"/>
          <a:ext cx="228600" cy="279400"/>
        </p:xfrm>
        <a:graphic>
          <a:graphicData uri="http://schemas.openxmlformats.org/presentationml/2006/ole">
            <mc:AlternateContent xmlns:mc="http://schemas.openxmlformats.org/markup-compatibility/2006">
              <mc:Choice xmlns:v="urn:schemas-microsoft-com:vml" Requires="v">
                <p:oleObj name="Equation" r:id="rId2" imgW="228600" imgH="279400" progId="Equation.DSMT4">
                  <p:embed/>
                </p:oleObj>
              </mc:Choice>
              <mc:Fallback>
                <p:oleObj name="Equation" r:id="rId2" imgW="228600" imgH="279400" progId="Equation.DSMT4">
                  <p:embed/>
                  <p:pic>
                    <p:nvPicPr>
                      <p:cNvPr id="5" name="Object 4" descr="macron over x">
                        <a:extLst>
                          <a:ext uri="{FF2B5EF4-FFF2-40B4-BE49-F238E27FC236}">
                            <a16:creationId xmlns:a16="http://schemas.microsoft.com/office/drawing/2014/main" id="{69277AE3-0DCB-08C1-A6AD-F93BC88817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5375" y="4248704"/>
                        <a:ext cx="2286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217956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t>Section 2.3</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1828800" y="1889722"/>
            <a:ext cx="8534400" cy="4369023"/>
          </a:xfrm>
          <a:prstGeom prst="rect">
            <a:avLst/>
          </a:prstGeom>
        </p:spPr>
        <p:txBody>
          <a:bodyPr/>
          <a:lstStyle/>
          <a:p>
            <a:pPr marL="0" indent="0">
              <a:spcAft>
                <a:spcPts val="1800"/>
              </a:spcAft>
              <a:buNone/>
            </a:pPr>
            <a:r>
              <a:rPr lang="en-US" dirty="0">
                <a:solidFill>
                  <a:srgbClr val="00007F"/>
                </a:solidFill>
              </a:rPr>
              <a:t>Inference for a Single Quantitative Variable</a:t>
            </a:r>
          </a:p>
          <a:p>
            <a:r>
              <a:rPr lang="en-US" dirty="0"/>
              <a:t>We will explore how to use the information from the previous section to carry out a theory-based test for a population mean.</a:t>
            </a:r>
          </a:p>
        </p:txBody>
      </p:sp>
    </p:spTree>
    <p:extLst>
      <p:ext uri="{BB962C8B-B14F-4D97-AF65-F5344CB8AC3E}">
        <p14:creationId xmlns:p14="http://schemas.microsoft.com/office/powerpoint/2010/main" val="4257417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t>Example 2.3: Estimating Elapsed Time</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prstGeom prst="rect">
            <a:avLst/>
          </a:prstGeom>
        </p:spPr>
        <p:txBody>
          <a:bodyPr/>
          <a:lstStyle/>
          <a:p>
            <a:pPr marL="292608" indent="-292608">
              <a:buClr>
                <a:schemeClr val="accent2"/>
              </a:buClr>
              <a:buFont typeface="Arial" panose="020B0604020202020204" pitchFamily="34" charset="0"/>
              <a:buChar char="•"/>
            </a:pPr>
            <a:r>
              <a:rPr lang="en-US" dirty="0"/>
              <a:t>How long do you think a song is?</a:t>
            </a:r>
          </a:p>
          <a:p>
            <a:pPr marL="292608" indent="-292608">
              <a:buClr>
                <a:schemeClr val="accent2"/>
              </a:buClr>
              <a:buFont typeface="Arial" panose="020B0604020202020204" pitchFamily="34" charset="0"/>
              <a:buChar char="•"/>
            </a:pPr>
            <a:r>
              <a:rPr lang="en-US" dirty="0"/>
              <a:t>Students in a stats class (for their final project) collected data on students’ perception of time</a:t>
            </a:r>
          </a:p>
          <a:p>
            <a:pPr marL="292608" indent="-292608">
              <a:buClr>
                <a:schemeClr val="accent2"/>
              </a:buClr>
              <a:buFont typeface="Arial" panose="020B0604020202020204" pitchFamily="34" charset="0"/>
              <a:buChar char="•"/>
            </a:pPr>
            <a:r>
              <a:rPr lang="en-US" dirty="0"/>
              <a:t>Subjects were told that they’d listen to music and then be asked questions when it was over. </a:t>
            </a:r>
          </a:p>
          <a:p>
            <a:pPr marL="292608" indent="-292608">
              <a:buClr>
                <a:schemeClr val="accent2"/>
              </a:buClr>
              <a:buFont typeface="Arial" panose="020B0604020202020204" pitchFamily="34" charset="0"/>
              <a:buChar char="•"/>
            </a:pPr>
            <a:r>
              <a:rPr lang="en-US" dirty="0"/>
              <a:t>The researchers played 10 seconds of the Jackson 5’s “A</a:t>
            </a:r>
            <a:r>
              <a:rPr lang="en-US" sz="100" dirty="0"/>
              <a:t> </a:t>
            </a:r>
            <a:r>
              <a:rPr lang="en-US" dirty="0"/>
              <a:t>B</a:t>
            </a:r>
            <a:r>
              <a:rPr lang="en-US" sz="100" dirty="0"/>
              <a:t> </a:t>
            </a:r>
            <a:r>
              <a:rPr lang="en-US" dirty="0"/>
              <a:t>C” and asked how long they thought it lasted</a:t>
            </a:r>
          </a:p>
          <a:p>
            <a:pPr marL="292608" indent="-292608">
              <a:buClr>
                <a:schemeClr val="accent2"/>
              </a:buClr>
              <a:buFont typeface="Arial" panose="020B0604020202020204" pitchFamily="34" charset="0"/>
              <a:buChar char="•"/>
            </a:pPr>
            <a:r>
              <a:rPr lang="en-US" dirty="0"/>
              <a:t>Can students accurately estimate the length?</a:t>
            </a:r>
          </a:p>
        </p:txBody>
      </p:sp>
    </p:spTree>
    <p:extLst>
      <p:ext uri="{BB962C8B-B14F-4D97-AF65-F5344CB8AC3E}">
        <p14:creationId xmlns:p14="http://schemas.microsoft.com/office/powerpoint/2010/main" val="10170900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solidFill>
                  <a:srgbClr val="196E78"/>
                </a:solidFill>
              </a:rPr>
              <a:t>Example 2.3: </a:t>
            </a:r>
            <a:r>
              <a:rPr lang="en-US" dirty="0"/>
              <a:t>Hypotheses</a:t>
            </a:r>
          </a:p>
        </p:txBody>
      </p:sp>
      <p:sp>
        <p:nvSpPr>
          <p:cNvPr id="7" name="Content Placeholder 6"/>
          <p:cNvSpPr>
            <a:spLocks noGrp="1"/>
          </p:cNvSpPr>
          <p:nvPr>
            <p:ph sz="quarter" idx="12"/>
          </p:nvPr>
        </p:nvSpPr>
        <p:spPr>
          <a:xfrm>
            <a:off x="1828800" y="1911351"/>
            <a:ext cx="8534400" cy="910490"/>
          </a:xfrm>
        </p:spPr>
        <p:txBody>
          <a:bodyPr/>
          <a:lstStyle/>
          <a:p>
            <a:pPr marL="0" indent="0">
              <a:buNone/>
            </a:pPr>
            <a:r>
              <a:rPr lang="en-US" b="1" dirty="0"/>
              <a:t>Null Hypothesis</a:t>
            </a:r>
            <a:r>
              <a:rPr lang="en-US" dirty="0"/>
              <a:t>: People will accurately estimate the length of a 10 second-song snippet, on average.</a:t>
            </a:r>
          </a:p>
        </p:txBody>
      </p:sp>
      <p:graphicFrame>
        <p:nvGraphicFramePr>
          <p:cNvPr id="2" name="Object 1" descr="mu = 10 seconds"/>
          <p:cNvGraphicFramePr>
            <a:graphicFrameLocks noGrp="1" noChangeAspect="1"/>
          </p:cNvGraphicFramePr>
          <p:nvPr/>
        </p:nvGraphicFramePr>
        <p:xfrm>
          <a:off x="1921775" y="2763614"/>
          <a:ext cx="2387600" cy="482600"/>
        </p:xfrm>
        <a:graphic>
          <a:graphicData uri="http://schemas.openxmlformats.org/presentationml/2006/ole">
            <mc:AlternateContent xmlns:mc="http://schemas.openxmlformats.org/markup-compatibility/2006">
              <mc:Choice xmlns:v="urn:schemas-microsoft-com:vml" Requires="v">
                <p:oleObj name="Equation" r:id="rId2" imgW="2387520" imgH="482400" progId="Equation.DSMT4">
                  <p:embed/>
                </p:oleObj>
              </mc:Choice>
              <mc:Fallback>
                <p:oleObj name="Equation" r:id="rId2" imgW="2387520" imgH="482400" progId="Equation.DSMT4">
                  <p:embed/>
                  <p:pic>
                    <p:nvPicPr>
                      <p:cNvPr id="2" name="Object 1" descr="mu = 10 seconds"/>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1775" y="2763614"/>
                        <a:ext cx="23876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p:cNvSpPr>
            <a:spLocks noGrp="1"/>
          </p:cNvSpPr>
          <p:nvPr>
            <p:ph sz="quarter" idx="13"/>
          </p:nvPr>
        </p:nvSpPr>
        <p:spPr>
          <a:xfrm>
            <a:off x="1845880" y="3656685"/>
            <a:ext cx="8534400" cy="910740"/>
          </a:xfrm>
        </p:spPr>
        <p:txBody>
          <a:bodyPr/>
          <a:lstStyle/>
          <a:p>
            <a:pPr marL="0" indent="0">
              <a:buNone/>
            </a:pPr>
            <a:r>
              <a:rPr lang="en-US" b="1" dirty="0"/>
              <a:t>Alternative Hypothesis</a:t>
            </a:r>
            <a:r>
              <a:rPr lang="en-US" dirty="0"/>
              <a:t>: People will not accurately estimate the length of a 10 second-song snippet, on average.</a:t>
            </a:r>
          </a:p>
        </p:txBody>
      </p:sp>
      <p:graphicFrame>
        <p:nvGraphicFramePr>
          <p:cNvPr id="3" name="Object 2" descr="mu not equal to 10 seconds"/>
          <p:cNvGraphicFramePr>
            <a:graphicFrameLocks noGrp="1" noChangeAspect="1"/>
          </p:cNvGraphicFramePr>
          <p:nvPr/>
        </p:nvGraphicFramePr>
        <p:xfrm>
          <a:off x="1921775" y="4491530"/>
          <a:ext cx="2387600" cy="482600"/>
        </p:xfrm>
        <a:graphic>
          <a:graphicData uri="http://schemas.openxmlformats.org/presentationml/2006/ole">
            <mc:AlternateContent xmlns:mc="http://schemas.openxmlformats.org/markup-compatibility/2006">
              <mc:Choice xmlns:v="urn:schemas-microsoft-com:vml" Requires="v">
                <p:oleObj name="Equation" r:id="rId4" imgW="2387520" imgH="482400" progId="Equation.DSMT4">
                  <p:embed/>
                </p:oleObj>
              </mc:Choice>
              <mc:Fallback>
                <p:oleObj name="Equation" r:id="rId4" imgW="2387520" imgH="482400" progId="Equation.DSMT4">
                  <p:embed/>
                  <p:pic>
                    <p:nvPicPr>
                      <p:cNvPr id="3" name="Object 2" descr="mu not equal to 10 seconds"/>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1775" y="4491530"/>
                        <a:ext cx="23876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6644444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p:txBody>
          <a:bodyPr>
            <a:normAutofit/>
          </a:bodyPr>
          <a:lstStyle/>
          <a:p>
            <a:r>
              <a:rPr lang="en-US" dirty="0">
                <a:solidFill>
                  <a:srgbClr val="196E78"/>
                </a:solidFill>
              </a:rPr>
              <a:t>Example 2.3: Displaying Data</a:t>
            </a:r>
            <a:endParaRPr lang="en-US" strike="sngStrike" dirty="0"/>
          </a:p>
        </p:txBody>
      </p:sp>
      <p:sp>
        <p:nvSpPr>
          <p:cNvPr id="8" name="Content Placeholder 7">
            <a:extLst>
              <a:ext uri="{FF2B5EF4-FFF2-40B4-BE49-F238E27FC236}">
                <a16:creationId xmlns:a16="http://schemas.microsoft.com/office/drawing/2014/main" id="{C89A3A17-1EFE-4D71-B333-634D08C9C01E}"/>
              </a:ext>
            </a:extLst>
          </p:cNvPr>
          <p:cNvSpPr>
            <a:spLocks noGrp="1"/>
          </p:cNvSpPr>
          <p:nvPr>
            <p:ph sz="quarter" idx="12"/>
          </p:nvPr>
        </p:nvSpPr>
        <p:spPr>
          <a:xfrm>
            <a:off x="1828800" y="1911351"/>
            <a:ext cx="8534400" cy="2124809"/>
          </a:xfrm>
        </p:spPr>
        <p:txBody>
          <a:bodyPr/>
          <a:lstStyle/>
          <a:p>
            <a:pPr marL="292608" indent="-292608">
              <a:buClr>
                <a:schemeClr val="accent2"/>
              </a:buClr>
              <a:buFont typeface="Arial" panose="020B0604020202020204" pitchFamily="34" charset="0"/>
              <a:buChar char="•"/>
            </a:pPr>
            <a:r>
              <a:rPr lang="en-US" dirty="0"/>
              <a:t>A sample was recorded of 48 students on campus, each answering how long they estimated the song length to be.</a:t>
            </a:r>
          </a:p>
          <a:p>
            <a:pPr marL="292608" indent="-292608">
              <a:buClr>
                <a:schemeClr val="accent2"/>
              </a:buClr>
              <a:buFont typeface="Arial" panose="020B0604020202020204" pitchFamily="34" charset="0"/>
              <a:buChar char="•"/>
            </a:pPr>
            <a:r>
              <a:rPr lang="en-US" dirty="0"/>
              <a:t>What does a single dot represent?</a:t>
            </a:r>
          </a:p>
          <a:p>
            <a:pPr marL="292608" indent="-292608">
              <a:buClr>
                <a:schemeClr val="accent2"/>
              </a:buClr>
              <a:buFont typeface="Arial" panose="020B0604020202020204" pitchFamily="34" charset="0"/>
              <a:buChar char="•"/>
            </a:pPr>
            <a:r>
              <a:rPr lang="en-US" dirty="0"/>
              <a:t>What are the observational units? Variable?</a:t>
            </a:r>
          </a:p>
        </p:txBody>
      </p:sp>
      <p:pic>
        <p:nvPicPr>
          <p:cNvPr id="6" name="Content Placeholder 2" descr="A dotplot describes the results of estimated length of a 10 seconds song snippet. The horizontal axis is labeled Estimated time of snippet (seconds) and has markings from 5 to 32 in increments of 3. A series of dots is plotted vertically on a few points of the horizontal axis. The dots are plotted as follows: 1 dot above 5 and 6; 3 dots above 7; 6 dots above 8; 11 dots above 10; 3 dots above 12; 3 dots above 13; 10 dots above 15; 4 dots above 20; 1 dot above 21 and 22; and 4 dots above 30. There are no dots above 11, above 14, from 16 to 19; from 23 to 29; and to the right of 30."/>
          <p:cNvPicPr>
            <a:picLocks noGrp="1" noChangeAspect="1" noChangeArrowheads="1"/>
          </p:cNvPicPr>
          <p:nvPr>
            <p:ph type="pic" sz="quarter" idx="15"/>
          </p:nvPr>
        </p:nvPicPr>
        <p:blipFill>
          <a:blip r:embed="rId2">
            <a:extLst>
              <a:ext uri="{28A0092B-C50C-407E-A947-70E740481C1C}">
                <a14:useLocalDpi xmlns:a14="http://schemas.microsoft.com/office/drawing/2010/main" val="0"/>
              </a:ext>
            </a:extLst>
          </a:blip>
          <a:stretch>
            <a:fillRect/>
          </a:stretch>
        </p:blipFill>
        <p:spPr bwMode="auto">
          <a:xfrm>
            <a:off x="2301251" y="4182582"/>
            <a:ext cx="7518825" cy="19786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268172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p:txBody>
          <a:bodyPr>
            <a:normAutofit/>
          </a:bodyPr>
          <a:lstStyle/>
          <a:p>
            <a:r>
              <a:rPr lang="en-US" dirty="0">
                <a:solidFill>
                  <a:srgbClr val="196E78"/>
                </a:solidFill>
              </a:rPr>
              <a:t>Example 2.3: </a:t>
            </a:r>
            <a:r>
              <a:rPr lang="en-US" dirty="0"/>
              <a:t>Skewed, mean, median</a:t>
            </a:r>
          </a:p>
        </p:txBody>
      </p:sp>
      <p:sp>
        <p:nvSpPr>
          <p:cNvPr id="8" name="Content Placeholder 7">
            <a:extLst>
              <a:ext uri="{FF2B5EF4-FFF2-40B4-BE49-F238E27FC236}">
                <a16:creationId xmlns:a16="http://schemas.microsoft.com/office/drawing/2014/main" id="{C89A3A17-1EFE-4D71-B333-634D08C9C01E}"/>
              </a:ext>
            </a:extLst>
          </p:cNvPr>
          <p:cNvSpPr>
            <a:spLocks noGrp="1"/>
          </p:cNvSpPr>
          <p:nvPr>
            <p:ph sz="quarter" idx="12"/>
          </p:nvPr>
        </p:nvSpPr>
        <p:spPr>
          <a:xfrm>
            <a:off x="1828800" y="1911351"/>
            <a:ext cx="8534400" cy="1745335"/>
          </a:xfrm>
        </p:spPr>
        <p:txBody>
          <a:bodyPr/>
          <a:lstStyle/>
          <a:p>
            <a:pPr marL="292608" indent="-292608">
              <a:buClr>
                <a:schemeClr val="accent2"/>
              </a:buClr>
              <a:buFont typeface="Arial" panose="020B0604020202020204" pitchFamily="34" charset="0"/>
              <a:buChar char="•"/>
            </a:pPr>
            <a:r>
              <a:rPr lang="en-US" sz="2400" dirty="0"/>
              <a:t>The distribution obtained is not symmetric but is </a:t>
            </a:r>
            <a:r>
              <a:rPr lang="en-US" sz="2400" b="1" dirty="0"/>
              <a:t>right skewed.</a:t>
            </a:r>
            <a:endParaRPr lang="en-US" sz="2400" dirty="0"/>
          </a:p>
          <a:p>
            <a:pPr marL="292608" indent="-292608">
              <a:buClr>
                <a:schemeClr val="accent2"/>
              </a:buClr>
              <a:buFont typeface="Arial" panose="020B0604020202020204" pitchFamily="34" charset="0"/>
              <a:buChar char="•"/>
            </a:pPr>
            <a:r>
              <a:rPr lang="en-US" sz="2400" dirty="0"/>
              <a:t>Remember that when data are skewed right, the </a:t>
            </a:r>
            <a:r>
              <a:rPr lang="en-US" sz="2400" b="1" dirty="0"/>
              <a:t>mean</a:t>
            </a:r>
            <a:r>
              <a:rPr lang="en-US" sz="2400" dirty="0"/>
              <a:t> gets pulled out to the right while the </a:t>
            </a:r>
            <a:r>
              <a:rPr lang="en-US" sz="2400" b="1" dirty="0"/>
              <a:t>median</a:t>
            </a:r>
            <a:r>
              <a:rPr lang="en-US" sz="2400" dirty="0"/>
              <a:t> is more resistant to this.</a:t>
            </a:r>
          </a:p>
          <a:p>
            <a:pPr marL="292608" indent="-292608">
              <a:buClr>
                <a:schemeClr val="accent2"/>
              </a:buClr>
              <a:buFont typeface="Arial" panose="020B0604020202020204" pitchFamily="34" charset="0"/>
              <a:buChar char="•"/>
            </a:pPr>
            <a:r>
              <a:rPr lang="en-US" sz="2400" dirty="0"/>
              <a:t>Also notice there are spikes at 10 and 15 seconds.</a:t>
            </a:r>
          </a:p>
        </p:txBody>
      </p:sp>
      <p:pic>
        <p:nvPicPr>
          <p:cNvPr id="9" name="Content Placeholder 2" descr="A dotplot describes the results of estimated length of a 10 seconds song snippet. The horizontal axis is labeled Estimated time of snippet (seconds) and has markings from 5 to 32 in increments of 3. A series of dots is plotted vertically on a few points of the horizontal axis. The dots are plotted as follows: 1 dot above 5 and 6; 3 dots above 7; 6 dots above 8; 11 dots above 10; 3 dots above 12; 3 dots above 13; 10 dots above 15; 4 dots above 20; 1 dot above 21 and 22; and 4 dots above 30. There are no dots above 11, above 14, from 16 to 19; from 23 to 29; and to the right of 30."/>
          <p:cNvPicPr>
            <a:picLocks noGrp="1" noChangeAspect="1" noChangeArrowheads="1"/>
          </p:cNvPicPr>
          <p:nvPr>
            <p:ph type="pic" sz="quarter" idx="15"/>
          </p:nvPr>
        </p:nvPicPr>
        <p:blipFill>
          <a:blip r:embed="rId2">
            <a:extLst>
              <a:ext uri="{28A0092B-C50C-407E-A947-70E740481C1C}">
                <a14:useLocalDpi xmlns:a14="http://schemas.microsoft.com/office/drawing/2010/main" val="0"/>
              </a:ext>
            </a:extLst>
          </a:blip>
          <a:stretch>
            <a:fillRect/>
          </a:stretch>
        </p:blipFill>
        <p:spPr bwMode="auto">
          <a:xfrm>
            <a:off x="2225355" y="3960266"/>
            <a:ext cx="7746654" cy="20385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991936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p:txBody>
          <a:bodyPr>
            <a:normAutofit/>
          </a:bodyPr>
          <a:lstStyle/>
          <a:p>
            <a:r>
              <a:rPr lang="en-US" dirty="0">
                <a:solidFill>
                  <a:srgbClr val="196E78"/>
                </a:solidFill>
              </a:rPr>
              <a:t>Example 2.3: </a:t>
            </a:r>
            <a:r>
              <a:rPr lang="en-US" dirty="0"/>
              <a:t>Mean vs Median</a:t>
            </a:r>
          </a:p>
        </p:txBody>
      </p:sp>
      <p:sp>
        <p:nvSpPr>
          <p:cNvPr id="8" name="Content Placeholder 7">
            <a:extLst>
              <a:ext uri="{FF2B5EF4-FFF2-40B4-BE49-F238E27FC236}">
                <a16:creationId xmlns:a16="http://schemas.microsoft.com/office/drawing/2014/main" id="{C89A3A17-1EFE-4D71-B333-634D08C9C01E}"/>
              </a:ext>
            </a:extLst>
          </p:cNvPr>
          <p:cNvSpPr>
            <a:spLocks noGrp="1"/>
          </p:cNvSpPr>
          <p:nvPr>
            <p:ph sz="quarter" idx="12"/>
          </p:nvPr>
        </p:nvSpPr>
        <p:spPr>
          <a:xfrm>
            <a:off x="1828800" y="1683416"/>
            <a:ext cx="8534400" cy="2656075"/>
          </a:xfrm>
        </p:spPr>
        <p:txBody>
          <a:bodyPr/>
          <a:lstStyle/>
          <a:p>
            <a:pPr marL="292608" indent="-292608">
              <a:buClr>
                <a:schemeClr val="accent2"/>
              </a:buClr>
              <a:buFont typeface="Arial" panose="020B0604020202020204" pitchFamily="34" charset="0"/>
              <a:buChar char="•"/>
            </a:pPr>
            <a:r>
              <a:rPr lang="en-US" dirty="0"/>
              <a:t>The mean is 13.71 and the median is 12.</a:t>
            </a:r>
          </a:p>
          <a:p>
            <a:pPr marL="292608" indent="-292608">
              <a:buClr>
                <a:schemeClr val="accent2"/>
              </a:buClr>
              <a:buFont typeface="Arial" panose="020B0604020202020204" pitchFamily="34" charset="0"/>
              <a:buChar char="•"/>
            </a:pPr>
            <a:r>
              <a:rPr lang="en-US" dirty="0"/>
              <a:t>How would these numbers change if one of the people that gave an answer of 30 seconds actually said 300 seconds?</a:t>
            </a:r>
          </a:p>
          <a:p>
            <a:pPr marL="292608" indent="-292608">
              <a:buClr>
                <a:schemeClr val="accent2"/>
              </a:buClr>
              <a:buFont typeface="Arial" panose="020B0604020202020204" pitchFamily="34" charset="0"/>
              <a:buChar char="•"/>
            </a:pPr>
            <a:r>
              <a:rPr lang="en-US" dirty="0"/>
              <a:t>The standard deviation is 6.5 sec. Is it resistant to outliers?</a:t>
            </a:r>
          </a:p>
        </p:txBody>
      </p:sp>
      <p:pic>
        <p:nvPicPr>
          <p:cNvPr id="9" name="Content Placeholder 2" descr="A dotplot describes the results of estimated length of a 10 seconds song snippet. The horizontal axis is labeled Estimated time of snippet (seconds) and has markings from 5 to 32 in increments of 3. A series of dots is plotted vertically on a few points of the horizontal axis. The dots are plotted as follows: 1 dot above 5 and 6; 3 dots above 7; 6 dots above 8; 11 dots above 10; 3 dots above 12; 3 dots above 13; 10 dots above 15; 4 dots above 20; 1 dot above 21 and 22; and 4 dots above 30. There are no dots above 11, above 14, from 16 to 19; from 23 to 29; and to the right of 30.">
            <a:extLst>
              <a:ext uri="{FF2B5EF4-FFF2-40B4-BE49-F238E27FC236}">
                <a16:creationId xmlns:a16="http://schemas.microsoft.com/office/drawing/2014/main" id="{2AE04AF4-6254-4091-99AB-CF26C4D6EC13}"/>
              </a:ext>
            </a:extLst>
          </p:cNvPr>
          <p:cNvPicPr>
            <a:picLocks noGrp="1" noChangeAspect="1" noChangeArrowheads="1"/>
          </p:cNvPicPr>
          <p:nvPr>
            <p:ph type="pic" sz="quarter" idx="15"/>
          </p:nvPr>
        </p:nvPicPr>
        <p:blipFill>
          <a:blip r:embed="rId2">
            <a:extLst>
              <a:ext uri="{28A0092B-C50C-407E-A947-70E740481C1C}">
                <a14:useLocalDpi xmlns:a14="http://schemas.microsoft.com/office/drawing/2010/main" val="0"/>
              </a:ext>
            </a:extLst>
          </a:blip>
          <a:stretch>
            <a:fillRect/>
          </a:stretch>
        </p:blipFill>
        <p:spPr bwMode="auto">
          <a:xfrm>
            <a:off x="2528752" y="4405769"/>
            <a:ext cx="7101720" cy="18688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088796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a:solidFill>
                  <a:srgbClr val="196E78"/>
                </a:solidFill>
              </a:rPr>
              <a:t>Example 2.3: </a:t>
            </a:r>
            <a:r>
              <a:rPr lang="en-US"/>
              <a:t>Inference </a:t>
            </a:r>
            <a:r>
              <a:rPr lang="en-US" sz="2000" b="0"/>
              <a:t>(1 of 3)</a:t>
            </a:r>
            <a:endParaRPr lang="en-US"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1357589" y="1720328"/>
            <a:ext cx="9476821" cy="4282936"/>
          </a:xfrm>
          <a:prstGeom prst="rect">
            <a:avLst/>
          </a:prstGeom>
        </p:spPr>
        <p:txBody>
          <a:bodyPr/>
          <a:lstStyle/>
          <a:p>
            <a:pPr marL="292608" indent="-292608">
              <a:buClr>
                <a:schemeClr val="accent2"/>
              </a:buClr>
              <a:buFont typeface="Arial" panose="020B0604020202020204" pitchFamily="34" charset="0"/>
              <a:buChar char="•"/>
            </a:pPr>
            <a:r>
              <a:rPr lang="en-US" dirty="0"/>
              <a:t>Can we generalize the results of this study to all college students in the population? </a:t>
            </a:r>
          </a:p>
          <a:p>
            <a:pPr marL="292608" indent="-292608">
              <a:buClr>
                <a:schemeClr val="accent2"/>
              </a:buClr>
              <a:buFont typeface="Arial" panose="020B0604020202020204" pitchFamily="34" charset="0"/>
              <a:buChar char="•"/>
            </a:pPr>
            <a:r>
              <a:rPr lang="en-US" dirty="0"/>
              <a:t>Would all college students, on average, overestimate the actual length of the snippet (10 seconds)?</a:t>
            </a:r>
          </a:p>
          <a:p>
            <a:pPr marL="852488" lvl="1" indent="-395288">
              <a:buClr>
                <a:schemeClr val="accent2"/>
              </a:buClr>
            </a:pPr>
            <a:r>
              <a:rPr lang="en-US" dirty="0"/>
              <a:t>Was the sample randomly drawn from a population of all college students? No.</a:t>
            </a:r>
          </a:p>
          <a:p>
            <a:pPr marL="852488" lvl="1" indent="-395288">
              <a:buClr>
                <a:schemeClr val="accent2"/>
              </a:buClr>
            </a:pPr>
            <a:r>
              <a:rPr lang="en-US" dirty="0"/>
              <a:t>Is there an obvious reason to believe that these 48 students would estimate the length that much differently than the rest of the population? Probably not.</a:t>
            </a:r>
          </a:p>
          <a:p>
            <a:pPr marL="292608" indent="-292608">
              <a:buClr>
                <a:schemeClr val="accent2"/>
              </a:buClr>
              <a:buFont typeface="Arial" panose="020B0604020202020204" pitchFamily="34" charset="0"/>
              <a:buChar char="•"/>
            </a:pPr>
            <a:r>
              <a:rPr lang="en-US" dirty="0"/>
              <a:t>So we will proceed as though we do have a representative sample.</a:t>
            </a:r>
          </a:p>
        </p:txBody>
      </p:sp>
    </p:spTree>
    <p:extLst>
      <p:ext uri="{BB962C8B-B14F-4D97-AF65-F5344CB8AC3E}">
        <p14:creationId xmlns:p14="http://schemas.microsoft.com/office/powerpoint/2010/main" val="31294682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solidFill>
                  <a:srgbClr val="196E78"/>
                </a:solidFill>
              </a:rPr>
              <a:t>Example 2.3: </a:t>
            </a:r>
            <a:r>
              <a:rPr lang="en-US" dirty="0"/>
              <a:t>Inference </a:t>
            </a:r>
            <a:r>
              <a:rPr lang="en-US" sz="2000" b="0" dirty="0"/>
              <a:t>(2 of 3)</a:t>
            </a:r>
            <a:endParaRPr lang="en-US" dirty="0"/>
          </a:p>
        </p:txBody>
      </p:sp>
      <p:sp>
        <p:nvSpPr>
          <p:cNvPr id="7" name="Content Placeholder 6"/>
          <p:cNvSpPr>
            <a:spLocks noGrp="1"/>
          </p:cNvSpPr>
          <p:nvPr>
            <p:ph sz="quarter" idx="16"/>
          </p:nvPr>
        </p:nvSpPr>
        <p:spPr>
          <a:xfrm>
            <a:off x="1828801" y="1805804"/>
            <a:ext cx="320660" cy="484772"/>
          </a:xfrm>
        </p:spPr>
        <p:txBody>
          <a:bodyPr/>
          <a:lstStyle/>
          <a:p>
            <a:pPr marL="292608" indent="-292608">
              <a:buClr>
                <a:schemeClr val="accent2"/>
              </a:buClr>
              <a:buFont typeface="Arial" panose="020B0604020202020204" pitchFamily="34" charset="0"/>
              <a:buChar char="•"/>
            </a:pPr>
            <a:r>
              <a:rPr lang="en-US" sz="2400" dirty="0">
                <a:latin typeface="Times New Roman" pitchFamily="18" charset="0"/>
                <a:cs typeface="Times New Roman" panose="02020603050405020304" pitchFamily="18" charset="0"/>
              </a:rPr>
              <a:t> </a:t>
            </a:r>
          </a:p>
        </p:txBody>
      </p:sp>
      <p:graphicFrame>
        <p:nvGraphicFramePr>
          <p:cNvPr id="3" name="Object 2" descr="H sub 0 : mu = 10 seconds"/>
          <p:cNvGraphicFramePr>
            <a:graphicFrameLocks noGrp="1" noChangeAspect="1"/>
          </p:cNvGraphicFramePr>
          <p:nvPr/>
        </p:nvGraphicFramePr>
        <p:xfrm>
          <a:off x="2216573" y="1835206"/>
          <a:ext cx="2589212" cy="415925"/>
        </p:xfrm>
        <a:graphic>
          <a:graphicData uri="http://schemas.openxmlformats.org/presentationml/2006/ole">
            <mc:AlternateContent xmlns:mc="http://schemas.openxmlformats.org/markup-compatibility/2006">
              <mc:Choice xmlns:v="urn:schemas-microsoft-com:vml" Requires="v">
                <p:oleObj name="Equation" r:id="rId3" imgW="2768400" imgH="444240" progId="Equation.DSMT4">
                  <p:embed/>
                </p:oleObj>
              </mc:Choice>
              <mc:Fallback>
                <p:oleObj name="Equation" r:id="rId3" imgW="2768400" imgH="444240" progId="Equation.DSMT4">
                  <p:embed/>
                  <p:pic>
                    <p:nvPicPr>
                      <p:cNvPr id="3" name="Object 2" descr="H sub 0 : mu = 10 seconds"/>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6573" y="1835206"/>
                        <a:ext cx="2589212"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p:cNvSpPr>
            <a:spLocks noGrp="1"/>
          </p:cNvSpPr>
          <p:nvPr>
            <p:ph sz="quarter" idx="17"/>
          </p:nvPr>
        </p:nvSpPr>
        <p:spPr>
          <a:xfrm>
            <a:off x="1828800" y="2366471"/>
            <a:ext cx="320660" cy="455370"/>
          </a:xfrm>
        </p:spPr>
        <p:txBody>
          <a:bodyPr/>
          <a:lstStyle/>
          <a:p>
            <a:pPr marL="292608" indent="-292608">
              <a:buClr>
                <a:schemeClr val="accent2"/>
              </a:buClr>
              <a:buFont typeface="Arial" panose="020B0604020202020204" pitchFamily="34" charset="0"/>
              <a:buChar char="•"/>
            </a:pPr>
            <a:r>
              <a:rPr lang="en-US" sz="2400" dirty="0">
                <a:cs typeface="Times New Roman" panose="02020603050405020304" pitchFamily="18" charset="0"/>
              </a:rPr>
              <a:t> </a:t>
            </a:r>
          </a:p>
        </p:txBody>
      </p:sp>
      <p:graphicFrame>
        <p:nvGraphicFramePr>
          <p:cNvPr id="4" name="Object 3" descr="H sub a : mu not equal to 10 seconds"/>
          <p:cNvGraphicFramePr>
            <a:graphicFrameLocks noGrp="1" noChangeAspect="1"/>
          </p:cNvGraphicFramePr>
          <p:nvPr/>
        </p:nvGraphicFramePr>
        <p:xfrm>
          <a:off x="2189163" y="2398714"/>
          <a:ext cx="2608262" cy="415925"/>
        </p:xfrm>
        <a:graphic>
          <a:graphicData uri="http://schemas.openxmlformats.org/presentationml/2006/ole">
            <mc:AlternateContent xmlns:mc="http://schemas.openxmlformats.org/markup-compatibility/2006">
              <mc:Choice xmlns:v="urn:schemas-microsoft-com:vml" Requires="v">
                <p:oleObj name="Equation" r:id="rId5" imgW="2781000" imgH="444240" progId="Equation.DSMT4">
                  <p:embed/>
                </p:oleObj>
              </mc:Choice>
              <mc:Fallback>
                <p:oleObj name="Equation" r:id="rId5" imgW="2781000" imgH="444240" progId="Equation.DSMT4">
                  <p:embed/>
                  <p:pic>
                    <p:nvPicPr>
                      <p:cNvPr id="4" name="Object 3" descr="H sub a : mu not equal to 10 seconds"/>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89163" y="2398714"/>
                        <a:ext cx="2608262"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p:cNvSpPr>
            <a:spLocks noGrp="1"/>
          </p:cNvSpPr>
          <p:nvPr>
            <p:ph sz="quarter" idx="18"/>
          </p:nvPr>
        </p:nvSpPr>
        <p:spPr>
          <a:xfrm>
            <a:off x="1830650" y="2950858"/>
            <a:ext cx="8534400" cy="2299623"/>
          </a:xfrm>
        </p:spPr>
        <p:txBody>
          <a:bodyPr/>
          <a:lstStyle/>
          <a:p>
            <a:pPr marL="292608" indent="-292608">
              <a:buClr>
                <a:schemeClr val="accent2"/>
              </a:buClr>
              <a:buFont typeface="Arial" panose="020B0604020202020204" pitchFamily="34" charset="0"/>
              <a:buChar char="•"/>
            </a:pPr>
            <a:r>
              <a:rPr lang="en-US" sz="2400" dirty="0">
                <a:cs typeface="Times New Roman" panose="02020603050405020304" pitchFamily="18" charset="0"/>
              </a:rPr>
              <a:t>Our problem now is, how do we develop a null distribution? (The second S in our 3S strategy.)</a:t>
            </a:r>
          </a:p>
          <a:p>
            <a:pPr marL="292608" indent="-292608">
              <a:buClr>
                <a:schemeClr val="accent2"/>
              </a:buClr>
              <a:buFont typeface="Arial" panose="020B0604020202020204" pitchFamily="34" charset="0"/>
              <a:buChar char="•"/>
            </a:pPr>
            <a:r>
              <a:rPr lang="en-US" sz="2400" dirty="0">
                <a:cs typeface="Times New Roman" panose="02020603050405020304" pitchFamily="18" charset="0"/>
              </a:rPr>
              <a:t>Flipping coins and spinning spinners will not work to model what would happen under a true null hypothesis.</a:t>
            </a:r>
          </a:p>
          <a:p>
            <a:pPr marL="292608" indent="-292608">
              <a:buClr>
                <a:schemeClr val="accent2"/>
              </a:buClr>
              <a:buFont typeface="Arial" panose="020B0604020202020204" pitchFamily="34" charset="0"/>
              <a:buChar char="•"/>
            </a:pPr>
            <a:r>
              <a:rPr lang="en-US" sz="2400" dirty="0">
                <a:cs typeface="Times New Roman" panose="02020603050405020304" pitchFamily="18" charset="0"/>
              </a:rPr>
              <a:t>Let’s look at two ways to do this (the first way is really just a way to think about how this can be done).</a:t>
            </a:r>
          </a:p>
        </p:txBody>
      </p:sp>
    </p:spTree>
    <p:extLst>
      <p:ext uri="{BB962C8B-B14F-4D97-AF65-F5344CB8AC3E}">
        <p14:creationId xmlns:p14="http://schemas.microsoft.com/office/powerpoint/2010/main" val="6315124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solidFill>
                  <a:srgbClr val="196E78"/>
                </a:solidFill>
              </a:rPr>
              <a:t>Example 2.3: </a:t>
            </a:r>
            <a:r>
              <a:rPr lang="en-US" dirty="0"/>
              <a:t>Inference </a:t>
            </a:r>
            <a:r>
              <a:rPr lang="en-US" sz="2000" b="0" dirty="0"/>
              <a:t>(3 of 3)</a:t>
            </a:r>
            <a:endParaRPr lang="en-US"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1782306" y="1932764"/>
            <a:ext cx="8839200" cy="4282936"/>
          </a:xfrm>
          <a:prstGeom prst="rect">
            <a:avLst/>
          </a:prstGeom>
        </p:spPr>
        <p:txBody>
          <a:bodyPr/>
          <a:lstStyle/>
          <a:p>
            <a:pPr marL="292608" indent="-292608">
              <a:buClr>
                <a:schemeClr val="accent2"/>
              </a:buClr>
              <a:buFont typeface="Arial" panose="020B0604020202020204" pitchFamily="34" charset="0"/>
              <a:buChar char="•"/>
            </a:pPr>
            <a:r>
              <a:rPr lang="en-US" dirty="0"/>
              <a:t>We don’t have population data.</a:t>
            </a:r>
          </a:p>
          <a:p>
            <a:pPr marL="164592" indent="-320040">
              <a:buClr>
                <a:schemeClr val="accent2"/>
              </a:buClr>
            </a:pPr>
            <a:r>
              <a:rPr lang="en-US" dirty="0"/>
              <a:t>More specifically, we don’t have population data that reflects our null hypothesis where </a:t>
            </a:r>
            <a:r>
              <a:rPr lang="en-US" i="1" dirty="0"/>
              <a:t>μ</a:t>
            </a:r>
            <a:r>
              <a:rPr lang="en-US" dirty="0"/>
              <a:t> = 10 seconds.</a:t>
            </a:r>
          </a:p>
          <a:p>
            <a:pPr marL="164592" indent="-320040">
              <a:buClr>
                <a:schemeClr val="accent2"/>
              </a:buClr>
            </a:pPr>
            <a:r>
              <a:rPr lang="en-US" dirty="0"/>
              <a:t>All we have is our sample of 48.</a:t>
            </a:r>
          </a:p>
        </p:txBody>
      </p:sp>
    </p:spTree>
    <p:extLst>
      <p:ext uri="{BB962C8B-B14F-4D97-AF65-F5344CB8AC3E}">
        <p14:creationId xmlns:p14="http://schemas.microsoft.com/office/powerpoint/2010/main" val="21252449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solidFill>
                  <a:srgbClr val="196E78"/>
                </a:solidFill>
              </a:rPr>
              <a:t>Example 2.3: </a:t>
            </a:r>
            <a:r>
              <a:rPr lang="en-US" dirty="0"/>
              <a:t>Simulation-Based Inference</a:t>
            </a:r>
            <a:r>
              <a:rPr lang="en-US" b="0" dirty="0"/>
              <a:t> </a:t>
            </a:r>
            <a:r>
              <a:rPr lang="en-US" sz="2000" b="0" dirty="0"/>
              <a:t>(1 of 6)</a:t>
            </a:r>
            <a:endParaRPr lang="en-US"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1782306" y="1932764"/>
            <a:ext cx="8839200" cy="4282936"/>
          </a:xfrm>
          <a:prstGeom prst="rect">
            <a:avLst/>
          </a:prstGeom>
        </p:spPr>
        <p:txBody>
          <a:bodyPr/>
          <a:lstStyle/>
          <a:p>
            <a:pPr marL="292608" indent="-292608">
              <a:buClr>
                <a:schemeClr val="accent2"/>
              </a:buClr>
              <a:buFont typeface="Arial" panose="020B0604020202020204" pitchFamily="34" charset="0"/>
              <a:buChar char="•"/>
            </a:pPr>
            <a:r>
              <a:rPr lang="en-US" dirty="0"/>
              <a:t>We need to create a population based on what we know about our sample and what we want the mean to be.</a:t>
            </a:r>
          </a:p>
          <a:p>
            <a:pPr marL="292608" indent="-292608">
              <a:buClr>
                <a:schemeClr val="accent2"/>
              </a:buClr>
              <a:buFont typeface="Arial" panose="020B0604020202020204" pitchFamily="34" charset="0"/>
              <a:buChar char="•"/>
            </a:pPr>
            <a:r>
              <a:rPr lang="en-US" dirty="0"/>
              <a:t>We need to come up with a large data set that we think our population of time estimates might look like </a:t>
            </a:r>
            <a:r>
              <a:rPr lang="en-US" b="1" dirty="0"/>
              <a:t>under a true null.</a:t>
            </a:r>
          </a:p>
          <a:p>
            <a:pPr marL="292608" indent="-292608">
              <a:buClr>
                <a:schemeClr val="accent2"/>
              </a:buClr>
              <a:buFont typeface="Arial" panose="020B0604020202020204" pitchFamily="34" charset="0"/>
              <a:buChar char="•"/>
            </a:pPr>
            <a:r>
              <a:rPr lang="en-US" dirty="0"/>
              <a:t>We might assume the population is skewed (like our sample) and has a standard deviation similar to what we found in our sample but has a mean of 10 seconds.</a:t>
            </a:r>
          </a:p>
        </p:txBody>
      </p:sp>
    </p:spTree>
    <p:extLst>
      <p:ext uri="{BB962C8B-B14F-4D97-AF65-F5344CB8AC3E}">
        <p14:creationId xmlns:p14="http://schemas.microsoft.com/office/powerpoint/2010/main" val="14071602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p:txBody>
          <a:bodyPr>
            <a:normAutofit/>
          </a:bodyPr>
          <a:lstStyle/>
          <a:p>
            <a:r>
              <a:rPr lang="en-US" dirty="0">
                <a:solidFill>
                  <a:srgbClr val="196E78"/>
                </a:solidFill>
              </a:rPr>
              <a:t>Example 2.3: </a:t>
            </a:r>
            <a:r>
              <a:rPr lang="en-US" dirty="0"/>
              <a:t>Simulation-Based Inference </a:t>
            </a:r>
            <a:r>
              <a:rPr lang="en-US" sz="2000" b="0" dirty="0"/>
              <a:t>(2 of 6)</a:t>
            </a:r>
            <a:endParaRPr lang="en-US" dirty="0"/>
          </a:p>
        </p:txBody>
      </p:sp>
      <p:sp>
        <p:nvSpPr>
          <p:cNvPr id="8" name="Content Placeholder 7">
            <a:extLst>
              <a:ext uri="{FF2B5EF4-FFF2-40B4-BE49-F238E27FC236}">
                <a16:creationId xmlns:a16="http://schemas.microsoft.com/office/drawing/2014/main" id="{C89A3A17-1EFE-4D71-B333-634D08C9C01E}"/>
              </a:ext>
            </a:extLst>
          </p:cNvPr>
          <p:cNvSpPr>
            <a:spLocks noGrp="1"/>
          </p:cNvSpPr>
          <p:nvPr>
            <p:ph sz="quarter" idx="12"/>
          </p:nvPr>
        </p:nvSpPr>
        <p:spPr>
          <a:xfrm>
            <a:off x="567892" y="1328287"/>
            <a:ext cx="9854124" cy="2783770"/>
          </a:xfrm>
        </p:spPr>
        <p:txBody>
          <a:bodyPr/>
          <a:lstStyle/>
          <a:p>
            <a:pPr marL="292608" indent="-292608">
              <a:buClr>
                <a:schemeClr val="accent2"/>
              </a:buClr>
              <a:buFont typeface="Arial" panose="020B0604020202020204" pitchFamily="34" charset="0"/>
              <a:buChar char="•"/>
            </a:pPr>
            <a:r>
              <a:rPr lang="en-US" dirty="0"/>
              <a:t>Invent a population of values with a mean of 10.</a:t>
            </a:r>
          </a:p>
          <a:p>
            <a:pPr marL="292608" indent="-292608">
              <a:buClr>
                <a:schemeClr val="accent2"/>
              </a:buClr>
              <a:buFont typeface="Arial" panose="020B0604020202020204" pitchFamily="34" charset="0"/>
              <a:buChar char="•"/>
            </a:pPr>
            <a:r>
              <a:rPr lang="en-US" dirty="0"/>
              <a:t>Repeatedly, take random samples from that population to simulate what samples could look like when the null hypothesis is true.</a:t>
            </a:r>
          </a:p>
          <a:p>
            <a:pPr marL="292608" indent="-292608">
              <a:buClr>
                <a:schemeClr val="accent2"/>
              </a:buClr>
              <a:buFont typeface="Arial" panose="020B0604020202020204" pitchFamily="34" charset="0"/>
              <a:buChar char="•"/>
            </a:pPr>
            <a:r>
              <a:rPr lang="en-US" dirty="0"/>
              <a:t>Here’s simulated population data like what we need.</a:t>
            </a:r>
          </a:p>
          <a:p>
            <a:pPr marL="292608" indent="-292608">
              <a:buClr>
                <a:schemeClr val="accent2"/>
              </a:buClr>
              <a:buFont typeface="Arial" panose="020B0604020202020204" pitchFamily="34" charset="0"/>
              <a:buChar char="•"/>
            </a:pPr>
            <a:r>
              <a:rPr lang="en-US" dirty="0"/>
              <a:t>It has a similar shape and SD to that of the sample.</a:t>
            </a:r>
          </a:p>
          <a:p>
            <a:pPr marL="292608" indent="-292608">
              <a:buClr>
                <a:schemeClr val="accent2"/>
              </a:buClr>
              <a:buFont typeface="Arial" panose="020B0604020202020204" pitchFamily="34" charset="0"/>
              <a:buChar char="•"/>
            </a:pPr>
            <a:r>
              <a:rPr lang="en-US" dirty="0"/>
              <a:t>Notice, however, the mean of this distribution matches the value in the null hypothesis. (Which is what we want to develop a null distribution.)</a:t>
            </a:r>
          </a:p>
        </p:txBody>
      </p:sp>
      <p:pic>
        <p:nvPicPr>
          <p:cNvPr id="6" name="Picture Placeholder 5" descr="A histogram labeled Population data describes the results of song length estimates in a hypothetical population. The horizontal axis is labeled Estimate and has markings from negative 4 to 28 in increments of 8. The vertical axis is labeled count and ranges from 0 to 1200 in increments of 600. From 0 to 4, the bars extend up to the counts, 450, 400, and 750. From 4 to 12, the bars extend up to the counts, 1100, 0, 400, 470, 1050, and 100. From 12 to 20, the bars extend up to the counts, 0, 400, 470, 120, 130, 150, and 580. From 20 to 25.2, the bars extend up to the counts, 0, 110, 0, and 400. There are no bars to the left of 0 and to the right of 25.2. The mean is 10.002, the standard deviation is 6.490, and the population size is 6215. All values are approximate.">
            <a:extLst>
              <a:ext uri="{FF2B5EF4-FFF2-40B4-BE49-F238E27FC236}">
                <a16:creationId xmlns:a16="http://schemas.microsoft.com/office/drawing/2014/main" id="{EF34F62C-D3EF-41C5-9D43-3E1EF6427C62}"/>
              </a:ext>
            </a:extLst>
          </p:cNvPr>
          <p:cNvPicPr>
            <a:picLocks noGrp="1" noChangeAspect="1"/>
          </p:cNvPicPr>
          <p:nvPr>
            <p:ph type="pic" sz="quarter" idx="15"/>
          </p:nvPr>
        </p:nvPicPr>
        <p:blipFill>
          <a:blip r:embed="rId3"/>
          <a:stretch>
            <a:fillRect/>
          </a:stretch>
        </p:blipFill>
        <p:spPr>
          <a:xfrm>
            <a:off x="4497596" y="4616852"/>
            <a:ext cx="3196808" cy="2241148"/>
          </a:xfrm>
          <a:prstGeom prst="rect">
            <a:avLst/>
          </a:prstGeom>
          <a:noFill/>
          <a:ln>
            <a:noFill/>
          </a:ln>
        </p:spPr>
      </p:pic>
    </p:spTree>
    <p:extLst>
      <p:ext uri="{BB962C8B-B14F-4D97-AF65-F5344CB8AC3E}">
        <p14:creationId xmlns:p14="http://schemas.microsoft.com/office/powerpoint/2010/main" val="23251849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p:txBody>
          <a:bodyPr>
            <a:normAutofit/>
          </a:bodyPr>
          <a:lstStyle/>
          <a:p>
            <a:r>
              <a:rPr lang="en-US" dirty="0">
                <a:solidFill>
                  <a:srgbClr val="196E78"/>
                </a:solidFill>
              </a:rPr>
              <a:t>Example 2.3: </a:t>
            </a:r>
            <a:r>
              <a:rPr lang="en-US" dirty="0"/>
              <a:t>Simulation-Based Inference </a:t>
            </a:r>
            <a:r>
              <a:rPr lang="en-US" sz="2000" b="0" dirty="0"/>
              <a:t>(3 of 6)</a:t>
            </a:r>
            <a:endParaRPr lang="en-US" dirty="0"/>
          </a:p>
        </p:txBody>
      </p:sp>
      <p:sp>
        <p:nvSpPr>
          <p:cNvPr id="8" name="Content Placeholder 7">
            <a:extLst>
              <a:ext uri="{FF2B5EF4-FFF2-40B4-BE49-F238E27FC236}">
                <a16:creationId xmlns:a16="http://schemas.microsoft.com/office/drawing/2014/main" id="{C89A3A17-1EFE-4D71-B333-634D08C9C01E}"/>
              </a:ext>
            </a:extLst>
          </p:cNvPr>
          <p:cNvSpPr>
            <a:spLocks noGrp="1"/>
          </p:cNvSpPr>
          <p:nvPr>
            <p:ph sz="quarter" idx="12"/>
          </p:nvPr>
        </p:nvSpPr>
        <p:spPr>
          <a:xfrm>
            <a:off x="1828800" y="1911351"/>
            <a:ext cx="8534400" cy="1289964"/>
          </a:xfrm>
        </p:spPr>
        <p:txBody>
          <a:bodyPr/>
          <a:lstStyle/>
          <a:p>
            <a:pPr marL="292608" indent="-292608">
              <a:buClr>
                <a:schemeClr val="accent2"/>
              </a:buClr>
              <a:buFont typeface="Arial" panose="020B0604020202020204" pitchFamily="34" charset="0"/>
              <a:buChar char="•"/>
            </a:pPr>
            <a:r>
              <a:rPr lang="en-US" dirty="0"/>
              <a:t>To develop a distribution of statistics (sample means) that could have happened if the null was true, we start to take samples of size 48 from our made-up population.</a:t>
            </a:r>
          </a:p>
        </p:txBody>
      </p:sp>
      <p:pic>
        <p:nvPicPr>
          <p:cNvPr id="40962" name="Picture 2" descr="A histogram and a dotplot displaying the results of hypothetical population. The histogram is titled Population data. The horizontal axis is labeled Estimate and has markings from negative 4 to 28 in increments of 8. The vertical axis is labeled count and ranges from 0 to 1200 in increments of 600. From 0 to 4, the bars extend up to the counts, 450, 400, and 750. From 4 to 12, the bars extend up to the counts, 1100, 0, 400, 470, 1050, and 100. From 12 to 20, the bars extend up to the counts, 0, 400, 470, 120, 130, 150, and 580. From 20 to 25.2, the bars extend up to the counts, 0, 110, 0, and 400. A series of dots is plotted vertically inside the bars on a few markings of the horizontal axis. There are no bars to the left of 0 and to the right of 25.2. The dots are plotted as follows: 4 dots above negative 3 at the counts, 20, 125, 250, and 255; 3 dots above 3.9 at the counts, 20, 420, and 425; 10 dots above 5 at the counts, 5, 25, 30, 135, 260, 420, 480, 595, 650, and 1050; 5 dots above 9 at the counts, 20, 25, 135, 255, and 425; 11 dots above 10 at the counts, 25, 30, 130, 415; 480, 510, 600, 800, 805, 815, and 1050; 2 dots above 14 at the counts, 250 and 255; 3 dots above 15 at the counts, 25, 130, and 270; 2 dots above 17 at the counts, 25 and 30; 5 dots above 20 at the counts, 15, 20, 415, 510, and 515; and 2 dots above 25 at the counts, 130 and 270. There are no dots above negative 4, 12, and 28. The mean is 10.002, the standard deviation is 6.490, and the population size is 6215. All values are approximate.&#10;The dotplot is titled Most recent sample. The horizontal axis is labeled Estimate and has markings from negative 4 to 28 in increments of 8. The vertical axis is labeled count and ranges from 0 to 20 in increments of 10. A series of dots is plotted vertically on a few points of the horizontal axis. The dots are plotted as follows: 4 dots above negative 3 at the counts, 1, 2, 3, and 4; 3 dots above 4 at the counts, 1, 2, and 3; 10 dots above 5 at the counts, 1, 2, 3, 4, 5, 6, 7, 8, 9, and 10; 5 dots above 9 at the counts, 1, 2, 3, 4, and 5; 11 dots above 10 at the counts, 1, 2, 3, 4, 5, 6, 7, 8, 9, 10, and 11; 2 dots above 14 at the counts, 1, and 2; 3 dots above 15 at the counts, 1, 2, and 3; 2 dots above 17 at the counts, 1, 2; 5 dots above 20 at the counts, 1, 2, 3, 4, and 5; and 3 dots above 25 at the counts, 1, 2, and 3. A vertical upward arrow points toward point, 10.497 on the horizontal axis. The mean is 10.497, the standard deviation is 6.484, and n is 48. All values are approximate."/>
          <p:cNvPicPr>
            <a:picLocks noGrp="1" noChangeAspect="1" noChangeArrowheads="1"/>
          </p:cNvPicPr>
          <p:nvPr>
            <p:ph type="pic" sz="quarter" idx="15"/>
          </p:nvPr>
        </p:nvPicPr>
        <p:blipFill>
          <a:blip r:embed="rId3">
            <a:extLst>
              <a:ext uri="{28A0092B-C50C-407E-A947-70E740481C1C}">
                <a14:useLocalDpi xmlns:a14="http://schemas.microsoft.com/office/drawing/2010/main" val="0"/>
              </a:ext>
            </a:extLst>
          </a:blip>
          <a:stretch>
            <a:fillRect/>
          </a:stretch>
        </p:blipFill>
        <p:spPr bwMode="auto">
          <a:xfrm>
            <a:off x="2070517" y="3318352"/>
            <a:ext cx="8013063" cy="28428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773395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a:xfrm>
            <a:off x="1828800" y="620886"/>
            <a:ext cx="8517320" cy="838199"/>
          </a:xfrm>
        </p:spPr>
        <p:txBody>
          <a:bodyPr>
            <a:normAutofit fontScale="90000"/>
          </a:bodyPr>
          <a:lstStyle/>
          <a:p>
            <a:r>
              <a:rPr lang="en-US" dirty="0">
                <a:solidFill>
                  <a:srgbClr val="196E78"/>
                </a:solidFill>
              </a:rPr>
              <a:t>Example 2.3: </a:t>
            </a:r>
            <a:r>
              <a:rPr lang="en-US" dirty="0"/>
              <a:t>Simulation-Based Inference </a:t>
            </a:r>
            <a:r>
              <a:rPr lang="en-US" sz="2000" b="0" dirty="0"/>
              <a:t>(4 of 6)</a:t>
            </a:r>
            <a:endParaRPr lang="en-US" dirty="0"/>
          </a:p>
        </p:txBody>
      </p:sp>
      <p:sp>
        <p:nvSpPr>
          <p:cNvPr id="8" name="Content Placeholder 7">
            <a:extLst>
              <a:ext uri="{FF2B5EF4-FFF2-40B4-BE49-F238E27FC236}">
                <a16:creationId xmlns:a16="http://schemas.microsoft.com/office/drawing/2014/main" id="{C89A3A17-1EFE-4D71-B333-634D08C9C01E}"/>
              </a:ext>
            </a:extLst>
          </p:cNvPr>
          <p:cNvSpPr>
            <a:spLocks noGrp="1"/>
          </p:cNvSpPr>
          <p:nvPr>
            <p:ph sz="quarter" idx="12"/>
          </p:nvPr>
        </p:nvSpPr>
        <p:spPr>
          <a:xfrm>
            <a:off x="1828800" y="1911352"/>
            <a:ext cx="8517320" cy="910489"/>
          </a:xfrm>
        </p:spPr>
        <p:txBody>
          <a:bodyPr/>
          <a:lstStyle/>
          <a:p>
            <a:pPr marL="292608" indent="-292608">
              <a:buClr>
                <a:schemeClr val="accent2"/>
              </a:buClr>
              <a:buFont typeface="Arial" panose="020B0604020202020204" pitchFamily="34" charset="0"/>
              <a:buChar char="•"/>
            </a:pPr>
            <a:r>
              <a:rPr lang="en-US" dirty="0"/>
              <a:t>Then repeat this so we develop a distribution of 1,000 sample means that could have happened if the null was true.</a:t>
            </a:r>
          </a:p>
        </p:txBody>
      </p:sp>
      <p:pic>
        <p:nvPicPr>
          <p:cNvPr id="10" name="Picture Placeholder 9" descr="A histogram describes the distribution of 1000 simulated random samples. The horizontal axis is labeled Sample means and has markings from 6 to 14 in increments of 2. The vertical axis is labeled count and has markings from 160 to 0 in decrements of 80. The distribution of bars is approximately normal. From 6.67 to 8, the bars extend up to the counts, 190, 180, 180, and 170. From 8 to 10, the bars extend up to the counts, 140, 110, 80, 60, and 40. From 10 to 12, the bars extend up to the counts, 30, 50, 70, 80, 120, and 140. From 12 to 13.33, the bars extend up to the counts, 160, 175, 0, and 175. There are no bars to the left of 6.67 and 13.33. The tip of the bar above 8.70 is highlighted. The mean is 10.018, the standard deviation is 0.926, and the number of samples is 1000. All values are approximate. ">
            <a:extLst>
              <a:ext uri="{FF2B5EF4-FFF2-40B4-BE49-F238E27FC236}">
                <a16:creationId xmlns:a16="http://schemas.microsoft.com/office/drawing/2014/main" id="{16C9E50F-6434-403A-A67D-7A0BAE9A3427}"/>
              </a:ext>
            </a:extLst>
          </p:cNvPr>
          <p:cNvPicPr>
            <a:picLocks noGrp="1" noChangeAspect="1"/>
          </p:cNvPicPr>
          <p:nvPr>
            <p:ph type="pic" sz="quarter" idx="13"/>
          </p:nvPr>
        </p:nvPicPr>
        <p:blipFill>
          <a:blip r:embed="rId2"/>
          <a:stretch>
            <a:fillRect/>
          </a:stretch>
        </p:blipFill>
        <p:spPr>
          <a:xfrm>
            <a:off x="3632269" y="2897735"/>
            <a:ext cx="4664686" cy="3277584"/>
          </a:xfrm>
          <a:prstGeom prst="rect">
            <a:avLst/>
          </a:prstGeom>
          <a:noFill/>
          <a:ln>
            <a:noFill/>
          </a:ln>
        </p:spPr>
      </p:pic>
    </p:spTree>
    <p:extLst>
      <p:ext uri="{BB962C8B-B14F-4D97-AF65-F5344CB8AC3E}">
        <p14:creationId xmlns:p14="http://schemas.microsoft.com/office/powerpoint/2010/main" val="3364935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p:txBody>
          <a:bodyPr>
            <a:normAutofit/>
          </a:bodyPr>
          <a:lstStyle/>
          <a:p>
            <a:r>
              <a:rPr lang="en-US" dirty="0">
                <a:solidFill>
                  <a:srgbClr val="196E78"/>
                </a:solidFill>
              </a:rPr>
              <a:t>Example 2.3: </a:t>
            </a:r>
            <a:r>
              <a:rPr lang="en-US" dirty="0"/>
              <a:t>Simulation-Based Inference </a:t>
            </a:r>
            <a:r>
              <a:rPr lang="en-US" sz="2000" b="0" dirty="0"/>
              <a:t>(5 of 6)</a:t>
            </a:r>
            <a:endParaRPr lang="en-US" dirty="0"/>
          </a:p>
        </p:txBody>
      </p:sp>
      <p:sp>
        <p:nvSpPr>
          <p:cNvPr id="8" name="Content Placeholder 7">
            <a:extLst>
              <a:ext uri="{FF2B5EF4-FFF2-40B4-BE49-F238E27FC236}">
                <a16:creationId xmlns:a16="http://schemas.microsoft.com/office/drawing/2014/main" id="{C89A3A17-1EFE-4D71-B333-634D08C9C01E}"/>
              </a:ext>
            </a:extLst>
          </p:cNvPr>
          <p:cNvSpPr>
            <a:spLocks noGrp="1"/>
          </p:cNvSpPr>
          <p:nvPr>
            <p:ph sz="quarter" idx="12"/>
          </p:nvPr>
        </p:nvSpPr>
        <p:spPr>
          <a:xfrm>
            <a:off x="1828800" y="1911351"/>
            <a:ext cx="8534400" cy="1289965"/>
          </a:xfrm>
        </p:spPr>
        <p:txBody>
          <a:bodyPr/>
          <a:lstStyle/>
          <a:p>
            <a:pPr marL="292608" indent="-292608">
              <a:buClr>
                <a:schemeClr val="accent2"/>
              </a:buClr>
              <a:buFont typeface="Arial" panose="020B0604020202020204" pitchFamily="34" charset="0"/>
              <a:buChar char="•"/>
            </a:pPr>
            <a:r>
              <a:rPr lang="en-US" dirty="0"/>
              <a:t>Notice that this distribution of sample means is bell-shaped, centered on the value of the null, has a standard deviation much smaller than that of the population standard deviation.</a:t>
            </a:r>
          </a:p>
        </p:txBody>
      </p:sp>
      <p:sp>
        <p:nvSpPr>
          <p:cNvPr id="4" name="Content Placeholder 3"/>
          <p:cNvSpPr>
            <a:spLocks noGrp="1"/>
          </p:cNvSpPr>
          <p:nvPr>
            <p:ph sz="quarter" idx="16"/>
          </p:nvPr>
        </p:nvSpPr>
        <p:spPr>
          <a:xfrm>
            <a:off x="1845881" y="3277209"/>
            <a:ext cx="4174225" cy="2959906"/>
          </a:xfrm>
        </p:spPr>
        <p:txBody>
          <a:bodyPr/>
          <a:lstStyle/>
          <a:p>
            <a:pPr marL="292608" indent="-292608">
              <a:buClr>
                <a:schemeClr val="accent2"/>
              </a:buClr>
              <a:buFont typeface="Arial" panose="020B0604020202020204" pitchFamily="34" charset="0"/>
              <a:buChar char="•"/>
            </a:pPr>
            <a:r>
              <a:rPr lang="en-US" dirty="0"/>
              <a:t>Also notice that the sample mean of 13.71 seconds never occurred, so we have a </a:t>
            </a:r>
            <a:r>
              <a:rPr lang="en-US" i="1" dirty="0"/>
              <a:t>p</a:t>
            </a:r>
            <a:r>
              <a:rPr lang="en-US" dirty="0"/>
              <a:t>-value of about 0.</a:t>
            </a:r>
          </a:p>
          <a:p>
            <a:pPr marL="292608" indent="-292608">
              <a:buClr>
                <a:schemeClr val="accent2"/>
              </a:buClr>
              <a:buFont typeface="Arial" panose="020B0604020202020204" pitchFamily="34" charset="0"/>
              <a:buChar char="•"/>
            </a:pPr>
            <a:r>
              <a:rPr lang="en-US" dirty="0"/>
              <a:t>What’s the standardized statistic?</a:t>
            </a:r>
          </a:p>
          <a:p>
            <a:pPr marL="292608" indent="-292608">
              <a:buClr>
                <a:schemeClr val="accent2"/>
              </a:buClr>
              <a:buFont typeface="Arial" panose="020B0604020202020204" pitchFamily="34" charset="0"/>
              <a:buChar char="•"/>
            </a:pPr>
            <a:r>
              <a:rPr lang="en-US" dirty="0"/>
              <a:t>What’s our conclusion?</a:t>
            </a:r>
          </a:p>
        </p:txBody>
      </p:sp>
      <p:pic>
        <p:nvPicPr>
          <p:cNvPr id="11" name="Picture Placeholder 10" descr="A histogram describes the distribution of 1000 simulated random samples. The horizontal axis is labeled Sample means and has markings from 6 to 14 in increments of 2. The vertical axis is labeled count and has markings from 160 to 0 in decrements of 80. The distribution of bars is approximately normal. From 6.67 to 8, the bars extend up to the counts, 190, 180, 180, and 170. From 8 to 10, the bars extend up to the counts, 140, 110, 80, 60, and 40. From 10 to 12, the bars extend up to the counts, 30, 50, 70, 80, 120, and 140. From 12 to 13.33, the bars extend up to the counts, 160, 175, 0, and 175. There are no bars to the left of 6.67 and 13.33. The tip of the bar above 8.70 is highlighted. The mean is 10.018, the standard deviation is 0.926, and the number of samples is 1000. All values are approximate. ">
            <a:extLst>
              <a:ext uri="{FF2B5EF4-FFF2-40B4-BE49-F238E27FC236}">
                <a16:creationId xmlns:a16="http://schemas.microsoft.com/office/drawing/2014/main" id="{16C9E50F-6434-403A-A67D-7A0BAE9A3427}"/>
              </a:ext>
            </a:extLst>
          </p:cNvPr>
          <p:cNvPicPr>
            <a:picLocks noGrp="1" noChangeAspect="1"/>
          </p:cNvPicPr>
          <p:nvPr>
            <p:ph type="pic" sz="quarter" idx="15"/>
          </p:nvPr>
        </p:nvPicPr>
        <p:blipFill>
          <a:blip r:embed="rId2"/>
          <a:stretch>
            <a:fillRect/>
          </a:stretch>
        </p:blipFill>
        <p:spPr>
          <a:xfrm>
            <a:off x="6235418" y="3277210"/>
            <a:ext cx="4110702" cy="2888334"/>
          </a:xfrm>
          <a:prstGeom prst="rect">
            <a:avLst/>
          </a:prstGeom>
          <a:noFill/>
          <a:ln>
            <a:noFill/>
          </a:ln>
        </p:spPr>
      </p:pic>
    </p:spTree>
    <p:extLst>
      <p:ext uri="{BB962C8B-B14F-4D97-AF65-F5344CB8AC3E}">
        <p14:creationId xmlns:p14="http://schemas.microsoft.com/office/powerpoint/2010/main" val="19617974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solidFill>
                  <a:srgbClr val="196E78"/>
                </a:solidFill>
              </a:rPr>
              <a:t>Example 2.3: </a:t>
            </a:r>
            <a:r>
              <a:rPr lang="en-US" dirty="0"/>
              <a:t>Simulation-Based Inference </a:t>
            </a:r>
            <a:r>
              <a:rPr lang="en-US" sz="2000" b="0" dirty="0"/>
              <a:t>(6 of 6)</a:t>
            </a:r>
            <a:endParaRPr lang="en-US" b="0"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1828800" y="1911351"/>
            <a:ext cx="8534400" cy="4325765"/>
          </a:xfrm>
          <a:prstGeom prst="rect">
            <a:avLst/>
          </a:prstGeom>
        </p:spPr>
        <p:txBody>
          <a:bodyPr/>
          <a:lstStyle/>
          <a:p>
            <a:pPr marL="292608" indent="-292608">
              <a:buClr>
                <a:schemeClr val="accent2"/>
              </a:buClr>
              <a:buFont typeface="Arial" panose="020B0604020202020204" pitchFamily="34" charset="0"/>
              <a:buChar char="•"/>
            </a:pPr>
            <a:r>
              <a:rPr lang="en-US" dirty="0"/>
              <a:t>Doing this simulation-based test for a single mean requires that we make a guess as to what the population distribution looks like.</a:t>
            </a:r>
          </a:p>
          <a:p>
            <a:pPr marL="292608" indent="-292608">
              <a:buClr>
                <a:schemeClr val="accent2"/>
              </a:buClr>
              <a:buFont typeface="Arial" panose="020B0604020202020204" pitchFamily="34" charset="0"/>
              <a:buChar char="•"/>
            </a:pPr>
            <a:r>
              <a:rPr lang="en-US" dirty="0"/>
              <a:t>We did that to develop a distribution of simulated statistics.</a:t>
            </a:r>
          </a:p>
          <a:p>
            <a:pPr marL="292608" indent="-292608">
              <a:buClr>
                <a:schemeClr val="accent2"/>
              </a:buClr>
              <a:buFont typeface="Arial" panose="020B0604020202020204" pitchFamily="34" charset="0"/>
              <a:buChar char="•"/>
            </a:pPr>
            <a:r>
              <a:rPr lang="en-US" dirty="0"/>
              <a:t>But can we predict what this distribution of simulated statistics is going to look like without developing a population distribution?</a:t>
            </a:r>
          </a:p>
          <a:p>
            <a:pPr marL="292608" indent="-292608">
              <a:buClr>
                <a:schemeClr val="accent2"/>
              </a:buClr>
              <a:buFont typeface="Arial" panose="020B0604020202020204" pitchFamily="34" charset="0"/>
              <a:buChar char="•"/>
            </a:pPr>
            <a:r>
              <a:rPr lang="en-US" dirty="0"/>
              <a:t>Do we know what shape it will have? What its mean should be? What its standard deviation should be?</a:t>
            </a:r>
          </a:p>
        </p:txBody>
      </p:sp>
    </p:spTree>
    <p:extLst>
      <p:ext uri="{BB962C8B-B14F-4D97-AF65-F5344CB8AC3E}">
        <p14:creationId xmlns:p14="http://schemas.microsoft.com/office/powerpoint/2010/main" val="6569747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solidFill>
                  <a:srgbClr val="196E78"/>
                </a:solidFill>
              </a:rPr>
              <a:t>Example 2.3: </a:t>
            </a:r>
            <a:r>
              <a:rPr lang="en-US" dirty="0"/>
              <a:t>Theory-Based Test </a:t>
            </a:r>
            <a:r>
              <a:rPr lang="en-US" sz="2000" b="0" dirty="0"/>
              <a:t>(1 of 3)</a:t>
            </a:r>
            <a:endParaRPr lang="en-US" b="0"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1828800" y="1911351"/>
            <a:ext cx="8534400" cy="4325765"/>
          </a:xfrm>
          <a:prstGeom prst="rect">
            <a:avLst/>
          </a:prstGeom>
        </p:spPr>
        <p:txBody>
          <a:bodyPr/>
          <a:lstStyle/>
          <a:p>
            <a:pPr marL="292608" indent="-292608">
              <a:buClr>
                <a:schemeClr val="accent2"/>
              </a:buClr>
              <a:buFont typeface="Arial" panose="020B0604020202020204" pitchFamily="34" charset="0"/>
              <a:buChar char="•"/>
            </a:pPr>
            <a:r>
              <a:rPr lang="en-US" dirty="0"/>
              <a:t>The answer is yes to all these.</a:t>
            </a:r>
          </a:p>
          <a:p>
            <a:pPr marL="292608" indent="-292608">
              <a:buClr>
                <a:schemeClr val="accent2"/>
              </a:buClr>
              <a:buFont typeface="Arial" panose="020B0604020202020204" pitchFamily="34" charset="0"/>
              <a:buChar char="•"/>
            </a:pPr>
            <a:r>
              <a:rPr lang="en-US" dirty="0"/>
              <a:t>In fact, creating a population each time we want to run a test of significance is extremely time consuming and cumbersome. (So this will be the only time we will do it.)</a:t>
            </a:r>
          </a:p>
          <a:p>
            <a:pPr marL="292608" indent="-292608">
              <a:buClr>
                <a:schemeClr val="accent2"/>
              </a:buClr>
              <a:buFont typeface="Arial" panose="020B0604020202020204" pitchFamily="34" charset="0"/>
              <a:buChar char="•"/>
            </a:pPr>
            <a:r>
              <a:rPr lang="en-US" dirty="0"/>
              <a:t>In practice we will test a single mean using a theory-based test.</a:t>
            </a:r>
          </a:p>
        </p:txBody>
      </p:sp>
    </p:spTree>
    <p:extLst>
      <p:ext uri="{BB962C8B-B14F-4D97-AF65-F5344CB8AC3E}">
        <p14:creationId xmlns:p14="http://schemas.microsoft.com/office/powerpoint/2010/main" val="3674144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solidFill>
                  <a:srgbClr val="196E78"/>
                </a:solidFill>
              </a:rPr>
              <a:t>Example 2.3: </a:t>
            </a:r>
            <a:r>
              <a:rPr lang="en-US" dirty="0"/>
              <a:t>Theory-Based Test </a:t>
            </a:r>
            <a:r>
              <a:rPr lang="en-US" sz="2000" b="0" dirty="0"/>
              <a:t>(2 of 3)</a:t>
            </a:r>
            <a:endParaRPr lang="en-US" b="0"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1828801" y="1911351"/>
            <a:ext cx="8441425" cy="3490919"/>
          </a:xfrm>
          <a:prstGeom prst="rect">
            <a:avLst/>
          </a:prstGeom>
        </p:spPr>
        <p:txBody>
          <a:bodyPr/>
          <a:lstStyle/>
          <a:p>
            <a:pPr marL="292608" indent="-292608">
              <a:buClr>
                <a:schemeClr val="accent2"/>
              </a:buClr>
              <a:buFont typeface="Arial" panose="020B0604020202020204" pitchFamily="34" charset="0"/>
              <a:buChar char="•"/>
            </a:pPr>
            <a:r>
              <a:rPr lang="en-US" dirty="0"/>
              <a:t>As long as the sample size is large enough, we will see that we can predict the shape, center, and variability of a distribution of sample statistics given we just have a sample and not a population.</a:t>
            </a:r>
          </a:p>
          <a:p>
            <a:pPr marL="292608" indent="-292608">
              <a:buClr>
                <a:schemeClr val="accent2"/>
              </a:buClr>
              <a:buFont typeface="Arial" panose="020B0604020202020204" pitchFamily="34" charset="0"/>
              <a:buChar char="•"/>
            </a:pPr>
            <a:r>
              <a:rPr lang="en-US" dirty="0"/>
              <a:t>The distribution of sample statistics:</a:t>
            </a:r>
          </a:p>
          <a:p>
            <a:pPr marL="1028700" lvl="1" indent="-342900">
              <a:buClr>
                <a:schemeClr val="accent2"/>
              </a:buClr>
            </a:pPr>
            <a:r>
              <a:rPr lang="en-US" dirty="0"/>
              <a:t>Should be centered at the value under the null</a:t>
            </a:r>
          </a:p>
          <a:p>
            <a:pPr marL="1028700" lvl="1" indent="-342900">
              <a:buClr>
                <a:schemeClr val="accent2"/>
              </a:buClr>
            </a:pPr>
            <a:r>
              <a:rPr lang="en-US" dirty="0"/>
              <a:t>If the sample size is large enough, it will be bell-shaped.</a:t>
            </a:r>
          </a:p>
          <a:p>
            <a:pPr marL="290513" indent="-290513">
              <a:buClr>
                <a:schemeClr val="accent2"/>
              </a:buClr>
              <a:buFont typeface="Arial" panose="020B0604020202020204" pitchFamily="34" charset="0"/>
              <a:buChar char="•"/>
            </a:pPr>
            <a:r>
              <a:rPr lang="en-US" dirty="0"/>
              <a:t>We have seen that the standard deviation should be</a:t>
            </a:r>
          </a:p>
        </p:txBody>
      </p:sp>
      <p:graphicFrame>
        <p:nvGraphicFramePr>
          <p:cNvPr id="7" name="Object 6" descr="start frac sigma over Square root of n end frac">
            <a:extLst>
              <a:ext uri="{C183D7F6-B498-43B3-948B-1728B52AA6E4}">
                <adec:decorative xmlns:adec="http://schemas.microsoft.com/office/drawing/2017/decorative" val="0"/>
              </a:ext>
            </a:extLst>
          </p:cNvPr>
          <p:cNvGraphicFramePr>
            <a:graphicFrameLocks noChangeAspect="1"/>
          </p:cNvGraphicFramePr>
          <p:nvPr/>
        </p:nvGraphicFramePr>
        <p:xfrm>
          <a:off x="9019619" y="4826279"/>
          <a:ext cx="451565" cy="744473"/>
        </p:xfrm>
        <a:graphic>
          <a:graphicData uri="http://schemas.openxmlformats.org/presentationml/2006/ole">
            <mc:AlternateContent xmlns:mc="http://schemas.openxmlformats.org/markup-compatibility/2006">
              <mc:Choice xmlns:v="urn:schemas-microsoft-com:vml" Requires="v">
                <p:oleObj name="Equation" r:id="rId2" imgW="469696" imgH="774364" progId="Equation.DSMT4">
                  <p:embed/>
                </p:oleObj>
              </mc:Choice>
              <mc:Fallback>
                <p:oleObj name="Equation" r:id="rId2" imgW="469696" imgH="774364" progId="Equation.DSMT4">
                  <p:embed/>
                  <p:pic>
                    <p:nvPicPr>
                      <p:cNvPr id="7" name="Object 6" descr="start frac sigma over Square root of n end frac">
                        <a:extLst>
                          <a:ext uri="{C183D7F6-B498-43B3-948B-1728B52AA6E4}">
                            <adec:decorative xmlns:adec="http://schemas.microsoft.com/office/drawing/2017/decorative" val="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19619" y="4826279"/>
                        <a:ext cx="451565" cy="744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Content Placeholder 3">
            <a:extLst>
              <a:ext uri="{C183D7F6-B498-43B3-948B-1728B52AA6E4}">
                <adec:decorative xmlns:adec="http://schemas.microsoft.com/office/drawing/2017/decorative" val="0"/>
              </a:ext>
            </a:extLst>
          </p:cNvPr>
          <p:cNvSpPr>
            <a:spLocks noGrp="1"/>
          </p:cNvSpPr>
          <p:nvPr>
            <p:ph sz="quarter" idx="13"/>
          </p:nvPr>
        </p:nvSpPr>
        <p:spPr>
          <a:xfrm>
            <a:off x="9471183" y="4922102"/>
            <a:ext cx="472450" cy="413973"/>
          </a:xfrm>
        </p:spPr>
        <p:txBody>
          <a:bodyPr/>
          <a:lstStyle/>
          <a:p>
            <a:pPr marL="0" indent="0">
              <a:buNone/>
            </a:pPr>
            <a:r>
              <a:rPr lang="en-US" dirty="0"/>
              <a:t>or</a:t>
            </a:r>
          </a:p>
        </p:txBody>
      </p:sp>
      <p:graphicFrame>
        <p:nvGraphicFramePr>
          <p:cNvPr id="8" name="Object 7" descr="start frac sigma over Square root of 48 end frac">
            <a:extLst>
              <a:ext uri="{C183D7F6-B498-43B3-948B-1728B52AA6E4}">
                <adec:decorative xmlns:adec="http://schemas.microsoft.com/office/drawing/2017/decorative" val="0"/>
              </a:ext>
            </a:extLst>
          </p:cNvPr>
          <p:cNvGraphicFramePr>
            <a:graphicFrameLocks noChangeAspect="1"/>
          </p:cNvGraphicFramePr>
          <p:nvPr/>
        </p:nvGraphicFramePr>
        <p:xfrm>
          <a:off x="2226694" y="5383220"/>
          <a:ext cx="565727" cy="704273"/>
        </p:xfrm>
        <a:graphic>
          <a:graphicData uri="http://schemas.openxmlformats.org/presentationml/2006/ole">
            <mc:AlternateContent xmlns:mc="http://schemas.openxmlformats.org/markup-compatibility/2006">
              <mc:Choice xmlns:v="urn:schemas-microsoft-com:vml" Requires="v">
                <p:oleObj name="Equation" r:id="rId4" imgW="622030" imgH="774364" progId="Equation.DSMT4">
                  <p:embed/>
                </p:oleObj>
              </mc:Choice>
              <mc:Fallback>
                <p:oleObj name="Equation" r:id="rId4" imgW="622030" imgH="774364" progId="Equation.DSMT4">
                  <p:embed/>
                  <p:pic>
                    <p:nvPicPr>
                      <p:cNvPr id="8" name="Object 7" descr="start frac sigma over Square root of 48 end frac">
                        <a:extLst>
                          <a:ext uri="{C183D7F6-B498-43B3-948B-1728B52AA6E4}">
                            <adec:decorative xmlns:adec="http://schemas.microsoft.com/office/drawing/2017/decorative" val="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6694" y="5383220"/>
                        <a:ext cx="565727" cy="704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Content Placeholder 4"/>
          <p:cNvSpPr>
            <a:spLocks noGrp="1"/>
          </p:cNvSpPr>
          <p:nvPr>
            <p:ph sz="quarter" idx="14"/>
          </p:nvPr>
        </p:nvSpPr>
        <p:spPr>
          <a:xfrm>
            <a:off x="2813466" y="5487141"/>
            <a:ext cx="1705371" cy="455615"/>
          </a:xfrm>
        </p:spPr>
        <p:txBody>
          <a:bodyPr/>
          <a:lstStyle/>
          <a:p>
            <a:pPr marL="0" indent="0">
              <a:buNone/>
            </a:pPr>
            <a:r>
              <a:rPr lang="en-US" dirty="0"/>
              <a:t>in our case.</a:t>
            </a:r>
          </a:p>
        </p:txBody>
      </p:sp>
    </p:spTree>
    <p:extLst>
      <p:ext uri="{BB962C8B-B14F-4D97-AF65-F5344CB8AC3E}">
        <p14:creationId xmlns:p14="http://schemas.microsoft.com/office/powerpoint/2010/main" val="10673983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solidFill>
                  <a:srgbClr val="196E78"/>
                </a:solidFill>
              </a:rPr>
              <a:t>Example 2.3: </a:t>
            </a:r>
            <a:r>
              <a:rPr lang="en-US" dirty="0"/>
              <a:t>Theory-Based Test </a:t>
            </a:r>
            <a:r>
              <a:rPr lang="en-US" sz="2000" b="0" dirty="0"/>
              <a:t>(3 of 3)</a:t>
            </a:r>
            <a:endParaRPr lang="en-US" dirty="0"/>
          </a:p>
        </p:txBody>
      </p:sp>
      <p:sp>
        <p:nvSpPr>
          <p:cNvPr id="7" name="Content Placeholder 6"/>
          <p:cNvSpPr>
            <a:spLocks noGrp="1"/>
          </p:cNvSpPr>
          <p:nvPr>
            <p:ph sz="quarter" idx="12"/>
          </p:nvPr>
        </p:nvSpPr>
        <p:spPr>
          <a:xfrm>
            <a:off x="1828800" y="1911351"/>
            <a:ext cx="8534400" cy="2200704"/>
          </a:xfrm>
        </p:spPr>
        <p:txBody>
          <a:bodyPr/>
          <a:lstStyle/>
          <a:p>
            <a:pPr marL="292608" indent="-292608">
              <a:buClr>
                <a:schemeClr val="accent2"/>
              </a:buClr>
              <a:buFont typeface="Arial" panose="020B0604020202020204" pitchFamily="34" charset="0"/>
              <a:buChar char="•"/>
            </a:pPr>
            <a:r>
              <a:rPr lang="en-US" dirty="0"/>
              <a:t>Since we don’t know the population standard deviation, our best guess as to its value is the sample standard deviation.</a:t>
            </a:r>
          </a:p>
          <a:p>
            <a:pPr marL="292608" indent="-292608">
              <a:buClr>
                <a:schemeClr val="accent2"/>
              </a:buClr>
              <a:buFont typeface="Arial" panose="020B0604020202020204" pitchFamily="34" charset="0"/>
              <a:buChar char="•"/>
            </a:pPr>
            <a:r>
              <a:rPr lang="en-US" dirty="0"/>
              <a:t>So we will predict our distribution of statistics that could have happened if the null was true will have a standard deviation of 	(</a:t>
            </a:r>
            <a:r>
              <a:rPr lang="en-US" i="1" dirty="0"/>
              <a:t>s</a:t>
            </a:r>
            <a:r>
              <a:rPr lang="en-US" dirty="0"/>
              <a:t> is the sample standard deviation)</a:t>
            </a:r>
          </a:p>
        </p:txBody>
      </p:sp>
      <p:graphicFrame>
        <p:nvGraphicFramePr>
          <p:cNvPr id="2" name="Object 1" descr="s over square root of n"/>
          <p:cNvGraphicFramePr>
            <a:graphicFrameLocks noChangeAspect="1"/>
          </p:cNvGraphicFramePr>
          <p:nvPr/>
        </p:nvGraphicFramePr>
        <p:xfrm>
          <a:off x="3901890" y="3504896"/>
          <a:ext cx="427182" cy="704273"/>
        </p:xfrm>
        <a:graphic>
          <a:graphicData uri="http://schemas.openxmlformats.org/presentationml/2006/ole">
            <mc:AlternateContent xmlns:mc="http://schemas.openxmlformats.org/markup-compatibility/2006">
              <mc:Choice xmlns:v="urn:schemas-microsoft-com:vml" Requires="v">
                <p:oleObj name="Equation" r:id="rId2" imgW="469696" imgH="774364" progId="Equation.DSMT4">
                  <p:embed/>
                </p:oleObj>
              </mc:Choice>
              <mc:Fallback>
                <p:oleObj name="Equation" r:id="rId2" imgW="469696" imgH="774364" progId="Equation.DSMT4">
                  <p:embed/>
                  <p:pic>
                    <p:nvPicPr>
                      <p:cNvPr id="2" name="Object 1" descr="s over square root of 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1890" y="3504896"/>
                        <a:ext cx="427182" cy="704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p:cNvSpPr>
            <a:spLocks noGrp="1"/>
          </p:cNvSpPr>
          <p:nvPr>
            <p:ph sz="quarter" idx="13"/>
          </p:nvPr>
        </p:nvSpPr>
        <p:spPr>
          <a:xfrm>
            <a:off x="1830382" y="4128122"/>
            <a:ext cx="8534400" cy="1805413"/>
          </a:xfrm>
        </p:spPr>
        <p:txBody>
          <a:bodyPr/>
          <a:lstStyle/>
          <a:p>
            <a:pPr marL="292608" indent="-292608">
              <a:buClr>
                <a:schemeClr val="accent2"/>
              </a:buClr>
              <a:buFont typeface="Arial" panose="020B0604020202020204" pitchFamily="34" charset="0"/>
              <a:buChar char="•"/>
            </a:pPr>
            <a:r>
              <a:rPr lang="en-US" dirty="0"/>
              <a:t>Because of this extra unknown (the population standard deviation) we will </a:t>
            </a:r>
            <a:r>
              <a:rPr lang="en-US" i="1" dirty="0"/>
              <a:t>not</a:t>
            </a:r>
            <a:r>
              <a:rPr lang="en-US" dirty="0"/>
              <a:t> use a normal distribution to approximate the distribution of sample statistics but will use a </a:t>
            </a:r>
            <a:r>
              <a:rPr lang="en-US" i="1" dirty="0"/>
              <a:t>t</a:t>
            </a:r>
            <a:r>
              <a:rPr lang="en-US" dirty="0"/>
              <a:t>-distribution.</a:t>
            </a:r>
          </a:p>
        </p:txBody>
      </p:sp>
    </p:spTree>
    <p:extLst>
      <p:ext uri="{BB962C8B-B14F-4D97-AF65-F5344CB8AC3E}">
        <p14:creationId xmlns:p14="http://schemas.microsoft.com/office/powerpoint/2010/main" val="2115622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solidFill>
                  <a:srgbClr val="196E78"/>
                </a:solidFill>
              </a:rPr>
              <a:t>Example 2.3: </a:t>
            </a:r>
            <a:r>
              <a:rPr lang="en-US" i="1" dirty="0"/>
              <a:t>t</a:t>
            </a:r>
            <a:r>
              <a:rPr lang="en-US" dirty="0"/>
              <a:t>-distribution</a:t>
            </a:r>
          </a:p>
        </p:txBody>
      </p:sp>
      <p:sp>
        <p:nvSpPr>
          <p:cNvPr id="10" name="Content Placeholder 9"/>
          <p:cNvSpPr>
            <a:spLocks noGrp="1"/>
          </p:cNvSpPr>
          <p:nvPr>
            <p:ph sz="quarter" idx="16"/>
          </p:nvPr>
        </p:nvSpPr>
        <p:spPr>
          <a:xfrm>
            <a:off x="1828801" y="1752601"/>
            <a:ext cx="8593215" cy="1524610"/>
          </a:xfrm>
        </p:spPr>
        <p:txBody>
          <a:bodyPr/>
          <a:lstStyle/>
          <a:p>
            <a:pPr marL="292608" indent="-292608">
              <a:buClr>
                <a:schemeClr val="accent2"/>
              </a:buClr>
              <a:buFont typeface="Arial" panose="020B0604020202020204" pitchFamily="34" charset="0"/>
              <a:buChar char="•"/>
            </a:pPr>
            <a:r>
              <a:rPr lang="en-US" sz="2200" dirty="0"/>
              <a:t>The shape of a </a:t>
            </a:r>
            <a:r>
              <a:rPr lang="en-US" sz="2200" i="1" dirty="0"/>
              <a:t>t</a:t>
            </a:r>
            <a:r>
              <a:rPr lang="en-US" sz="2200" dirty="0"/>
              <a:t>-distribution is very similar to a normal distribution.</a:t>
            </a:r>
          </a:p>
          <a:p>
            <a:pPr marL="292608" indent="-292608">
              <a:buClr>
                <a:schemeClr val="accent2"/>
              </a:buClr>
              <a:buFont typeface="Arial" panose="020B0604020202020204" pitchFamily="34" charset="0"/>
              <a:buChar char="•"/>
            </a:pPr>
            <a:r>
              <a:rPr lang="en-US" sz="2200" dirty="0"/>
              <a:t>The </a:t>
            </a:r>
            <a:r>
              <a:rPr lang="en-US" sz="2200" i="1" dirty="0"/>
              <a:t>t</a:t>
            </a:r>
            <a:r>
              <a:rPr lang="en-US" sz="2200" dirty="0"/>
              <a:t>-distribution has slightly “heavier” tails than a normal distribution.</a:t>
            </a:r>
          </a:p>
          <a:p>
            <a:pPr marL="292608" indent="-292608">
              <a:buClr>
                <a:schemeClr val="accent2"/>
              </a:buClr>
              <a:buFont typeface="Arial" panose="020B0604020202020204" pitchFamily="34" charset="0"/>
              <a:buChar char="•"/>
            </a:pPr>
            <a:r>
              <a:rPr lang="en-US" sz="2200" dirty="0"/>
              <a:t>The </a:t>
            </a:r>
            <a:r>
              <a:rPr lang="en-US" sz="2200" i="1" dirty="0"/>
              <a:t>t</a:t>
            </a:r>
            <a:r>
              <a:rPr lang="en-US" sz="2200" dirty="0"/>
              <a:t>-statistic is the standardized statistic we use with a single quantitative variable and can be found using the formula:</a:t>
            </a:r>
          </a:p>
        </p:txBody>
      </p:sp>
      <p:graphicFrame>
        <p:nvGraphicFramePr>
          <p:cNvPr id="21" name="Object 20" descr="t = x bar minus mu all over s over square root of n"/>
          <p:cNvGraphicFramePr>
            <a:graphicFrameLocks noGrp="1" noChangeAspect="1"/>
          </p:cNvGraphicFramePr>
          <p:nvPr/>
        </p:nvGraphicFramePr>
        <p:xfrm>
          <a:off x="5261155" y="3353105"/>
          <a:ext cx="1075690" cy="1089660"/>
        </p:xfrm>
        <a:graphic>
          <a:graphicData uri="http://schemas.openxmlformats.org/presentationml/2006/ole">
            <mc:AlternateContent xmlns:mc="http://schemas.openxmlformats.org/markup-compatibility/2006">
              <mc:Choice xmlns:v="urn:schemas-microsoft-com:vml" Requires="v">
                <p:oleObj name="Equation" r:id="rId2" imgW="977760" imgH="990360" progId="Equation.DSMT4">
                  <p:embed/>
                </p:oleObj>
              </mc:Choice>
              <mc:Fallback>
                <p:oleObj name="Equation" r:id="rId2" imgW="977760" imgH="990360" progId="Equation.DSMT4">
                  <p:embed/>
                  <p:pic>
                    <p:nvPicPr>
                      <p:cNvPr id="21" name="Object 20" descr="t = x bar minus mu all over s over square root of n"/>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1155" y="3353105"/>
                        <a:ext cx="1075690" cy="108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Content Placeholder 10"/>
          <p:cNvSpPr>
            <a:spLocks noGrp="1"/>
          </p:cNvSpPr>
          <p:nvPr>
            <p:ph sz="quarter" idx="17"/>
          </p:nvPr>
        </p:nvSpPr>
        <p:spPr>
          <a:xfrm>
            <a:off x="2116431" y="4444731"/>
            <a:ext cx="716084" cy="426275"/>
          </a:xfrm>
        </p:spPr>
        <p:txBody>
          <a:bodyPr/>
          <a:lstStyle/>
          <a:p>
            <a:r>
              <a:rPr lang="en-US" sz="2200" dirty="0"/>
              <a:t>The</a:t>
            </a:r>
          </a:p>
        </p:txBody>
      </p:sp>
      <p:graphicFrame>
        <p:nvGraphicFramePr>
          <p:cNvPr id="22" name="Object 21" descr="s over square root of n"/>
          <p:cNvGraphicFramePr>
            <a:graphicFrameLocks noGrp="1" noChangeAspect="1"/>
          </p:cNvGraphicFramePr>
          <p:nvPr/>
        </p:nvGraphicFramePr>
        <p:xfrm>
          <a:off x="2750464" y="4253649"/>
          <a:ext cx="418715" cy="693495"/>
        </p:xfrm>
        <a:graphic>
          <a:graphicData uri="http://schemas.openxmlformats.org/presentationml/2006/ole">
            <mc:AlternateContent xmlns:mc="http://schemas.openxmlformats.org/markup-compatibility/2006">
              <mc:Choice xmlns:v="urn:schemas-microsoft-com:vml" Requires="v">
                <p:oleObj name="Equation" r:id="rId4" imgW="406080" imgH="672840" progId="Equation.DSMT4">
                  <p:embed/>
                </p:oleObj>
              </mc:Choice>
              <mc:Fallback>
                <p:oleObj name="Equation" r:id="rId4" imgW="406080" imgH="672840" progId="Equation.DSMT4">
                  <p:embed/>
                  <p:pic>
                    <p:nvPicPr>
                      <p:cNvPr id="22" name="Object 21" descr="s over square root of n"/>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50464" y="4253649"/>
                        <a:ext cx="418715" cy="693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Content Placeholder 11"/>
          <p:cNvSpPr>
            <a:spLocks noGrp="1"/>
          </p:cNvSpPr>
          <p:nvPr>
            <p:ph sz="quarter" idx="18"/>
          </p:nvPr>
        </p:nvSpPr>
        <p:spPr>
          <a:xfrm>
            <a:off x="2144730" y="4415636"/>
            <a:ext cx="8201391" cy="1887573"/>
          </a:xfrm>
        </p:spPr>
        <p:txBody>
          <a:bodyPr/>
          <a:lstStyle/>
          <a:p>
            <a:pPr indent="1028700">
              <a:lnSpc>
                <a:spcPct val="100000"/>
              </a:lnSpc>
            </a:pPr>
            <a:r>
              <a:rPr lang="en-US" sz="2200" dirty="0"/>
              <a:t>(standard deviation of our sample divided by the square root of the sample size) is called the standard error and is an estimate for the standard deviation of the null distribution. (Notice that this formula has the same form as the one we used to determine the standardized statistic for a single proportion.)</a:t>
            </a:r>
          </a:p>
        </p:txBody>
      </p:sp>
    </p:spTree>
    <p:extLst>
      <p:ext uri="{BB962C8B-B14F-4D97-AF65-F5344CB8AC3E}">
        <p14:creationId xmlns:p14="http://schemas.microsoft.com/office/powerpoint/2010/main" val="30024722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solidFill>
                  <a:srgbClr val="196E78"/>
                </a:solidFill>
              </a:rPr>
              <a:t>Example 2.3: </a:t>
            </a:r>
            <a:r>
              <a:rPr lang="en-US" i="1" dirty="0"/>
              <a:t>t</a:t>
            </a:r>
            <a:r>
              <a:rPr lang="en-US" dirty="0"/>
              <a:t>-statistic</a:t>
            </a:r>
          </a:p>
        </p:txBody>
      </p:sp>
      <p:sp>
        <p:nvSpPr>
          <p:cNvPr id="7" name="Content Placeholder 6"/>
          <p:cNvSpPr>
            <a:spLocks noGrp="1"/>
          </p:cNvSpPr>
          <p:nvPr>
            <p:ph sz="quarter" idx="12"/>
          </p:nvPr>
        </p:nvSpPr>
        <p:spPr>
          <a:xfrm>
            <a:off x="1828800" y="1911352"/>
            <a:ext cx="8365530" cy="531014"/>
          </a:xfrm>
        </p:spPr>
        <p:txBody>
          <a:bodyPr/>
          <a:lstStyle/>
          <a:p>
            <a:pPr marL="292608" indent="-292608">
              <a:spcAft>
                <a:spcPts val="1800"/>
              </a:spcAft>
              <a:buClr>
                <a:schemeClr val="accent2"/>
              </a:buClr>
              <a:buFont typeface="Arial" panose="020B0604020202020204" pitchFamily="34" charset="0"/>
              <a:buChar char="•"/>
            </a:pPr>
            <a:r>
              <a:rPr lang="en-US" dirty="0"/>
              <a:t>The t-statistic for our example is:</a:t>
            </a:r>
          </a:p>
        </p:txBody>
      </p:sp>
      <p:graphicFrame>
        <p:nvGraphicFramePr>
          <p:cNvPr id="2" name="Object 1" descr="t equals start frac x minus mu over start frac s over Square root of n end frac end frac equals start frac 13.71 minus 10 over start frac 6.50 over Square root of 48 end frac end frac equals start frac 3.71 over 0.938 end frac equals 3.95"/>
          <p:cNvGraphicFramePr>
            <a:graphicFrameLocks noChangeAspect="1"/>
          </p:cNvGraphicFramePr>
          <p:nvPr/>
        </p:nvGraphicFramePr>
        <p:xfrm>
          <a:off x="3533775" y="2514601"/>
          <a:ext cx="4497388" cy="1160463"/>
        </p:xfrm>
        <a:graphic>
          <a:graphicData uri="http://schemas.openxmlformats.org/presentationml/2006/ole">
            <mc:AlternateContent xmlns:mc="http://schemas.openxmlformats.org/markup-compatibility/2006">
              <mc:Choice xmlns:v="urn:schemas-microsoft-com:vml" Requires="v">
                <p:oleObj name="Equation" r:id="rId2" imgW="4089240" imgH="1054080" progId="Equation.DSMT4">
                  <p:embed/>
                </p:oleObj>
              </mc:Choice>
              <mc:Fallback>
                <p:oleObj name="Equation" r:id="rId2" imgW="4089240" imgH="1054080" progId="Equation.DSMT4">
                  <p:embed/>
                  <p:pic>
                    <p:nvPicPr>
                      <p:cNvPr id="2" name="Object 1" descr="t equals start frac x minus mu over start frac s over Square root of n end frac end frac equals start frac 13.71 minus 10 over start frac 6.50 over Square root of 48 end frac end frac equals start frac 3.71 over 0.938 end frac equals 3.95"/>
                      <p:cNvPicPr>
                        <a:picLocks noChangeAspect="1" noChangeArrowheads="1"/>
                      </p:cNvPicPr>
                      <p:nvPr/>
                    </p:nvPicPr>
                    <p:blipFill>
                      <a:blip r:embed="rId3"/>
                      <a:srcRect/>
                      <a:stretch>
                        <a:fillRect/>
                      </a:stretch>
                    </p:blipFill>
                    <p:spPr bwMode="auto">
                      <a:xfrm>
                        <a:off x="3533775" y="2514601"/>
                        <a:ext cx="4497388"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p:cNvSpPr>
            <a:spLocks noGrp="1"/>
          </p:cNvSpPr>
          <p:nvPr>
            <p:ph sz="quarter" idx="13"/>
          </p:nvPr>
        </p:nvSpPr>
        <p:spPr>
          <a:xfrm>
            <a:off x="1830382" y="3732581"/>
            <a:ext cx="8534400" cy="2153909"/>
          </a:xfrm>
        </p:spPr>
        <p:txBody>
          <a:bodyPr/>
          <a:lstStyle/>
          <a:p>
            <a:pPr marL="292608" indent="-292608">
              <a:buClr>
                <a:schemeClr val="accent2"/>
              </a:buClr>
              <a:buFont typeface="Arial" panose="020B0604020202020204" pitchFamily="34" charset="0"/>
              <a:buChar char="•"/>
            </a:pPr>
            <a:r>
              <a:rPr lang="en-US" dirty="0"/>
              <a:t>With a standardized statistic of 3.95, we have strong evidence against the null.</a:t>
            </a:r>
          </a:p>
          <a:p>
            <a:pPr marL="292608" indent="-292608">
              <a:buClr>
                <a:schemeClr val="accent2"/>
              </a:buClr>
              <a:buFont typeface="Arial" panose="020B0604020202020204" pitchFamily="34" charset="0"/>
              <a:buChar char="•"/>
            </a:pPr>
            <a:r>
              <a:rPr lang="en-US" dirty="0"/>
              <a:t>We can still use the rule that a standardized statistic more than 2 or less than negative 2 provides strong evidence against the null.</a:t>
            </a:r>
          </a:p>
        </p:txBody>
      </p:sp>
    </p:spTree>
    <p:extLst>
      <p:ext uri="{BB962C8B-B14F-4D97-AF65-F5344CB8AC3E}">
        <p14:creationId xmlns:p14="http://schemas.microsoft.com/office/powerpoint/2010/main" val="540369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p:txBody>
          <a:bodyPr>
            <a:normAutofit/>
          </a:bodyPr>
          <a:lstStyle/>
          <a:p>
            <a:r>
              <a:rPr lang="en-US" dirty="0">
                <a:solidFill>
                  <a:srgbClr val="196E78"/>
                </a:solidFill>
              </a:rPr>
              <a:t>Example 2.3: </a:t>
            </a:r>
            <a:r>
              <a:rPr lang="en-US" i="1" dirty="0"/>
              <a:t>t</a:t>
            </a:r>
            <a:r>
              <a:rPr lang="en-US" dirty="0"/>
              <a:t>-distribution and </a:t>
            </a:r>
            <a:r>
              <a:rPr lang="en-US" i="1" dirty="0"/>
              <a:t>t</a:t>
            </a:r>
            <a:r>
              <a:rPr lang="en-US" dirty="0"/>
              <a:t>-statistic</a:t>
            </a:r>
          </a:p>
        </p:txBody>
      </p:sp>
      <p:sp>
        <p:nvSpPr>
          <p:cNvPr id="8" name="Content Placeholder 7">
            <a:extLst>
              <a:ext uri="{FF2B5EF4-FFF2-40B4-BE49-F238E27FC236}">
                <a16:creationId xmlns:a16="http://schemas.microsoft.com/office/drawing/2014/main" id="{C89A3A17-1EFE-4D71-B333-634D08C9C01E}"/>
              </a:ext>
            </a:extLst>
          </p:cNvPr>
          <p:cNvSpPr>
            <a:spLocks noGrp="1"/>
          </p:cNvSpPr>
          <p:nvPr>
            <p:ph sz="quarter" idx="12"/>
          </p:nvPr>
        </p:nvSpPr>
        <p:spPr>
          <a:xfrm>
            <a:off x="1828801" y="1911351"/>
            <a:ext cx="4343095" cy="4173975"/>
          </a:xfrm>
        </p:spPr>
        <p:txBody>
          <a:bodyPr/>
          <a:lstStyle/>
          <a:p>
            <a:pPr marL="292608" indent="-292608">
              <a:buClr>
                <a:schemeClr val="accent2"/>
              </a:buClr>
              <a:buFont typeface="Arial" panose="020B0604020202020204" pitchFamily="34" charset="0"/>
              <a:buChar char="•"/>
            </a:pPr>
            <a:r>
              <a:rPr lang="en-US" dirty="0"/>
              <a:t>Here is a theoretical t-distribution for our example.</a:t>
            </a:r>
          </a:p>
          <a:p>
            <a:pPr marL="292608" indent="-292608">
              <a:buClr>
                <a:schemeClr val="accent2"/>
              </a:buClr>
              <a:buFont typeface="Arial" panose="020B0604020202020204" pitchFamily="34" charset="0"/>
              <a:buChar char="•"/>
            </a:pPr>
            <a:r>
              <a:rPr lang="en-US" dirty="0"/>
              <a:t>Notice that our statistic of 13.71 seconds is way out in the tail of the distribution.</a:t>
            </a:r>
          </a:p>
          <a:p>
            <a:pPr marL="292608" indent="-292608">
              <a:buClr>
                <a:schemeClr val="accent2"/>
              </a:buClr>
              <a:buFont typeface="Arial" panose="020B0604020202020204" pitchFamily="34" charset="0"/>
              <a:buChar char="•"/>
            </a:pPr>
            <a:r>
              <a:rPr lang="en-US" dirty="0"/>
              <a:t>Also notice the mean and SD of this distribution. How were these determined?</a:t>
            </a:r>
          </a:p>
        </p:txBody>
      </p:sp>
      <p:pic>
        <p:nvPicPr>
          <p:cNvPr id="9" name="Picture Placeholder 8" descr="A normal distribution curve describes the results of a theory-based inference. The horizontal axis is labeled X bar and has the following markings, in the order from left to right: 6.2, 8.1, 10, 11.9, and 13.8. Below the horizontal axis, five t-values are given which correspond to each marking of the horizontal axis as follows: 6.2, t equals negative 4; 8.1, t equals negative 2; 10, t equals 0; 11.9, t equals 2; and 13.8, t equals 4. The distribution curve starts from 6.9, peaks at 10, and ends at 12.7. Two vertical lines are drawn corresponding to the x bar of 6.2 and 13.8 and covers the whole range of the curve. The mean is 10.00 and the standard deviation is 0.938. All values are approximate. ">
            <a:extLst>
              <a:ext uri="{FF2B5EF4-FFF2-40B4-BE49-F238E27FC236}">
                <a16:creationId xmlns:a16="http://schemas.microsoft.com/office/drawing/2014/main" id="{9FAECAB2-4457-408D-AC51-339F2F1A20EC}"/>
              </a:ext>
            </a:extLst>
          </p:cNvPr>
          <p:cNvPicPr>
            <a:picLocks noGrp="1"/>
          </p:cNvPicPr>
          <p:nvPr>
            <p:ph type="pic" sz="quarter" idx="15"/>
          </p:nvPr>
        </p:nvPicPr>
        <p:blipFill>
          <a:blip r:embed="rId2"/>
          <a:stretch>
            <a:fillRect/>
          </a:stretch>
        </p:blipFill>
        <p:spPr>
          <a:xfrm>
            <a:off x="6247791" y="2108323"/>
            <a:ext cx="4137565" cy="3849434"/>
          </a:xfrm>
          <a:prstGeom prst="rect">
            <a:avLst/>
          </a:prstGeom>
          <a:noFill/>
          <a:ln>
            <a:noFill/>
          </a:ln>
        </p:spPr>
      </p:pic>
    </p:spTree>
    <p:extLst>
      <p:ext uri="{BB962C8B-B14F-4D97-AF65-F5344CB8AC3E}">
        <p14:creationId xmlns:p14="http://schemas.microsoft.com/office/powerpoint/2010/main" val="40067284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solidFill>
                  <a:srgbClr val="196E78"/>
                </a:solidFill>
              </a:rPr>
              <a:t>Example 2.3: </a:t>
            </a:r>
            <a:r>
              <a:rPr lang="en-US" dirty="0"/>
              <a:t>Validity Conditions</a:t>
            </a:r>
            <a:endParaRPr lang="en-US" b="0"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1828801" y="1911351"/>
            <a:ext cx="8441425" cy="4325765"/>
          </a:xfrm>
          <a:prstGeom prst="rect">
            <a:avLst/>
          </a:prstGeom>
        </p:spPr>
        <p:txBody>
          <a:bodyPr/>
          <a:lstStyle/>
          <a:p>
            <a:pPr marL="292608" indent="-292608">
              <a:buClr>
                <a:schemeClr val="accent2"/>
              </a:buClr>
              <a:buFont typeface="Arial" panose="020B0604020202020204" pitchFamily="34" charset="0"/>
              <a:buChar char="•"/>
            </a:pPr>
            <a:r>
              <a:rPr lang="en-US" dirty="0"/>
              <a:t>The theory-based test for a single mean requires: </a:t>
            </a:r>
            <a:r>
              <a:rPr lang="en-US" b="1" dirty="0"/>
              <a:t>That you have a symmetric sample distribution, or a sample size of at least 20 and the sample distribution is not strongly skewed.</a:t>
            </a:r>
          </a:p>
          <a:p>
            <a:pPr marL="292608" indent="-292608">
              <a:buClr>
                <a:schemeClr val="accent2"/>
              </a:buClr>
              <a:buFont typeface="Arial" panose="020B0604020202020204" pitchFamily="34" charset="0"/>
              <a:buChar char="•"/>
            </a:pPr>
            <a:r>
              <a:rPr lang="en-US" dirty="0"/>
              <a:t>In practice we can use the theory-based applet to run this test. We can either enter the raw data or the sample size, sample mean, and sample standard deviation.</a:t>
            </a:r>
          </a:p>
          <a:p>
            <a:pPr marL="292608" indent="-292608">
              <a:buClr>
                <a:schemeClr val="accent2"/>
              </a:buClr>
              <a:buFont typeface="Arial" panose="020B0604020202020204" pitchFamily="34" charset="0"/>
              <a:buChar char="•"/>
            </a:pPr>
            <a:r>
              <a:rPr lang="en-US" dirty="0"/>
              <a:t>(See results on the following slide.)</a:t>
            </a:r>
          </a:p>
        </p:txBody>
      </p:sp>
    </p:spTree>
    <p:extLst>
      <p:ext uri="{BB962C8B-B14F-4D97-AF65-F5344CB8AC3E}">
        <p14:creationId xmlns:p14="http://schemas.microsoft.com/office/powerpoint/2010/main" val="5038006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p:txBody>
          <a:bodyPr>
            <a:noAutofit/>
          </a:bodyPr>
          <a:lstStyle/>
          <a:p>
            <a:r>
              <a:rPr lang="en-US" sz="3200" dirty="0"/>
              <a:t>Example 2.3: Theory-based Applet: One Mean Scenario</a:t>
            </a:r>
          </a:p>
        </p:txBody>
      </p:sp>
      <p:pic>
        <p:nvPicPr>
          <p:cNvPr id="10" name="Picture Placeholder 9" descr="A dotplot and a distribution curve describe the results of a theory-based inference for time estimate study. On the left, a field labeled Scenario with a dropdown displays the option, One mean. Below this field, there is a selected check box for Paste data, followed by another unselected checkbox for Includes header. Below the checkbox is a Sample data box which lists the following values, in the order from top to bottom: 8, 10, 8, 20, 20, 10, 15, 5, 10, 15, and 8. Below this table are two buttons: the button on the left is labeled Use Data and the button on the right is labeled Clear. Below the buttons, a field labeled n displays the value 48. Below this another field labeled mean, x bar, displays the value 3.708 which is followed by the field, sample s d, s, which displays the value 6.500. Below the fields is a button labeled Calculate. Below the Calculate button is another button labeled Reset. &#10;The dotplot at the center is titled Sample data. The horizontal axis is labeled Estimated snippet length and ranges from 0 to 32 in increments of 8. A series of dots is plotted vertically on a few points of the horizontal axis as follows: 2 dots above 6; 3 dots above 7.5; 6 dots above 8.5; 11 dots above 11; 3 dots above 12; 3 dots above 13; 10 dots above 16; 5 dots above 21; 1 dot above 22; and 4 dots above 29. There are no dots above 0, 24, and 32. All values are approximate. &#10;To the right of the dotplot is a graph that plots the distribution curve. At the top of the graph there is a heading, Theory-based inference followed by a selected check box for Test of Significance. Below this is a field labeled, H subscript zero colon mu equals 10. Below this is another field labeled, H subscript a colon mu not equals 10. Below this there is a button labeled Calculate. &#10;In the graph, the horizontal axis is labeled x bar and has markings from 6.2 to 13.8 in increments of 1.9. The normal distribution curve starts from 6.9, peaks at 10, and ends at 12.7. Two vertical lines are drawn corresponding to the horizontal axis markings of 6.2 and 13.8 and covers the whole range of the curve. The mean is 10.00 and the standard deviation is 0.938. Below the horizontal axis, five t- values are given which correspond to each marking of the horizontal axis as follows: 6.2, t equals negative 4; 8.1, t equals negative 2; 10, t equals 0; 11.9, t equals 2; and 13.8, t equals 4. All values are approximate. Below the histogram, a field labeled Standardized statistic displays the value t equals 3.95, and to its right is an expression that reads, d f equals 47. Below this, another field labeled p-value displays the value 0.0003. ">
            <a:extLst>
              <a:ext uri="{FF2B5EF4-FFF2-40B4-BE49-F238E27FC236}">
                <a16:creationId xmlns:a16="http://schemas.microsoft.com/office/drawing/2014/main" id="{DD3D288A-3F53-4C1A-99E9-1AD45C42A6A5}"/>
              </a:ext>
            </a:extLst>
          </p:cNvPr>
          <p:cNvPicPr>
            <a:picLocks noGrp="1"/>
          </p:cNvPicPr>
          <p:nvPr>
            <p:ph type="pic" sz="quarter" idx="15"/>
          </p:nvPr>
        </p:nvPicPr>
        <p:blipFill rotWithShape="1">
          <a:blip r:embed="rId3"/>
          <a:srcRect b="5085"/>
          <a:stretch/>
        </p:blipFill>
        <p:spPr>
          <a:xfrm>
            <a:off x="2756621" y="1911102"/>
            <a:ext cx="6602865" cy="4250119"/>
          </a:xfrm>
          <a:prstGeom prst="rect">
            <a:avLst/>
          </a:prstGeom>
          <a:noFill/>
          <a:ln>
            <a:noFill/>
          </a:ln>
        </p:spPr>
      </p:pic>
    </p:spTree>
    <p:extLst>
      <p:ext uri="{BB962C8B-B14F-4D97-AF65-F5344CB8AC3E}">
        <p14:creationId xmlns:p14="http://schemas.microsoft.com/office/powerpoint/2010/main" val="42114708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solidFill>
                  <a:srgbClr val="196E78"/>
                </a:solidFill>
              </a:rPr>
              <a:t>Example 2.3: </a:t>
            </a:r>
            <a:r>
              <a:rPr lang="en-US" dirty="0"/>
              <a:t>Estimating Time </a:t>
            </a:r>
            <a:r>
              <a:rPr lang="en-US" dirty="0">
                <a:solidFill>
                  <a:srgbClr val="196E78"/>
                </a:solidFill>
              </a:rPr>
              <a:t>Conclusions</a:t>
            </a:r>
            <a:endParaRPr lang="en-US" b="0" strike="sngStrike"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1828800" y="1911351"/>
            <a:ext cx="8534400" cy="4325765"/>
          </a:xfrm>
          <a:prstGeom prst="rect">
            <a:avLst/>
          </a:prstGeom>
        </p:spPr>
        <p:txBody>
          <a:bodyPr/>
          <a:lstStyle/>
          <a:p>
            <a:pPr marL="0" indent="0">
              <a:buNone/>
            </a:pPr>
            <a:r>
              <a:rPr lang="en-US" b="1" dirty="0"/>
              <a:t>Formulate Conclusions.</a:t>
            </a:r>
          </a:p>
          <a:p>
            <a:pPr marL="292608" indent="-292608">
              <a:buClr>
                <a:schemeClr val="accent2"/>
              </a:buClr>
              <a:buFont typeface="Arial" panose="020B0604020202020204" pitchFamily="34" charset="0"/>
              <a:buChar char="•"/>
            </a:pPr>
            <a:r>
              <a:rPr lang="en-US" dirty="0"/>
              <a:t>Based on our small </a:t>
            </a:r>
            <a:r>
              <a:rPr lang="en-US" i="1" dirty="0"/>
              <a:t>p</a:t>
            </a:r>
            <a:r>
              <a:rPr lang="en-US" dirty="0"/>
              <a:t>-value, we can conclude that people don’t accurately estimate the length of a 10-second song snippet and in fact they overestimate it.</a:t>
            </a:r>
          </a:p>
          <a:p>
            <a:pPr marL="292608" indent="-292608">
              <a:buClr>
                <a:schemeClr val="accent2"/>
              </a:buClr>
              <a:buFont typeface="Arial" panose="020B0604020202020204" pitchFamily="34" charset="0"/>
              <a:buChar char="•"/>
            </a:pPr>
            <a:r>
              <a:rPr lang="en-US" dirty="0"/>
              <a:t>To what larger population can we make our inference?</a:t>
            </a:r>
          </a:p>
        </p:txBody>
      </p:sp>
    </p:spTree>
    <p:extLst>
      <p:ext uri="{BB962C8B-B14F-4D97-AF65-F5344CB8AC3E}">
        <p14:creationId xmlns:p14="http://schemas.microsoft.com/office/powerpoint/2010/main" val="6004579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solidFill>
                  <a:srgbClr val="196E78"/>
                </a:solidFill>
              </a:rPr>
              <a:t>Example 2.3: </a:t>
            </a:r>
            <a:r>
              <a:rPr lang="en-US" dirty="0"/>
              <a:t>Summary</a:t>
            </a:r>
          </a:p>
        </p:txBody>
      </p:sp>
      <p:sp>
        <p:nvSpPr>
          <p:cNvPr id="7" name="Content Placeholder 6"/>
          <p:cNvSpPr>
            <a:spLocks noGrp="1"/>
          </p:cNvSpPr>
          <p:nvPr>
            <p:ph sz="quarter" idx="16"/>
          </p:nvPr>
        </p:nvSpPr>
        <p:spPr>
          <a:xfrm>
            <a:off x="1885926" y="1683415"/>
            <a:ext cx="8366238" cy="903026"/>
          </a:xfrm>
        </p:spPr>
        <p:txBody>
          <a:bodyPr/>
          <a:lstStyle/>
          <a:p>
            <a:pPr marL="292608" indent="-292608">
              <a:buClr>
                <a:schemeClr val="accent2"/>
              </a:buClr>
              <a:buFont typeface="Arial" panose="020B0604020202020204" pitchFamily="34" charset="0"/>
              <a:buChar char="•"/>
            </a:pPr>
            <a:r>
              <a:rPr lang="en-US" dirty="0">
                <a:latin typeface="Times New Roman" pitchFamily="18" charset="0"/>
                <a:ea typeface="+mn-ea"/>
                <a:cs typeface="+mn-cs"/>
              </a:rPr>
              <a:t>When we test a single quantitative variable, our hypotheses have the following form:</a:t>
            </a:r>
          </a:p>
        </p:txBody>
      </p:sp>
      <p:sp>
        <p:nvSpPr>
          <p:cNvPr id="8" name="Content Placeholder 7"/>
          <p:cNvSpPr>
            <a:spLocks noGrp="1"/>
          </p:cNvSpPr>
          <p:nvPr>
            <p:ph sz="quarter" idx="17"/>
          </p:nvPr>
        </p:nvSpPr>
        <p:spPr>
          <a:xfrm>
            <a:off x="2225355" y="2670050"/>
            <a:ext cx="303580" cy="455370"/>
          </a:xfrm>
        </p:spPr>
        <p:txBody>
          <a:bodyPr/>
          <a:lstStyle/>
          <a:p>
            <a:pPr marL="0" lvl="1" indent="0">
              <a:buClr>
                <a:schemeClr val="accent2"/>
              </a:buClr>
              <a:buFont typeface="Courier New" pitchFamily="49" charset="0"/>
              <a:buChar char="o"/>
            </a:pPr>
            <a:r>
              <a:rPr lang="en-US" sz="2200" dirty="0"/>
              <a:t> </a:t>
            </a:r>
          </a:p>
        </p:txBody>
      </p:sp>
      <p:graphicFrame>
        <p:nvGraphicFramePr>
          <p:cNvPr id="17" name="Object 16" descr="H sub 0 : mu = some number"/>
          <p:cNvGraphicFramePr>
            <a:graphicFrameLocks noGrp="1" noChangeAspect="1"/>
          </p:cNvGraphicFramePr>
          <p:nvPr/>
        </p:nvGraphicFramePr>
        <p:xfrm>
          <a:off x="2575802" y="2713273"/>
          <a:ext cx="3187700" cy="444500"/>
        </p:xfrm>
        <a:graphic>
          <a:graphicData uri="http://schemas.openxmlformats.org/presentationml/2006/ole">
            <mc:AlternateContent xmlns:mc="http://schemas.openxmlformats.org/markup-compatibility/2006">
              <mc:Choice xmlns:v="urn:schemas-microsoft-com:vml" Requires="v">
                <p:oleObj name="Equation" r:id="rId2" imgW="3187440" imgH="444240" progId="Equation.DSMT4">
                  <p:embed/>
                </p:oleObj>
              </mc:Choice>
              <mc:Fallback>
                <p:oleObj name="Equation" r:id="rId2" imgW="3187440" imgH="444240" progId="Equation.DSMT4">
                  <p:embed/>
                  <p:pic>
                    <p:nvPicPr>
                      <p:cNvPr id="17" name="Object 16" descr="H sub 0 : mu = some numbe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5802" y="2713273"/>
                        <a:ext cx="31877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p:cNvSpPr>
            <a:spLocks noGrp="1"/>
          </p:cNvSpPr>
          <p:nvPr>
            <p:ph sz="quarter" idx="18"/>
          </p:nvPr>
        </p:nvSpPr>
        <p:spPr>
          <a:xfrm>
            <a:off x="2219914" y="3338592"/>
            <a:ext cx="341375" cy="434113"/>
          </a:xfrm>
        </p:spPr>
        <p:txBody>
          <a:bodyPr/>
          <a:lstStyle/>
          <a:p>
            <a:pPr marL="0" lvl="1" indent="0">
              <a:buClr>
                <a:schemeClr val="accent2"/>
              </a:buClr>
              <a:buFont typeface="Courier New" pitchFamily="49" charset="0"/>
              <a:buChar char="o"/>
            </a:pPr>
            <a:r>
              <a:rPr lang="en-US" sz="2200" dirty="0"/>
              <a:t> </a:t>
            </a:r>
          </a:p>
        </p:txBody>
      </p:sp>
      <p:graphicFrame>
        <p:nvGraphicFramePr>
          <p:cNvPr id="18" name="Object 17" descr="H sub a : mu not equal to less than or greater than some number"/>
          <p:cNvGraphicFramePr>
            <a:graphicFrameLocks noGrp="1" noChangeAspect="1"/>
          </p:cNvGraphicFramePr>
          <p:nvPr/>
        </p:nvGraphicFramePr>
        <p:xfrm>
          <a:off x="2572477" y="3353105"/>
          <a:ext cx="4114800" cy="444500"/>
        </p:xfrm>
        <a:graphic>
          <a:graphicData uri="http://schemas.openxmlformats.org/presentationml/2006/ole">
            <mc:AlternateContent xmlns:mc="http://schemas.openxmlformats.org/markup-compatibility/2006">
              <mc:Choice xmlns:v="urn:schemas-microsoft-com:vml" Requires="v">
                <p:oleObj name="Equation" r:id="rId4" imgW="4114800" imgH="444240" progId="Equation.DSMT4">
                  <p:embed/>
                </p:oleObj>
              </mc:Choice>
              <mc:Fallback>
                <p:oleObj name="Equation" r:id="rId4" imgW="4114800" imgH="444240" progId="Equation.DSMT4">
                  <p:embed/>
                  <p:pic>
                    <p:nvPicPr>
                      <p:cNvPr id="18" name="Object 17" descr="H sub a : mu not equal to less than or greater than some number"/>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72477" y="3353105"/>
                        <a:ext cx="41148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Content Placeholder 1"/>
          <p:cNvSpPr>
            <a:spLocks noGrp="1"/>
          </p:cNvSpPr>
          <p:nvPr>
            <p:ph sz="quarter" idx="19"/>
          </p:nvPr>
        </p:nvSpPr>
        <p:spPr>
          <a:xfrm>
            <a:off x="1905000" y="4033005"/>
            <a:ext cx="8534400" cy="2127381"/>
          </a:xfrm>
        </p:spPr>
        <p:txBody>
          <a:bodyPr/>
          <a:lstStyle/>
          <a:p>
            <a:pPr marL="292608" indent="-292608">
              <a:buClr>
                <a:schemeClr val="accent2"/>
              </a:buClr>
              <a:buFont typeface="Arial" panose="020B0604020202020204" pitchFamily="34" charset="0"/>
              <a:buChar char="•"/>
            </a:pPr>
            <a:r>
              <a:rPr lang="en-US" dirty="0"/>
              <a:t>We will get our data (or mean, sample size, and S</a:t>
            </a:r>
            <a:r>
              <a:rPr lang="en-US" sz="200" dirty="0"/>
              <a:t> </a:t>
            </a:r>
            <a:r>
              <a:rPr lang="en-US" dirty="0"/>
              <a:t>D for our data) and use the Theory-Based Inference applet to determine the </a:t>
            </a:r>
            <a:r>
              <a:rPr lang="en-US" i="1" dirty="0"/>
              <a:t>p</a:t>
            </a:r>
            <a:r>
              <a:rPr lang="en-US" dirty="0"/>
              <a:t>-value.</a:t>
            </a:r>
          </a:p>
          <a:p>
            <a:pPr marL="292608" indent="-292608">
              <a:buClr>
                <a:schemeClr val="accent2"/>
              </a:buClr>
              <a:buFont typeface="Arial" panose="020B0604020202020204" pitchFamily="34" charset="0"/>
              <a:buChar char="•"/>
            </a:pPr>
            <a:r>
              <a:rPr lang="en-US" dirty="0"/>
              <a:t>The </a:t>
            </a:r>
            <a:r>
              <a:rPr lang="en-US" i="1" dirty="0"/>
              <a:t>p</a:t>
            </a:r>
            <a:r>
              <a:rPr lang="en-US" dirty="0"/>
              <a:t>-value we get with this test has the same general meaning as those from a test for a single proportion.</a:t>
            </a:r>
          </a:p>
        </p:txBody>
      </p:sp>
    </p:spTree>
    <p:extLst>
      <p:ext uri="{BB962C8B-B14F-4D97-AF65-F5344CB8AC3E}">
        <p14:creationId xmlns:p14="http://schemas.microsoft.com/office/powerpoint/2010/main" val="42048971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solidFill>
                  <a:srgbClr val="196E78"/>
                </a:solidFill>
              </a:rPr>
              <a:t>Example 2.3: </a:t>
            </a:r>
            <a:r>
              <a:rPr lang="en-US" dirty="0"/>
              <a:t>Decision Errors </a:t>
            </a:r>
            <a:r>
              <a:rPr lang="en-US" sz="2000" b="0" dirty="0"/>
              <a:t>(1 of 3)</a:t>
            </a:r>
            <a:endParaRPr lang="en-US" b="0"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1828800" y="1911351"/>
            <a:ext cx="8534400" cy="4325765"/>
          </a:xfrm>
          <a:prstGeom prst="rect">
            <a:avLst/>
          </a:prstGeom>
        </p:spPr>
        <p:txBody>
          <a:bodyPr/>
          <a:lstStyle/>
          <a:p>
            <a:pPr marL="292608" indent="-292608">
              <a:buClr>
                <a:schemeClr val="accent2"/>
              </a:buClr>
              <a:buFont typeface="Arial" panose="020B0604020202020204" pitchFamily="34" charset="0"/>
              <a:buChar char="•"/>
            </a:pPr>
            <a:r>
              <a:rPr lang="en-US" dirty="0"/>
              <a:t>When we make a conclusion based on a test of significance, hopefully we made the correct decision.</a:t>
            </a:r>
          </a:p>
          <a:p>
            <a:pPr marL="292608" indent="-292608">
              <a:buClr>
                <a:schemeClr val="accent2"/>
              </a:buClr>
              <a:buFont typeface="Arial" panose="020B0604020202020204" pitchFamily="34" charset="0"/>
              <a:buChar char="•"/>
            </a:pPr>
            <a:r>
              <a:rPr lang="en-US" dirty="0"/>
              <a:t>However, perhaps we didn’t.</a:t>
            </a:r>
          </a:p>
          <a:p>
            <a:pPr marL="292608" indent="-292608">
              <a:buClr>
                <a:schemeClr val="accent2"/>
              </a:buClr>
              <a:buFont typeface="Arial" panose="020B0604020202020204" pitchFamily="34" charset="0"/>
              <a:buChar char="•"/>
            </a:pPr>
            <a:r>
              <a:rPr lang="en-US" dirty="0"/>
              <a:t>In other words, we made a decision that is in error.</a:t>
            </a:r>
          </a:p>
          <a:p>
            <a:pPr marL="292608" indent="-292608">
              <a:buClr>
                <a:schemeClr val="accent2"/>
              </a:buClr>
              <a:buFont typeface="Arial" panose="020B0604020202020204" pitchFamily="34" charset="0"/>
              <a:buChar char="•"/>
            </a:pPr>
            <a:r>
              <a:rPr lang="en-US" dirty="0"/>
              <a:t>We usually don’t know if we made a decision error, but let’s look closer at the two types of decision errors we could have made.</a:t>
            </a:r>
          </a:p>
        </p:txBody>
      </p:sp>
    </p:spTree>
    <p:extLst>
      <p:ext uri="{BB962C8B-B14F-4D97-AF65-F5344CB8AC3E}">
        <p14:creationId xmlns:p14="http://schemas.microsoft.com/office/powerpoint/2010/main" val="38672093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solidFill>
                  <a:srgbClr val="196E78"/>
                </a:solidFill>
              </a:rPr>
              <a:t>Example 2.3: </a:t>
            </a:r>
            <a:r>
              <a:rPr lang="en-US" dirty="0"/>
              <a:t>Decision Errors </a:t>
            </a:r>
            <a:r>
              <a:rPr lang="en-US" sz="2000" b="0" dirty="0"/>
              <a:t>(2 of 3)</a:t>
            </a:r>
            <a:endParaRPr lang="en-US" b="0"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1828800" y="1759311"/>
            <a:ext cx="8593215" cy="4477805"/>
          </a:xfrm>
          <a:prstGeom prst="rect">
            <a:avLst/>
          </a:prstGeom>
        </p:spPr>
        <p:txBody>
          <a:bodyPr/>
          <a:lstStyle/>
          <a:p>
            <a:pPr marL="292608" indent="-292608">
              <a:buClr>
                <a:schemeClr val="accent2"/>
              </a:buClr>
              <a:buFont typeface="Arial" panose="020B0604020202020204" pitchFamily="34" charset="0"/>
              <a:buChar char="•"/>
            </a:pPr>
            <a:r>
              <a:rPr lang="en-US" dirty="0"/>
              <a:t>We rejected the null hypothesis in this study, does that mean that we’ve </a:t>
            </a:r>
            <a:r>
              <a:rPr lang="en-US" i="1" dirty="0"/>
              <a:t>proven </a:t>
            </a:r>
            <a:r>
              <a:rPr lang="en-US" dirty="0"/>
              <a:t>that the population mean is not equal to 10 seconds?</a:t>
            </a:r>
          </a:p>
          <a:p>
            <a:pPr marL="292608" indent="-292608">
              <a:buClr>
                <a:schemeClr val="accent2"/>
              </a:buClr>
              <a:buFont typeface="Arial" panose="020B0604020202020204" pitchFamily="34" charset="0"/>
              <a:buChar char="•"/>
            </a:pPr>
            <a:r>
              <a:rPr lang="en-US" dirty="0"/>
              <a:t>If the null was true and μ = 10 seconds, (and we assume we had a random sample), we still could have been very unlikely and obtained a sample with too many over-estimators.</a:t>
            </a:r>
          </a:p>
          <a:p>
            <a:pPr marL="292608" indent="-292608">
              <a:buClr>
                <a:schemeClr val="accent2"/>
              </a:buClr>
              <a:buFont typeface="Arial" panose="020B0604020202020204" pitchFamily="34" charset="0"/>
              <a:buChar char="•"/>
            </a:pPr>
            <a:r>
              <a:rPr lang="en-US" dirty="0"/>
              <a:t>This means we would have found strong evidence that people can’t estimate the song snippet correctly, on average, when in fact they can.</a:t>
            </a:r>
          </a:p>
          <a:p>
            <a:pPr marL="292608" indent="-292608">
              <a:buClr>
                <a:schemeClr val="accent2"/>
              </a:buClr>
              <a:buFont typeface="Arial" panose="020B0604020202020204" pitchFamily="34" charset="0"/>
              <a:buChar char="•"/>
            </a:pPr>
            <a:r>
              <a:rPr lang="en-US" dirty="0"/>
              <a:t>This is a decision error we could have made.</a:t>
            </a:r>
          </a:p>
        </p:txBody>
      </p:sp>
    </p:spTree>
    <p:extLst>
      <p:ext uri="{BB962C8B-B14F-4D97-AF65-F5344CB8AC3E}">
        <p14:creationId xmlns:p14="http://schemas.microsoft.com/office/powerpoint/2010/main" val="39002494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solidFill>
                  <a:srgbClr val="196E78"/>
                </a:solidFill>
              </a:rPr>
              <a:t>Example 2.3: </a:t>
            </a:r>
            <a:r>
              <a:rPr lang="en-US" dirty="0"/>
              <a:t>Decision Errors </a:t>
            </a:r>
            <a:r>
              <a:rPr lang="en-US" sz="2000" b="0" dirty="0"/>
              <a:t>(3 of 3)</a:t>
            </a:r>
            <a:endParaRPr lang="en-US" b="0"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1828800" y="1759311"/>
            <a:ext cx="8593215" cy="4477805"/>
          </a:xfrm>
          <a:prstGeom prst="rect">
            <a:avLst/>
          </a:prstGeom>
        </p:spPr>
        <p:txBody>
          <a:bodyPr/>
          <a:lstStyle/>
          <a:p>
            <a:pPr marL="292608" indent="-292608">
              <a:buClr>
                <a:schemeClr val="accent2"/>
              </a:buClr>
              <a:buFont typeface="Arial" panose="020B0604020202020204" pitchFamily="34" charset="0"/>
              <a:buChar char="•"/>
            </a:pPr>
            <a:r>
              <a:rPr lang="en-US" dirty="0"/>
              <a:t>What about the opposite case?</a:t>
            </a:r>
          </a:p>
          <a:p>
            <a:pPr marL="292608" indent="-292608">
              <a:buClr>
                <a:schemeClr val="accent2"/>
              </a:buClr>
              <a:buFont typeface="Arial" panose="020B0604020202020204" pitchFamily="34" charset="0"/>
              <a:buChar char="•"/>
            </a:pPr>
            <a:r>
              <a:rPr lang="en-US" dirty="0"/>
              <a:t>What if we tested H</a:t>
            </a:r>
            <a:r>
              <a:rPr lang="en-US" baseline="-25000" dirty="0"/>
              <a:t>0</a:t>
            </a:r>
            <a:r>
              <a:rPr lang="en-US" dirty="0"/>
              <a:t>: μ = 13 seconds (and with our statistic of 13.71 seconds) our </a:t>
            </a:r>
            <a:r>
              <a:rPr lang="en-US" i="1" dirty="0"/>
              <a:t>p</a:t>
            </a:r>
            <a:r>
              <a:rPr lang="en-US" dirty="0"/>
              <a:t>-value had been large so that we did not reject the null hypothesis?</a:t>
            </a:r>
          </a:p>
          <a:p>
            <a:pPr marL="292608" indent="-292608">
              <a:buClr>
                <a:schemeClr val="accent2"/>
              </a:buClr>
              <a:buFont typeface="Arial" panose="020B0604020202020204" pitchFamily="34" charset="0"/>
              <a:buChar char="•"/>
            </a:pPr>
            <a:r>
              <a:rPr lang="en-US" dirty="0"/>
              <a:t>Would we have </a:t>
            </a:r>
            <a:r>
              <a:rPr lang="en-US" i="1" dirty="0"/>
              <a:t>proven</a:t>
            </a:r>
            <a:r>
              <a:rPr lang="en-US" dirty="0"/>
              <a:t> students, on average, estimate the song snippet as being 13 seconds long?</a:t>
            </a:r>
          </a:p>
          <a:p>
            <a:pPr marL="292608" indent="-292608">
              <a:buClr>
                <a:schemeClr val="accent2"/>
              </a:buClr>
              <a:buFont typeface="Arial" panose="020B0604020202020204" pitchFamily="34" charset="0"/>
              <a:buChar char="•"/>
            </a:pPr>
            <a:r>
              <a:rPr lang="en-US" dirty="0"/>
              <a:t>We would not have strong evidence against the null, but suppose the null was not true.</a:t>
            </a:r>
          </a:p>
          <a:p>
            <a:pPr marL="292608" indent="-292608">
              <a:buClr>
                <a:schemeClr val="accent2"/>
              </a:buClr>
              <a:buFont typeface="Arial" panose="020B0604020202020204" pitchFamily="34" charset="0"/>
              <a:buChar char="•"/>
            </a:pPr>
            <a:r>
              <a:rPr lang="en-US" dirty="0"/>
              <a:t>This is another type of decision error that we could have made.</a:t>
            </a:r>
          </a:p>
        </p:txBody>
      </p:sp>
    </p:spTree>
    <p:extLst>
      <p:ext uri="{BB962C8B-B14F-4D97-AF65-F5344CB8AC3E}">
        <p14:creationId xmlns:p14="http://schemas.microsoft.com/office/powerpoint/2010/main" val="42461003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8AC91-3B24-2651-D6E4-4EAAE75BF369}"/>
              </a:ext>
            </a:extLst>
          </p:cNvPr>
          <p:cNvSpPr>
            <a:spLocks noGrp="1"/>
          </p:cNvSpPr>
          <p:nvPr>
            <p:ph type="title"/>
          </p:nvPr>
        </p:nvSpPr>
        <p:spPr/>
        <p:txBody>
          <a:bodyPr/>
          <a:lstStyle/>
          <a:p>
            <a:r>
              <a:rPr lang="en-US" dirty="0"/>
              <a:t>Cool-Down</a:t>
            </a:r>
          </a:p>
        </p:txBody>
      </p:sp>
      <p:sp>
        <p:nvSpPr>
          <p:cNvPr id="3" name="Footer Placeholder 2">
            <a:extLst>
              <a:ext uri="{FF2B5EF4-FFF2-40B4-BE49-F238E27FC236}">
                <a16:creationId xmlns:a16="http://schemas.microsoft.com/office/drawing/2014/main" id="{C3428A6F-927F-B018-F1A2-0A3DFC7791C5}"/>
              </a:ext>
            </a:extLst>
          </p:cNvPr>
          <p:cNvSpPr>
            <a:spLocks noGrp="1"/>
          </p:cNvSpPr>
          <p:nvPr>
            <p:ph type="ftr" sz="quarter" idx="11"/>
          </p:nvPr>
        </p:nvSpPr>
        <p:spPr/>
        <p:txBody>
          <a:bodyPr/>
          <a:lstStyle/>
          <a:p>
            <a:r>
              <a:rPr lang="en-US"/>
              <a:t>Copyright ©2020 John Wiley &amp; Sons, Inc. </a:t>
            </a:r>
            <a:endParaRPr lang="en-US" dirty="0"/>
          </a:p>
        </p:txBody>
      </p:sp>
      <p:sp>
        <p:nvSpPr>
          <p:cNvPr id="4" name="Content Placeholder 3">
            <a:extLst>
              <a:ext uri="{FF2B5EF4-FFF2-40B4-BE49-F238E27FC236}">
                <a16:creationId xmlns:a16="http://schemas.microsoft.com/office/drawing/2014/main" id="{8F510813-F220-FB8F-4832-3AA7CA14B219}"/>
              </a:ext>
            </a:extLst>
          </p:cNvPr>
          <p:cNvSpPr>
            <a:spLocks noGrp="1"/>
          </p:cNvSpPr>
          <p:nvPr>
            <p:ph sz="quarter" idx="12"/>
          </p:nvPr>
        </p:nvSpPr>
        <p:spPr/>
        <p:txBody>
          <a:bodyPr/>
          <a:lstStyle/>
          <a:p>
            <a:r>
              <a:rPr lang="en-US" i="1" dirty="0"/>
              <a:t>Poll the class for how many hours of sleep they get.</a:t>
            </a:r>
          </a:p>
          <a:p>
            <a:r>
              <a:rPr lang="en-US" dirty="0"/>
              <a:t>A representative of each row should report individual data points for their entire row.</a:t>
            </a:r>
          </a:p>
          <a:p>
            <a:r>
              <a:rPr lang="en-US" dirty="0"/>
              <a:t>We'll plug this data into the applet next time to explore.</a:t>
            </a:r>
          </a:p>
        </p:txBody>
      </p:sp>
    </p:spTree>
    <p:extLst>
      <p:ext uri="{BB962C8B-B14F-4D97-AF65-F5344CB8AC3E}">
        <p14:creationId xmlns:p14="http://schemas.microsoft.com/office/powerpoint/2010/main" val="4255396098"/>
      </p:ext>
    </p:extLst>
  </p:cSld>
  <p:clrMapOvr>
    <a:masterClrMapping/>
  </p:clrMapOvr>
</p:sld>
</file>

<file path=ppt/theme/theme1.xml><?xml version="1.0" encoding="utf-8"?>
<a:theme xmlns:a="http://schemas.openxmlformats.org/drawingml/2006/main" name="Image Slide Mast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pen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6026</TotalTime>
  <Words>3133</Words>
  <Application>Microsoft Macintosh PowerPoint</Application>
  <PresentationFormat>Widescreen</PresentationFormat>
  <Paragraphs>306</Paragraphs>
  <Slides>47</Slides>
  <Notes>14</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47</vt:i4>
      </vt:variant>
    </vt:vector>
  </HeadingPairs>
  <TitlesOfParts>
    <vt:vector size="59" baseType="lpstr">
      <vt:lpstr>Aptos</vt:lpstr>
      <vt:lpstr>Arial</vt:lpstr>
      <vt:lpstr>Calibri</vt:lpstr>
      <vt:lpstr>Courier New</vt:lpstr>
      <vt:lpstr>Source Sans Pro</vt:lpstr>
      <vt:lpstr>STIX</vt:lpstr>
      <vt:lpstr>Symbol</vt:lpstr>
      <vt:lpstr>Times New Roman</vt:lpstr>
      <vt:lpstr>Wingdings</vt:lpstr>
      <vt:lpstr>Image Slide Master</vt:lpstr>
      <vt:lpstr>Opener</vt:lpstr>
      <vt:lpstr>Equation</vt:lpstr>
      <vt:lpstr>Introduction to Statistical Investigations</vt:lpstr>
      <vt:lpstr>Warm Up</vt:lpstr>
      <vt:lpstr>Example 2.2</vt:lpstr>
      <vt:lpstr>Example 2.2: Sampling Students (1 of 2)</vt:lpstr>
      <vt:lpstr>Example 2.2: Skewed</vt:lpstr>
      <vt:lpstr>Example 2.2: Median</vt:lpstr>
      <vt:lpstr>Example 2.2: Standard Deviation</vt:lpstr>
      <vt:lpstr>Example 2.2: Symbols</vt:lpstr>
      <vt:lpstr>Example 2.2: Sample of 30 Students (1 of 2)</vt:lpstr>
      <vt:lpstr>Example 2.2: Symbols for Samples</vt:lpstr>
      <vt:lpstr>Example 2.2: Sample of 30 Students (2 of 2)</vt:lpstr>
      <vt:lpstr>Example 2.2: Sampling Students (2 of 2)</vt:lpstr>
      <vt:lpstr>Example 2.2: Central Limit Theorem (1 of 2)</vt:lpstr>
      <vt:lpstr>Example 2.2: Mean of the GPAs</vt:lpstr>
      <vt:lpstr>Example 2.2: Standard Deviation of GPAs</vt:lpstr>
      <vt:lpstr>Example 2.2: Central Limit Theorem (2 of 2)</vt:lpstr>
      <vt:lpstr>Example 2.2: What if the sample size was small?</vt:lpstr>
      <vt:lpstr>Section 2.2: Summary</vt:lpstr>
      <vt:lpstr>Section 2.3</vt:lpstr>
      <vt:lpstr>Example 2.3: Estimating Elapsed Time</vt:lpstr>
      <vt:lpstr>Example 2.3: Hypotheses</vt:lpstr>
      <vt:lpstr>Example 2.3: Displaying Data</vt:lpstr>
      <vt:lpstr>Example 2.3: Skewed, mean, median</vt:lpstr>
      <vt:lpstr>Example 2.3: Mean vs Median</vt:lpstr>
      <vt:lpstr>Example 2.3: Inference (1 of 3)</vt:lpstr>
      <vt:lpstr>Example 2.3: Inference (2 of 3)</vt:lpstr>
      <vt:lpstr>Example 2.3: Inference (3 of 3)</vt:lpstr>
      <vt:lpstr>Example 2.3: Simulation-Based Inference (1 of 6)</vt:lpstr>
      <vt:lpstr>Example 2.3: Simulation-Based Inference (2 of 6)</vt:lpstr>
      <vt:lpstr>Example 2.3: Simulation-Based Inference (3 of 6)</vt:lpstr>
      <vt:lpstr>Example 2.3: Simulation-Based Inference (4 of 6)</vt:lpstr>
      <vt:lpstr>Example 2.3: Simulation-Based Inference (5 of 6)</vt:lpstr>
      <vt:lpstr>Example 2.3: Simulation-Based Inference (6 of 6)</vt:lpstr>
      <vt:lpstr>Example 2.3: Theory-Based Test (1 of 3)</vt:lpstr>
      <vt:lpstr>Example 2.3: Theory-Based Test (2 of 3)</vt:lpstr>
      <vt:lpstr>Example 2.3: Theory-Based Test (3 of 3)</vt:lpstr>
      <vt:lpstr>Example 2.3: t-distribution</vt:lpstr>
      <vt:lpstr>Example 2.3: t-statistic</vt:lpstr>
      <vt:lpstr>Example 2.3: t-distribution and t-statistic</vt:lpstr>
      <vt:lpstr>Example 2.3: Validity Conditions</vt:lpstr>
      <vt:lpstr>Example 2.3: Theory-based Applet: One Mean Scenario</vt:lpstr>
      <vt:lpstr>Example 2.3: Estimating Time Conclusions</vt:lpstr>
      <vt:lpstr>Example 2.3: Summary</vt:lpstr>
      <vt:lpstr>Example 2.3: Decision Errors (1 of 3)</vt:lpstr>
      <vt:lpstr>Example 2.3: Decision Errors (2 of 3)</vt:lpstr>
      <vt:lpstr>Example 2.3: Decision Errors (3 of 3)</vt:lpstr>
      <vt:lpstr>Cool-Down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Sarah R Roscoe</dc:creator>
  <cp:lastModifiedBy>Sarah R Roscoe</cp:lastModifiedBy>
  <cp:revision>5</cp:revision>
  <dcterms:created xsi:type="dcterms:W3CDTF">2026-03-02T22:05:31Z</dcterms:created>
  <dcterms:modified xsi:type="dcterms:W3CDTF">2026-03-07T02:32:08Z</dcterms:modified>
</cp:coreProperties>
</file>