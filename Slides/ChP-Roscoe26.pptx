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4004" r:id="rId10"/>
    <p:sldMasterId id="2147483976" r:id="rId11"/>
  </p:sldMasterIdLst>
  <p:notesMasterIdLst>
    <p:notesMasterId r:id="rId31"/>
  </p:notesMasterIdLst>
  <p:sldIdLst>
    <p:sldId id="436" r:id="rId12"/>
    <p:sldId id="457" r:id="rId13"/>
    <p:sldId id="458" r:id="rId14"/>
    <p:sldId id="693" r:id="rId15"/>
    <p:sldId id="577" r:id="rId16"/>
    <p:sldId id="694" r:id="rId17"/>
    <p:sldId id="585" r:id="rId18"/>
    <p:sldId id="675" r:id="rId19"/>
    <p:sldId id="676" r:id="rId20"/>
    <p:sldId id="677" r:id="rId21"/>
    <p:sldId id="678" r:id="rId22"/>
    <p:sldId id="587" r:id="rId23"/>
    <p:sldId id="679" r:id="rId24"/>
    <p:sldId id="680" r:id="rId25"/>
    <p:sldId id="681" r:id="rId26"/>
    <p:sldId id="695" r:id="rId27"/>
    <p:sldId id="682" r:id="rId28"/>
    <p:sldId id="683" r:id="rId29"/>
    <p:sldId id="696" r:id="rId30"/>
  </p:sldIdLst>
  <p:sldSz cx="9144000" cy="6858000" type="screen4x3"/>
  <p:notesSz cx="7315200" cy="96012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2976" userDrawn="1">
          <p15:clr>
            <a:srgbClr val="A4A3A4"/>
          </p15:clr>
        </p15:guide>
        <p15:guide id="3" orient="horz" pos="1108" userDrawn="1">
          <p15:clr>
            <a:srgbClr val="A4A3A4"/>
          </p15:clr>
        </p15:guide>
        <p15:guide id="4" pos="442" userDrawn="1">
          <p15:clr>
            <a:srgbClr val="A4A3A4"/>
          </p15:clr>
        </p15:guide>
        <p15:guide id="5" orient="horz" pos="25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  <p:cmAuthor id="4" name="BHUVANESWARI V Venkatesan" initials="BVV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E78"/>
    <a:srgbClr val="00007F"/>
    <a:srgbClr val="931B21"/>
    <a:srgbClr val="930000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94" autoAdjust="0"/>
    <p:restoredTop sz="87599" autoAdjust="0"/>
  </p:normalViewPr>
  <p:slideViewPr>
    <p:cSldViewPr>
      <p:cViewPr varScale="1">
        <p:scale>
          <a:sx n="94" d="100"/>
          <a:sy n="94" d="100"/>
        </p:scale>
        <p:origin x="256" y="192"/>
      </p:cViewPr>
      <p:guideLst>
        <p:guide orient="horz" pos="2064"/>
        <p:guide pos="2976"/>
        <p:guide orient="horz" pos="1108"/>
        <p:guide pos="442"/>
        <p:guide orient="horz" pos="2590"/>
      </p:guideLst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2472" y="184"/>
      </p:cViewPr>
      <p:guideLst>
        <p:guide orient="horz" pos="3024"/>
        <p:guide pos="2304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pPr/>
              <a:t>2/3/26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152400" y="365125"/>
            <a:ext cx="88392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152400" y="1828800"/>
            <a:ext cx="88392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152400" y="2363724"/>
            <a:ext cx="88392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152400" y="3733800"/>
            <a:ext cx="88392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152400" y="4419600"/>
            <a:ext cx="88392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152400" y="228600"/>
            <a:ext cx="88392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152400" y="838200"/>
            <a:ext cx="8839200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152400" y="3505200"/>
            <a:ext cx="8839200" cy="14478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152400" y="5029200"/>
            <a:ext cx="88392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152400" y="6096000"/>
            <a:ext cx="88392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STIX" charset="0"/>
                <a:ea typeface="STIX" charset="0"/>
                <a:cs typeface="STIX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152400" y="365125"/>
            <a:ext cx="88392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152400" y="1755648"/>
            <a:ext cx="88392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152400" y="2363724"/>
            <a:ext cx="88392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152400" y="3733800"/>
            <a:ext cx="88392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rgbClr val="007787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152400" y="4267200"/>
            <a:ext cx="88392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3" hasCustomPrompt="1"/>
          </p:nvPr>
        </p:nvSpPr>
        <p:spPr>
          <a:xfrm>
            <a:off x="1568918" y="6248400"/>
            <a:ext cx="6584482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Copyright ©2019 John Wiley &amp; Sons, Inc.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4"/>
          </p:nvPr>
        </p:nvSpPr>
        <p:spPr>
          <a:xfrm>
            <a:off x="152400" y="6092825"/>
            <a:ext cx="8839200" cy="27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1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IN" dirty="0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304800" y="1752600"/>
            <a:ext cx="8534400" cy="441960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IN" dirty="0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Times New Roman" charset="0"/>
                <a:ea typeface="Times New Roman" charset="0"/>
                <a:cs typeface="Times New Roman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Times New Roman" charset="0"/>
                <a:ea typeface="Times New Roman" charset="0"/>
                <a:cs typeface="Times New Roman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Times New Roman" charset="0"/>
                <a:ea typeface="Times New Roman" charset="0"/>
                <a:cs typeface="Times New Roman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2 (2 tex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4038600" cy="4419600"/>
          </a:xfrm>
          <a:prstGeom prst="rect">
            <a:avLst/>
          </a:prstGeom>
        </p:spPr>
        <p:txBody>
          <a:bodyPr numCol="1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1.1	This Is a Sample Outline for Two-Column (2 Boxes)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4767262" y="1752600"/>
            <a:ext cx="4038600" cy="4419600"/>
          </a:xfrm>
          <a:prstGeom prst="rect">
            <a:avLst/>
          </a:prstGeom>
        </p:spPr>
        <p:txBody>
          <a:bodyPr numCol="1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1.9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B"/>
          <p:cNvSpPr>
            <a:spLocks noGrp="1"/>
          </p:cNvSpPr>
          <p:nvPr>
            <p:ph sz="quarter" idx="14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520700" indent="-508000">
              <a:spcBef>
                <a:spcPts val="2000"/>
              </a:spcBef>
              <a:buNone/>
              <a:tabLst/>
              <a:defRPr sz="2800" b="0" i="0" baseline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635000" marR="0" indent="-395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arabicPeriod"/>
              <a:tabLst/>
              <a:defRPr sz="2800" b="0" i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/>
          <a:lstStyle/>
          <a:p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304800" y="1752600"/>
            <a:ext cx="85344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marL="804672" indent="-448056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defRPr sz="2800" baseline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3pPr>
            <a:lvl4pPr marL="13716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4pPr>
            <a:lvl5pPr marL="18288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</p:spPr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304800" y="1752600"/>
            <a:ext cx="85344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349250" indent="-336550">
              <a:buClr>
                <a:schemeClr val="accent1"/>
              </a:buClr>
              <a:buFont typeface="Wingdings" charset="2"/>
              <a:buChar char="ü"/>
              <a:tabLst>
                <a:tab pos="796925" algn="l"/>
              </a:tabLst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  Companies record events that change their financial statements in the period in which event occur, even if cash was not exchanged.</a:t>
            </a:r>
          </a:p>
          <a:p>
            <a:pPr lvl="2"/>
            <a:r>
              <a:rPr lang="en-US" dirty="0"/>
              <a:t>b.  Companies recognize revenue in the period in which 	the performance obligation is satisfied.</a:t>
            </a:r>
          </a:p>
          <a:p>
            <a:pPr lvl="1"/>
            <a:r>
              <a:rPr lang="en-US" dirty="0"/>
              <a:t>c.  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107DC3-1D90-419E-B11C-A853993F33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3810000"/>
            <a:ext cx="8534400" cy="228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506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</p:spPr>
        <p:txBody>
          <a:bodyPr/>
          <a:lstStyle/>
          <a:p>
            <a:r>
              <a:rPr lang="en-US" dirty="0"/>
              <a:t>Language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304800" y="1752600"/>
            <a:ext cx="85344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304800" y="5867400"/>
            <a:ext cx="85344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</p:spPr>
        <p:txBody>
          <a:bodyPr/>
          <a:lstStyle/>
          <a:p>
            <a:r>
              <a:rPr lang="en-US" dirty="0"/>
              <a:t>Language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304800" y="1752601"/>
            <a:ext cx="8534400" cy="765659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304800" y="5867400"/>
            <a:ext cx="85344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91CBC-ED96-45DC-8D19-800B0EA273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46063" y="2973388"/>
            <a:ext cx="8576057" cy="45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D9EFEF-D501-4D96-90FB-6214001984D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6063" y="3504895"/>
            <a:ext cx="8575675" cy="4557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862A366-91E0-41A0-8A96-3C45D8FF3E6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6063" y="4112055"/>
            <a:ext cx="8575675" cy="379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2CCB4E6-32AA-497F-984D-1632FA7E4EA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6063" y="4567425"/>
            <a:ext cx="8575675" cy="379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221E593-2035-46BB-9BD2-050B95D0D5C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46063" y="5022850"/>
            <a:ext cx="8499475" cy="303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94684A9-674B-4A73-B9BA-7B0575C953B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46063" y="5402263"/>
            <a:ext cx="8575675" cy="303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6611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</p:spPr>
        <p:txBody>
          <a:bodyPr/>
          <a:lstStyle/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304800" y="1905000"/>
            <a:ext cx="85344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28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304800" y="5029200"/>
            <a:ext cx="85344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620885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1" y="1683415"/>
            <a:ext cx="8534400" cy="447780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620885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85344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968335" y="2290575"/>
            <a:ext cx="85344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3461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620885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1"/>
            <a:ext cx="8534400" cy="19730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4339740"/>
            <a:ext cx="85344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C5F648-714F-41B3-B0A9-EFB467D0BF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5022850"/>
            <a:ext cx="85344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4DD2EA-EA3F-4637-934F-678F8B9466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4800" y="5781675"/>
            <a:ext cx="85344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B0A3D6A-283C-43F3-B8C1-9A067413E002}"/>
              </a:ext>
            </a:extLst>
          </p:cNvPr>
          <p:cNvSpPr txBox="1">
            <a:spLocks/>
          </p:cNvSpPr>
          <p:nvPr userDrawn="1"/>
        </p:nvSpPr>
        <p:spPr>
          <a:xfrm>
            <a:off x="6455077" y="6351499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0241161-D882-4165-B334-2C14A08BB8E0}"/>
              </a:ext>
            </a:extLst>
          </p:cNvPr>
          <p:cNvSpPr txBox="1">
            <a:spLocks/>
          </p:cNvSpPr>
          <p:nvPr userDrawn="1"/>
        </p:nvSpPr>
        <p:spPr>
          <a:xfrm>
            <a:off x="3026077" y="635149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460792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620885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85344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5805C8-4641-4DD9-8EEE-8E3542D17A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66125" y="4035425"/>
            <a:ext cx="835025" cy="12906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A1B72CE-EF87-477F-BA79-2E8C1521179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66125" y="3125788"/>
            <a:ext cx="684213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4B1DF00-9DC3-492A-B100-4D3272B82A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66125" y="2214563"/>
            <a:ext cx="777875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76DD1F-6897-4F1A-BC22-7DBC28584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75205" y="4768588"/>
            <a:ext cx="8534400" cy="75882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CFB20B-7480-4C5A-8DF1-F11AAD7E560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816545" y="5053133"/>
            <a:ext cx="8534400" cy="25717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B687367-93D1-4521-BBD6-A0564CA4FC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01150" y="3049588"/>
            <a:ext cx="835025" cy="9858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682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3429000"/>
            <a:ext cx="85344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4800" y="5029200"/>
            <a:ext cx="85344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2BACE4-69FF-4409-99CE-9BCD2C9878D8}"/>
              </a:ext>
            </a:extLst>
          </p:cNvPr>
          <p:cNvSpPr txBox="1">
            <a:spLocks/>
          </p:cNvSpPr>
          <p:nvPr userDrawn="1"/>
        </p:nvSpPr>
        <p:spPr>
          <a:xfrm>
            <a:off x="6457950" y="6363505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7DF617-D7C9-4AAC-ABB4-DFF0A77AE8FF}"/>
              </a:ext>
            </a:extLst>
          </p:cNvPr>
          <p:cNvSpPr txBox="1">
            <a:spLocks/>
          </p:cNvSpPr>
          <p:nvPr userDrawn="1"/>
        </p:nvSpPr>
        <p:spPr>
          <a:xfrm>
            <a:off x="3028950" y="636350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3533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2973630"/>
            <a:ext cx="85344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4800" y="4118460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04800" y="4953305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04800" y="5766107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3A17AB6-8208-4636-B70A-4B280921E8E8}"/>
              </a:ext>
            </a:extLst>
          </p:cNvPr>
          <p:cNvSpPr txBox="1">
            <a:spLocks/>
          </p:cNvSpPr>
          <p:nvPr userDrawn="1"/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D48A4B4-62FA-47D4-A8EC-046A13201B68}"/>
              </a:ext>
            </a:extLst>
          </p:cNvPr>
          <p:cNvSpPr txBox="1">
            <a:spLocks/>
          </p:cNvSpPr>
          <p:nvPr userDrawn="1"/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6990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6897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2518260"/>
            <a:ext cx="8534400" cy="75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4800" y="3353105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04800" y="4036160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04800" y="4795110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04800" y="5554060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FC7C8C2-8E53-4648-8149-C8D83CA97CE9}"/>
              </a:ext>
            </a:extLst>
          </p:cNvPr>
          <p:cNvSpPr txBox="1">
            <a:spLocks/>
          </p:cNvSpPr>
          <p:nvPr userDrawn="1"/>
        </p:nvSpPr>
        <p:spPr>
          <a:xfrm>
            <a:off x="6457950" y="6363505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7BE712D-A6E6-4E02-9B94-8A539F732706}"/>
              </a:ext>
            </a:extLst>
          </p:cNvPr>
          <p:cNvSpPr txBox="1">
            <a:spLocks/>
          </p:cNvSpPr>
          <p:nvPr userDrawn="1"/>
        </p:nvSpPr>
        <p:spPr>
          <a:xfrm>
            <a:off x="3028950" y="636350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164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2973630"/>
            <a:ext cx="85344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4800" y="4118460"/>
            <a:ext cx="85344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04801" y="4953305"/>
            <a:ext cx="244572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04801" y="5766107"/>
            <a:ext cx="244572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129995" y="4948654"/>
            <a:ext cx="2504535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129995" y="5761456"/>
            <a:ext cx="2504535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15050" y="4948654"/>
            <a:ext cx="2504535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15050" y="5761456"/>
            <a:ext cx="2504535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15919-8751-4BE4-AA33-50DF1CCA64E4}"/>
              </a:ext>
            </a:extLst>
          </p:cNvPr>
          <p:cNvSpPr txBox="1">
            <a:spLocks/>
          </p:cNvSpPr>
          <p:nvPr userDrawn="1"/>
        </p:nvSpPr>
        <p:spPr>
          <a:xfrm>
            <a:off x="6457950" y="6363505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5B39872-5D7C-431B-B547-3FC6F0E6034C}"/>
              </a:ext>
            </a:extLst>
          </p:cNvPr>
          <p:cNvSpPr txBox="1">
            <a:spLocks/>
          </p:cNvSpPr>
          <p:nvPr userDrawn="1"/>
        </p:nvSpPr>
        <p:spPr>
          <a:xfrm>
            <a:off x="3028950" y="636350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16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2375848"/>
            <a:ext cx="85344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91152" y="2764808"/>
            <a:ext cx="85344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304800" y="3298208"/>
            <a:ext cx="85344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304800" y="3831608"/>
            <a:ext cx="85344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304800" y="4365008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304800" y="4822208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304800" y="5279408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381000" y="5660408"/>
            <a:ext cx="84582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8EB9964-3E34-4002-B0B3-CA179067C39A}"/>
              </a:ext>
            </a:extLst>
          </p:cNvPr>
          <p:cNvSpPr txBox="1">
            <a:spLocks/>
          </p:cNvSpPr>
          <p:nvPr userDrawn="1"/>
        </p:nvSpPr>
        <p:spPr>
          <a:xfrm>
            <a:off x="6457950" y="6363505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F53CD61-F10A-4FD0-B019-99E2468A5F8E}"/>
              </a:ext>
            </a:extLst>
          </p:cNvPr>
          <p:cNvSpPr txBox="1">
            <a:spLocks/>
          </p:cNvSpPr>
          <p:nvPr userDrawn="1"/>
        </p:nvSpPr>
        <p:spPr>
          <a:xfrm>
            <a:off x="3028950" y="636350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353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8534400" cy="40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800" y="2214680"/>
            <a:ext cx="85344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91152" y="2594155"/>
            <a:ext cx="85344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304800" y="3049525"/>
            <a:ext cx="85344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304800" y="3504895"/>
            <a:ext cx="85344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304800" y="3960265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304800" y="4415635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304800" y="4871005"/>
            <a:ext cx="85344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381000" y="5326375"/>
            <a:ext cx="84582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2263" y="5781745"/>
            <a:ext cx="4856897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888945" y="5764248"/>
            <a:ext cx="4856897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0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41148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4724400" y="1752600"/>
            <a:ext cx="41148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6ACF59F-042B-4CE1-AAE4-2FA4499AB366}"/>
              </a:ext>
            </a:extLst>
          </p:cNvPr>
          <p:cNvSpPr txBox="1">
            <a:spLocks/>
          </p:cNvSpPr>
          <p:nvPr userDrawn="1"/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42CDE9-7E9A-40FF-9BB8-77380C68654E}"/>
              </a:ext>
            </a:extLst>
          </p:cNvPr>
          <p:cNvSpPr txBox="1">
            <a:spLocks/>
          </p:cNvSpPr>
          <p:nvPr userDrawn="1"/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41148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4724400" y="1752600"/>
            <a:ext cx="41148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2286000" y="4724400"/>
            <a:ext cx="4572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304800" y="762001"/>
            <a:ext cx="85344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304800" y="1752600"/>
            <a:ext cx="41148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4724400" y="1752600"/>
            <a:ext cx="41148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1880" y="3808475"/>
            <a:ext cx="4174225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AAD719-5BF0-4C5E-BE8A-5C3956869DF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24400" y="3808413"/>
            <a:ext cx="4097338" cy="835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A815FFC-5DD1-44FE-91D7-17E9AFE9E70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2262" y="4795838"/>
            <a:ext cx="4249738" cy="682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C82916B-0585-4B7E-9C9B-A7650469BF4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48200" y="4795839"/>
            <a:ext cx="4022130" cy="75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335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5410201"/>
            <a:ext cx="8534400" cy="38099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609601"/>
            <a:ext cx="8534400" cy="47261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04800" y="5791200"/>
            <a:ext cx="8534400" cy="457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457950" y="6356350"/>
            <a:ext cx="238125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56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4D96-C503-4BE0-9F48-7B0E0326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F8EB2-C64A-42B7-AC64-C10457D98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8BEA2-6D75-4F5A-A26E-60D47B7D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72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0E28-714B-4523-B832-B76571B1C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0D9B2-3BF4-4976-A7E6-4DFED66C5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24A98-4465-4106-B8A4-5EF8783BF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C1D5-C9A0-436C-AFF2-E1EC420E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767F2-3271-4CCA-8655-3627F74B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719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DDE6-1CEC-4A12-908E-665CC6FC0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D4C99-08D3-4988-8230-D37B7735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5821F-EC9D-4404-B2F3-5390637C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1623-0050-485A-8968-D409BA96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388CA-F71D-42C3-A934-59D4EA43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003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5110-3BC5-4886-86AB-94F491E8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7CBCF-85F4-45F7-A54E-9CD02F8EA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AE919-46DC-4C82-8519-4B5600B5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DDB6-3CCF-4739-9B1E-C6454985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439C-1069-4AF4-91A9-3E2F5741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595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A395-5C23-444B-993D-94A29007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C35E2-5421-4FDF-A6E7-A2367A3BC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C13B5-1FCD-4C46-B8EC-CA3802D1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7568D-6250-4C09-B160-CF73168B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F36CC-78C8-4615-8F67-00647923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01F80-B82F-49EF-BD0E-9CD7145C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484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04BC-21DD-4D86-ADE1-A436C017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855C7-ADAC-4DA8-B9F8-59FB5E79F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255A1-8FEC-41FC-81FF-E4E331EBB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7B802-F84C-403F-B3BE-E6675C635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3CFE0-C5F9-4AE0-B6F6-8C310C2D7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89462-FE48-4FC3-ACC4-8390D7F1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B6755-4C7A-42E6-8C5B-15CAE1E5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71307-492D-4C62-9841-F78D6576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547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D00F-0BA7-4E6B-AB68-4299F82C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5B524-14D2-4191-A6B4-FB4C855B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830F9-143F-4526-8B72-4A0BDC4A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2EFBE-37FE-4625-90EC-5765ED94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97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57576-4759-4113-ADB2-40C6ED0B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DC1AA-7859-4295-B6FD-C0BEA3B59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4F773-7AD7-4900-9164-00AD3602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02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D58B-66ED-468B-9B38-624A07D9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341FC-133C-4E79-A668-F6FE0704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2EC0B-95BB-4798-ACAD-D3BA5BC76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4CD4E-BB3F-4DF8-93B0-2D02C94D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92E7-7338-4101-98D1-1B052E52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01934-FFAF-4E23-8B90-01F81CD1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416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D4C4-3380-4E12-9E97-9BB1B23A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BAB82-BB15-406A-BF11-A86143A55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DF3E6-6343-4108-AA2B-F51719893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1A61E-CCEA-45F0-B87E-EAC35806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DCD77-9288-45EB-B7F3-1B7225EC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743EB-7E33-4896-9008-C1208D6B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92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C429-D3DB-4FBE-B9D6-A9F7B57E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11055-E169-4A0D-B7DD-E3612E542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F65F8-330C-49CA-9A9F-1EE2A96B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A763B-0645-4C52-B1A3-097D3B09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1D7C-7EFD-414D-A26A-BC8259DA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835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709BD-AA1E-4A01-A015-C24EB0EFB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7BFE9-FCEE-4C17-9D3D-11DAC4663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0AAB-A428-42AD-A507-E3D05418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B1FED-0F2B-4513-9812-3F99394E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302A-72FE-4FE7-9FBF-2F1461FF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072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5410201"/>
            <a:ext cx="8534400" cy="38099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609601"/>
            <a:ext cx="8534400" cy="47261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04800" y="5791200"/>
            <a:ext cx="8534400" cy="457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457950" y="6356350"/>
            <a:ext cx="238125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574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961253"/>
            <a:ext cx="8534400" cy="32067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1"/>
            <a:ext cx="8534400" cy="5277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8125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68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4024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85344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IN" dirty="0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2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9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2"/>
            <a:ext cx="85344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4001" r:id="rId2"/>
    <p:sldLayoutId id="2147483970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1"/>
            <a:ext cx="85344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381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4022" r:id="rId3"/>
    <p:sldLayoutId id="2147484023" r:id="rId4"/>
    <p:sldLayoutId id="2147484021" r:id="rId5"/>
    <p:sldLayoutId id="2147483991" r:id="rId6"/>
    <p:sldLayoutId id="2147484017" r:id="rId7"/>
    <p:sldLayoutId id="2147484020" r:id="rId8"/>
    <p:sldLayoutId id="2147484018" r:id="rId9"/>
    <p:sldLayoutId id="2147483997" r:id="rId10"/>
    <p:sldLayoutId id="2147484002" r:id="rId11"/>
    <p:sldLayoutId id="2147483974" r:id="rId12"/>
    <p:sldLayoutId id="2147483975" r:id="rId13"/>
    <p:sldLayoutId id="2147484016" r:id="rId14"/>
    <p:sldLayoutId id="2147484000" r:id="rId15"/>
    <p:sldLayoutId id="2147484003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A6B9E-FA14-49B1-BF7F-B777A794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19DAC-2E93-403A-B359-9D8142AE6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7261-5F43-451C-92CA-081177B1C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7A792-382F-424A-B6B6-A668E09AE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©2020 John Wiley &amp; Sons,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D10A3-94D8-4374-BF2B-890A0DE6F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B923-D937-4145-BC79-497039E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5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74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7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TIX" charset="0"/>
          <a:ea typeface="STIX" charset="0"/>
          <a:cs typeface="STIX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4000" dirty="0"/>
              <a:t>Introduction to Statistical Investigations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hor"/>
          <p:cNvSpPr>
            <a:spLocks noGrp="1"/>
          </p:cNvSpPr>
          <p:nvPr>
            <p:ph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2"/>
          </p:nvPr>
        </p:nvSpPr>
        <p:spPr>
          <a:xfrm>
            <a:off x="228600" y="2363724"/>
            <a:ext cx="8686800" cy="685800"/>
          </a:xfrm>
          <a:prstGeom prst="rect">
            <a:avLst/>
          </a:prstGeom>
        </p:spPr>
        <p:txBody>
          <a:bodyPr anchor="ctr"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Tintle, Chance, Cobb, Rossman, Roy, Swanson, VanderStoep</a:t>
            </a:r>
            <a:endParaRPr lang="en-US" sz="2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N"/>
          <p:cNvSpPr>
            <a:spLocks noGrp="1"/>
          </p:cNvSpPr>
          <p:nvPr>
            <p:ph sz="quarter" idx="19"/>
          </p:nvPr>
        </p:nvSpPr>
        <p:spPr>
          <a:xfrm>
            <a:off x="152400" y="3657600"/>
            <a:ext cx="8839200" cy="533400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00</a:t>
            </a:r>
          </a:p>
        </p:txBody>
      </p:sp>
      <p:sp>
        <p:nvSpPr>
          <p:cNvPr id="6" name="CT"/>
          <p:cNvSpPr>
            <a:spLocks noGrp="1"/>
          </p:cNvSpPr>
          <p:nvPr>
            <p:ph sz="quarter" idx="20"/>
          </p:nvPr>
        </p:nvSpPr>
        <p:spPr>
          <a:xfrm>
            <a:off x="152400" y="4572000"/>
            <a:ext cx="8839200" cy="1437430"/>
          </a:xfrm>
        </p:spPr>
        <p:txBody>
          <a:bodyPr anchor="t"/>
          <a:lstStyle/>
          <a:p>
            <a:r>
              <a:rPr lang="en-US" sz="4000" dirty="0"/>
              <a:t>Preliminaries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4"/>
          </p:nvPr>
        </p:nvSpPr>
        <p:spPr>
          <a:xfrm>
            <a:off x="152400" y="6156325"/>
            <a:ext cx="8839200" cy="273050"/>
          </a:xfrm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slide deck contains animations. Please disable animations if they cause issues with your device.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23"/>
          </p:nvPr>
        </p:nvSpPr>
        <p:spPr>
          <a:xfrm>
            <a:off x="1281796" y="6320748"/>
            <a:ext cx="6584482" cy="4572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Copyright ©2021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26128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89FA-91EA-45E6-A87B-49BADD0C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Consider these statements.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BDB2-2B3B-4C53-83C7-255ABD5F96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449263">
              <a:buClr>
                <a:schemeClr val="accent2"/>
              </a:buClr>
              <a:tabLst>
                <a:tab pos="403225" algn="l"/>
              </a:tabLst>
            </a:pPr>
            <a:r>
              <a:rPr lang="en-US" dirty="0"/>
              <a:t>“I will never start jogging because my friend’s dad jogged his whole life, but he died at age 46 from a heart attack.”</a:t>
            </a:r>
          </a:p>
          <a:p>
            <a:pPr marL="457200" indent="-449263">
              <a:buClr>
                <a:schemeClr val="accent2"/>
              </a:buClr>
              <a:tabLst>
                <a:tab pos="403225" algn="l"/>
              </a:tabLst>
            </a:pPr>
            <a:r>
              <a:rPr lang="en-US" dirty="0"/>
              <a:t>“Don’t get your child vaccinated. I had my child vaccinated and now he is autistic.”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i="1" dirty="0"/>
              <a:t>Turn and talk: </a:t>
            </a:r>
            <a:r>
              <a:rPr lang="en-US" dirty="0"/>
              <a:t>Are these scientific conclusions?</a:t>
            </a:r>
            <a:endParaRPr lang="en-US" i="1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They make broad conclusions…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…But use </a:t>
            </a:r>
            <a:r>
              <a:rPr lang="en-US" b="1" dirty="0"/>
              <a:t>anecdotal evidence</a:t>
            </a:r>
            <a:r>
              <a:rPr lang="en-US" dirty="0"/>
              <a:t> to do so.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Personal observations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Striking examples</a:t>
            </a:r>
          </a:p>
        </p:txBody>
      </p:sp>
    </p:spTree>
    <p:extLst>
      <p:ext uri="{BB962C8B-B14F-4D97-AF65-F5344CB8AC3E}">
        <p14:creationId xmlns:p14="http://schemas.microsoft.com/office/powerpoint/2010/main" val="150703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25A1-2F10-484F-80D3-D1DF4297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55E6-2348-4292-9183-420364689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We need scientific conclusions.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Scientific conclusions cannot be based on anecdotal evidence.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We need evidence from a well-collected data set.</a:t>
            </a:r>
          </a:p>
        </p:txBody>
      </p:sp>
    </p:spTree>
    <p:extLst>
      <p:ext uri="{BB962C8B-B14F-4D97-AF65-F5344CB8AC3E}">
        <p14:creationId xmlns:p14="http://schemas.microsoft.com/office/powerpoint/2010/main" val="84791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8C46-88B7-82D7-9C14-0B061091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57A6-C1D4-59E6-FB6E-030018F5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D9847-DC62-91CB-5106-60C665ABE2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Statistics is the science of: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producing useful data to address a research question, 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analyzing the resulting data, and 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drawing appropriate conclusions from the data.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We boil this process down into 6 steps, called the "Statistical Investigation Method".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34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F668B2-F32A-4F99-AD38-36EF0829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Six-Step Statistical Investigation Method</a:t>
            </a:r>
          </a:p>
        </p:txBody>
      </p:sp>
      <p:pic>
        <p:nvPicPr>
          <p:cNvPr id="14" name="Content Placeholder 7" descr="A vertical flow diagram describes the steps of a statistical investigation. The steps are displayed on six rectangular boxes placed vertically and an arrow from each step leads to the next step. The flow chart begins with step 1: Ask a research question (research hypothesis); step 2: Design a study and collect data; step 3: Explore the data; step 4: (Logic of inference) Draw inferences and this step has two components, namely Significance and Estimation; step 5: (Scope of inference) Formulate conclusions and this step has two components, namely Generalization and Causation; step 6: Look back and ahead; and the flow continues by going back to step 1.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46" y="1626013"/>
            <a:ext cx="3960990" cy="4459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556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84D66BE-13BE-6412-6F91-F1FFE5126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Opt-in vs. Opt-out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672A23-5074-1CBE-72AA-17F90CCF44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2665"/>
            <a:ext cx="8534400" cy="4477805"/>
          </a:xfrm>
        </p:spPr>
        <p:txBody>
          <a:bodyPr/>
          <a:lstStyle/>
          <a:p>
            <a:r>
              <a:rPr lang="en-US" dirty="0"/>
              <a:t>Suppose we are putting together a "SMC Statistics Directory", so everyone in Stats classes can contact each other.</a:t>
            </a:r>
          </a:p>
          <a:p>
            <a:r>
              <a:rPr lang="en-US" i="1" dirty="0"/>
              <a:t>Turn and talk: </a:t>
            </a:r>
            <a:r>
              <a:rPr lang="en-US" dirty="0"/>
              <a:t>What is the difference between opting in to be in this directory, versus opting out of it?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Opt-in: You must make a choice to be included.</a:t>
            </a:r>
          </a:p>
          <a:p>
            <a:r>
              <a:rPr lang="en-US" dirty="0"/>
              <a:t>Opt-out: You must make a choice to be excluded.</a:t>
            </a:r>
          </a:p>
          <a:p>
            <a:r>
              <a:rPr lang="en-US" dirty="0"/>
              <a:t>Do you think the method chosen affects how many people will sign up?</a:t>
            </a:r>
          </a:p>
        </p:txBody>
      </p:sp>
    </p:spTree>
    <p:extLst>
      <p:ext uri="{BB962C8B-B14F-4D97-AF65-F5344CB8AC3E}">
        <p14:creationId xmlns:p14="http://schemas.microsoft.com/office/powerpoint/2010/main" val="288093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P.1: Organ Donations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A majority of people approve of organ donation.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But depending on the location, people may not sign up.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The method used to recruit donors (opt-in vs. opt-out) varies depending on where you live.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Do these different methods result in different sign-up rates?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Let's look at a 2003 study to answer this question.</a:t>
            </a:r>
          </a:p>
        </p:txBody>
      </p:sp>
    </p:spTree>
    <p:extLst>
      <p:ext uri="{BB962C8B-B14F-4D97-AF65-F5344CB8AC3E}">
        <p14:creationId xmlns:p14="http://schemas.microsoft.com/office/powerpoint/2010/main" val="33154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(1 of 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ct val="50000"/>
              </a:spcBef>
              <a:buClr>
                <a:schemeClr val="accent2"/>
              </a:buClr>
              <a:buSzPct val="100000"/>
              <a:buNone/>
            </a:pPr>
            <a:r>
              <a:rPr lang="en-US" b="1" dirty="0">
                <a:cs typeface="Calibri" pitchFamily="34" charset="0"/>
              </a:rPr>
              <a:t>Step 1: Ask a Research Question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ea typeface="Verdana" pitchFamily="34" charset="0"/>
                <a:cs typeface="Verdana" pitchFamily="34" charset="0"/>
              </a:rPr>
              <a:t>In general: 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ea typeface="Verdana" pitchFamily="34" charset="0"/>
                <a:cs typeface="Verdana" pitchFamily="34" charset="0"/>
              </a:rPr>
              <a:t>Is there a method that will increase the </a:t>
            </a:r>
            <a:r>
              <a:rPr lang="en-US" dirty="0"/>
              <a:t>likelihood that a person agrees to become an organ donor?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More specifically: 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Does the default option presented to driver’s license applicants </a:t>
            </a:r>
            <a:r>
              <a:rPr lang="en-US" i="1" dirty="0"/>
              <a:t>influence</a:t>
            </a:r>
            <a:r>
              <a:rPr lang="en-US" dirty="0"/>
              <a:t> the likelihood of someone becoming an organ donor?</a:t>
            </a:r>
          </a:p>
        </p:txBody>
      </p:sp>
    </p:spTree>
    <p:extLst>
      <p:ext uri="{BB962C8B-B14F-4D97-AF65-F5344CB8AC3E}">
        <p14:creationId xmlns:p14="http://schemas.microsoft.com/office/powerpoint/2010/main" val="146329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(2 of 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US" b="1" dirty="0"/>
              <a:t>Design a study and collect data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researchers decided to recruit various participants and ask them to pretend to apply for a new driver’s license.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Participants did not know what the focus of the study was.</a:t>
            </a:r>
          </a:p>
          <a:p>
            <a:pPr marL="292608" indent="-29260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researchers gave different options for the donor question, but the participants did not know this.</a:t>
            </a:r>
          </a:p>
        </p:txBody>
      </p:sp>
    </p:spTree>
    <p:extLst>
      <p:ext uri="{BB962C8B-B14F-4D97-AF65-F5344CB8AC3E}">
        <p14:creationId xmlns:p14="http://schemas.microsoft.com/office/powerpoint/2010/main" val="113896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20885"/>
            <a:ext cx="8745004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(3 of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683415"/>
            <a:ext cx="8745005" cy="447780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 2: Design a study and collect data</a:t>
            </a:r>
          </a:p>
          <a:p>
            <a:pPr marL="0" indent="0">
              <a:buNone/>
            </a:pPr>
            <a:r>
              <a:rPr lang="en-US" sz="2400" dirty="0"/>
              <a:t>Participants were provided one of three recruitment options:</a:t>
            </a:r>
          </a:p>
          <a:p>
            <a:pPr lvl="0"/>
            <a:r>
              <a:rPr lang="en-US" sz="2400" i="1" dirty="0"/>
              <a:t>Neutral: </a:t>
            </a:r>
            <a:r>
              <a:rPr lang="en-US" sz="2400" dirty="0"/>
              <a:t>No choice was pre-selected. Participants were forced to make a choice, become a donor or not. </a:t>
            </a:r>
          </a:p>
          <a:p>
            <a:pPr lvl="0"/>
            <a:r>
              <a:rPr lang="en-US" sz="2400" i="1" dirty="0"/>
              <a:t>Opt-in:</a:t>
            </a:r>
            <a:r>
              <a:rPr lang="en-US" sz="2400" dirty="0"/>
              <a:t> Participants were told that the default option was not to be a donor. They could choose to </a:t>
            </a:r>
            <a:r>
              <a:rPr lang="en-US" sz="2400" i="1" dirty="0"/>
              <a:t>become</a:t>
            </a:r>
            <a:r>
              <a:rPr lang="en-US" sz="2400" dirty="0"/>
              <a:t> a donor if they wished.</a:t>
            </a:r>
          </a:p>
          <a:p>
            <a:pPr lvl="0"/>
            <a:r>
              <a:rPr lang="en-US" sz="2400" i="1" dirty="0"/>
              <a:t>Opt-out:</a:t>
            </a:r>
            <a:r>
              <a:rPr lang="en-US" sz="2400" dirty="0"/>
              <a:t> Participants were told that the default option was to be a donor. They could choose </a:t>
            </a:r>
            <a:r>
              <a:rPr lang="en-US" sz="2400" i="1" dirty="0"/>
              <a:t>not to become </a:t>
            </a:r>
            <a:r>
              <a:rPr lang="en-US" sz="2400" dirty="0"/>
              <a:t>a donor if they wished.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/>
              <a:t>The participants completed the survey.</a:t>
            </a:r>
          </a:p>
        </p:txBody>
      </p:sp>
    </p:spTree>
    <p:extLst>
      <p:ext uri="{BB962C8B-B14F-4D97-AF65-F5344CB8AC3E}">
        <p14:creationId xmlns:p14="http://schemas.microsoft.com/office/powerpoint/2010/main" val="355029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(4 of 7)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5026150" cy="424987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3:</a:t>
            </a:r>
            <a:r>
              <a:rPr lang="en-US" dirty="0"/>
              <a:t> </a:t>
            </a:r>
            <a:r>
              <a:rPr lang="en-US" b="1" dirty="0"/>
              <a:t>Explore the data</a:t>
            </a:r>
            <a:r>
              <a:rPr lang="en-US" dirty="0"/>
              <a:t>.</a:t>
            </a:r>
          </a:p>
          <a:p>
            <a:pPr marL="292608" lvl="0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23 of 55 (41.8%) participants in the opt-in group agreed to become organ donors</a:t>
            </a:r>
          </a:p>
          <a:p>
            <a:pPr marL="292608" lvl="0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41 of 50 (82.0%) participants in the opt-out group agreed to become organ donors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44 of the 56 (78.6%) participants in the neutral group agreed to become organ donors</a:t>
            </a:r>
          </a:p>
        </p:txBody>
      </p:sp>
      <p:pic>
        <p:nvPicPr>
          <p:cNvPr id="15" name="Content Placeholder 7" descr="A stacked bar graph compares the percentage of donors with non-donors in three different default groups. The horizontal axis displays the groups and has markings, Opt-in, Opt-out and Neutral, in the order from left to right. The vertical axis is labeled percentage and ranges from 0 to 100 in increments of 20. There are stacked bars above each marking on the horizontal axis. The bottom part of the bars represents donors and the top part represents non-donors. The data from each group are as follows: Opt-in: Donor, 42 percent and Non-donor, 58 percent; Opt-out: Donor: 80 percent and Non-donor, 20 percent; and Neutral: Donor: 78 percent and Non-donor, 22 percent. All values are approximate.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206" y="2085581"/>
            <a:ext cx="3471399" cy="3696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5115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(5 of 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8534400" cy="432576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200" b="1" dirty="0"/>
              <a:t>Step 4:</a:t>
            </a:r>
            <a:r>
              <a:rPr lang="en-US" sz="2200" dirty="0"/>
              <a:t> </a:t>
            </a:r>
            <a:r>
              <a:rPr lang="en-US" sz="2200" b="1" dirty="0"/>
              <a:t>Draw inferences beyond the data</a:t>
            </a:r>
            <a:r>
              <a:rPr lang="en-US" sz="2200" dirty="0"/>
              <a:t>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The researchers analyzed whether the observed differences between the groups was large enough to indicate that the default option had a genuine effect.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They reported strong evidence that the neutral and opt-out versions </a:t>
            </a:r>
            <a:r>
              <a:rPr lang="en-US" sz="2200" i="1" dirty="0"/>
              <a:t>do</a:t>
            </a:r>
            <a:r>
              <a:rPr lang="en-US" sz="2200" dirty="0"/>
              <a:t> lead to a higher chance of agreeing to become a donor.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They could be quite confident that the neutral version increases the chances that a person agrees to become a donor by between 20 and 54 percentage points.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This difference is large enough to save thousands of lives per year in the United States.</a:t>
            </a:r>
          </a:p>
        </p:txBody>
      </p:sp>
    </p:spTree>
    <p:extLst>
      <p:ext uri="{BB962C8B-B14F-4D97-AF65-F5344CB8AC3E}">
        <p14:creationId xmlns:p14="http://schemas.microsoft.com/office/powerpoint/2010/main" val="406190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(6 of 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8534400" cy="432576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 5: Formulate conclusions</a:t>
            </a:r>
            <a:r>
              <a:rPr lang="en-US" sz="2400" dirty="0"/>
              <a:t>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Based on the analysis of the data and the design of the study, the researchers concluded that…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The neutral version causes an </a:t>
            </a:r>
            <a:r>
              <a:rPr lang="en-US" sz="2400" i="1" dirty="0"/>
              <a:t>increase</a:t>
            </a:r>
            <a:r>
              <a:rPr lang="en-US" sz="2400" dirty="0"/>
              <a:t> in the proportion who agree to become donors over the opt-in.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i="1" dirty="0"/>
              <a:t>But</a:t>
            </a:r>
            <a:r>
              <a:rPr lang="en-US" sz="2400" dirty="0"/>
              <a:t> the participants in the study were volunteers recruited from bulletin boards on the internet.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Generalizing conclusions beyond these participants is only legitimate if they are representative of a larger group of people. 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(The authors believed their sample included a “broad range of demographics.”)</a:t>
            </a:r>
          </a:p>
        </p:txBody>
      </p:sp>
    </p:spTree>
    <p:extLst>
      <p:ext uri="{BB962C8B-B14F-4D97-AF65-F5344CB8AC3E}">
        <p14:creationId xmlns:p14="http://schemas.microsoft.com/office/powerpoint/2010/main" val="110311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620885"/>
            <a:ext cx="874500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6E78"/>
                </a:solidFill>
              </a:rPr>
              <a:t>Example P.1: </a:t>
            </a:r>
            <a:r>
              <a:rPr lang="en-US" dirty="0"/>
              <a:t>Recruiting Organ Donors </a:t>
            </a:r>
            <a:r>
              <a:rPr lang="en-US" sz="2000" b="0" dirty="0"/>
              <a:t>(7 of 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683415"/>
            <a:ext cx="8534400" cy="432576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200" b="1" dirty="0"/>
              <a:t>Step 6:</a:t>
            </a:r>
            <a:r>
              <a:rPr lang="en-US" sz="2200" dirty="0"/>
              <a:t> </a:t>
            </a:r>
            <a:r>
              <a:rPr lang="en-US" sz="2200" b="1" dirty="0"/>
              <a:t>Look back and ahead</a:t>
            </a:r>
            <a:r>
              <a:rPr lang="en-US" sz="2200" dirty="0"/>
              <a:t>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i="1" dirty="0"/>
              <a:t>Limitation: </a:t>
            </a:r>
            <a:r>
              <a:rPr lang="en-US" sz="2200" dirty="0"/>
              <a:t>Participants were asked to imagine how they would respond. May not mirror what they'd do in real life.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2200" i="1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i="1" dirty="0"/>
              <a:t>If we could do it over again: 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Look at people’s actual responses to questions about organ donation or could monitor donor rates for states that adopt a new policy.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Examine whether presenting educational material on organ donation might increase people’s willingness to donate.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Include participants from wider demographic groups than these volunteers.</a:t>
            </a:r>
          </a:p>
        </p:txBody>
      </p:sp>
    </p:spTree>
    <p:extLst>
      <p:ext uri="{BB962C8B-B14F-4D97-AF65-F5344CB8AC3E}">
        <p14:creationId xmlns:p14="http://schemas.microsoft.com/office/powerpoint/2010/main" val="103092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228045"/>
            <a:ext cx="8534400" cy="4550346"/>
          </a:xfrm>
          <a:prstGeom prst="rect">
            <a:avLst/>
          </a:prstGeom>
        </p:spPr>
        <p:txBody>
          <a:bodyPr/>
          <a:lstStyle/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/>
              <a:t>Data:</a:t>
            </a:r>
            <a:r>
              <a:rPr lang="en-US" sz="2400" dirty="0"/>
              <a:t> Values measured or categories recorded.</a:t>
            </a:r>
            <a:endParaRPr lang="en-US" sz="2400" b="1" dirty="0"/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/>
              <a:t>Observational units: </a:t>
            </a:r>
            <a:r>
              <a:rPr lang="en-US" sz="2400" dirty="0"/>
              <a:t>The individual entities on which data are recorded. </a:t>
            </a:r>
          </a:p>
          <a:p>
            <a:pPr marL="749808" lvl="1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(who or what do we observe, to get this data?)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/>
              <a:t>Variables: </a:t>
            </a:r>
            <a:r>
              <a:rPr lang="en-US" sz="2400" dirty="0"/>
              <a:t>The recorded characteristics of the observational units.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Variables can be:</a:t>
            </a:r>
          </a:p>
          <a:p>
            <a:pPr marL="621792" lvl="1" indent="-320040">
              <a:buClr>
                <a:schemeClr val="accent2"/>
              </a:buClr>
            </a:pPr>
            <a:r>
              <a:rPr lang="en-US" sz="2000" b="1" dirty="0">
                <a:solidFill>
                  <a:schemeClr val="accent2"/>
                </a:solidFill>
              </a:rPr>
              <a:t>Quantitative</a:t>
            </a:r>
            <a:endParaRPr lang="en-US" sz="2000" dirty="0">
              <a:solidFill>
                <a:schemeClr val="accent2"/>
              </a:solidFill>
            </a:endParaRPr>
          </a:p>
          <a:p>
            <a:pPr lvl="2">
              <a:buClr>
                <a:schemeClr val="accent2"/>
              </a:buClr>
            </a:pPr>
            <a:r>
              <a:rPr lang="en-US" sz="1800" dirty="0"/>
              <a:t>You can add, subtract, etc. with the values.</a:t>
            </a:r>
          </a:p>
          <a:p>
            <a:pPr lvl="2">
              <a:buClr>
                <a:schemeClr val="accent2"/>
              </a:buClr>
            </a:pPr>
            <a:r>
              <a:rPr lang="en-US" sz="1800" dirty="0"/>
              <a:t>Height, weight, distance, time…</a:t>
            </a:r>
          </a:p>
          <a:p>
            <a:pPr marL="621792" lvl="1" indent="-320040">
              <a:buClr>
                <a:schemeClr val="accent2"/>
              </a:buClr>
              <a:tabLst>
                <a:tab pos="1828800" algn="l"/>
              </a:tabLst>
            </a:pPr>
            <a:r>
              <a:rPr lang="en-US" sz="2000" b="1" dirty="0">
                <a:solidFill>
                  <a:schemeClr val="accent2"/>
                </a:solidFill>
              </a:rPr>
              <a:t>Categorical</a:t>
            </a:r>
            <a:endParaRPr lang="en-US" sz="2000" b="1" dirty="0">
              <a:solidFill>
                <a:schemeClr val="tx2"/>
              </a:solidFill>
            </a:endParaRPr>
          </a:p>
          <a:p>
            <a:pPr lvl="2">
              <a:buClr>
                <a:schemeClr val="accent2"/>
              </a:buClr>
            </a:pPr>
            <a:r>
              <a:rPr lang="en-US" sz="1800" dirty="0"/>
              <a:t>Labels for which arithmetic does not make sense. </a:t>
            </a:r>
          </a:p>
          <a:p>
            <a:pPr lvl="2">
              <a:buClr>
                <a:schemeClr val="accent2"/>
              </a:buClr>
            </a:pPr>
            <a:r>
              <a:rPr lang="en-US" sz="1800" dirty="0"/>
              <a:t>Sex, ethnicity, eye color…</a:t>
            </a:r>
          </a:p>
        </p:txBody>
      </p:sp>
    </p:spTree>
    <p:extLst>
      <p:ext uri="{BB962C8B-B14F-4D97-AF65-F5344CB8AC3E}">
        <p14:creationId xmlns:p14="http://schemas.microsoft.com/office/powerpoint/2010/main" val="87083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2800-1634-EF95-906A-2759B4DD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FD6A-740A-C101-BFD5-49F7AE8D6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1EDEF-578A-C352-915B-3F21BA95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D9CC45-88FF-6058-F28B-07B9D8D8497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2800" dirty="0"/>
              <a:t>What are the observational units and variables in the Organ Donation Study? </a:t>
            </a:r>
          </a:p>
          <a:p>
            <a:endParaRPr lang="en-US" dirty="0"/>
          </a:p>
          <a:p>
            <a:r>
              <a:rPr lang="en-US" b="1" dirty="0"/>
              <a:t>Observational units: </a:t>
            </a:r>
            <a:r>
              <a:rPr lang="en-US" dirty="0"/>
              <a:t>The participants.</a:t>
            </a:r>
          </a:p>
          <a:p>
            <a:r>
              <a:rPr lang="en-US" b="1" dirty="0"/>
              <a:t>Variables: </a:t>
            </a:r>
            <a:endParaRPr lang="en-US" dirty="0"/>
          </a:p>
          <a:p>
            <a:pPr lvl="1"/>
            <a:r>
              <a:rPr lang="en-US" dirty="0"/>
              <a:t>The version of the question they received. [Categorical]</a:t>
            </a:r>
          </a:p>
          <a:p>
            <a:pPr lvl="1"/>
            <a:r>
              <a:rPr lang="en-US" dirty="0"/>
              <a:t>Whether or not they became an organ donor. [Categorical]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Terminology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5026150" cy="4249870"/>
          </a:xfrm>
        </p:spPr>
        <p:txBody>
          <a:bodyPr/>
          <a:lstStyle/>
          <a:p>
            <a:pPr marL="292608" lvl="0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distribution</a:t>
            </a:r>
            <a:r>
              <a:rPr lang="en-US" dirty="0"/>
              <a:t> of a variable describes the pattern of value/category outcomes.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For the organ donation study the bar chart shown displays the distribution of responses.</a:t>
            </a:r>
          </a:p>
        </p:txBody>
      </p:sp>
      <p:pic>
        <p:nvPicPr>
          <p:cNvPr id="6" name="Content Placeholder 7" descr="A stacked bar graph compares the percentage of donors with non-donors in three different default groups. The horizontal axis displays the groups and has markings, Opt-in, Opt-out and Neutral, in the order from left to right. The vertical axis is labeled percentage and ranges from 0 to 100 in increments of 20. There are stacked bars above each marking on the horizontal axis. The bottom part of the bars represents donors and the top part represents non-donors. The data from each group are as follows: Opt-in: Donor, 42 percent and Non-donor, 58 percent; Opt-out: Donor: 80 percent and Non-donor, 20 percent; and Neutral: Donor: 78 percent and Non-donor, 22 percent. All values are approximate.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970" y="1882544"/>
            <a:ext cx="3582186" cy="3814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2055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687E-1398-4E2F-B2E5-752A4515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for P.1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478D-FD83-4675-BAAB-76846DAF7B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911350"/>
            <a:ext cx="8534400" cy="4325765"/>
          </a:xfrm>
          <a:prstGeom prst="rect">
            <a:avLst/>
          </a:prstGeom>
        </p:spPr>
        <p:txBody>
          <a:bodyPr/>
          <a:lstStyle/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Describe how the six steps of a statistical investigation apply to a particular statistical study.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Think of and write research questions that could be investigated with a statistical study.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Identify the </a:t>
            </a:r>
            <a:r>
              <a:rPr lang="en-US" b="1" dirty="0"/>
              <a:t>observational units </a:t>
            </a:r>
            <a:r>
              <a:rPr lang="en-US" dirty="0"/>
              <a:t>and </a:t>
            </a:r>
            <a:r>
              <a:rPr lang="en-US" b="1" dirty="0"/>
              <a:t>variables</a:t>
            </a:r>
            <a:r>
              <a:rPr lang="en-US" dirty="0"/>
              <a:t> in a statistical study.</a:t>
            </a:r>
          </a:p>
          <a:p>
            <a:pPr marL="292608" indent="-29260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Classify variables as </a:t>
            </a:r>
            <a:r>
              <a:rPr lang="en-US" b="1" dirty="0"/>
              <a:t>categorical</a:t>
            </a:r>
            <a:r>
              <a:rPr lang="en-US" dirty="0"/>
              <a:t> or </a:t>
            </a:r>
            <a:r>
              <a:rPr lang="en-US" b="1" dirty="0"/>
              <a:t>quantitative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3355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E831B8F-96AD-3A5F-3C34-DB97D4E28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an Exploration!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3EB135-B99E-D73A-0702-5F2AAA722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979CC-AA0E-5600-9158-4EEB39F7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A82006-640E-826D-D917-DF03659E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979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f8aa8fa7fd8e837bfc97e1ceb5351635cb40"/>
</p:tagLst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ustom Desig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10621752DDA45BBA1A9E0C777CF7F" ma:contentTypeVersion="9" ma:contentTypeDescription="Create a new document." ma:contentTypeScope="" ma:versionID="efa1ede8a83401231b78670a05c64e0e">
  <xsd:schema xmlns:xsd="http://www.w3.org/2001/XMLSchema" xmlns:xs="http://www.w3.org/2001/XMLSchema" xmlns:p="http://schemas.microsoft.com/office/2006/metadata/properties" xmlns:ns2="8315d039-e8c3-459d-8509-28d69709fdd9" targetNamespace="http://schemas.microsoft.com/office/2006/metadata/properties" ma:root="true" ma:fieldsID="77c17fb807b6633b81d5adc987d26445" ns2:_="">
    <xsd:import namespace="8315d039-e8c3-459d-8509-28d69709fd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5d039-e8c3-459d-8509-28d69709fd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4CCD45-0D72-4690-AA7C-A10B8BAB52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5d039-e8c3-459d-8509-28d69709fd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3F815B-6E6B-437C-95EA-B6C979BFBC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36CF6A-C1C3-4ABA-ACA7-1D450D43CCA9}">
  <ds:schemaRefs>
    <ds:schemaRef ds:uri="http://purl.org/dc/terms/"/>
    <ds:schemaRef ds:uri="http://schemas.openxmlformats.org/package/2006/metadata/core-properties"/>
    <ds:schemaRef ds:uri="8315d039-e8c3-459d-8509-28d69709fdd9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22626</TotalTime>
  <Words>1228</Words>
  <Application>Microsoft Macintosh PowerPoint</Application>
  <PresentationFormat>On-screen Show (4:3)</PresentationFormat>
  <Paragraphs>119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Source Sans Pro</vt:lpstr>
      <vt:lpstr>STIX</vt:lpstr>
      <vt:lpstr>Times New Roman</vt:lpstr>
      <vt:lpstr>Verdana</vt:lpstr>
      <vt:lpstr>Wingdings</vt:lpstr>
      <vt:lpstr>Opener</vt:lpstr>
      <vt:lpstr>Chapter Outline</vt:lpstr>
      <vt:lpstr>Learning Objectives</vt:lpstr>
      <vt:lpstr>Concept Check Question</vt:lpstr>
      <vt:lpstr>Key Term</vt:lpstr>
      <vt:lpstr>Image Slide Master</vt:lpstr>
      <vt:lpstr>1_Custom Design</vt:lpstr>
      <vt:lpstr>Custom Design</vt:lpstr>
      <vt:lpstr>Introduction to Statistical Investigations</vt:lpstr>
      <vt:lpstr>Consider these statements.</vt:lpstr>
      <vt:lpstr>Statistics</vt:lpstr>
      <vt:lpstr>Statistics</vt:lpstr>
      <vt:lpstr>Six-Step Statistical Investigation Method</vt:lpstr>
      <vt:lpstr>Opt-in vs. Opt-out</vt:lpstr>
      <vt:lpstr>Example P.1: Organ Donations</vt:lpstr>
      <vt:lpstr>Example P.1: Recruiting Organ Donors (1 of 7)</vt:lpstr>
      <vt:lpstr>Example P.1: Recruiting Organ Donors (2 of 7)</vt:lpstr>
      <vt:lpstr>Example P.1: Recruiting Organ Donors (3 of 7)</vt:lpstr>
      <vt:lpstr>Example P.1: Recruiting Organ Donors (4 of 7)</vt:lpstr>
      <vt:lpstr>Example P.1: Recruiting Organ Donors (5 of 7)</vt:lpstr>
      <vt:lpstr>Example P.1: Recruiting Organ Donors (6 of 7)</vt:lpstr>
      <vt:lpstr>Example P.1: Recruiting Organ Donors (7 of 7)</vt:lpstr>
      <vt:lpstr>Terminology</vt:lpstr>
      <vt:lpstr>PowerPoint Presentation</vt:lpstr>
      <vt:lpstr>More Terminology</vt:lpstr>
      <vt:lpstr>Learning objectives for P.1</vt:lpstr>
      <vt:lpstr>Time for an Exploration!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Significance: How Strong is the Evidence?</dc:title>
  <dc:subject>Statistics</dc:subject>
  <dc:creator>Tintle</dc:creator>
  <cp:lastModifiedBy>Sarah R Roscoe</cp:lastModifiedBy>
  <cp:revision>2127</cp:revision>
  <cp:lastPrinted>2017-04-26T13:25:47Z</cp:lastPrinted>
  <dcterms:created xsi:type="dcterms:W3CDTF">2017-04-21T14:49:46Z</dcterms:created>
  <dcterms:modified xsi:type="dcterms:W3CDTF">2026-02-03T21:24:16Z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0x01010045F10621752DDA45BBA1A9E0C777CF7F</vt:lpwstr>
  </property>
</Properties>
</file>