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4" r:id="rId2"/>
  </p:sldMasterIdLst>
  <p:notesMasterIdLst>
    <p:notesMasterId r:id="rId17"/>
  </p:notesMasterIdLst>
  <p:sldIdLst>
    <p:sldId id="436" r:id="rId3"/>
    <p:sldId id="375" r:id="rId4"/>
    <p:sldId id="495" r:id="rId5"/>
    <p:sldId id="496" r:id="rId6"/>
    <p:sldId id="370" r:id="rId7"/>
    <p:sldId id="494" r:id="rId8"/>
    <p:sldId id="492" r:id="rId9"/>
    <p:sldId id="493" r:id="rId10"/>
    <p:sldId id="632" r:id="rId11"/>
    <p:sldId id="631" r:id="rId12"/>
    <p:sldId id="475" r:id="rId13"/>
    <p:sldId id="476" r:id="rId14"/>
    <p:sldId id="474" r:id="rId15"/>
    <p:sldId id="4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03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98CEA-3AE9-0842-9A96-3C9115CDA5C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B9EE1-6364-9F43-9A21-D12874710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3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073E54-D085-4E2E-B9A5-A53D7E51940E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3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B9EE1-6364-9F43-9A21-D12874710B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00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828800"/>
            <a:ext cx="11785600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4196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07387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838200"/>
            <a:ext cx="11785600" cy="2209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4478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STIX" charset="0"/>
                <a:ea typeface="STIX" charset="0"/>
                <a:cs typeface="STIX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</p:spTree>
    <p:extLst>
      <p:ext uri="{BB962C8B-B14F-4D97-AF65-F5344CB8AC3E}">
        <p14:creationId xmlns:p14="http://schemas.microsoft.com/office/powerpoint/2010/main" val="225947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5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1" hasCustomPrompt="1"/>
          </p:nvPr>
        </p:nvSpPr>
        <p:spPr>
          <a:xfrm>
            <a:off x="203200" y="1755648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2pPr>
            <a:lvl3pPr marL="9144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3pPr>
            <a:lvl4pPr marL="13716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4pPr>
            <a:lvl5pPr marL="1828800" indent="0" algn="ctr">
              <a:buNone/>
              <a:defRPr b="1" i="0"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/>
              <a:t>Third Edition</a:t>
            </a:r>
          </a:p>
        </p:txBody>
      </p:sp>
      <p:sp>
        <p:nvSpPr>
          <p:cNvPr id="5" name="Author"/>
          <p:cNvSpPr>
            <a:spLocks noGrp="1"/>
          </p:cNvSpPr>
          <p:nvPr>
            <p:ph sz="quarter" idx="22" hasCustomPrompt="1"/>
          </p:nvPr>
        </p:nvSpPr>
        <p:spPr>
          <a:xfrm>
            <a:off x="203200" y="2363724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David Klein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rgbClr val="007787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3" hasCustomPrompt="1"/>
          </p:nvPr>
        </p:nvSpPr>
        <p:spPr>
          <a:xfrm>
            <a:off x="2091891" y="6248400"/>
            <a:ext cx="8779309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Copyright ©2019 John Wiley &amp; Sons, Inc.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4"/>
          </p:nvPr>
        </p:nvSpPr>
        <p:spPr>
          <a:xfrm>
            <a:off x="203200" y="6092825"/>
            <a:ext cx="11785600" cy="273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18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1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065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291113" y="2290576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44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19730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31D40-8659-490C-A847-96CF64C152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6400" y="4339741"/>
            <a:ext cx="11379200" cy="390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AC5F648-714F-41B3-B0A9-EFB467D0BF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400" y="5022851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 sz="2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4DD2EA-EA3F-4637-934F-678F8B9466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00" y="5781676"/>
            <a:ext cx="11379200" cy="606425"/>
          </a:xfrm>
          <a:prstGeom prst="rect">
            <a:avLst/>
          </a:prstGeom>
        </p:spPr>
        <p:txBody>
          <a:bodyPr/>
          <a:lstStyle>
            <a:lvl1pPr>
              <a:buClr>
                <a:srgbClr val="911B21"/>
              </a:buCl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AB0A3D6A-283C-43F3-B8C1-9A067413E002}"/>
              </a:ext>
            </a:extLst>
          </p:cNvPr>
          <p:cNvSpPr txBox="1">
            <a:spLocks/>
          </p:cNvSpPr>
          <p:nvPr userDrawn="1"/>
        </p:nvSpPr>
        <p:spPr>
          <a:xfrm>
            <a:off x="8606769" y="6351500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0241161-D882-4165-B334-2C14A08BB8E0}"/>
              </a:ext>
            </a:extLst>
          </p:cNvPr>
          <p:cNvSpPr txBox="1">
            <a:spLocks/>
          </p:cNvSpPr>
          <p:nvPr userDrawn="1"/>
        </p:nvSpPr>
        <p:spPr>
          <a:xfrm>
            <a:off x="4034769" y="63515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74911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620886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D379F8-4629-41B2-BDC1-409D9A0ECF5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894F196-3B10-478F-B710-339354FA9E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Copyright ©2021 John Wiley &amp; Sons, Inc.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26129A0-4F0E-407F-AC43-4DDEDC5CD5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911351"/>
            <a:ext cx="11379200" cy="39465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00000"/>
              </a:lnSpc>
              <a:spcBef>
                <a:spcPts val="624"/>
              </a:spcBef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00000"/>
              </a:lnSpc>
              <a:spcBef>
                <a:spcPts val="624"/>
              </a:spcBef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5805C8-4641-4DD9-8EEE-8E3542D17A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54834" y="4035425"/>
            <a:ext cx="1113367" cy="12906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A1B72CE-EF87-477F-BA79-2E8C1521179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1154834" y="3125789"/>
            <a:ext cx="912284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4B1DF00-9DC3-492A-B100-4D3272B82A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54834" y="2214564"/>
            <a:ext cx="1037167" cy="6826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76DD1F-6897-4F1A-BC22-7DBC28584A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6940" y="4768589"/>
            <a:ext cx="11379200" cy="75882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CFB20B-7480-4C5A-8DF1-F11AAD7E560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-1088727" y="5053134"/>
            <a:ext cx="11379200" cy="257175"/>
          </a:xfrm>
          <a:prstGeom prst="rect">
            <a:avLst/>
          </a:prstGeom>
        </p:spPr>
        <p:txBody>
          <a:bodyPr/>
          <a:lstStyle>
            <a:lvl1pPr>
              <a:defRPr lang="en-US" sz="26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lang="en-US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lang="en-US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624"/>
              </a:spcBef>
              <a:buClr>
                <a:srgbClr val="911B2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dirty="0"/>
              <a:t>Second level</a:t>
            </a:r>
          </a:p>
          <a:p>
            <a:pPr lvl="2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Third level</a:t>
            </a:r>
          </a:p>
          <a:p>
            <a:pPr lvl="3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Fourth level</a:t>
            </a:r>
          </a:p>
          <a:p>
            <a:pPr lvl="4">
              <a:lnSpc>
                <a:spcPct val="100000"/>
              </a:lnSpc>
              <a:spcBef>
                <a:spcPts val="624"/>
              </a:spcBef>
            </a:pPr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B687367-93D1-4521-BBD6-A0564CA4FC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268201" y="3049589"/>
            <a:ext cx="1113367" cy="9858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9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3429000"/>
            <a:ext cx="11379200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5029200"/>
            <a:ext cx="1137920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2BACE4-69FF-4409-99CE-9BCD2C9878D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7DF617-D7C9-4AAC-ABB4-DFF0A77AE8F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5745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9533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5766107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3A17AB6-8208-4636-B70A-4B280921E8E8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D48A4B4-62FA-47D4-A8EC-046A13201B68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819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1"/>
            <a:ext cx="11379200" cy="6897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518260"/>
            <a:ext cx="11379200" cy="75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3353105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0" y="40361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0" y="479511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 dirty="0"/>
              <a:t>Copyright ©2020 John Wiley &amp; Sons, Inc. 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06400" y="55540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FC7C8C2-8E53-4648-8149-C8D83CA97CE9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7BE712D-A6E6-4E02-9B94-8A539F732706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18485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84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973631"/>
            <a:ext cx="11379200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400" y="4118460"/>
            <a:ext cx="1137920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6401" y="4953305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06401" y="5766107"/>
            <a:ext cx="326096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173327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173327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53401" y="4948654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53401" y="5761456"/>
            <a:ext cx="3339380" cy="524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15919-8751-4BE4-AA33-50DF1CCA64E4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5B39872-5D7C-431B-B547-3FC6F0E6034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37712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375848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764808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2982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831608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43650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8222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5279408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660408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78EB9964-3E34-4002-B0B3-CA179067C39A}"/>
              </a:ext>
            </a:extLst>
          </p:cNvPr>
          <p:cNvSpPr txBox="1">
            <a:spLocks/>
          </p:cNvSpPr>
          <p:nvPr userDrawn="1"/>
        </p:nvSpPr>
        <p:spPr>
          <a:xfrm>
            <a:off x="8610600" y="6363506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F53CD61-F10A-4FD0-B019-99E2468A5F8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72934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087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45D28D-E050-4820-AFD5-BCEEE93DFAD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06400" y="2214680"/>
            <a:ext cx="11379200" cy="2911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41CCC3-3BAF-49BA-81A2-3696342DF5C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8203" y="2594155"/>
            <a:ext cx="11379200" cy="394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9"/>
          </p:nvPr>
        </p:nvSpPr>
        <p:spPr>
          <a:xfrm>
            <a:off x="406400" y="304952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0"/>
          </p:nvPr>
        </p:nvSpPr>
        <p:spPr>
          <a:xfrm>
            <a:off x="406400" y="3504895"/>
            <a:ext cx="11379200" cy="3810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1"/>
          </p:nvPr>
        </p:nvSpPr>
        <p:spPr>
          <a:xfrm>
            <a:off x="406400" y="396026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22"/>
          </p:nvPr>
        </p:nvSpPr>
        <p:spPr>
          <a:xfrm>
            <a:off x="406400" y="441563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cap="none"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/>
          </p:nvPr>
        </p:nvSpPr>
        <p:spPr>
          <a:xfrm>
            <a:off x="406400" y="4871005"/>
            <a:ext cx="11379200" cy="3048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24"/>
          </p:nvPr>
        </p:nvSpPr>
        <p:spPr>
          <a:xfrm>
            <a:off x="508000" y="5326375"/>
            <a:ext cx="11277600" cy="228600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latin typeface="Times New Roman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29684" y="5781745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E4D1A0-6F20-4C86-8185-E1F69676C22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85261" y="5764248"/>
            <a:ext cx="6475863" cy="30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794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6ACF59F-042B-4CE1-AAE4-2FA4499AB366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B19427-F580-D146-B60E-4CADEE75497F}" type="slidenum">
              <a:rPr lang="en-US" sz="1200" smtClean="0"/>
              <a:pPr/>
              <a:t>‹#›</a:t>
            </a:fld>
            <a:endParaRPr lang="en-US" sz="1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42CDE9-7E9A-40FF-9BB8-77380C68654E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Copyright ©2020 John Wiley &amp; Sons, Inc.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36243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54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18281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429174" y="3808475"/>
            <a:ext cx="5565633" cy="8348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AAD719-5BF0-4C5E-BE8A-5C3956869DF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99200" y="3808414"/>
            <a:ext cx="5463117" cy="835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A815FFC-5DD1-44FE-91D7-17E9AFE9E70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9683" y="4795839"/>
            <a:ext cx="5666317" cy="6823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C82916B-0585-4B7E-9C9B-A7650469BF4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197600" y="4795839"/>
            <a:ext cx="5362840" cy="758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71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06400" y="5410202"/>
            <a:ext cx="11379200" cy="38099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400" y="609602"/>
            <a:ext cx="11379200" cy="47261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>
          <a:xfrm>
            <a:off x="406400" y="5791201"/>
            <a:ext cx="11379200" cy="457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10600" y="6356351"/>
            <a:ext cx="3175000" cy="365125"/>
          </a:xfrm>
        </p:spPr>
        <p:txBody>
          <a:bodyPr/>
          <a:lstStyle/>
          <a:p>
            <a:fld id="{43DD970A-8A59-5645-997B-8F1EF84171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08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4D96-C503-4BE0-9F48-7B0E0326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F8EB2-C64A-42B7-AC64-C10457D98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8BEA2-6D75-4F5A-A26E-60D47B7D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3794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00E9C-26F9-4C6B-8472-C51EA3DF4D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782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E3FB-88AF-4ADD-83DE-EE41332F22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744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7149E-2C4D-4F23-9B0B-AB7C708B84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38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2441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83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r>
              <a:rPr lang="en-US"/>
              <a:t>Copyright ©2020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30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4000" dirty="0"/>
              <a:t>Introduction to Statistical Investigations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hor"/>
          <p:cNvSpPr>
            <a:spLocks noGrp="1"/>
          </p:cNvSpPr>
          <p:nvPr>
            <p:ph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Edition</a:t>
            </a:r>
          </a:p>
        </p:txBody>
      </p:sp>
      <p:sp>
        <p:nvSpPr>
          <p:cNvPr id="3" name="Edition"/>
          <p:cNvSpPr>
            <a:spLocks noGrp="1"/>
          </p:cNvSpPr>
          <p:nvPr>
            <p:ph sz="quarter" idx="22"/>
          </p:nvPr>
        </p:nvSpPr>
        <p:spPr>
          <a:xfrm>
            <a:off x="1752600" y="2363724"/>
            <a:ext cx="8686800" cy="685800"/>
          </a:xfrm>
          <a:prstGeom prst="rect">
            <a:avLst/>
          </a:prstGeom>
        </p:spPr>
        <p:txBody>
          <a:bodyPr anchor="ctr"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Tintle, Chance, Cobb, Rossman, Roy, Swanson, VanderStoep</a:t>
            </a:r>
            <a:endParaRPr lang="en-US" sz="26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N"/>
          <p:cNvSpPr>
            <a:spLocks noGrp="1"/>
          </p:cNvSpPr>
          <p:nvPr>
            <p:ph sz="quarter" idx="19"/>
          </p:nvPr>
        </p:nvSpPr>
        <p:spPr>
          <a:xfrm>
            <a:off x="1676400" y="3657600"/>
            <a:ext cx="8839200" cy="533400"/>
          </a:xfrm>
        </p:spPr>
        <p:txBody>
          <a:bodyPr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1.3</a:t>
            </a:r>
          </a:p>
        </p:txBody>
      </p:sp>
      <p:sp>
        <p:nvSpPr>
          <p:cNvPr id="6" name="CT"/>
          <p:cNvSpPr>
            <a:spLocks noGrp="1"/>
          </p:cNvSpPr>
          <p:nvPr>
            <p:ph sz="quarter" idx="20"/>
          </p:nvPr>
        </p:nvSpPr>
        <p:spPr>
          <a:xfrm>
            <a:off x="1676400" y="4572000"/>
            <a:ext cx="8839200" cy="1437430"/>
          </a:xfrm>
        </p:spPr>
        <p:txBody>
          <a:bodyPr anchor="t"/>
          <a:lstStyle/>
          <a:p>
            <a:r>
              <a:rPr lang="en-US" sz="4000" dirty="0"/>
              <a:t>Significance: How Strong is the Evidence?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24"/>
          </p:nvPr>
        </p:nvSpPr>
        <p:spPr>
          <a:xfrm>
            <a:off x="1676400" y="6156325"/>
            <a:ext cx="8839200" cy="273050"/>
          </a:xfrm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slide deck contains animations. Please disable animations if they cause issues with your device.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23"/>
          </p:nvPr>
        </p:nvSpPr>
        <p:spPr>
          <a:xfrm>
            <a:off x="2815735" y="6340626"/>
            <a:ext cx="6584482" cy="4572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1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Copyright ©2021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26128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Review: Interpreting p-values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P-values are conditional probabilities:</a:t>
                </a:r>
              </a:p>
              <a:p>
                <a:pPr marL="114300" indent="0">
                  <a:buNone/>
                </a:pPr>
                <a:r>
                  <a:rPr lang="en-US" i="1" dirty="0">
                    <a:solidFill>
                      <a:schemeClr val="tx1"/>
                    </a:solidFill>
                  </a:rPr>
                  <a:t>The probability of observing a statistic as extreme or more extreme than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i="1" dirty="0">
                    <a:solidFill>
                      <a:schemeClr val="tx1"/>
                    </a:solidFill>
                  </a:rPr>
                  <a:t>, assuming the null hypothesis is true.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We know how to interpret probability in context:</a:t>
                </a:r>
              </a:p>
              <a:p>
                <a:pPr marL="114300" indent="0">
                  <a:buNone/>
                </a:pPr>
                <a:r>
                  <a:rPr lang="en-US" i="1" dirty="0">
                    <a:solidFill>
                      <a:schemeClr val="tx1"/>
                    </a:solidFill>
                  </a:rPr>
                  <a:t>If &lt;random process&gt; is repeated a very large number of times, then, in the long run, the proportion of repetitions in which &lt;event of interest&gt; occurs will approach &lt;probability&gt;.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58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Interpreting p-values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We can put these together.</a:t>
                </a:r>
              </a:p>
              <a:p>
                <a:r>
                  <a:rPr lang="en-US" b="1" u="sng" dirty="0">
                    <a:solidFill>
                      <a:schemeClr val="tx1"/>
                    </a:solidFill>
                  </a:rPr>
                  <a:t>Repeated random process</a:t>
                </a:r>
                <a:r>
                  <a:rPr lang="en-US" dirty="0">
                    <a:solidFill>
                      <a:schemeClr val="tx1"/>
                    </a:solidFill>
                  </a:rPr>
                  <a:t>: the null-hypothesis version of the study activity</a:t>
                </a:r>
              </a:p>
              <a:p>
                <a:pPr lvl="1"/>
                <a:r>
                  <a:rPr lang="en-US" sz="2600" dirty="0">
                    <a:solidFill>
                      <a:schemeClr val="tx1"/>
                    </a:solidFill>
                  </a:rPr>
                  <a:t>Harley guesses 10 times at random</a:t>
                </a:r>
              </a:p>
              <a:p>
                <a:pPr lvl="1"/>
                <a:r>
                  <a:rPr lang="en-US" sz="2600" dirty="0">
                    <a:solidFill>
                      <a:schemeClr val="tx1"/>
                    </a:solidFill>
                  </a:rPr>
                  <a:t>20 students choose R-P-S at random</a:t>
                </a:r>
              </a:p>
              <a:p>
                <a:r>
                  <a:rPr lang="en-US" b="1" u="sng" dirty="0">
                    <a:solidFill>
                      <a:schemeClr val="tx1"/>
                    </a:solidFill>
                  </a:rPr>
                  <a:t>Event of interest</a:t>
                </a:r>
                <a:r>
                  <a:rPr lang="en-US" dirty="0">
                    <a:solidFill>
                      <a:schemeClr val="tx1"/>
                    </a:solidFill>
                  </a:rPr>
                  <a:t>: an observed statistic as extreme or more extreme than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sz="2600" dirty="0">
                    <a:solidFill>
                      <a:schemeClr val="tx1"/>
                    </a:solidFill>
                  </a:rPr>
                  <a:t>Harley gets at least 9/10 correct</a:t>
                </a:r>
              </a:p>
              <a:p>
                <a:pPr lvl="1"/>
                <a:r>
                  <a:rPr lang="en-US" sz="2600" dirty="0">
                    <a:solidFill>
                      <a:schemeClr val="tx1"/>
                    </a:solidFill>
                  </a:rPr>
                  <a:t>2/20 or fewer students choose scissors</a:t>
                </a:r>
              </a:p>
              <a:p>
                <a:r>
                  <a:rPr lang="en-US" b="1" u="sng" dirty="0">
                    <a:solidFill>
                      <a:schemeClr val="tx1"/>
                    </a:solidFill>
                  </a:rPr>
                  <a:t>Probability</a:t>
                </a:r>
                <a:r>
                  <a:rPr lang="en-US" dirty="0">
                    <a:solidFill>
                      <a:schemeClr val="tx1"/>
                    </a:solidFill>
                  </a:rPr>
                  <a:t>: p-value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893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96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Interpreting 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What does it mean to say “the p-value for the Harley study was 0.01”?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</a:t>
            </a:r>
            <a:r>
              <a:rPr lang="en-US" i="1" dirty="0"/>
              <a:t>Harley guesses 10 times at random</a:t>
            </a:r>
            <a:r>
              <a:rPr lang="en-US" dirty="0"/>
              <a:t>, and this process is repeated a very large number of times, then, in the long run, the proportion of repetitions in which </a:t>
            </a:r>
            <a:r>
              <a:rPr lang="en-US" i="1" dirty="0"/>
              <a:t>Harley gets at least 9/10 correct</a:t>
            </a:r>
            <a:r>
              <a:rPr lang="en-US" dirty="0"/>
              <a:t> will approach </a:t>
            </a:r>
            <a:r>
              <a:rPr lang="en-US" i="1" dirty="0"/>
              <a:t>0.01.</a:t>
            </a:r>
          </a:p>
          <a:p>
            <a:pPr marL="114300" indent="0">
              <a:buNone/>
            </a:pPr>
            <a:endParaRPr lang="en-US" i="1" dirty="0"/>
          </a:p>
          <a:p>
            <a:pPr marL="114300" indent="0">
              <a:buNone/>
            </a:pPr>
            <a:r>
              <a:rPr lang="en-US" dirty="0"/>
              <a:t>Now you try for “the p-value for the R-P-S study was 0.149.”</a:t>
            </a:r>
          </a:p>
        </p:txBody>
      </p:sp>
    </p:spTree>
    <p:extLst>
      <p:ext uri="{BB962C8B-B14F-4D97-AF65-F5344CB8AC3E}">
        <p14:creationId xmlns:p14="http://schemas.microsoft.com/office/powerpoint/2010/main" val="41752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  <a:effectLst/>
              </a:rPr>
              <a:t>Alternative Measure of Strength of Evidence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Section 1.3</a:t>
            </a:r>
          </a:p>
        </p:txBody>
      </p:sp>
    </p:spTree>
    <p:extLst>
      <p:ext uri="{BB962C8B-B14F-4D97-AF65-F5344CB8AC3E}">
        <p14:creationId xmlns:p14="http://schemas.microsoft.com/office/powerpoint/2010/main" val="63940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Strength of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P-values are one measure for the strength of evidence. </a:t>
            </a:r>
          </a:p>
          <a:p>
            <a:r>
              <a:rPr lang="en-US" dirty="0"/>
              <a:t>Another approach is to </a:t>
            </a:r>
            <a:r>
              <a:rPr lang="en-US" i="1" dirty="0"/>
              <a:t>standardize</a:t>
            </a:r>
            <a:r>
              <a:rPr lang="en-US" dirty="0"/>
              <a:t> our observed statistic</a:t>
            </a:r>
            <a:r>
              <a:rPr lang="en-US" i="1" dirty="0"/>
              <a:t>.</a:t>
            </a:r>
          </a:p>
          <a:p>
            <a:r>
              <a:rPr lang="en-US" i="1" dirty="0"/>
              <a:t>Standardizing </a:t>
            </a:r>
            <a:r>
              <a:rPr lang="en-US" dirty="0"/>
              <a:t>gives a quick, informal way to evaluate strength of evidence.</a:t>
            </a:r>
          </a:p>
        </p:txBody>
      </p:sp>
    </p:spTree>
    <p:extLst>
      <p:ext uri="{BB962C8B-B14F-4D97-AF65-F5344CB8AC3E}">
        <p14:creationId xmlns:p14="http://schemas.microsoft.com/office/powerpoint/2010/main" val="255963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Describing a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aspects to look for in a distribution:</a:t>
            </a:r>
          </a:p>
          <a:p>
            <a:pPr lvl="1"/>
            <a:r>
              <a:rPr lang="en-US" sz="2800" b="1" i="1" dirty="0"/>
              <a:t>Shape </a:t>
            </a:r>
          </a:p>
          <a:p>
            <a:pPr lvl="1"/>
            <a:r>
              <a:rPr lang="en-US" sz="2800" b="1" i="1" dirty="0"/>
              <a:t>Center </a:t>
            </a:r>
            <a:endParaRPr lang="en-US" sz="2800" dirty="0"/>
          </a:p>
          <a:p>
            <a:pPr lvl="1"/>
            <a:r>
              <a:rPr lang="en-US" sz="2800" b="1" i="1" dirty="0"/>
              <a:t>Variability </a:t>
            </a:r>
            <a:r>
              <a:rPr lang="en-US" sz="2800" dirty="0"/>
              <a:t>(how spread out is the data?)</a:t>
            </a:r>
          </a:p>
          <a:p>
            <a:pPr lvl="1"/>
            <a:r>
              <a:rPr lang="en-US" sz="2800" b="1" i="1" dirty="0"/>
              <a:t>Unusual observations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4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Describing a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our null distribution:</a:t>
            </a:r>
          </a:p>
          <a:p>
            <a:pPr lvl="1"/>
            <a:r>
              <a:rPr lang="en-US" sz="2800" b="1" i="1" dirty="0"/>
              <a:t>Shape: </a:t>
            </a:r>
            <a:r>
              <a:rPr lang="en-US" sz="2800" dirty="0"/>
              <a:t>bell-curve (“normal”)</a:t>
            </a:r>
          </a:p>
          <a:p>
            <a:pPr lvl="1"/>
            <a:r>
              <a:rPr lang="en-US" sz="2800" b="1" i="1" dirty="0"/>
              <a:t>Center: </a:t>
            </a:r>
            <a:r>
              <a:rPr lang="en-US" sz="2800" dirty="0"/>
              <a:t>mean (average)</a:t>
            </a:r>
          </a:p>
          <a:p>
            <a:pPr lvl="1"/>
            <a:r>
              <a:rPr lang="en-US" sz="2800" b="1" i="1" dirty="0"/>
              <a:t>Variability: </a:t>
            </a:r>
            <a:r>
              <a:rPr lang="en-US" sz="2800" dirty="0"/>
              <a:t>standard deviation (SD)</a:t>
            </a:r>
          </a:p>
          <a:p>
            <a:pPr lvl="1"/>
            <a:r>
              <a:rPr lang="en-US" sz="2800" b="1" i="1" dirty="0"/>
              <a:t>Unusual observations: </a:t>
            </a:r>
            <a:r>
              <a:rPr lang="en-US" sz="2800" dirty="0"/>
              <a:t>none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68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3345-CAB3-4841-2F8A-0F038F59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F44D4-2AD1-D6C4-0F66-923A0402F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1B7A9-3394-FCE0-76F5-A2DBE3ED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2DFDC9-0AEC-A1CD-72E1-D4BA44ADDB1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We can think of the standard deviation as the </a:t>
            </a:r>
            <a:r>
              <a:rPr lang="en-US" i="1" dirty="0"/>
              <a:t>distance</a:t>
            </a:r>
            <a:r>
              <a:rPr lang="en-US" dirty="0"/>
              <a:t> a typical value in the distribution is away from the mean of the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43137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AF89-F1F3-A989-3AE8-A532CDEB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a summary statistic?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DCFDDC-8363-6A3E-7247-7A315F62B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240A0-58E7-83C3-F65D-436014FE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©2020 John Wiley &amp; Sons, Inc.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959560-6551-A397-4BF4-2846E564485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Standard Deviation - Formula | How to Calculate Standard Deviation?">
            <a:extLst>
              <a:ext uri="{FF2B5EF4-FFF2-40B4-BE49-F238E27FC236}">
                <a16:creationId xmlns:a16="http://schemas.microsoft.com/office/drawing/2014/main" id="{E31D3B81-B6F4-16E2-8F17-E332E7B4E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0" y="1370013"/>
            <a:ext cx="88265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58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Describing a Distribution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r>
              <a:rPr lang="en-US" dirty="0"/>
              <a:t>There are two main ways to find the mean and SD of a null distribution:</a:t>
            </a:r>
          </a:p>
          <a:p>
            <a:pPr lvl="1"/>
            <a:r>
              <a:rPr lang="en-US" sz="2600" dirty="0"/>
              <a:t>Have the applet compute them. (Click “Summary Stats” box in </a:t>
            </a:r>
            <a:r>
              <a:rPr lang="en-US" sz="2600" b="1" dirty="0"/>
              <a:t>One Proportion</a:t>
            </a:r>
            <a:r>
              <a:rPr lang="en-US" sz="2600" dirty="0"/>
              <a:t> applet.)</a:t>
            </a:r>
          </a:p>
          <a:p>
            <a:pPr lvl="1"/>
            <a:r>
              <a:rPr lang="en-US" sz="2600" dirty="0"/>
              <a:t>Use an appropriate theory-based approach (Section 1.5).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9878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Describing a Distribution</a:t>
            </a:r>
          </a:p>
        </p:txBody>
      </p:sp>
      <p:sp>
        <p:nvSpPr>
          <p:cNvPr id="5" name="Oval 4"/>
          <p:cNvSpPr/>
          <p:nvPr/>
        </p:nvSpPr>
        <p:spPr>
          <a:xfrm>
            <a:off x="2819400" y="1981200"/>
            <a:ext cx="1676400" cy="838200"/>
          </a:xfrm>
          <a:prstGeom prst="ellipse">
            <a:avLst/>
          </a:prstGeom>
          <a:noFill/>
          <a:ln w="28575" cmpd="sng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6CC26-E2F0-B749-BBC0-89B04E0B50CF}"/>
              </a:ext>
            </a:extLst>
          </p:cNvPr>
          <p:cNvSpPr txBox="1"/>
          <p:nvPr/>
        </p:nvSpPr>
        <p:spPr>
          <a:xfrm>
            <a:off x="5410201" y="1676400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Verdana" pitchFamily="34" charset="0"/>
              </a:rPr>
              <a:t>z=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053745-646A-004F-8F3B-1D2C4BCF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024" y="1379009"/>
            <a:ext cx="63500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37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Standardized Statistic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r>
              <a:rPr lang="en-US" dirty="0"/>
              <a:t>The</a:t>
            </a:r>
            <a:r>
              <a:rPr lang="en-US" i="1" dirty="0"/>
              <a:t> </a:t>
            </a:r>
            <a:r>
              <a:rPr lang="en-US" b="1" i="1" dirty="0"/>
              <a:t>standardized statistic</a:t>
            </a:r>
            <a:r>
              <a:rPr lang="en-US" i="1" dirty="0"/>
              <a:t> </a:t>
            </a:r>
            <a:r>
              <a:rPr lang="en-US" dirty="0"/>
              <a:t>(denoted </a:t>
            </a:r>
            <a:r>
              <a:rPr lang="en-US" b="1" i="1" dirty="0"/>
              <a:t>z</a:t>
            </a:r>
            <a:r>
              <a:rPr lang="en-US" dirty="0"/>
              <a:t>) is the number of standard deviations an observed statistic falls above or below the mean of a null distribution.</a:t>
            </a:r>
          </a:p>
          <a:p>
            <a:r>
              <a:rPr lang="en-US" dirty="0"/>
              <a:t>Measure how far the observed value is from the mean of the distribution, using standard deviation units.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		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88A560-1BBA-B94D-9243-DD849F843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068793"/>
            <a:ext cx="8026400" cy="11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98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The Standardized Statistic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9800" y="4648200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Verdana" pitchFamily="34" charset="0"/>
              </a:rPr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7AE0B2-0680-6746-B274-E20DBAEE94A1}"/>
              </a:ext>
            </a:extLst>
          </p:cNvPr>
          <p:cNvCxnSpPr/>
          <p:nvPr/>
        </p:nvCxnSpPr>
        <p:spPr>
          <a:xfrm>
            <a:off x="2590800" y="5181600"/>
            <a:ext cx="6400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99D9C6-643F-4348-A922-3480EFCCCB92}"/>
              </a:ext>
            </a:extLst>
          </p:cNvPr>
          <p:cNvCxnSpPr/>
          <p:nvPr/>
        </p:nvCxnSpPr>
        <p:spPr>
          <a:xfrm>
            <a:off x="57150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E16047-9A26-D743-89D8-DB68D7057BA0}"/>
              </a:ext>
            </a:extLst>
          </p:cNvPr>
          <p:cNvCxnSpPr/>
          <p:nvPr/>
        </p:nvCxnSpPr>
        <p:spPr>
          <a:xfrm>
            <a:off x="65532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19AFFB-DAAA-E94E-862B-3DCC5D875F23}"/>
              </a:ext>
            </a:extLst>
          </p:cNvPr>
          <p:cNvCxnSpPr/>
          <p:nvPr/>
        </p:nvCxnSpPr>
        <p:spPr>
          <a:xfrm>
            <a:off x="6553200" y="4953000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FD7995-A848-3143-9261-7C560A1E19F1}"/>
              </a:ext>
            </a:extLst>
          </p:cNvPr>
          <p:cNvCxnSpPr/>
          <p:nvPr/>
        </p:nvCxnSpPr>
        <p:spPr>
          <a:xfrm>
            <a:off x="7391400" y="4953000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0F9DBD-01BF-394A-9E62-72AC15D56E95}"/>
              </a:ext>
            </a:extLst>
          </p:cNvPr>
          <p:cNvCxnSpPr/>
          <p:nvPr/>
        </p:nvCxnSpPr>
        <p:spPr>
          <a:xfrm>
            <a:off x="73914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244E53-84E5-494C-B236-D53BA25CE61E}"/>
              </a:ext>
            </a:extLst>
          </p:cNvPr>
          <p:cNvCxnSpPr/>
          <p:nvPr/>
        </p:nvCxnSpPr>
        <p:spPr>
          <a:xfrm>
            <a:off x="82296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1F0A86-7550-B347-BFCD-12E2CDA0B000}"/>
              </a:ext>
            </a:extLst>
          </p:cNvPr>
          <p:cNvCxnSpPr/>
          <p:nvPr/>
        </p:nvCxnSpPr>
        <p:spPr>
          <a:xfrm>
            <a:off x="48768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B0204A-E4C2-494F-A506-D57B2736E407}"/>
              </a:ext>
            </a:extLst>
          </p:cNvPr>
          <p:cNvCxnSpPr/>
          <p:nvPr/>
        </p:nvCxnSpPr>
        <p:spPr>
          <a:xfrm>
            <a:off x="57150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623F8C-6B7D-204A-8C0A-6A13A02230E5}"/>
              </a:ext>
            </a:extLst>
          </p:cNvPr>
          <p:cNvCxnSpPr/>
          <p:nvPr/>
        </p:nvCxnSpPr>
        <p:spPr>
          <a:xfrm>
            <a:off x="40386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30FEEB-4AAD-AE40-8FB2-7103E2083996}"/>
              </a:ext>
            </a:extLst>
          </p:cNvPr>
          <p:cNvCxnSpPr/>
          <p:nvPr/>
        </p:nvCxnSpPr>
        <p:spPr>
          <a:xfrm>
            <a:off x="48768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18D679-FF77-AE49-9371-E3F39BA142E9}"/>
              </a:ext>
            </a:extLst>
          </p:cNvPr>
          <p:cNvCxnSpPr/>
          <p:nvPr/>
        </p:nvCxnSpPr>
        <p:spPr>
          <a:xfrm>
            <a:off x="32004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F61CE0-9553-D045-B4EF-A8F53207EB01}"/>
              </a:ext>
            </a:extLst>
          </p:cNvPr>
          <p:cNvCxnSpPr/>
          <p:nvPr/>
        </p:nvCxnSpPr>
        <p:spPr>
          <a:xfrm>
            <a:off x="4038600" y="5017532"/>
            <a:ext cx="0" cy="31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8F29B96-89D9-834A-973D-BB0941366716}"/>
              </a:ext>
            </a:extLst>
          </p:cNvPr>
          <p:cNvSpPr txBox="1"/>
          <p:nvPr/>
        </p:nvSpPr>
        <p:spPr>
          <a:xfrm>
            <a:off x="556260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074CB8-E3D2-544E-B5FC-2859F59B82EE}"/>
              </a:ext>
            </a:extLst>
          </p:cNvPr>
          <p:cNvSpPr txBox="1"/>
          <p:nvPr/>
        </p:nvSpPr>
        <p:spPr>
          <a:xfrm>
            <a:off x="6386688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59D39B-CEE7-DC48-A6D7-B71969D60247}"/>
              </a:ext>
            </a:extLst>
          </p:cNvPr>
          <p:cNvSpPr txBox="1"/>
          <p:nvPr/>
        </p:nvSpPr>
        <p:spPr>
          <a:xfrm>
            <a:off x="725267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EC6172-22F5-DF4C-A0BE-CCAB80F94DF1}"/>
              </a:ext>
            </a:extLst>
          </p:cNvPr>
          <p:cNvSpPr txBox="1"/>
          <p:nvPr/>
        </p:nvSpPr>
        <p:spPr>
          <a:xfrm>
            <a:off x="8090870" y="533400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B7FC7C-44D3-6649-BA4E-39E3BB541DA1}"/>
              </a:ext>
            </a:extLst>
          </p:cNvPr>
          <p:cNvSpPr txBox="1"/>
          <p:nvPr/>
        </p:nvSpPr>
        <p:spPr>
          <a:xfrm>
            <a:off x="4641173" y="533400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-1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E05FAD-83ED-9448-89D4-2C2B554BE94C}"/>
              </a:ext>
            </a:extLst>
          </p:cNvPr>
          <p:cNvSpPr txBox="1"/>
          <p:nvPr/>
        </p:nvSpPr>
        <p:spPr>
          <a:xfrm>
            <a:off x="3820431" y="534566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-2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95D71C-0B6A-D747-BB6E-999C9E42D46D}"/>
              </a:ext>
            </a:extLst>
          </p:cNvPr>
          <p:cNvSpPr txBox="1"/>
          <p:nvPr/>
        </p:nvSpPr>
        <p:spPr>
          <a:xfrm>
            <a:off x="2930575" y="5334000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-3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886EAA-1627-8E4A-A4DF-5A3FBCB2F7EE}"/>
              </a:ext>
            </a:extLst>
          </p:cNvPr>
          <p:cNvSpPr txBox="1"/>
          <p:nvPr/>
        </p:nvSpPr>
        <p:spPr>
          <a:xfrm>
            <a:off x="7359136" y="4611470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strong</a:t>
            </a:r>
            <a:endParaRPr lang="en-US" dirty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0E0F13-9A59-C04E-AA53-14972518167E}"/>
              </a:ext>
            </a:extLst>
          </p:cNvPr>
          <p:cNvSpPr txBox="1"/>
          <p:nvPr/>
        </p:nvSpPr>
        <p:spPr>
          <a:xfrm>
            <a:off x="3166329" y="4605636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strong</a:t>
            </a:r>
            <a:endParaRPr lang="en-US" dirty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0ADEC0-9FF5-F945-9BC5-48749D029A49}"/>
              </a:ext>
            </a:extLst>
          </p:cNvPr>
          <p:cNvSpPr txBox="1"/>
          <p:nvPr/>
        </p:nvSpPr>
        <p:spPr>
          <a:xfrm>
            <a:off x="8294709" y="4467134"/>
            <a:ext cx="923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very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strong</a:t>
            </a:r>
            <a:endParaRPr lang="en-US" dirty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E540D7-456B-A144-A9C9-4F7665DC9507}"/>
              </a:ext>
            </a:extLst>
          </p:cNvPr>
          <p:cNvSpPr txBox="1"/>
          <p:nvPr/>
        </p:nvSpPr>
        <p:spPr>
          <a:xfrm>
            <a:off x="2173640" y="4467134"/>
            <a:ext cx="923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very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FF0000"/>
                </a:solidFill>
                <a:latin typeface="Verdana" pitchFamily="34" charset="0"/>
              </a:rPr>
              <a:t>strong</a:t>
            </a:r>
            <a:endParaRPr lang="en-US" dirty="0">
              <a:solidFill>
                <a:srgbClr val="FF0000"/>
              </a:solidFill>
              <a:latin typeface="Times New Roman"/>
              <a:ea typeface="Times New Roman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/>
              </a:solidFill>
              <a:latin typeface="Verdana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F265B3-5240-4747-A8BF-D5E7D5A92BCE}"/>
              </a:ext>
            </a:extLst>
          </p:cNvPr>
          <p:cNvSpPr txBox="1"/>
          <p:nvPr/>
        </p:nvSpPr>
        <p:spPr>
          <a:xfrm>
            <a:off x="4857688" y="4583668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weak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8DD629-0A76-904D-B5F7-21F33EFBFEF9}"/>
              </a:ext>
            </a:extLst>
          </p:cNvPr>
          <p:cNvSpPr txBox="1"/>
          <p:nvPr/>
        </p:nvSpPr>
        <p:spPr>
          <a:xfrm>
            <a:off x="5728672" y="4583668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weak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0095E8-46F3-904F-9E13-65D2AD102FD2}"/>
              </a:ext>
            </a:extLst>
          </p:cNvPr>
          <p:cNvSpPr txBox="1"/>
          <p:nvPr/>
        </p:nvSpPr>
        <p:spPr>
          <a:xfrm>
            <a:off x="2590472" y="5739684"/>
            <a:ext cx="6608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latin typeface="Verdana" pitchFamily="34" charset="0"/>
              </a:rPr>
              <a:t>Strength of evidence against H</a:t>
            </a:r>
            <a:r>
              <a:rPr lang="en-US" baseline="-25000" dirty="0">
                <a:latin typeface="Verdana" pitchFamily="34" charset="0"/>
              </a:rPr>
              <a:t>0</a:t>
            </a:r>
            <a:r>
              <a:rPr lang="en-US" dirty="0">
                <a:latin typeface="Verdana" pitchFamily="34" charset="0"/>
              </a:rPr>
              <a:t> for various values of z </a:t>
            </a:r>
          </a:p>
        </p:txBody>
      </p:sp>
      <p:graphicFrame>
        <p:nvGraphicFramePr>
          <p:cNvPr id="4" name="Table Placeholder 8" descr="Table is accessible to screenreaders">
            <a:extLst>
              <a:ext uri="{FF2B5EF4-FFF2-40B4-BE49-F238E27FC236}">
                <a16:creationId xmlns:a16="http://schemas.microsoft.com/office/drawing/2014/main" id="{42E23C86-49E4-184F-A69C-F92F9DA139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3628080"/>
              </p:ext>
            </p:extLst>
          </p:nvPr>
        </p:nvGraphicFramePr>
        <p:xfrm>
          <a:off x="1872307" y="1930400"/>
          <a:ext cx="804487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2435">
                  <a:extLst>
                    <a:ext uri="{9D8B030D-6E8A-4147-A177-3AD203B41FA5}">
                      <a16:colId xmlns:a16="http://schemas.microsoft.com/office/drawing/2014/main" val="3477562137"/>
                    </a:ext>
                  </a:extLst>
                </a:gridCol>
                <a:gridCol w="4022435">
                  <a:extLst>
                    <a:ext uri="{9D8B030D-6E8A-4147-A177-3AD203B41FA5}">
                      <a16:colId xmlns:a16="http://schemas.microsoft.com/office/drawing/2014/main" val="34655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Statistic</a:t>
                      </a:r>
                      <a:endParaRPr lang="en-US" sz="2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Against Null</a:t>
                      </a:r>
                      <a:endParaRPr lang="en-US" sz="2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38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between</a:t>
                      </a:r>
                      <a:r>
                        <a:rPr lang="en-US" sz="28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−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 and 1.5 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much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34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−1.5 or above 1.5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19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−2 or</a:t>
                      </a:r>
                      <a:r>
                        <a:rPr lang="en-US" sz="2800" b="0" baseline="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above 2</a:t>
                      </a:r>
                      <a:endParaRPr lang="en-US" sz="2800" b="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lang="en-US" sz="28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3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−3 or above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</a:t>
                      </a:r>
                      <a:endParaRPr lang="en-US" sz="28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strong</a:t>
                      </a:r>
                      <a:endParaRPr lang="en-US" sz="2800" dirty="0"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992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004755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593</Words>
  <Application>Microsoft Macintosh PowerPoint</Application>
  <PresentationFormat>Widescreen</PresentationFormat>
  <Paragraphs>98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Courier New</vt:lpstr>
      <vt:lpstr>Source Sans Pro</vt:lpstr>
      <vt:lpstr>STIX</vt:lpstr>
      <vt:lpstr>Times New Roman</vt:lpstr>
      <vt:lpstr>Verdana</vt:lpstr>
      <vt:lpstr>Opener</vt:lpstr>
      <vt:lpstr>Image Slide Master</vt:lpstr>
      <vt:lpstr>Introduction to Statistical Investigations</vt:lpstr>
      <vt:lpstr>Review: Interpreting p-values</vt:lpstr>
      <vt:lpstr>Interpreting p-values</vt:lpstr>
      <vt:lpstr>Interpreting p-values</vt:lpstr>
      <vt:lpstr>Alternative Measure of Strength of Evidence</vt:lpstr>
      <vt:lpstr>Strength of Evidence</vt:lpstr>
      <vt:lpstr>Describing a Distribution</vt:lpstr>
      <vt:lpstr>Describing a Distribution</vt:lpstr>
      <vt:lpstr>Standard Deviation</vt:lpstr>
      <vt:lpstr>What's a summary statistic?</vt:lpstr>
      <vt:lpstr>Describing a Distribution</vt:lpstr>
      <vt:lpstr>Describing a Distribution</vt:lpstr>
      <vt:lpstr>The Standardized Statistic</vt:lpstr>
      <vt:lpstr>The Standardized Statistic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 Roscoe</dc:creator>
  <cp:lastModifiedBy>Sarah R Roscoe</cp:lastModifiedBy>
  <cp:revision>3</cp:revision>
  <dcterms:created xsi:type="dcterms:W3CDTF">2026-02-18T02:32:11Z</dcterms:created>
  <dcterms:modified xsi:type="dcterms:W3CDTF">2026-02-19T19:54:44Z</dcterms:modified>
</cp:coreProperties>
</file>