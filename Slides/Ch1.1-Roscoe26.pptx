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6.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4004" r:id="rId10"/>
    <p:sldMasterId id="2147483976" r:id="rId11"/>
  </p:sldMasterIdLst>
  <p:notesMasterIdLst>
    <p:notesMasterId r:id="rId36"/>
  </p:notesMasterIdLst>
  <p:sldIdLst>
    <p:sldId id="436" r:id="rId12"/>
    <p:sldId id="456" r:id="rId13"/>
    <p:sldId id="566" r:id="rId14"/>
    <p:sldId id="457" r:id="rId15"/>
    <p:sldId id="458" r:id="rId16"/>
    <p:sldId id="459" r:id="rId17"/>
    <p:sldId id="577" r:id="rId18"/>
    <p:sldId id="578" r:id="rId19"/>
    <p:sldId id="579" r:id="rId20"/>
    <p:sldId id="580" r:id="rId21"/>
    <p:sldId id="581" r:id="rId22"/>
    <p:sldId id="582" r:id="rId23"/>
    <p:sldId id="583" r:id="rId24"/>
    <p:sldId id="584" r:id="rId25"/>
    <p:sldId id="585" r:id="rId26"/>
    <p:sldId id="586" r:id="rId27"/>
    <p:sldId id="587" r:id="rId28"/>
    <p:sldId id="588" r:id="rId29"/>
    <p:sldId id="589" r:id="rId30"/>
    <p:sldId id="590" r:id="rId31"/>
    <p:sldId id="591" r:id="rId32"/>
    <p:sldId id="592" r:id="rId33"/>
    <p:sldId id="593" r:id="rId34"/>
    <p:sldId id="594" r:id="rId35"/>
  </p:sldIdLst>
  <p:sldSz cx="9144000" cy="6858000" type="screen4x3"/>
  <p:notesSz cx="7315200" cy="96012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2976" userDrawn="1">
          <p15:clr>
            <a:srgbClr val="A4A3A4"/>
          </p15:clr>
        </p15:guide>
        <p15:guide id="3" orient="horz" pos="1108" userDrawn="1">
          <p15:clr>
            <a:srgbClr val="A4A3A4"/>
          </p15:clr>
        </p15:guide>
        <p15:guide id="4" pos="442" userDrawn="1">
          <p15:clr>
            <a:srgbClr val="A4A3A4"/>
          </p15:clr>
        </p15:guide>
        <p15:guide id="5" orient="horz" pos="259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 id="4" name="BHUVANESWARI V Venkatesan" initials="BVV" lastIdx="2"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7F"/>
    <a:srgbClr val="931B21"/>
    <a:srgbClr val="930000"/>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70" autoAdjust="0"/>
    <p:restoredTop sz="87560" autoAdjust="0"/>
  </p:normalViewPr>
  <p:slideViewPr>
    <p:cSldViewPr>
      <p:cViewPr varScale="1">
        <p:scale>
          <a:sx n="93" d="100"/>
          <a:sy n="93" d="100"/>
        </p:scale>
        <p:origin x="2056" y="200"/>
      </p:cViewPr>
      <p:guideLst>
        <p:guide orient="horz" pos="2064"/>
        <p:guide pos="2976"/>
        <p:guide orient="horz" pos="1108"/>
        <p:guide pos="442"/>
        <p:guide orient="horz" pos="2590"/>
      </p:guideLst>
    </p:cSldViewPr>
  </p:slideViewPr>
  <p:outlineViewPr>
    <p:cViewPr>
      <p:scale>
        <a:sx n="33" d="100"/>
        <a:sy n="33" d="100"/>
      </p:scale>
      <p:origin x="0" y="-2868"/>
    </p:cViewPr>
  </p:outlineViewPr>
  <p:notesTextViewPr>
    <p:cViewPr>
      <p:scale>
        <a:sx n="66" d="100"/>
        <a:sy n="66" d="100"/>
      </p:scale>
      <p:origin x="0" y="0"/>
    </p:cViewPr>
  </p:notesTextViewPr>
  <p:sorterViewPr>
    <p:cViewPr>
      <p:scale>
        <a:sx n="70" d="100"/>
        <a:sy n="70" d="100"/>
      </p:scale>
      <p:origin x="0" y="0"/>
    </p:cViewPr>
  </p:sorterViewPr>
  <p:notesViewPr>
    <p:cSldViewPr>
      <p:cViewPr varScale="1">
        <p:scale>
          <a:sx n="91" d="100"/>
          <a:sy n="91" d="100"/>
        </p:scale>
        <p:origin x="2472" y="184"/>
      </p:cViewPr>
      <p:guideLst>
        <p:guide orient="horz" pos="3024"/>
        <p:guide pos="2304"/>
      </p:guideLst>
    </p:cSldViewPr>
  </p:notesViewPr>
  <p:gridSpacing cx="75895" cy="75895"/>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presProps" Target="presProps.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pPr/>
              <a:t>2/12/26</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pPr/>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1</a:t>
            </a:fld>
            <a:endParaRPr lang="en-US" dirty="0"/>
          </a:p>
        </p:txBody>
      </p:sp>
    </p:spTree>
    <p:extLst>
      <p:ext uri="{BB962C8B-B14F-4D97-AF65-F5344CB8AC3E}">
        <p14:creationId xmlns:p14="http://schemas.microsoft.com/office/powerpoint/2010/main" val="2678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a:t>
            </a:r>
            <a:r>
              <a:rPr lang="en-US" baseline="0" dirty="0"/>
              <a:t> 1 of 2)</a:t>
            </a:r>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pPr/>
              <a:t>20</a:t>
            </a:fld>
            <a:endParaRPr lang="en-US" dirty="0"/>
          </a:p>
        </p:txBody>
      </p:sp>
    </p:spTree>
    <p:extLst>
      <p:ext uri="{BB962C8B-B14F-4D97-AF65-F5344CB8AC3E}">
        <p14:creationId xmlns:p14="http://schemas.microsoft.com/office/powerpoint/2010/main" val="2973053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828800"/>
            <a:ext cx="8839200" cy="4572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419600"/>
            <a:ext cx="8839200" cy="22860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14" name="CT"/>
          <p:cNvSpPr>
            <a:spLocks noGrp="1"/>
          </p:cNvSpPr>
          <p:nvPr>
            <p:ph sz="quarter" idx="20" hasCustomPrompt="1"/>
          </p:nvPr>
        </p:nvSpPr>
        <p:spPr>
          <a:xfrm>
            <a:off x="152400" y="838200"/>
            <a:ext cx="8839200" cy="22098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447800"/>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Times New Roman" charset="0"/>
                <a:ea typeface="Times New Roman" charset="0"/>
                <a:cs typeface="Times New Roman" charset="0"/>
              </a:defRPr>
            </a:lvl1pPr>
          </a:lstStyle>
          <a:p>
            <a:pPr lvl="0"/>
            <a:r>
              <a:rPr lang="en-US" dirty="0"/>
              <a:t>Third Edition</a:t>
            </a:r>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STIX" charset="0"/>
                <a:ea typeface="STIX" charset="0"/>
                <a:cs typeface="STIX" charset="0"/>
              </a:defRPr>
            </a:lvl1pPr>
          </a:lstStyle>
          <a:p>
            <a:pPr lvl="0"/>
            <a:r>
              <a:rPr lang="en-US" dirty="0"/>
              <a:t>David Klein</a:t>
            </a:r>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755648"/>
            <a:ext cx="88392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267200"/>
            <a:ext cx="88392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1568918" y="6248400"/>
            <a:ext cx="6584482"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152400" y="6092825"/>
            <a:ext cx="88392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3570018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IN" dirty="0"/>
              <a:t>Copyright ©2020 John Wiley &amp; Sons, Inc. </a:t>
            </a:r>
            <a:endParaRPr lang="en-US" dirty="0"/>
          </a:p>
        </p:txBody>
      </p:sp>
    </p:spTree>
    <p:extLst>
      <p:ext uri="{BB962C8B-B14F-4D97-AF65-F5344CB8AC3E}">
        <p14:creationId xmlns:p14="http://schemas.microsoft.com/office/powerpoint/2010/main" val="1866936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BL 2-col"/>
          <p:cNvSpPr>
            <a:spLocks noGrp="1"/>
          </p:cNvSpPr>
          <p:nvPr>
            <p:ph sz="quarter" idx="12" hasCustomPrompt="1"/>
          </p:nvPr>
        </p:nvSpPr>
        <p:spPr>
          <a:xfrm>
            <a:off x="304800" y="1752600"/>
            <a:ext cx="8534400" cy="441960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p:txBody>
      </p:sp>
      <p:sp>
        <p:nvSpPr>
          <p:cNvPr id="7" name="Slide Number Placeholder 6"/>
          <p:cNvSpPr>
            <a:spLocks noGrp="1"/>
          </p:cNvSpPr>
          <p:nvPr>
            <p:ph type="sldNum" sz="quarter" idx="14"/>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a:latin typeface="Times New Roman" charset="0"/>
                <a:ea typeface="Times New Roman" charset="0"/>
                <a:cs typeface="Times New Roman" charset="0"/>
              </a:defRPr>
            </a:lvl1pPr>
          </a:lstStyle>
          <a:p>
            <a:r>
              <a:rPr lang="en-IN" dirty="0"/>
              <a:t>Copyright ©2020 John Wiley &amp; Sons, Inc. </a:t>
            </a:r>
            <a:endParaRPr lang="en-US" dirty="0"/>
          </a:p>
        </p:txBody>
      </p:sp>
    </p:spTree>
    <p:extLst>
      <p:ext uri="{BB962C8B-B14F-4D97-AF65-F5344CB8AC3E}">
        <p14:creationId xmlns:p14="http://schemas.microsoft.com/office/powerpoint/2010/main" val="993600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78642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Times New Roman" charset="0"/>
                <a:ea typeface="Times New Roman" charset="0"/>
                <a:cs typeface="Times New Roman"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123572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Times New Roman" charset="0"/>
                <a:ea typeface="Times New Roman" charset="0"/>
                <a:cs typeface="Times New Roman"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Times New Roman" charset="0"/>
                <a:ea typeface="Times New Roman" charset="0"/>
                <a:cs typeface="Times New Roman"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837909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Times New Roman" charset="0"/>
                <a:ea typeface="Times New Roman" charset="0"/>
                <a:cs typeface="Times New Roman" charset="0"/>
              </a:defRPr>
            </a:lvl1pPr>
            <a:lvl2pPr marL="803275" indent="-282575">
              <a:buClr>
                <a:schemeClr val="accent2"/>
              </a:buClr>
              <a:tabLst/>
              <a:defRPr sz="2400" b="0" i="0" baseline="0">
                <a:latin typeface="Times New Roman" charset="0"/>
                <a:ea typeface="Times New Roman" charset="0"/>
                <a:cs typeface="Times New Roman"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Times New Roman" charset="0"/>
                <a:ea typeface="Times New Roman" charset="0"/>
                <a:cs typeface="Times New Roman"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26343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Times New Roman" charset="0"/>
                <a:ea typeface="Times New Roman" charset="0"/>
                <a:cs typeface="Times New Roman" charset="0"/>
              </a:defRPr>
            </a:lvl1pPr>
            <a:lvl2pPr marL="1143000" indent="-292608">
              <a:buClr>
                <a:schemeClr val="accent2"/>
              </a:buClr>
              <a:defRPr sz="2400" b="0" i="0" baseline="0">
                <a:latin typeface="Times New Roman" charset="0"/>
                <a:ea typeface="Times New Roman" charset="0"/>
                <a:cs typeface="Times New Roman"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Times New Roman" charset="0"/>
                <a:ea typeface="Times New Roman" charset="0"/>
                <a:cs typeface="Times New Roman"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04265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Times New Roman" charset="0"/>
                <a:ea typeface="Times New Roman" charset="0"/>
                <a:cs typeface="Times New Roman" charset="0"/>
              </a:defRPr>
            </a:lvl1pPr>
            <a:lvl2pPr marL="803275" indent="-282575">
              <a:buClr>
                <a:schemeClr val="accent2"/>
              </a:buClr>
              <a:tabLst/>
              <a:defRPr sz="2400" b="0" i="0" baseline="0">
                <a:latin typeface="Times New Roman" charset="0"/>
                <a:ea typeface="Times New Roman" charset="0"/>
                <a:cs typeface="Times New Roman"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Times New Roman" charset="0"/>
                <a:ea typeface="Times New Roman" charset="0"/>
                <a:cs typeface="Times New Roman"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40378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Times New Roman" charset="0"/>
                <a:ea typeface="Times New Roman" charset="0"/>
                <a:cs typeface="Times New Roman"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2051878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Times New Roman" charset="0"/>
                <a:ea typeface="Times New Roman" charset="0"/>
                <a:cs typeface="Times New Roman"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Times New Roman" charset="0"/>
                <a:ea typeface="Times New Roman" charset="0"/>
                <a:cs typeface="Times New Roman"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410060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7"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Times New Roman" charset="0"/>
                <a:ea typeface="Times New Roman" charset="0"/>
                <a:cs typeface="Times New Roman" charset="0"/>
              </a:defRPr>
            </a:lvl1pPr>
            <a:lvl2pPr marL="520700" indent="-508000">
              <a:spcBef>
                <a:spcPts val="2000"/>
              </a:spcBef>
              <a:buNone/>
              <a:tabLst/>
              <a:defRPr sz="2800" b="0" i="0" baseline="0">
                <a:solidFill>
                  <a:schemeClr val="accent2"/>
                </a:solidFill>
                <a:latin typeface="Times New Roman" charset="0"/>
                <a:ea typeface="Times New Roman" charset="0"/>
                <a:cs typeface="Times New Roman" charset="0"/>
              </a:defRPr>
            </a:lvl2pPr>
            <a:lvl3pPr marL="635000" marR="0" indent="-395288" algn="l" defTabSz="914400" rtl="0" eaLnBrk="1" fontAlgn="auto" latinLnBrk="0" hangingPunct="1">
              <a:lnSpc>
                <a:spcPct val="90000"/>
              </a:lnSpc>
              <a:spcBef>
                <a:spcPts val="1000"/>
              </a:spcBef>
              <a:spcAft>
                <a:spcPts val="0"/>
              </a:spcAft>
              <a:buClr>
                <a:schemeClr val="accent2"/>
              </a:buClr>
              <a:buSzTx/>
              <a:buFont typeface="+mj-lt"/>
              <a:buAutoNum type="arabicPeriod"/>
              <a:tabLst/>
              <a:defRPr sz="2800" b="0" i="0">
                <a:solidFill>
                  <a:schemeClr val="tx1"/>
                </a:solidFill>
                <a:latin typeface="Times New Roman" charset="0"/>
                <a:ea typeface="Times New Roman" charset="0"/>
                <a:cs typeface="Times New Roman" charset="0"/>
              </a:defRPr>
            </a:lvl3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95633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
          <p:cNvSpPr>
            <a:spLocks noGrp="1"/>
          </p:cNvSpPr>
          <p:nvPr>
            <p:ph type="title"/>
          </p:nvPr>
        </p:nvSpPr>
        <p:spPr>
          <a:xfrm>
            <a:off x="304800" y="762001"/>
            <a:ext cx="8534400" cy="838199"/>
          </a:xfrm>
          <a:prstGeom prst="rect">
            <a:avLst/>
          </a:prstGeom>
        </p:spPr>
        <p:txBody>
          <a:bodyPr/>
          <a:lstStyle>
            <a:lvl1pPr>
              <a:defRPr sz="4000">
                <a:solidFill>
                  <a:schemeClr val="accent2"/>
                </a:solidFill>
                <a:latin typeface="Times New Roman" charset="0"/>
                <a:ea typeface="Times New Roman" charset="0"/>
                <a:cs typeface="Times New Roman" charset="0"/>
              </a:defRPr>
            </a:lvl1pPr>
          </a:lstStyle>
          <a:p>
            <a:r>
              <a:rPr lang="en-US" dirty="0"/>
              <a:t>Click to edit Master title style</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1882321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8" name="Title "/>
          <p:cNvSpPr>
            <a:spLocks noGrp="1"/>
          </p:cNvSpPr>
          <p:nvPr>
            <p:ph type="title"/>
          </p:nvPr>
        </p:nvSpPr>
        <p:spPr>
          <a:xfrm>
            <a:off x="304800" y="762001"/>
            <a:ext cx="8534400" cy="838199"/>
          </a:xfrm>
          <a:prstGeom prst="rect">
            <a:avLst/>
          </a:prstGeom>
        </p:spPr>
        <p:txBody>
          <a:bodyPr/>
          <a:lstStyle>
            <a:lvl1pPr>
              <a:defRPr sz="4000">
                <a:solidFill>
                  <a:schemeClr val="accent2"/>
                </a:solidFill>
                <a:latin typeface="Times New Roman" charset="0"/>
                <a:ea typeface="Times New Roman" charset="0"/>
                <a:cs typeface="Times New Roman" charset="0"/>
              </a:defRPr>
            </a:lvl1pPr>
          </a:lstStyle>
          <a:p>
            <a:r>
              <a:rPr lang="en-US" dirty="0"/>
              <a:t>Click to edit Master title style</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817718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pPr lvl="0"/>
            <a:r>
              <a:rPr lang="en-US" dirty="0"/>
              <a:t>1.1 Periodicity Assumption</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
        <p:nvSpPr>
          <p:cNvPr id="7" name="Content Placeholder 6"/>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atin typeface="Times New Roman" charset="0"/>
                <a:ea typeface="Times New Roman" charset="0"/>
                <a:cs typeface="Times New Roman" charset="0"/>
              </a:defRPr>
            </a:lvl1pPr>
            <a:lvl2pPr marL="804672" indent="-448056">
              <a:spcBef>
                <a:spcPts val="1000"/>
              </a:spcBef>
              <a:buClr>
                <a:schemeClr val="accent2"/>
              </a:buClr>
              <a:buFont typeface="+mj-lt"/>
              <a:buAutoNum type="alphaLcPeriod"/>
              <a:defRPr sz="2800" baseline="0">
                <a:latin typeface="Times New Roman" charset="0"/>
                <a:ea typeface="Times New Roman" charset="0"/>
                <a:cs typeface="Times New Roman" charset="0"/>
              </a:defRPr>
            </a:lvl2pPr>
            <a:lvl3pPr marL="914400" indent="0">
              <a:buNone/>
              <a:defRPr sz="3000">
                <a:latin typeface="STIX" charset="0"/>
                <a:ea typeface="STIX" charset="0"/>
                <a:cs typeface="STIX" charset="0"/>
              </a:defRPr>
            </a:lvl3pPr>
            <a:lvl4pPr marL="1371600" indent="0">
              <a:buNone/>
              <a:defRPr sz="3000">
                <a:latin typeface="STIX" charset="0"/>
                <a:ea typeface="STIX" charset="0"/>
                <a:cs typeface="STIX" charset="0"/>
              </a:defRPr>
            </a:lvl4pPr>
            <a:lvl5pPr marL="1828800" indent="0">
              <a:buNone/>
              <a:defRPr sz="3000">
                <a:latin typeface="STIX" charset="0"/>
                <a:ea typeface="STIX" charset="0"/>
                <a:cs typeface="STIX" charset="0"/>
              </a:defRPr>
            </a:lvl5pPr>
          </a:lstStyle>
          <a:p>
            <a:pPr lvl="0"/>
            <a:r>
              <a:rPr lang="en-US" dirty="0"/>
              <a:t>Which one of these statements about the accrual basis of accounting is false?</a:t>
            </a:r>
          </a:p>
          <a:p>
            <a:pPr lvl="1"/>
            <a:r>
              <a:rPr lang="en-US" dirty="0"/>
              <a:t>Companies record events that change their financial statements in the period in which event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p:txBody>
      </p:sp>
    </p:spTree>
    <p:extLst>
      <p:ext uri="{BB962C8B-B14F-4D97-AF65-F5344CB8AC3E}">
        <p14:creationId xmlns:p14="http://schemas.microsoft.com/office/powerpoint/2010/main" val="812438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0" indent="0">
              <a:spcBef>
                <a:spcPts val="1000"/>
              </a:spcBef>
              <a:buNone/>
              <a:tabLst/>
              <a:defRPr sz="2800" b="0" i="0" baseline="0">
                <a:solidFill>
                  <a:schemeClr val="tx1"/>
                </a:solidFill>
                <a:latin typeface="Times New Roman" charset="0"/>
                <a:ea typeface="Times New Roman" charset="0"/>
                <a:cs typeface="Times New Roman" charset="0"/>
              </a:defRPr>
            </a:lvl1pPr>
            <a:lvl2pPr marL="803275" indent="-450850">
              <a:spcBef>
                <a:spcPts val="1000"/>
              </a:spcBef>
              <a:buFont typeface="+mj-lt"/>
              <a:buNone/>
              <a:tabLst/>
              <a:defRPr sz="2800" b="0" i="0" baseline="0">
                <a:solidFill>
                  <a:schemeClr val="tx1"/>
                </a:solidFill>
                <a:latin typeface="Times New Roman" charset="0"/>
                <a:ea typeface="Times New Roman" charset="0"/>
                <a:cs typeface="Times New Roman" charset="0"/>
              </a:defRPr>
            </a:lvl2pPr>
            <a:lvl3pPr marL="349250" indent="-336550">
              <a:buClr>
                <a:schemeClr val="accent1"/>
              </a:buClr>
              <a:buFont typeface="Wingdings" charset="2"/>
              <a:buChar char="ü"/>
              <a:tabLst>
                <a:tab pos="796925" algn="l"/>
              </a:tabLst>
              <a:defRPr sz="2800" b="0" i="0">
                <a:latin typeface="Times New Roman" charset="0"/>
                <a:ea typeface="Times New Roman" charset="0"/>
                <a:cs typeface="Times New Roman"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8523935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1905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3A107DC3-1D90-419E-B11C-A853993F33FB}"/>
              </a:ext>
            </a:extLst>
          </p:cNvPr>
          <p:cNvSpPr>
            <a:spLocks noGrp="1"/>
          </p:cNvSpPr>
          <p:nvPr>
            <p:ph sz="quarter" idx="17"/>
          </p:nvPr>
        </p:nvSpPr>
        <p:spPr>
          <a:xfrm>
            <a:off x="304800" y="3810000"/>
            <a:ext cx="8534400" cy="228600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3325063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Language</a:t>
            </a:r>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Times New Roman" charset="0"/>
                <a:ea typeface="Times New Roman" charset="0"/>
                <a:cs typeface="Times New Roman"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700609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Language</a:t>
            </a:r>
          </a:p>
        </p:txBody>
      </p:sp>
      <p:sp>
        <p:nvSpPr>
          <p:cNvPr id="7" name="Definition of Key Term"/>
          <p:cNvSpPr>
            <a:spLocks noGrp="1"/>
          </p:cNvSpPr>
          <p:nvPr>
            <p:ph sz="quarter" idx="15" hasCustomPrompt="1"/>
          </p:nvPr>
        </p:nvSpPr>
        <p:spPr>
          <a:xfrm>
            <a:off x="304800" y="1752601"/>
            <a:ext cx="8534400" cy="765659"/>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Times New Roman" charset="0"/>
                <a:ea typeface="Times New Roman" charset="0"/>
                <a:cs typeface="Times New Roman"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
        <p:nvSpPr>
          <p:cNvPr id="6" name="Content Placeholder 5">
            <a:extLst>
              <a:ext uri="{FF2B5EF4-FFF2-40B4-BE49-F238E27FC236}">
                <a16:creationId xmlns:a16="http://schemas.microsoft.com/office/drawing/2014/main" id="{27D91CBC-ED96-45DC-8D19-800B0EA27351}"/>
              </a:ext>
            </a:extLst>
          </p:cNvPr>
          <p:cNvSpPr>
            <a:spLocks noGrp="1"/>
          </p:cNvSpPr>
          <p:nvPr>
            <p:ph sz="quarter" idx="17"/>
          </p:nvPr>
        </p:nvSpPr>
        <p:spPr>
          <a:xfrm>
            <a:off x="246063" y="2973388"/>
            <a:ext cx="8576057" cy="455612"/>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89D9EFEF-D501-4D96-90FB-6214001984DE}"/>
              </a:ext>
            </a:extLst>
          </p:cNvPr>
          <p:cNvSpPr>
            <a:spLocks noGrp="1"/>
          </p:cNvSpPr>
          <p:nvPr>
            <p:ph sz="quarter" idx="18"/>
          </p:nvPr>
        </p:nvSpPr>
        <p:spPr>
          <a:xfrm>
            <a:off x="246063" y="3504895"/>
            <a:ext cx="8575675" cy="455737"/>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B862A366-91E0-41A0-8A96-3C45D8FF3E6E}"/>
              </a:ext>
            </a:extLst>
          </p:cNvPr>
          <p:cNvSpPr>
            <a:spLocks noGrp="1"/>
          </p:cNvSpPr>
          <p:nvPr>
            <p:ph sz="quarter" idx="19"/>
          </p:nvPr>
        </p:nvSpPr>
        <p:spPr>
          <a:xfrm>
            <a:off x="246063" y="4112055"/>
            <a:ext cx="8575675" cy="37947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52CCB4E6-32AA-497F-984D-1632FA7E4EA8}"/>
              </a:ext>
            </a:extLst>
          </p:cNvPr>
          <p:cNvSpPr>
            <a:spLocks noGrp="1"/>
          </p:cNvSpPr>
          <p:nvPr>
            <p:ph sz="quarter" idx="20"/>
          </p:nvPr>
        </p:nvSpPr>
        <p:spPr>
          <a:xfrm>
            <a:off x="246063" y="4567425"/>
            <a:ext cx="8575675" cy="37947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B221E593-2035-46BB-9BD2-050B95D0D5C1}"/>
              </a:ext>
            </a:extLst>
          </p:cNvPr>
          <p:cNvSpPr>
            <a:spLocks noGrp="1"/>
          </p:cNvSpPr>
          <p:nvPr>
            <p:ph sz="quarter" idx="21"/>
          </p:nvPr>
        </p:nvSpPr>
        <p:spPr>
          <a:xfrm>
            <a:off x="246063" y="5022850"/>
            <a:ext cx="8499475" cy="303213"/>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494684A9-674B-4A73-B9BA-7B0575C953BB}"/>
              </a:ext>
            </a:extLst>
          </p:cNvPr>
          <p:cNvSpPr>
            <a:spLocks noGrp="1"/>
          </p:cNvSpPr>
          <p:nvPr>
            <p:ph sz="quarter" idx="22"/>
          </p:nvPr>
        </p:nvSpPr>
        <p:spPr>
          <a:xfrm>
            <a:off x="246063" y="5402263"/>
            <a:ext cx="8575675" cy="303212"/>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9676611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28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662271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9771030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0"/>
            <a:ext cx="85344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39791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0"/>
            <a:ext cx="85344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968335" y="2290575"/>
            <a:ext cx="85344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534614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1"/>
            <a:ext cx="8534400" cy="1973020"/>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304800" y="4339740"/>
            <a:ext cx="85344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0AC5F648-714F-41B3-B0A9-EFB467D0BFB2}"/>
              </a:ext>
            </a:extLst>
          </p:cNvPr>
          <p:cNvSpPr>
            <a:spLocks noGrp="1"/>
          </p:cNvSpPr>
          <p:nvPr>
            <p:ph sz="quarter" idx="14"/>
          </p:nvPr>
        </p:nvSpPr>
        <p:spPr>
          <a:xfrm>
            <a:off x="304800" y="5022850"/>
            <a:ext cx="8534400" cy="606425"/>
          </a:xfrm>
          <a:prstGeom prst="rect">
            <a:avLst/>
          </a:prstGeom>
        </p:spPr>
        <p:txBody>
          <a:bodyPr/>
          <a:lstStyle>
            <a:lvl1pPr>
              <a:buClr>
                <a:srgbClr val="911B21"/>
              </a:buClr>
              <a:defRPr sz="2600">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D94DD2EA-EA3F-4637-934F-678F8B946642}"/>
              </a:ext>
            </a:extLst>
          </p:cNvPr>
          <p:cNvSpPr>
            <a:spLocks noGrp="1"/>
          </p:cNvSpPr>
          <p:nvPr>
            <p:ph sz="quarter" idx="15"/>
          </p:nvPr>
        </p:nvSpPr>
        <p:spPr>
          <a:xfrm>
            <a:off x="304800" y="5781675"/>
            <a:ext cx="8534400" cy="606425"/>
          </a:xfrm>
          <a:prstGeom prst="rect">
            <a:avLst/>
          </a:prstGeom>
        </p:spPr>
        <p:txBody>
          <a:bodyPr/>
          <a:lstStyle>
            <a:lvl1pPr>
              <a:buClr>
                <a:srgbClr val="911B21"/>
              </a:buClr>
              <a:defRPr>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a:extLst>
              <a:ext uri="{FF2B5EF4-FFF2-40B4-BE49-F238E27FC236}">
                <a16:creationId xmlns:a16="http://schemas.microsoft.com/office/drawing/2014/main" id="{AB0A3D6A-283C-43F3-B8C1-9A067413E002}"/>
              </a:ext>
            </a:extLst>
          </p:cNvPr>
          <p:cNvSpPr txBox="1">
            <a:spLocks/>
          </p:cNvSpPr>
          <p:nvPr userDrawn="1"/>
        </p:nvSpPr>
        <p:spPr>
          <a:xfrm>
            <a:off x="6455077" y="6351499"/>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4" name="Footer Placeholder 4">
            <a:extLst>
              <a:ext uri="{FF2B5EF4-FFF2-40B4-BE49-F238E27FC236}">
                <a16:creationId xmlns:a16="http://schemas.microsoft.com/office/drawing/2014/main" id="{C0241161-D882-4165-B334-2C14A08BB8E0}"/>
              </a:ext>
            </a:extLst>
          </p:cNvPr>
          <p:cNvSpPr txBox="1">
            <a:spLocks/>
          </p:cNvSpPr>
          <p:nvPr userDrawn="1"/>
        </p:nvSpPr>
        <p:spPr>
          <a:xfrm>
            <a:off x="3026077" y="6351499"/>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Tree>
    <p:extLst>
      <p:ext uri="{BB962C8B-B14F-4D97-AF65-F5344CB8AC3E}">
        <p14:creationId xmlns:p14="http://schemas.microsoft.com/office/powerpoint/2010/main" val="33460792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0"/>
            <a:ext cx="8534400" cy="3946525"/>
          </a:xfrm>
          <a:prstGeom prst="rect">
            <a:avLst/>
          </a:prstGeom>
        </p:spPr>
        <p:txBody>
          <a:bodyPr/>
          <a:lstStyle>
            <a:lvl1pPr>
              <a:lnSpc>
                <a:spcPct val="100000"/>
              </a:lnSpc>
              <a:spcBef>
                <a:spcPts val="624"/>
              </a:spcBef>
              <a:buClr>
                <a:srgbClr val="911B21"/>
              </a:buClr>
              <a:defRPr lang="en-US" sz="2600" smtClean="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lang="en-US" smtClean="0">
                <a:latin typeface="Times New Roman" panose="02020603050405020304" pitchFamily="18" charset="0"/>
                <a:cs typeface="Times New Roman" panose="02020603050405020304" pitchFamily="18" charset="0"/>
              </a:defRPr>
            </a:lvl2pPr>
            <a:lvl3pPr>
              <a:lnSpc>
                <a:spcPct val="100000"/>
              </a:lnSpc>
              <a:spcBef>
                <a:spcPts val="624"/>
              </a:spcBef>
              <a:defRPr lang="en-US" smtClean="0">
                <a:latin typeface="Times New Roman" panose="02020603050405020304" pitchFamily="18" charset="0"/>
                <a:cs typeface="Times New Roman" panose="02020603050405020304" pitchFamily="18" charset="0"/>
              </a:defRPr>
            </a:lvl3pPr>
            <a:lvl4pPr>
              <a:lnSpc>
                <a:spcPct val="100000"/>
              </a:lnSpc>
              <a:spcBef>
                <a:spcPts val="624"/>
              </a:spcBef>
              <a:defRPr lang="en-US" smtClean="0">
                <a:latin typeface="Times New Roman" panose="02020603050405020304" pitchFamily="18" charset="0"/>
                <a:cs typeface="Times New Roman" panose="02020603050405020304" pitchFamily="18" charset="0"/>
              </a:defRPr>
            </a:lvl4pPr>
            <a:lvl5pPr>
              <a:lnSpc>
                <a:spcPct val="100000"/>
              </a:lnSpc>
              <a:spcBef>
                <a:spcPts val="624"/>
              </a:spcBef>
              <a:defRPr lang="en-US">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CE5805C8-4641-4DD9-8EEE-8E3542D17AA8}"/>
              </a:ext>
            </a:extLst>
          </p:cNvPr>
          <p:cNvSpPr>
            <a:spLocks noGrp="1"/>
          </p:cNvSpPr>
          <p:nvPr>
            <p:ph type="pic" sz="quarter" idx="13"/>
          </p:nvPr>
        </p:nvSpPr>
        <p:spPr>
          <a:xfrm>
            <a:off x="8366125" y="4035425"/>
            <a:ext cx="835025" cy="1290638"/>
          </a:xfrm>
          <a:prstGeom prst="rect">
            <a:avLst/>
          </a:prstGeom>
        </p:spPr>
        <p:txBody>
          <a:bodyPr/>
          <a:lstStyle/>
          <a:p>
            <a:endParaRPr lang="en-US"/>
          </a:p>
        </p:txBody>
      </p:sp>
      <p:sp>
        <p:nvSpPr>
          <p:cNvPr id="4" name="Table Placeholder 3">
            <a:extLst>
              <a:ext uri="{FF2B5EF4-FFF2-40B4-BE49-F238E27FC236}">
                <a16:creationId xmlns:a16="http://schemas.microsoft.com/office/drawing/2014/main" id="{9A1B72CE-EF87-477F-BA79-2E8C1521179A}"/>
              </a:ext>
            </a:extLst>
          </p:cNvPr>
          <p:cNvSpPr>
            <a:spLocks noGrp="1"/>
          </p:cNvSpPr>
          <p:nvPr>
            <p:ph type="tbl" sz="quarter" idx="14"/>
          </p:nvPr>
        </p:nvSpPr>
        <p:spPr>
          <a:xfrm>
            <a:off x="8366125" y="3125788"/>
            <a:ext cx="684213" cy="682625"/>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C4B1DF00-9DC3-492A-B100-4D3272B82AD0}"/>
              </a:ext>
            </a:extLst>
          </p:cNvPr>
          <p:cNvSpPr>
            <a:spLocks noGrp="1"/>
          </p:cNvSpPr>
          <p:nvPr>
            <p:ph type="pic" sz="quarter" idx="15"/>
          </p:nvPr>
        </p:nvSpPr>
        <p:spPr>
          <a:xfrm>
            <a:off x="8366125" y="2214563"/>
            <a:ext cx="777875" cy="6826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7776DD1F-6897-4F1A-BC22-7DBC28584A42}"/>
              </a:ext>
            </a:extLst>
          </p:cNvPr>
          <p:cNvSpPr>
            <a:spLocks noGrp="1"/>
          </p:cNvSpPr>
          <p:nvPr>
            <p:ph sz="quarter" idx="16"/>
          </p:nvPr>
        </p:nvSpPr>
        <p:spPr>
          <a:xfrm>
            <a:off x="275205" y="4768588"/>
            <a:ext cx="8534400" cy="75882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14" name="Content Placeholder 13">
            <a:extLst>
              <a:ext uri="{FF2B5EF4-FFF2-40B4-BE49-F238E27FC236}">
                <a16:creationId xmlns:a16="http://schemas.microsoft.com/office/drawing/2014/main" id="{98CFB20B-7480-4C5A-8DF1-F11AAD7E5605}"/>
              </a:ext>
            </a:extLst>
          </p:cNvPr>
          <p:cNvSpPr>
            <a:spLocks noGrp="1"/>
          </p:cNvSpPr>
          <p:nvPr>
            <p:ph sz="quarter" idx="17"/>
          </p:nvPr>
        </p:nvSpPr>
        <p:spPr>
          <a:xfrm>
            <a:off x="-816545" y="5053133"/>
            <a:ext cx="8534400" cy="25717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5" name="Picture Placeholder 4">
            <a:extLst>
              <a:ext uri="{FF2B5EF4-FFF2-40B4-BE49-F238E27FC236}">
                <a16:creationId xmlns:a16="http://schemas.microsoft.com/office/drawing/2014/main" id="{EB687367-93D1-4521-BBD6-A0564CA4FC64}"/>
              </a:ext>
            </a:extLst>
          </p:cNvPr>
          <p:cNvSpPr>
            <a:spLocks noGrp="1"/>
          </p:cNvSpPr>
          <p:nvPr>
            <p:ph type="pic" sz="quarter" idx="18"/>
          </p:nvPr>
        </p:nvSpPr>
        <p:spPr>
          <a:xfrm>
            <a:off x="9201150" y="3049588"/>
            <a:ext cx="835025" cy="985837"/>
          </a:xfrm>
          <a:prstGeom prst="rect">
            <a:avLst/>
          </a:prstGeom>
        </p:spPr>
        <p:txBody>
          <a:bodyPr/>
          <a:lstStyle/>
          <a:p>
            <a:endParaRPr lang="en-US"/>
          </a:p>
        </p:txBody>
      </p:sp>
    </p:spTree>
    <p:extLst>
      <p:ext uri="{BB962C8B-B14F-4D97-AF65-F5344CB8AC3E}">
        <p14:creationId xmlns:p14="http://schemas.microsoft.com/office/powerpoint/2010/main" val="9547682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1524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3429000"/>
            <a:ext cx="8534400" cy="15240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5029200"/>
            <a:ext cx="8534400" cy="9906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Slide Number Placeholder 3">
            <a:extLst>
              <a:ext uri="{FF2B5EF4-FFF2-40B4-BE49-F238E27FC236}">
                <a16:creationId xmlns:a16="http://schemas.microsoft.com/office/drawing/2014/main" id="{A72BACE4-69FF-4409-99CE-9BCD2C9878D8}"/>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0" name="Footer Placeholder 4">
            <a:extLst>
              <a:ext uri="{FF2B5EF4-FFF2-40B4-BE49-F238E27FC236}">
                <a16:creationId xmlns:a16="http://schemas.microsoft.com/office/drawing/2014/main" id="{277DF617-D7C9-4AAC-ABB4-DFF0A77AE8FF}"/>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8923533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973630"/>
            <a:ext cx="85344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41184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304800" y="4953305"/>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304800" y="5766107"/>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Slide Number Placeholder 3">
            <a:extLst>
              <a:ext uri="{FF2B5EF4-FFF2-40B4-BE49-F238E27FC236}">
                <a16:creationId xmlns:a16="http://schemas.microsoft.com/office/drawing/2014/main" id="{C3A17AB6-8208-4636-B70A-4B280921E8E8}"/>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2" name="Footer Placeholder 4">
            <a:extLst>
              <a:ext uri="{FF2B5EF4-FFF2-40B4-BE49-F238E27FC236}">
                <a16:creationId xmlns:a16="http://schemas.microsoft.com/office/drawing/2014/main" id="{9D48A4B4-62FA-47D4-A8EC-046A13201B68}"/>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5076990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68976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518260"/>
            <a:ext cx="8534400" cy="75895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3353105"/>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304800" y="40361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304800" y="479511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IN" dirty="0"/>
              <a:t>Copyright ©2020 John Wiley &amp; Sons, Inc. </a:t>
            </a:r>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304800" y="55540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Slide Number Placeholder 3">
            <a:extLst>
              <a:ext uri="{FF2B5EF4-FFF2-40B4-BE49-F238E27FC236}">
                <a16:creationId xmlns:a16="http://schemas.microsoft.com/office/drawing/2014/main" id="{3FC7C8C2-8E53-4648-8149-C8D83CA97CE9}"/>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3" name="Footer Placeholder 4">
            <a:extLst>
              <a:ext uri="{FF2B5EF4-FFF2-40B4-BE49-F238E27FC236}">
                <a16:creationId xmlns:a16="http://schemas.microsoft.com/office/drawing/2014/main" id="{37BE712D-A6E6-4E02-9B94-8A539F732706}"/>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9041164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973630"/>
            <a:ext cx="85344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41184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304801" y="4953305"/>
            <a:ext cx="244572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304801" y="5766107"/>
            <a:ext cx="244572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3129995" y="4948654"/>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Content Placeholder 8">
            <a:extLst>
              <a:ext uri="{FF2B5EF4-FFF2-40B4-BE49-F238E27FC236}">
                <a16:creationId xmlns:a16="http://schemas.microsoft.com/office/drawing/2014/main" id="{F641CCC3-3BAF-49BA-81A2-3696342DF5C5}"/>
              </a:ext>
            </a:extLst>
          </p:cNvPr>
          <p:cNvSpPr>
            <a:spLocks noGrp="1"/>
          </p:cNvSpPr>
          <p:nvPr>
            <p:ph sz="quarter" idx="22"/>
          </p:nvPr>
        </p:nvSpPr>
        <p:spPr>
          <a:xfrm>
            <a:off x="3129995" y="5761456"/>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8">
            <a:extLst>
              <a:ext uri="{FF2B5EF4-FFF2-40B4-BE49-F238E27FC236}">
                <a16:creationId xmlns:a16="http://schemas.microsoft.com/office/drawing/2014/main" id="{F641CCC3-3BAF-49BA-81A2-3696342DF5C5}"/>
              </a:ext>
            </a:extLst>
          </p:cNvPr>
          <p:cNvSpPr>
            <a:spLocks noGrp="1"/>
          </p:cNvSpPr>
          <p:nvPr>
            <p:ph sz="quarter" idx="23"/>
          </p:nvPr>
        </p:nvSpPr>
        <p:spPr>
          <a:xfrm>
            <a:off x="6115050" y="4948654"/>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4" name="Content Placeholder 8">
            <a:extLst>
              <a:ext uri="{FF2B5EF4-FFF2-40B4-BE49-F238E27FC236}">
                <a16:creationId xmlns:a16="http://schemas.microsoft.com/office/drawing/2014/main" id="{F641CCC3-3BAF-49BA-81A2-3696342DF5C5}"/>
              </a:ext>
            </a:extLst>
          </p:cNvPr>
          <p:cNvSpPr>
            <a:spLocks noGrp="1"/>
          </p:cNvSpPr>
          <p:nvPr>
            <p:ph sz="quarter" idx="24"/>
          </p:nvPr>
        </p:nvSpPr>
        <p:spPr>
          <a:xfrm>
            <a:off x="6115050" y="5761456"/>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4BE15919-8751-4BE4-AA33-50DF1CCA64E4}"/>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6" name="Footer Placeholder 4">
            <a:extLst>
              <a:ext uri="{FF2B5EF4-FFF2-40B4-BE49-F238E27FC236}">
                <a16:creationId xmlns:a16="http://schemas.microsoft.com/office/drawing/2014/main" id="{35B39872-5D7C-431B-B547-3FC6F0E6034C}"/>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34149164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533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375848"/>
            <a:ext cx="85344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291152" y="2764808"/>
            <a:ext cx="85344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304800" y="3298208"/>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304800" y="3831608"/>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304800" y="4365008"/>
            <a:ext cx="85344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304800" y="4822208"/>
            <a:ext cx="85344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304800" y="5279408"/>
            <a:ext cx="85344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381000" y="5660408"/>
            <a:ext cx="8458200" cy="228600"/>
          </a:xfrm>
          <a:prstGeom prst="rect">
            <a:avLst/>
          </a:prstGeom>
        </p:spPr>
        <p:txBody>
          <a:bodyPr/>
          <a:lstStyle>
            <a:lvl1pPr>
              <a:buNone/>
              <a:defRPr baseline="0">
                <a:latin typeface="Times New Roman"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78EB9964-3E34-4002-B0B3-CA179067C39A}"/>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7" name="Footer Placeholder 4">
            <a:extLst>
              <a:ext uri="{FF2B5EF4-FFF2-40B4-BE49-F238E27FC236}">
                <a16:creationId xmlns:a16="http://schemas.microsoft.com/office/drawing/2014/main" id="{6F53CD61-F10A-4FD0-B019-99E2468A5F8E}"/>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8923533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408709"/>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214680"/>
            <a:ext cx="85344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291152" y="2594155"/>
            <a:ext cx="85344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304800" y="3049525"/>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304800" y="3504895"/>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304800" y="3960265"/>
            <a:ext cx="85344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304800" y="4415635"/>
            <a:ext cx="85344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304800" y="4871005"/>
            <a:ext cx="85344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381000" y="5326375"/>
            <a:ext cx="8458200" cy="228600"/>
          </a:xfrm>
          <a:prstGeom prst="rect">
            <a:avLst/>
          </a:prstGeom>
        </p:spPr>
        <p:txBody>
          <a:bodyPr/>
          <a:lstStyle>
            <a:lvl1pPr>
              <a:buNone/>
              <a:defRPr baseline="0">
                <a:latin typeface="Times New Roman" pitchFamily="18" charset="0"/>
              </a:defRPr>
            </a:lvl1pPr>
          </a:lstStyle>
          <a:p>
            <a:pPr lvl="0"/>
            <a:endParaRPr lang="en-US" dirty="0"/>
          </a:p>
        </p:txBody>
      </p:sp>
      <p:sp>
        <p:nvSpPr>
          <p:cNvPr id="8" name="Content Placeholder 7">
            <a:extLst>
              <a:ext uri="{FF2B5EF4-FFF2-40B4-BE49-F238E27FC236}">
                <a16:creationId xmlns:a16="http://schemas.microsoft.com/office/drawing/2014/main" id="{58E4D1A0-6F20-4C86-8185-E1F69676C220}"/>
              </a:ext>
            </a:extLst>
          </p:cNvPr>
          <p:cNvSpPr>
            <a:spLocks noGrp="1"/>
          </p:cNvSpPr>
          <p:nvPr>
            <p:ph sz="quarter" idx="25"/>
          </p:nvPr>
        </p:nvSpPr>
        <p:spPr>
          <a:xfrm>
            <a:off x="322263" y="5781745"/>
            <a:ext cx="4856897" cy="304800"/>
          </a:xfrm>
          <a:prstGeom prst="rect">
            <a:avLst/>
          </a:prstGeom>
        </p:spPr>
        <p:txBody>
          <a:bodyPr/>
          <a:lstStyle>
            <a:lvl1pPr marL="0" indent="0">
              <a:buNone/>
              <a:defRPr/>
            </a:lvl1pPr>
          </a:lstStyle>
          <a:p>
            <a:pPr lvl="0"/>
            <a:endParaRPr lang="en-US" dirty="0"/>
          </a:p>
        </p:txBody>
      </p:sp>
      <p:sp>
        <p:nvSpPr>
          <p:cNvPr id="15" name="Content Placeholder 7">
            <a:extLst>
              <a:ext uri="{FF2B5EF4-FFF2-40B4-BE49-F238E27FC236}">
                <a16:creationId xmlns:a16="http://schemas.microsoft.com/office/drawing/2014/main" id="{58E4D1A0-6F20-4C86-8185-E1F69676C220}"/>
              </a:ext>
            </a:extLst>
          </p:cNvPr>
          <p:cNvSpPr>
            <a:spLocks noGrp="1"/>
          </p:cNvSpPr>
          <p:nvPr>
            <p:ph sz="quarter" idx="26"/>
          </p:nvPr>
        </p:nvSpPr>
        <p:spPr>
          <a:xfrm>
            <a:off x="3888945" y="5764248"/>
            <a:ext cx="4856897" cy="30480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4373054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4724400" y="1752600"/>
            <a:ext cx="41148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46ACF59F-042B-4CE1-AAE4-2FA4499AB366}"/>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7642CDE9-7E9A-40FF-9BB8-77380C68654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12647604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4724400" y="1752600"/>
            <a:ext cx="41148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Tree>
    <p:extLst>
      <p:ext uri="{BB962C8B-B14F-4D97-AF65-F5344CB8AC3E}">
        <p14:creationId xmlns:p14="http://schemas.microsoft.com/office/powerpoint/2010/main" val="6132984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4724400" y="1752600"/>
            <a:ext cx="41148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321880" y="3808475"/>
            <a:ext cx="4174225" cy="83484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8" name="Content Placeholder 7">
            <a:extLst>
              <a:ext uri="{FF2B5EF4-FFF2-40B4-BE49-F238E27FC236}">
                <a16:creationId xmlns:a16="http://schemas.microsoft.com/office/drawing/2014/main" id="{ECAAD719-5BF0-4C5E-BE8A-5C3956869DF9}"/>
              </a:ext>
            </a:extLst>
          </p:cNvPr>
          <p:cNvSpPr>
            <a:spLocks noGrp="1"/>
          </p:cNvSpPr>
          <p:nvPr>
            <p:ph sz="quarter" idx="19"/>
          </p:nvPr>
        </p:nvSpPr>
        <p:spPr>
          <a:xfrm>
            <a:off x="4724400" y="3808413"/>
            <a:ext cx="4097338" cy="83502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10">
            <a:extLst>
              <a:ext uri="{FF2B5EF4-FFF2-40B4-BE49-F238E27FC236}">
                <a16:creationId xmlns:a16="http://schemas.microsoft.com/office/drawing/2014/main" id="{DA815FFC-5DD1-44FE-91D7-17E9AFE9E701}"/>
              </a:ext>
            </a:extLst>
          </p:cNvPr>
          <p:cNvSpPr>
            <a:spLocks noGrp="1"/>
          </p:cNvSpPr>
          <p:nvPr>
            <p:ph sz="quarter" idx="20"/>
          </p:nvPr>
        </p:nvSpPr>
        <p:spPr>
          <a:xfrm>
            <a:off x="322262" y="4795838"/>
            <a:ext cx="4249738" cy="682327"/>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12">
            <a:extLst>
              <a:ext uri="{FF2B5EF4-FFF2-40B4-BE49-F238E27FC236}">
                <a16:creationId xmlns:a16="http://schemas.microsoft.com/office/drawing/2014/main" id="{5C82916B-0585-4B7E-9C9B-A7650469BF47}"/>
              </a:ext>
            </a:extLst>
          </p:cNvPr>
          <p:cNvSpPr>
            <a:spLocks noGrp="1"/>
          </p:cNvSpPr>
          <p:nvPr>
            <p:ph sz="quarter" idx="21"/>
          </p:nvPr>
        </p:nvSpPr>
        <p:spPr>
          <a:xfrm>
            <a:off x="4648200" y="4795839"/>
            <a:ext cx="4022130" cy="758222"/>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Tree>
    <p:extLst>
      <p:ext uri="{BB962C8B-B14F-4D97-AF65-F5344CB8AC3E}">
        <p14:creationId xmlns:p14="http://schemas.microsoft.com/office/powerpoint/2010/main" val="11074335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304800" y="5410201"/>
            <a:ext cx="85344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304800" y="609601"/>
            <a:ext cx="85344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304800" y="5791200"/>
            <a:ext cx="85344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6457950" y="6356350"/>
            <a:ext cx="238125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2150562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4D96-C503-4BE0-9F48-7B0E0326CE62}"/>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E78F8EB2-C64A-42B7-AC64-C10457D985C9}"/>
              </a:ext>
            </a:extLst>
          </p:cNvP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a:extLst>
              <a:ext uri="{FF2B5EF4-FFF2-40B4-BE49-F238E27FC236}">
                <a16:creationId xmlns:a16="http://schemas.microsoft.com/office/drawing/2014/main" id="{1FA8BEA2-6D75-4F5A-A26E-60D47B7D78ED}"/>
              </a:ext>
            </a:extLst>
          </p:cNvPr>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20843725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40E28-714B-4523-B832-B76571B1C30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20D9B2-3BF4-4976-A7E6-4DFED66C558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A24A98-4465-4106-B8A4-5EF8783BF5F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FBFC1D5-C9A0-436C-AFF2-E1EC420EF9ED}"/>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9A3767F2-3271-4CCA-8655-3627F74B963B}"/>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23806719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DDE6-1CEC-4A12-908E-665CC6FC02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CD4C99-08D3-4988-8230-D37B7735858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45821F-EC9D-4404-B2F3-5390637C6E0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0AC1623-0050-485A-8968-D409BA96CF16}"/>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A4E388CA-F71D-42C3-A934-59D4EA43F143}"/>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20199003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5110-3BC5-4886-86AB-94F491E83FF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37CBCF-85F4-45F7-A54E-9CD02F8EAE19}"/>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0AE919-46DC-4C82-8519-4B5600B5A51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F84DDB6-3CCF-4739-9B1E-C6454985C406}"/>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F1EF439C-1069-4AF4-91A9-3E2F5741C8A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32715595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A395-5C23-444B-993D-94A29007F1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C35E2-5421-4FDF-A6E7-A2367A3BC1E9}"/>
              </a:ext>
            </a:extLst>
          </p:cNvPr>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3C13B5-1FCD-4C46-B8EC-CA3802D1F413}"/>
              </a:ext>
            </a:extLst>
          </p:cNvPr>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F7568D-6250-4C09-B160-CF73168BB9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4CF36CC-78C8-4615-8F67-0064792351D0}"/>
              </a:ext>
            </a:extLst>
          </p:cNvPr>
          <p:cNvSpPr>
            <a:spLocks noGrp="1"/>
          </p:cNvSpPr>
          <p:nvPr>
            <p:ph type="ftr" sz="quarter" idx="11"/>
          </p:nvPr>
        </p:nvSpPr>
        <p:spPr/>
        <p:txBody>
          <a:bodyPr/>
          <a:lstStyle/>
          <a:p>
            <a:r>
              <a:rPr lang="en-US"/>
              <a:t>Copyright ©2020 John Wiley &amp; Sons, Inc. </a:t>
            </a:r>
          </a:p>
        </p:txBody>
      </p:sp>
      <p:sp>
        <p:nvSpPr>
          <p:cNvPr id="7" name="Slide Number Placeholder 6">
            <a:extLst>
              <a:ext uri="{FF2B5EF4-FFF2-40B4-BE49-F238E27FC236}">
                <a16:creationId xmlns:a16="http://schemas.microsoft.com/office/drawing/2014/main" id="{01801F80-B82F-49EF-BD0E-9CD7145C3BB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17868484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704BC-21DD-4D86-ADE1-A436C01776A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3855C7-ADAC-4DA8-B9F8-59FB5E79F02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40255A1-8FEC-41FC-81FF-E4E331EBB02E}"/>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87B802-F84C-403F-B3BE-E6675C63542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E53CFE0-C5F9-4AE0-B6F6-8C310C2D7631}"/>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389462-FE48-4FC3-ACC4-8390D7F1A86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C6BB6755-4C7A-42E6-8C5B-15CAE1E578B3}"/>
              </a:ext>
            </a:extLst>
          </p:cNvPr>
          <p:cNvSpPr>
            <a:spLocks noGrp="1"/>
          </p:cNvSpPr>
          <p:nvPr>
            <p:ph type="ftr" sz="quarter" idx="11"/>
          </p:nvPr>
        </p:nvSpPr>
        <p:spPr/>
        <p:txBody>
          <a:bodyPr/>
          <a:lstStyle/>
          <a:p>
            <a:r>
              <a:rPr lang="en-US"/>
              <a:t>Copyright ©2020 John Wiley &amp; Sons, Inc. </a:t>
            </a:r>
          </a:p>
        </p:txBody>
      </p:sp>
      <p:sp>
        <p:nvSpPr>
          <p:cNvPr id="9" name="Slide Number Placeholder 8">
            <a:extLst>
              <a:ext uri="{FF2B5EF4-FFF2-40B4-BE49-F238E27FC236}">
                <a16:creationId xmlns:a16="http://schemas.microsoft.com/office/drawing/2014/main" id="{7CC71307-492D-4C62-9841-F78D6576ADB7}"/>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35207547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4D00F-0BA7-4E6B-AB68-4299F82C3A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D5B524-14D2-4191-A6B4-FB4C855B260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32D830F9-143F-4526-8B72-4A0BDC4A59F5}"/>
              </a:ext>
            </a:extLst>
          </p:cNvPr>
          <p:cNvSpPr>
            <a:spLocks noGrp="1"/>
          </p:cNvSpPr>
          <p:nvPr>
            <p:ph type="ftr" sz="quarter" idx="11"/>
          </p:nvPr>
        </p:nvSpPr>
        <p:spPr/>
        <p:txBody>
          <a:bodyPr/>
          <a:lstStyle/>
          <a:p>
            <a:r>
              <a:rPr lang="en-US"/>
              <a:t>Copyright ©2020 John Wiley &amp; Sons, Inc. </a:t>
            </a:r>
          </a:p>
        </p:txBody>
      </p:sp>
      <p:sp>
        <p:nvSpPr>
          <p:cNvPr id="5" name="Slide Number Placeholder 4">
            <a:extLst>
              <a:ext uri="{FF2B5EF4-FFF2-40B4-BE49-F238E27FC236}">
                <a16:creationId xmlns:a16="http://schemas.microsoft.com/office/drawing/2014/main" id="{B572EFBE-37FE-4625-90EC-5765ED94D7D1}"/>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9732597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657576-4759-4113-ADB2-40C6ED0B03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7AEDC1AA-7859-4295-B6FD-C0BEA3B5902C}"/>
              </a:ext>
            </a:extLst>
          </p:cNvPr>
          <p:cNvSpPr>
            <a:spLocks noGrp="1"/>
          </p:cNvSpPr>
          <p:nvPr>
            <p:ph type="ftr" sz="quarter" idx="11"/>
          </p:nvPr>
        </p:nvSpPr>
        <p:spPr/>
        <p:txBody>
          <a:bodyPr/>
          <a:lstStyle/>
          <a:p>
            <a:r>
              <a:rPr lang="en-US"/>
              <a:t>Copyright ©2020 John Wiley &amp; Sons, Inc. </a:t>
            </a:r>
          </a:p>
        </p:txBody>
      </p:sp>
      <p:sp>
        <p:nvSpPr>
          <p:cNvPr id="4" name="Slide Number Placeholder 3">
            <a:extLst>
              <a:ext uri="{FF2B5EF4-FFF2-40B4-BE49-F238E27FC236}">
                <a16:creationId xmlns:a16="http://schemas.microsoft.com/office/drawing/2014/main" id="{9F64F773-7AD7-4900-9164-00AD3602148C}"/>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2866402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0D58B-66ED-468B-9B38-624A07D93F8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2341FC-133C-4E79-A668-F6FE07049DB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F2EC0B-95BB-4798-ACAD-D3BA5BC763F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24CD4E-BB3F-4DF8-93B0-2D02C94D738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82B92E7-7338-4101-98D1-1B052E527C35}"/>
              </a:ext>
            </a:extLst>
          </p:cNvPr>
          <p:cNvSpPr>
            <a:spLocks noGrp="1"/>
          </p:cNvSpPr>
          <p:nvPr>
            <p:ph type="ftr" sz="quarter" idx="11"/>
          </p:nvPr>
        </p:nvSpPr>
        <p:spPr/>
        <p:txBody>
          <a:bodyPr/>
          <a:lstStyle/>
          <a:p>
            <a:r>
              <a:rPr lang="en-US"/>
              <a:t>Copyright ©2020 John Wiley &amp; Sons, Inc. </a:t>
            </a:r>
          </a:p>
        </p:txBody>
      </p:sp>
      <p:sp>
        <p:nvSpPr>
          <p:cNvPr id="7" name="Slide Number Placeholder 6">
            <a:extLst>
              <a:ext uri="{FF2B5EF4-FFF2-40B4-BE49-F238E27FC236}">
                <a16:creationId xmlns:a16="http://schemas.microsoft.com/office/drawing/2014/main" id="{4CF01934-FFAF-4E23-8B90-01F81CD1313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16683416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2D4C4-3380-4E12-9E97-9BB1B23A252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3BAB82-BB15-406A-BF11-A86143A55D9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8DF3E6-6343-4108-AA2B-F5171989338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E1A61E-CCEA-45F0-B87E-EAC35806A53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42DCD77-9288-45EB-B7F3-1B7225ECD3A9}"/>
              </a:ext>
            </a:extLst>
          </p:cNvPr>
          <p:cNvSpPr>
            <a:spLocks noGrp="1"/>
          </p:cNvSpPr>
          <p:nvPr>
            <p:ph type="ftr" sz="quarter" idx="11"/>
          </p:nvPr>
        </p:nvSpPr>
        <p:spPr/>
        <p:txBody>
          <a:bodyPr/>
          <a:lstStyle/>
          <a:p>
            <a:r>
              <a:rPr lang="en-US"/>
              <a:t>Copyright ©2020 John Wiley &amp; Sons, Inc. </a:t>
            </a:r>
          </a:p>
        </p:txBody>
      </p:sp>
      <p:sp>
        <p:nvSpPr>
          <p:cNvPr id="7" name="Slide Number Placeholder 6">
            <a:extLst>
              <a:ext uri="{FF2B5EF4-FFF2-40B4-BE49-F238E27FC236}">
                <a16:creationId xmlns:a16="http://schemas.microsoft.com/office/drawing/2014/main" id="{2F9743EB-7E33-4896-9008-C1208D6B65D0}"/>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3826592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7C429-D3DB-4FBE-B9D6-A9F7B57E14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011055-E169-4A0D-B7DD-E3612E5422D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EF65F8-330C-49CA-9A9F-1EE2A96B3A1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BEA763B-0645-4C52-B1A3-097D3B09D1BC}"/>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CF3A1D7C-7EFD-414D-A26A-BC8259DA29F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4795835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4709BD-AA1E-4A01-A015-C24EB0EFB2D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77BFE9-FCEE-4C17-9D3D-11DAC46638B1}"/>
              </a:ext>
            </a:extLst>
          </p:cNvPr>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20AAB-A428-42AD-A507-E3D0541890C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57B1FED-0F2B-4513-9812-3F99394EB6A3}"/>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A3EF302A-72FE-4FE7-9FBF-2F1461FF17D8}"/>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40382072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304800" y="5410201"/>
            <a:ext cx="85344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304800" y="609601"/>
            <a:ext cx="85344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304800" y="5791200"/>
            <a:ext cx="85344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6457950" y="6356350"/>
            <a:ext cx="238125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152105746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Image Slide: Version B">
    <p:spTree>
      <p:nvGrpSpPr>
        <p:cNvPr id="1" name=""/>
        <p:cNvGrpSpPr/>
        <p:nvPr/>
      </p:nvGrpSpPr>
      <p:grpSpPr>
        <a:xfrm>
          <a:off x="0" y="0"/>
          <a:ext cx="0" cy="0"/>
          <a:chOff x="0" y="0"/>
          <a:chExt cx="0" cy="0"/>
        </a:xfrm>
      </p:grpSpPr>
      <p:sp>
        <p:nvSpPr>
          <p:cNvPr id="2" name="Title 1"/>
          <p:cNvSpPr>
            <a:spLocks noGrp="1"/>
          </p:cNvSpPr>
          <p:nvPr>
            <p:ph type="title"/>
          </p:nvPr>
        </p:nvSpPr>
        <p:spPr>
          <a:xfrm>
            <a:off x="304800" y="5961253"/>
            <a:ext cx="8534400" cy="320675"/>
          </a:xfrm>
          <a:prstGeom prst="rect">
            <a:avLst/>
          </a:prstGeom>
        </p:spPr>
        <p:txBody>
          <a:bodyPr/>
          <a:lstStyle>
            <a:lvl1pPr algn="ctr">
              <a:defRPr>
                <a:latin typeface="Times New Roman" charset="0"/>
                <a:ea typeface="Times New Roman" charset="0"/>
                <a:cs typeface="Times New Roman" charset="0"/>
              </a:defRPr>
            </a:lvl1pPr>
          </a:lstStyle>
          <a:p>
            <a:r>
              <a:rPr lang="en-US" dirty="0"/>
              <a:t>Click to edit Master title style</a:t>
            </a:r>
          </a:p>
        </p:txBody>
      </p:sp>
      <p:sp>
        <p:nvSpPr>
          <p:cNvPr id="3" name="Content Placeholder 2"/>
          <p:cNvSpPr>
            <a:spLocks noGrp="1"/>
          </p:cNvSpPr>
          <p:nvPr>
            <p:ph idx="1"/>
          </p:nvPr>
        </p:nvSpPr>
        <p:spPr>
          <a:xfrm>
            <a:off x="304800" y="609601"/>
            <a:ext cx="8534400" cy="5277230"/>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p>
            <a:fld id="{43DD970A-8A59-5645-997B-8F1EF841716D}" type="slidenum">
              <a:rPr lang="en-US" smtClean="0"/>
              <a:pPr/>
              <a:t>‹#›</a:t>
            </a:fld>
            <a:endParaRPr lang="en-US" dirty="0"/>
          </a:p>
        </p:txBody>
      </p:sp>
      <p:sp>
        <p:nvSpPr>
          <p:cNvPr id="5" name="Footer Placeholder 4"/>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5716864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6.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7.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51.xml"/><Relationship Id="rId1"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 id="2147484024" r:id="rId3"/>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838198"/>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IN" dirty="0"/>
              <a:t>Copyright ©2020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4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1"/>
            <a:ext cx="8534400" cy="10668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b="1" i="0" kern="1200">
          <a:solidFill>
            <a:schemeClr val="accent2"/>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1"/>
            <a:ext cx="8534400" cy="838197"/>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94" r:id="rId3"/>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2"/>
            <a:ext cx="85344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4001" r:id="rId2"/>
    <p:sldLayoutId id="2147483970" r:id="rId3"/>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1"/>
            <a:ext cx="85344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4022" r:id="rId3"/>
    <p:sldLayoutId id="2147484023" r:id="rId4"/>
    <p:sldLayoutId id="2147484021" r:id="rId5"/>
    <p:sldLayoutId id="2147483991" r:id="rId6"/>
    <p:sldLayoutId id="2147484017" r:id="rId7"/>
    <p:sldLayoutId id="2147484020" r:id="rId8"/>
    <p:sldLayoutId id="2147484018" r:id="rId9"/>
    <p:sldLayoutId id="2147483997" r:id="rId10"/>
    <p:sldLayoutId id="2147484002" r:id="rId11"/>
    <p:sldLayoutId id="2147483974" r:id="rId12"/>
    <p:sldLayoutId id="2147483975" r:id="rId13"/>
    <p:sldLayoutId id="2147484016" r:id="rId14"/>
    <p:sldLayoutId id="2147484000" r:id="rId15"/>
    <p:sldLayoutId id="2147484003" r:id="rId16"/>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9A6B9E-FA14-49B1-BF7F-B777A794866C}"/>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519DAC-2E93-403A-B359-9D8142AE608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807261-5F43-451C-92CA-081177B1C74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E477A792-382F-424A-B6B6-A668E09AEC5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©2020 John Wiley &amp; Sons, Inc. </a:t>
            </a:r>
          </a:p>
        </p:txBody>
      </p:sp>
      <p:sp>
        <p:nvSpPr>
          <p:cNvPr id="6" name="Slide Number Placeholder 5">
            <a:extLst>
              <a:ext uri="{FF2B5EF4-FFF2-40B4-BE49-F238E27FC236}">
                <a16:creationId xmlns:a16="http://schemas.microsoft.com/office/drawing/2014/main" id="{8D4D10A3-94D8-4374-BF2B-890A0DE6F27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3DB923-D937-4145-BC79-497039E70D10}" type="slidenum">
              <a:rPr lang="en-US" smtClean="0"/>
              <a:t>‹#›</a:t>
            </a:fld>
            <a:endParaRPr lang="en-US"/>
          </a:p>
        </p:txBody>
      </p:sp>
    </p:spTree>
    <p:extLst>
      <p:ext uri="{BB962C8B-B14F-4D97-AF65-F5344CB8AC3E}">
        <p14:creationId xmlns:p14="http://schemas.microsoft.com/office/powerpoint/2010/main" val="3487755611"/>
      </p:ext>
    </p:extLst>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13" r:id="rId9"/>
    <p:sldLayoutId id="2147484014" r:id="rId10"/>
    <p:sldLayoutId id="214748401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
        <p:nvSpPr>
          <p:cNvPr id="6" name="Slide Number Placeholder 5"/>
          <p:cNvSpPr>
            <a:spLocks noGrp="1"/>
          </p:cNvSpPr>
          <p:nvPr>
            <p:ph type="sldNum" sz="quarter" idx="4"/>
          </p:nvPr>
        </p:nvSpPr>
        <p:spPr>
          <a:xfrm>
            <a:off x="6457950" y="6356350"/>
            <a:ext cx="2457450" cy="365125"/>
          </a:xfrm>
          <a:prstGeom prst="rect">
            <a:avLst/>
          </a:prstGeom>
        </p:spPr>
        <p:txBody>
          <a:bodyPr vert="horz" lIns="91440" tIns="45720" rIns="91440" bIns="45720" rtlCol="0" anchor="ctr"/>
          <a:lstStyle>
            <a:lvl1pPr algn="r">
              <a:defRPr sz="1200">
                <a:solidFill>
                  <a:schemeClr val="tx1">
                    <a:tint val="75000"/>
                  </a:schemeClr>
                </a:solidFill>
                <a:latin typeface="Times New Roman" charset="0"/>
                <a:ea typeface="Times New Roman" charset="0"/>
                <a:cs typeface="Times New Roman" charset="0"/>
              </a:defRPr>
            </a:lvl1pPr>
          </a:lstStyle>
          <a:p>
            <a:fld id="{43DD970A-8A59-5645-997B-8F1EF841716D}" type="slidenum">
              <a:rPr lang="en-US" smtClean="0"/>
              <a:pPr/>
              <a:t>‹#›</a:t>
            </a:fld>
            <a:endParaRPr lang="en-US" dirty="0"/>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9740712"/>
      </p:ext>
    </p:extLst>
  </p:cSld>
  <p:clrMap bg1="lt1" tx1="dk1" bg2="lt2" tx2="dk2" accent1="accent1" accent2="accent2" accent3="accent3" accent4="accent4" accent5="accent5" accent6="accent6" hlink="hlink" folHlink="folHlink"/>
  <p:sldLayoutIdLst>
    <p:sldLayoutId id="2147483988" r:id="rId1"/>
    <p:sldLayoutId id="2147483978"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TIX" charset="0"/>
          <a:ea typeface="STIX" charset="0"/>
          <a:cs typeface="STIX"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2.bin"/><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watch?v=XmR6lsjnCXY" TargetMode="Externa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000" dirty="0"/>
              <a:t>Introduction to Statistical Investigations</a:t>
            </a:r>
            <a:endParaRPr lang="en-US" sz="4000" dirty="0">
              <a:latin typeface="Times New Roman" panose="02020603050405020304" pitchFamily="18" charset="0"/>
              <a:cs typeface="Times New Roman" panose="02020603050405020304" pitchFamily="18" charset="0"/>
            </a:endParaRPr>
          </a:p>
        </p:txBody>
      </p:sp>
      <p:sp>
        <p:nvSpPr>
          <p:cNvPr id="4" name="Author"/>
          <p:cNvSpPr>
            <a:spLocks noGrp="1"/>
          </p:cNvSpPr>
          <p:nvPr>
            <p:ph sz="quarter" idx="21"/>
          </p:nvPr>
        </p:nvSpPr>
        <p:spPr>
          <a:prstGeom prst="rect">
            <a:avLst/>
          </a:prstGeom>
        </p:spPr>
        <p:txBody>
          <a:bodyPr/>
          <a:lstStyle/>
          <a:p>
            <a:r>
              <a:rPr lang="en-US" dirty="0">
                <a:latin typeface="Times New Roman" panose="02020603050405020304" pitchFamily="18" charset="0"/>
                <a:cs typeface="Times New Roman" panose="02020603050405020304" pitchFamily="18" charset="0"/>
              </a:rPr>
              <a:t>Second Edition</a:t>
            </a:r>
          </a:p>
        </p:txBody>
      </p:sp>
      <p:sp>
        <p:nvSpPr>
          <p:cNvPr id="3" name="Edition"/>
          <p:cNvSpPr>
            <a:spLocks noGrp="1"/>
          </p:cNvSpPr>
          <p:nvPr>
            <p:ph sz="quarter" idx="22"/>
          </p:nvPr>
        </p:nvSpPr>
        <p:spPr>
          <a:xfrm>
            <a:off x="228600" y="2363724"/>
            <a:ext cx="8686800" cy="685800"/>
          </a:xfrm>
          <a:prstGeom prst="rect">
            <a:avLst/>
          </a:prstGeom>
        </p:spPr>
        <p:txBody>
          <a:bodyPr anchor="ctr"/>
          <a:lstStyle/>
          <a:p>
            <a:r>
              <a:rPr lang="en-US" sz="2600" dirty="0">
                <a:latin typeface="Times New Roman" panose="02020603050405020304" pitchFamily="18" charset="0"/>
                <a:cs typeface="Times New Roman" panose="02020603050405020304" pitchFamily="18" charset="0"/>
              </a:rPr>
              <a:t>Tintle, Chance, Cobb, Rossman, Roy, Swanson, VanderStoep</a:t>
            </a:r>
            <a:endParaRPr lang="en-US" sz="2600" baseline="30000" dirty="0">
              <a:latin typeface="Times New Roman" panose="02020603050405020304" pitchFamily="18" charset="0"/>
              <a:cs typeface="Times New Roman" panose="02020603050405020304" pitchFamily="18" charset="0"/>
            </a:endParaRPr>
          </a:p>
        </p:txBody>
      </p:sp>
      <p:sp>
        <p:nvSpPr>
          <p:cNvPr id="5" name="CN"/>
          <p:cNvSpPr>
            <a:spLocks noGrp="1"/>
          </p:cNvSpPr>
          <p:nvPr>
            <p:ph sz="quarter" idx="19"/>
          </p:nvPr>
        </p:nvSpPr>
        <p:spPr>
          <a:xfrm>
            <a:off x="152400" y="3657600"/>
            <a:ext cx="8839200" cy="533400"/>
          </a:xfrm>
        </p:spPr>
        <p:txBody>
          <a:bodyPr anchor="ctr"/>
          <a:lstStyle/>
          <a:p>
            <a:r>
              <a:rPr lang="en-US" dirty="0">
                <a:latin typeface="Times New Roman" panose="02020603050405020304" pitchFamily="18" charset="0"/>
                <a:cs typeface="Times New Roman" panose="02020603050405020304" pitchFamily="18" charset="0"/>
              </a:rPr>
              <a:t>Chapter 1</a:t>
            </a:r>
          </a:p>
        </p:txBody>
      </p:sp>
      <p:sp>
        <p:nvSpPr>
          <p:cNvPr id="6" name="CT"/>
          <p:cNvSpPr>
            <a:spLocks noGrp="1"/>
          </p:cNvSpPr>
          <p:nvPr>
            <p:ph sz="quarter" idx="20"/>
          </p:nvPr>
        </p:nvSpPr>
        <p:spPr>
          <a:xfrm>
            <a:off x="152400" y="4572000"/>
            <a:ext cx="8839200" cy="1437430"/>
          </a:xfrm>
        </p:spPr>
        <p:txBody>
          <a:bodyPr anchor="t"/>
          <a:lstStyle/>
          <a:p>
            <a:r>
              <a:rPr lang="en-US" sz="4000" dirty="0"/>
              <a:t>Significance: How Strong is the Evidence?</a:t>
            </a:r>
          </a:p>
        </p:txBody>
      </p:sp>
      <p:sp>
        <p:nvSpPr>
          <p:cNvPr id="14" name="Content Placeholder 13"/>
          <p:cNvSpPr>
            <a:spLocks noGrp="1"/>
          </p:cNvSpPr>
          <p:nvPr>
            <p:ph sz="quarter" idx="24"/>
          </p:nvPr>
        </p:nvSpPr>
        <p:spPr>
          <a:xfrm>
            <a:off x="152400" y="6156325"/>
            <a:ext cx="8839200" cy="273050"/>
          </a:xfrm>
        </p:spPr>
        <p:txBody>
          <a:bodyPr/>
          <a:lstStyle/>
          <a:p>
            <a:r>
              <a:rPr lang="en-IN" sz="1200" dirty="0">
                <a:solidFill>
                  <a:schemeClr val="bg1"/>
                </a:solidFill>
                <a:latin typeface="Times New Roman" panose="02020603050405020304" pitchFamily="18" charset="0"/>
                <a:cs typeface="Times New Roman" panose="02020603050405020304" pitchFamily="18" charset="0"/>
              </a:rPr>
              <a:t>This slide deck contains animations. Please disable animations if they cause issues with your device.</a:t>
            </a:r>
          </a:p>
        </p:txBody>
      </p:sp>
      <p:sp>
        <p:nvSpPr>
          <p:cNvPr id="10" name="Content Placeholder 9"/>
          <p:cNvSpPr>
            <a:spLocks noGrp="1"/>
          </p:cNvSpPr>
          <p:nvPr>
            <p:ph sz="quarter" idx="23"/>
          </p:nvPr>
        </p:nvSpPr>
        <p:spPr>
          <a:xfrm>
            <a:off x="1291735" y="6340626"/>
            <a:ext cx="6584482" cy="457200"/>
          </a:xfrm>
          <a:prstGeom prst="rect">
            <a:avLst/>
          </a:prstGeom>
        </p:spPr>
        <p:txBody>
          <a:bodyPr anchor="ctr"/>
          <a:lstStyle/>
          <a:p>
            <a:pPr algn="ctr"/>
            <a:r>
              <a:rPr lang="en-US" sz="1200" dirty="0">
                <a:solidFill>
                  <a:schemeClr val="tx1">
                    <a:tint val="75000"/>
                  </a:schemeClr>
                </a:solidFill>
                <a:latin typeface="Times New Roman" panose="02020603050405020304" pitchFamily="18" charset="0"/>
                <a:ea typeface="Times New Roman" charset="0"/>
                <a:cs typeface="Times New Roman" panose="02020603050405020304" pitchFamily="18" charset="0"/>
              </a:rPr>
              <a:t>Copyright ©2021 John Wiley &amp; Sons, Inc.</a:t>
            </a:r>
          </a:p>
        </p:txBody>
      </p:sp>
    </p:spTree>
    <p:extLst>
      <p:ext uri="{BB962C8B-B14F-4D97-AF65-F5344CB8AC3E}">
        <p14:creationId xmlns:p14="http://schemas.microsoft.com/office/powerpoint/2010/main" val="1261288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5C44F-93DD-4509-9DFA-473064D254B0}"/>
              </a:ext>
            </a:extLst>
          </p:cNvPr>
          <p:cNvSpPr>
            <a:spLocks noGrp="1"/>
          </p:cNvSpPr>
          <p:nvPr>
            <p:ph type="title"/>
          </p:nvPr>
        </p:nvSpPr>
        <p:spPr/>
        <p:txBody>
          <a:bodyPr/>
          <a:lstStyle/>
          <a:p>
            <a:r>
              <a:rPr lang="en-US" dirty="0"/>
              <a:t>Unit 1 Overview</a:t>
            </a:r>
          </a:p>
        </p:txBody>
      </p:sp>
      <p:sp>
        <p:nvSpPr>
          <p:cNvPr id="3" name="Content Placeholder 2">
            <a:extLst>
              <a:ext uri="{FF2B5EF4-FFF2-40B4-BE49-F238E27FC236}">
                <a16:creationId xmlns:a16="http://schemas.microsoft.com/office/drawing/2014/main" id="{F13A70D3-C5BB-4A0B-AC57-23EAD601927A}"/>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b="1" dirty="0"/>
              <a:t>Significance</a:t>
            </a:r>
            <a:r>
              <a:rPr lang="en-US" dirty="0"/>
              <a:t> – How strong is the evidence of an effect? (Chapter 1)</a:t>
            </a:r>
          </a:p>
          <a:p>
            <a:pPr marL="292608" indent="-292608">
              <a:buClr>
                <a:schemeClr val="accent2"/>
              </a:buClr>
              <a:buFont typeface="Arial" panose="020B0604020202020204" pitchFamily="34" charset="0"/>
              <a:buChar char="•"/>
            </a:pPr>
            <a:r>
              <a:rPr lang="en-US" b="1" dirty="0"/>
              <a:t>Generalization</a:t>
            </a:r>
            <a:r>
              <a:rPr lang="en-US" dirty="0"/>
              <a:t> – How broadly do the conclusions apply? (Chapter 2) </a:t>
            </a:r>
          </a:p>
          <a:p>
            <a:pPr marL="292608" indent="-292608">
              <a:buClr>
                <a:schemeClr val="accent2"/>
              </a:buClr>
              <a:buFont typeface="Arial" panose="020B0604020202020204" pitchFamily="34" charset="0"/>
              <a:buChar char="•"/>
            </a:pPr>
            <a:r>
              <a:rPr lang="en-US" b="1" dirty="0"/>
              <a:t>Estimation</a:t>
            </a:r>
            <a:r>
              <a:rPr lang="en-US" dirty="0"/>
              <a:t> – How large is the effect? (Chapter 3)</a:t>
            </a:r>
          </a:p>
          <a:p>
            <a:pPr marL="292608" indent="-292608">
              <a:buClr>
                <a:schemeClr val="accent2"/>
              </a:buClr>
              <a:buFont typeface="Arial" panose="020B0604020202020204" pitchFamily="34" charset="0"/>
              <a:buChar char="•"/>
            </a:pPr>
            <a:r>
              <a:rPr lang="en-US" b="1" dirty="0"/>
              <a:t>Causation</a:t>
            </a:r>
            <a:r>
              <a:rPr lang="en-US" dirty="0"/>
              <a:t> – Can we say what caused the observed difference? (Chapter 4)</a:t>
            </a:r>
          </a:p>
        </p:txBody>
      </p:sp>
    </p:spTree>
    <p:extLst>
      <p:ext uri="{BB962C8B-B14F-4D97-AF65-F5344CB8AC3E}">
        <p14:creationId xmlns:p14="http://schemas.microsoft.com/office/powerpoint/2010/main" val="2916175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25A1-2F10-484F-80D3-D1DF42971302}"/>
              </a:ext>
            </a:extLst>
          </p:cNvPr>
          <p:cNvSpPr>
            <a:spLocks noGrp="1"/>
          </p:cNvSpPr>
          <p:nvPr>
            <p:ph type="title"/>
          </p:nvPr>
        </p:nvSpPr>
        <p:spPr/>
        <p:txBody>
          <a:bodyPr/>
          <a:lstStyle/>
          <a:p>
            <a:r>
              <a:rPr lang="en-US" dirty="0"/>
              <a:t>Chapter 1</a:t>
            </a:r>
          </a:p>
        </p:txBody>
      </p:sp>
      <p:sp>
        <p:nvSpPr>
          <p:cNvPr id="3" name="Content Placeholder 2">
            <a:extLst>
              <a:ext uri="{FF2B5EF4-FFF2-40B4-BE49-F238E27FC236}">
                <a16:creationId xmlns:a16="http://schemas.microsoft.com/office/drawing/2014/main" id="{733F55E6-2348-4292-9183-420364689E97}"/>
              </a:ext>
            </a:extLst>
          </p:cNvPr>
          <p:cNvSpPr>
            <a:spLocks noGrp="1"/>
          </p:cNvSpPr>
          <p:nvPr>
            <p:ph sz="quarter" idx="12"/>
          </p:nvPr>
        </p:nvSpPr>
        <p:spPr>
          <a:prstGeom prst="rect">
            <a:avLst/>
          </a:prstGeom>
        </p:spPr>
        <p:txBody>
          <a:bodyPr/>
          <a:lstStyle/>
          <a:p>
            <a:pPr marL="0" indent="0">
              <a:buNone/>
            </a:pPr>
            <a:r>
              <a:rPr lang="en-US" dirty="0"/>
              <a:t>Significance: How Strong is the Evidence?</a:t>
            </a:r>
          </a:p>
        </p:txBody>
      </p:sp>
    </p:spTree>
    <p:extLst>
      <p:ext uri="{BB962C8B-B14F-4D97-AF65-F5344CB8AC3E}">
        <p14:creationId xmlns:p14="http://schemas.microsoft.com/office/powerpoint/2010/main" val="983845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189FA-91EA-45E6-A87B-49BADD0C1E31}"/>
              </a:ext>
            </a:extLst>
          </p:cNvPr>
          <p:cNvSpPr>
            <a:spLocks noGrp="1"/>
          </p:cNvSpPr>
          <p:nvPr>
            <p:ph type="title"/>
          </p:nvPr>
        </p:nvSpPr>
        <p:spPr/>
        <p:txBody>
          <a:bodyPr>
            <a:noAutofit/>
          </a:bodyPr>
          <a:lstStyle/>
          <a:p>
            <a:r>
              <a:rPr lang="en-US" sz="3400" dirty="0"/>
              <a:t>Section 1.1: Introduction to Chance Models</a:t>
            </a:r>
          </a:p>
        </p:txBody>
      </p:sp>
      <p:sp>
        <p:nvSpPr>
          <p:cNvPr id="3" name="Content Placeholder 2">
            <a:extLst>
              <a:ext uri="{FF2B5EF4-FFF2-40B4-BE49-F238E27FC236}">
                <a16:creationId xmlns:a16="http://schemas.microsoft.com/office/drawing/2014/main" id="{50D6BDB2-2B3B-4C53-83C7-255ABD5F969B}"/>
              </a:ext>
            </a:extLst>
          </p:cNvPr>
          <p:cNvSpPr>
            <a:spLocks noGrp="1"/>
          </p:cNvSpPr>
          <p:nvPr>
            <p:ph sz="quarter" idx="12"/>
          </p:nvPr>
        </p:nvSpPr>
        <p:spPr>
          <a:prstGeom prst="rect">
            <a:avLst/>
          </a:prstGeom>
        </p:spPr>
        <p:txBody>
          <a:bodyPr/>
          <a:lstStyle/>
          <a:p>
            <a:pPr marL="292608" indent="-292608">
              <a:spcAft>
                <a:spcPts val="600"/>
              </a:spcAft>
              <a:buClr>
                <a:schemeClr val="accent2"/>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Organ Donation Study (Preliminaries)</a:t>
            </a:r>
          </a:p>
          <a:p>
            <a:pPr marL="621792" lvl="1" indent="-320040">
              <a:buClr>
                <a:schemeClr val="accent2"/>
              </a:buClr>
              <a:buSzPct val="8000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78.6% in neutral group agreed </a:t>
            </a:r>
          </a:p>
          <a:p>
            <a:pPr marL="621792" lvl="1" indent="-320040">
              <a:spcAft>
                <a:spcPts val="600"/>
              </a:spcAft>
              <a:buClr>
                <a:schemeClr val="accent2"/>
              </a:buClr>
              <a:buSzPct val="8000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41.8% in the opt-in group agreed</a:t>
            </a:r>
          </a:p>
          <a:p>
            <a:pPr marL="292608" indent="-292608">
              <a:buClr>
                <a:schemeClr val="accent2"/>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researchers found these results to be </a:t>
            </a:r>
            <a:r>
              <a:rPr lang="en-US" sz="2400" b="1" dirty="0">
                <a:solidFill>
                  <a:srgbClr val="00007F"/>
                </a:solidFill>
                <a:latin typeface="Times New Roman" panose="02020603050405020304" pitchFamily="18" charset="0"/>
                <a:cs typeface="Times New Roman" panose="02020603050405020304" pitchFamily="18" charset="0"/>
              </a:rPr>
              <a:t>statistically significant</a:t>
            </a:r>
            <a:r>
              <a:rPr lang="en-US" sz="2400" b="1" dirty="0">
                <a:latin typeface="Times New Roman" panose="02020603050405020304" pitchFamily="18" charset="0"/>
                <a:cs typeface="Times New Roman" panose="02020603050405020304" pitchFamily="18" charset="0"/>
              </a:rPr>
              <a:t>.</a:t>
            </a:r>
          </a:p>
          <a:p>
            <a:pPr marL="292608" indent="-292608">
              <a:buClr>
                <a:schemeClr val="accent2"/>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means that if the recruitment method made no difference in the proportion that would agree, results as different as we found would be unlikely to arise by random chance.</a:t>
            </a:r>
          </a:p>
          <a:p>
            <a:pPr marL="292608" indent="-292608">
              <a:buClr>
                <a:schemeClr val="accent2"/>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We are going to start to investigate how to determine whether results are unlikely to occur by random chance (or are statistically significant).</a:t>
            </a:r>
          </a:p>
        </p:txBody>
      </p:sp>
    </p:spTree>
    <p:extLst>
      <p:ext uri="{BB962C8B-B14F-4D97-AF65-F5344CB8AC3E}">
        <p14:creationId xmlns:p14="http://schemas.microsoft.com/office/powerpoint/2010/main" val="1507033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25A1-2F10-484F-80D3-D1DF42971302}"/>
              </a:ext>
            </a:extLst>
          </p:cNvPr>
          <p:cNvSpPr>
            <a:spLocks noGrp="1"/>
          </p:cNvSpPr>
          <p:nvPr>
            <p:ph type="title"/>
          </p:nvPr>
        </p:nvSpPr>
        <p:spPr/>
        <p:txBody>
          <a:bodyPr/>
          <a:lstStyle/>
          <a:p>
            <a:r>
              <a:rPr lang="en-US" dirty="0"/>
              <a:t>Example 1.1</a:t>
            </a:r>
          </a:p>
        </p:txBody>
      </p:sp>
      <p:sp>
        <p:nvSpPr>
          <p:cNvPr id="3" name="Content Placeholder 2">
            <a:extLst>
              <a:ext uri="{FF2B5EF4-FFF2-40B4-BE49-F238E27FC236}">
                <a16:creationId xmlns:a16="http://schemas.microsoft.com/office/drawing/2014/main" id="{733F55E6-2348-4292-9183-420364689E97}"/>
              </a:ext>
            </a:extLst>
          </p:cNvPr>
          <p:cNvSpPr>
            <a:spLocks noGrp="1"/>
          </p:cNvSpPr>
          <p:nvPr>
            <p:ph sz="quarter" idx="12"/>
          </p:nvPr>
        </p:nvSpPr>
        <p:spPr>
          <a:prstGeom prst="rect">
            <a:avLst/>
          </a:prstGeom>
        </p:spPr>
        <p:txBody>
          <a:bodyPr/>
          <a:lstStyle/>
          <a:p>
            <a:pPr marL="0" indent="0">
              <a:spcAft>
                <a:spcPts val="1800"/>
              </a:spcAft>
              <a:buClr>
                <a:srgbClr val="911B21"/>
              </a:buClr>
              <a:buNone/>
            </a:pPr>
            <a:r>
              <a:rPr lang="en-US" dirty="0"/>
              <a:t>Can Dolphins Communicate?</a:t>
            </a:r>
          </a:p>
          <a:p>
            <a:pPr marL="0" indent="0">
              <a:buClr>
                <a:srgbClr val="911B21"/>
              </a:buClr>
              <a:buNone/>
            </a:pPr>
            <a:r>
              <a:rPr lang="en-US" dirty="0"/>
              <a:t>More specifically, we will look at a study done to see whether dolphins can communicate the abstract idea of left and right.</a:t>
            </a:r>
          </a:p>
        </p:txBody>
      </p:sp>
    </p:spTree>
    <p:extLst>
      <p:ext uri="{BB962C8B-B14F-4D97-AF65-F5344CB8AC3E}">
        <p14:creationId xmlns:p14="http://schemas.microsoft.com/office/powerpoint/2010/main" val="847916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t>Example 1.1: U.S. Navy Marine Mammal Program</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0" indent="0">
              <a:buClr>
                <a:srgbClr val="911B21"/>
              </a:buClr>
              <a:buNone/>
            </a:pPr>
            <a:r>
              <a:rPr lang="en-US" dirty="0"/>
              <a:t>The dolphin communication study that we will be looking at was done under a contract with the Navy in the 1960s. </a:t>
            </a:r>
          </a:p>
        </p:txBody>
      </p:sp>
    </p:spTree>
    <p:extLst>
      <p:ext uri="{BB962C8B-B14F-4D97-AF65-F5344CB8AC3E}">
        <p14:creationId xmlns:p14="http://schemas.microsoft.com/office/powerpoint/2010/main" val="414150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F668B2-F32A-4F99-AD38-36EF08299AC5}"/>
              </a:ext>
            </a:extLst>
          </p:cNvPr>
          <p:cNvSpPr>
            <a:spLocks noGrp="1"/>
          </p:cNvSpPr>
          <p:nvPr>
            <p:ph type="title"/>
          </p:nvPr>
        </p:nvSpPr>
        <p:spPr/>
        <p:txBody>
          <a:bodyPr>
            <a:normAutofit fontScale="90000"/>
          </a:bodyPr>
          <a:lstStyle/>
          <a:p>
            <a:r>
              <a:rPr lang="en-US" dirty="0"/>
              <a:t>Example 1.1: </a:t>
            </a:r>
            <a:r>
              <a:rPr lang="en-IN" dirty="0"/>
              <a:t>Can Dolphins Communicate Abstract Ideas?</a:t>
            </a:r>
            <a:endParaRPr lang="en-US" dirty="0"/>
          </a:p>
        </p:txBody>
      </p:sp>
      <p:sp>
        <p:nvSpPr>
          <p:cNvPr id="7" name="Content Placeholder 6">
            <a:extLst>
              <a:ext uri="{FF2B5EF4-FFF2-40B4-BE49-F238E27FC236}">
                <a16:creationId xmlns:a16="http://schemas.microsoft.com/office/drawing/2014/main" id="{A5FC12D7-21FE-4FD2-B8D1-CB1325CB8940}"/>
              </a:ext>
            </a:extLst>
          </p:cNvPr>
          <p:cNvSpPr>
            <a:spLocks noGrp="1"/>
          </p:cNvSpPr>
          <p:nvPr>
            <p:ph sz="quarter" idx="12"/>
          </p:nvPr>
        </p:nvSpPr>
        <p:spPr>
          <a:xfrm>
            <a:off x="304800" y="1911351"/>
            <a:ext cx="8534400" cy="912144"/>
          </a:xfrm>
        </p:spPr>
        <p:txBody>
          <a:bodyPr/>
          <a:lstStyle/>
          <a:p>
            <a:r>
              <a:rPr lang="en-US" dirty="0"/>
              <a:t>Dr. Jarvis Bastian tested to see whether his dolphins, Buzz and Doris, could communicate the idea of left and right.</a:t>
            </a:r>
          </a:p>
        </p:txBody>
      </p:sp>
      <p:pic>
        <p:nvPicPr>
          <p:cNvPr id="27" name="Picture Placeholder 26" descr="An illustration of two leaping dolphins, Buzz and Doris, facing each other.">
            <a:extLst>
              <a:ext uri="{FF2B5EF4-FFF2-40B4-BE49-F238E27FC236}">
                <a16:creationId xmlns:a16="http://schemas.microsoft.com/office/drawing/2014/main" id="{3C3C8316-DD49-4715-9AA5-FCE0E7FC9626}"/>
              </a:ext>
            </a:extLst>
          </p:cNvPr>
          <p:cNvPicPr>
            <a:picLocks noGrp="1" noChangeAspect="1"/>
          </p:cNvPicPr>
          <p:nvPr>
            <p:ph type="pic" sz="quarter" idx="15"/>
          </p:nvPr>
        </p:nvPicPr>
        <p:blipFill>
          <a:blip r:embed="rId2"/>
          <a:stretch>
            <a:fillRect/>
          </a:stretch>
        </p:blipFill>
        <p:spPr>
          <a:xfrm>
            <a:off x="1843804" y="3204404"/>
            <a:ext cx="5456393" cy="2956816"/>
          </a:xfrm>
          <a:prstGeom prst="rect">
            <a:avLst/>
          </a:prstGeom>
        </p:spPr>
      </p:pic>
      <p:pic>
        <p:nvPicPr>
          <p:cNvPr id="28" name="Content Placeholder 14">
            <a:extLst>
              <a:ext uri="{FF2B5EF4-FFF2-40B4-BE49-F238E27FC236}">
                <a16:creationId xmlns:a16="http://schemas.microsoft.com/office/drawing/2014/main" id="{5DC0BF7D-4E05-4D15-AF21-07CDEC1C21F8}"/>
              </a:ext>
              <a:ext uri="{C183D7F6-B498-43B3-948B-1728B52AA6E4}">
                <adec:decorative xmlns:adec="http://schemas.microsoft.com/office/drawing/2017/decorative" val="1"/>
              </a:ext>
            </a:extLst>
          </p:cNvPr>
          <p:cNvPicPr>
            <a:picLocks noGrp="1" noChangeAspect="1"/>
          </p:cNvPicPr>
          <p:nvPr>
            <p:ph type="pic" sz="quarter" idx="13"/>
          </p:nvPr>
        </p:nvPicPr>
        <p:blipFill>
          <a:blip r:embed="rId3"/>
          <a:stretch>
            <a:fillRect/>
          </a:stretch>
        </p:blipFill>
        <p:spPr>
          <a:xfrm>
            <a:off x="1991570" y="3884370"/>
            <a:ext cx="2271278" cy="1457405"/>
          </a:xfrm>
          <a:prstGeom prst="rect">
            <a:avLst/>
          </a:prstGeom>
        </p:spPr>
      </p:pic>
      <p:pic>
        <p:nvPicPr>
          <p:cNvPr id="29" name="Content Placeholder 13">
            <a:extLst>
              <a:ext uri="{FF2B5EF4-FFF2-40B4-BE49-F238E27FC236}">
                <a16:creationId xmlns:a16="http://schemas.microsoft.com/office/drawing/2014/main" id="{9C945DAF-AE9F-4245-B01C-C183A399E231}"/>
              </a:ext>
              <a:ext uri="{C183D7F6-B498-43B3-948B-1728B52AA6E4}">
                <adec:decorative xmlns:adec="http://schemas.microsoft.com/office/drawing/2017/decorative" val="1"/>
              </a:ext>
            </a:extLst>
          </p:cNvPr>
          <p:cNvPicPr>
            <a:picLocks noGrp="1" noChangeAspect="1"/>
          </p:cNvPicPr>
          <p:nvPr>
            <p:ph type="pic" sz="quarter" idx="18"/>
          </p:nvPr>
        </p:nvPicPr>
        <p:blipFill>
          <a:blip r:embed="rId4"/>
          <a:stretch>
            <a:fillRect/>
          </a:stretch>
        </p:blipFill>
        <p:spPr>
          <a:xfrm>
            <a:off x="4670680" y="3405820"/>
            <a:ext cx="2481750" cy="1603146"/>
          </a:xfrm>
          <a:prstGeom prst="rect">
            <a:avLst/>
          </a:prstGeom>
        </p:spPr>
      </p:pic>
      <p:sp>
        <p:nvSpPr>
          <p:cNvPr id="4" name="Content Placeholder 3">
            <a:extLst>
              <a:ext uri="{FF2B5EF4-FFF2-40B4-BE49-F238E27FC236}">
                <a16:creationId xmlns:a16="http://schemas.microsoft.com/office/drawing/2014/main" id="{6D08B40B-BA61-44E5-9856-5971C6B93AE2}"/>
              </a:ext>
            </a:extLst>
          </p:cNvPr>
          <p:cNvSpPr>
            <a:spLocks noGrp="1"/>
          </p:cNvSpPr>
          <p:nvPr>
            <p:ph sz="quarter" idx="16"/>
          </p:nvPr>
        </p:nvSpPr>
        <p:spPr>
          <a:xfrm>
            <a:off x="2978205" y="5148063"/>
            <a:ext cx="950203" cy="481892"/>
          </a:xfrm>
        </p:spPr>
        <p:txBody>
          <a:bodyPr/>
          <a:lstStyle/>
          <a:p>
            <a:pPr marL="0" indent="0">
              <a:buNone/>
            </a:pPr>
            <a:r>
              <a:rPr lang="en-US" dirty="0"/>
              <a:t>Buzz</a:t>
            </a:r>
          </a:p>
        </p:txBody>
      </p:sp>
      <p:sp>
        <p:nvSpPr>
          <p:cNvPr id="5" name="Content Placeholder 4">
            <a:extLst>
              <a:ext uri="{FF2B5EF4-FFF2-40B4-BE49-F238E27FC236}">
                <a16:creationId xmlns:a16="http://schemas.microsoft.com/office/drawing/2014/main" id="{FD42D4B0-3EC1-4B47-BB91-975BBDA80125}"/>
              </a:ext>
            </a:extLst>
          </p:cNvPr>
          <p:cNvSpPr>
            <a:spLocks noGrp="1"/>
          </p:cNvSpPr>
          <p:nvPr>
            <p:ph sz="quarter" idx="17"/>
          </p:nvPr>
        </p:nvSpPr>
        <p:spPr>
          <a:xfrm>
            <a:off x="5158140" y="4771826"/>
            <a:ext cx="1121345" cy="474280"/>
          </a:xfrm>
        </p:spPr>
        <p:txBody>
          <a:bodyPr/>
          <a:lstStyle/>
          <a:p>
            <a:pPr marL="0" indent="0">
              <a:buNone/>
            </a:pPr>
            <a:r>
              <a:rPr lang="en-US" dirty="0"/>
              <a:t>Doris</a:t>
            </a:r>
          </a:p>
        </p:txBody>
      </p:sp>
    </p:spTree>
    <p:extLst>
      <p:ext uri="{BB962C8B-B14F-4D97-AF65-F5344CB8AC3E}">
        <p14:creationId xmlns:p14="http://schemas.microsoft.com/office/powerpoint/2010/main" val="43556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a:xfrm>
            <a:off x="304799" y="620885"/>
            <a:ext cx="8745005" cy="838199"/>
          </a:xfrm>
        </p:spPr>
        <p:txBody>
          <a:bodyPr>
            <a:normAutofit fontScale="90000"/>
          </a:bodyPr>
          <a:lstStyle/>
          <a:p>
            <a:r>
              <a:rPr lang="en-US" dirty="0"/>
              <a:t>Example 1.1: Step 1: Learn the Signals </a:t>
            </a:r>
            <a:r>
              <a:rPr lang="en-US" sz="2400" b="0" dirty="0"/>
              <a:t>(1 of 2)</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34400" cy="2580180"/>
          </a:xfrm>
        </p:spPr>
        <p:txBody>
          <a:bodyPr/>
          <a:lstStyle/>
          <a:p>
            <a:pPr marL="457200" indent="-457200">
              <a:buFont typeface="Arial" panose="020B0604020202020204" pitchFamily="34" charset="0"/>
              <a:buChar char="•"/>
            </a:pPr>
            <a:r>
              <a:rPr lang="en-US" dirty="0"/>
              <a:t>Dr. Bastian put a light with a button on each side of it in a pool. </a:t>
            </a:r>
          </a:p>
          <a:p>
            <a:pPr marL="457200" indent="-457200">
              <a:buFont typeface="Arial" panose="020B0604020202020204" pitchFamily="34" charset="0"/>
              <a:buChar char="•"/>
            </a:pPr>
            <a:r>
              <a:rPr lang="en-US" dirty="0"/>
              <a:t>He wanted Buzz and Doris to learn the signals.</a:t>
            </a:r>
          </a:p>
          <a:p>
            <a:pPr marL="457200" indent="-457200">
              <a:buFont typeface="Arial" panose="020B0604020202020204" pitchFamily="34" charset="0"/>
              <a:buChar char="•"/>
            </a:pPr>
            <a:r>
              <a:rPr lang="en-US" dirty="0"/>
              <a:t>The dolphins were taught that if the light was on, and if they pushed the button on the right, they would be rewarded with a fish.</a:t>
            </a:r>
          </a:p>
        </p:txBody>
      </p:sp>
      <p:pic>
        <p:nvPicPr>
          <p:cNvPr id="5" name="Picture Placeholder 9" descr="An illustration of a dolphin pushing the button on the right among the two given buttons and a headlight at the top.">
            <a:extLst>
              <a:ext uri="{FF2B5EF4-FFF2-40B4-BE49-F238E27FC236}">
                <a16:creationId xmlns:a16="http://schemas.microsoft.com/office/drawing/2014/main" id="{E473F665-AB64-4025-9A23-18D17F82DEC0}"/>
              </a:ext>
            </a:extLst>
          </p:cNvPr>
          <p:cNvPicPr>
            <a:picLocks noGrp="1" noChangeAspect="1"/>
          </p:cNvPicPr>
          <p:nvPr>
            <p:ph type="pic" sz="quarter" idx="13"/>
          </p:nvPr>
        </p:nvPicPr>
        <p:blipFill>
          <a:blip r:embed="rId2"/>
          <a:stretch>
            <a:fillRect/>
          </a:stretch>
        </p:blipFill>
        <p:spPr>
          <a:xfrm>
            <a:off x="5115036" y="4093464"/>
            <a:ext cx="3634483" cy="2174143"/>
          </a:xfrm>
          <a:prstGeom prst="rect">
            <a:avLst/>
          </a:prstGeom>
        </p:spPr>
      </p:pic>
    </p:spTree>
    <p:extLst>
      <p:ext uri="{BB962C8B-B14F-4D97-AF65-F5344CB8AC3E}">
        <p14:creationId xmlns:p14="http://schemas.microsoft.com/office/powerpoint/2010/main" val="336493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a:xfrm>
            <a:off x="304799" y="620885"/>
            <a:ext cx="8745005" cy="838199"/>
          </a:xfrm>
        </p:spPr>
        <p:txBody>
          <a:bodyPr>
            <a:normAutofit fontScale="90000"/>
          </a:bodyPr>
          <a:lstStyle/>
          <a:p>
            <a:r>
              <a:rPr lang="en-US" dirty="0"/>
              <a:t>Example 1.1: Step 1: Learn the Signals </a:t>
            </a:r>
            <a:r>
              <a:rPr lang="en-US" sz="2400" b="0" dirty="0"/>
              <a:t>(2 of 2)</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34400" cy="1289964"/>
          </a:xfrm>
        </p:spPr>
        <p:txBody>
          <a:bodyPr/>
          <a:lstStyle/>
          <a:p>
            <a:pPr marL="457200" indent="-457200">
              <a:buFont typeface="Arial" panose="020B0604020202020204" pitchFamily="34" charset="0"/>
              <a:buChar char="•"/>
            </a:pPr>
            <a:r>
              <a:rPr lang="en-US" dirty="0"/>
              <a:t>The dolphins were also taught that if the light was flashing, and if they pushed the button on the left, they would be rewarded with a fish.</a:t>
            </a:r>
          </a:p>
        </p:txBody>
      </p:sp>
      <p:pic>
        <p:nvPicPr>
          <p:cNvPr id="9" name="Content Placeholder 10" descr="An illustration of a dolphin pushing the button on the left among the two given buttons and a headlight">
            <a:extLst>
              <a:ext uri="{FF2B5EF4-FFF2-40B4-BE49-F238E27FC236}">
                <a16:creationId xmlns:a16="http://schemas.microsoft.com/office/drawing/2014/main" id="{5604D70E-8065-43DD-8720-000CF44F6069}"/>
              </a:ext>
            </a:extLst>
          </p:cNvPr>
          <p:cNvPicPr>
            <a:picLocks noGrp="1" noChangeAspect="1"/>
          </p:cNvPicPr>
          <p:nvPr>
            <p:ph type="pic" sz="quarter" idx="13"/>
          </p:nvPr>
        </p:nvPicPr>
        <p:blipFill>
          <a:blip r:embed="rId2"/>
          <a:stretch>
            <a:fillRect/>
          </a:stretch>
        </p:blipFill>
        <p:spPr>
          <a:xfrm>
            <a:off x="3727460" y="3201315"/>
            <a:ext cx="5111740" cy="3045974"/>
          </a:xfrm>
          <a:prstGeom prst="rect">
            <a:avLst/>
          </a:prstGeom>
        </p:spPr>
      </p:pic>
    </p:spTree>
    <p:extLst>
      <p:ext uri="{BB962C8B-B14F-4D97-AF65-F5344CB8AC3E}">
        <p14:creationId xmlns:p14="http://schemas.microsoft.com/office/powerpoint/2010/main" val="862340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lstStyle/>
          <a:p>
            <a:r>
              <a:rPr lang="en-US" dirty="0"/>
              <a:t>Example 1.1: Step 2: Learn the Order</a:t>
            </a:r>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0"/>
            <a:ext cx="8534400" cy="1669439"/>
          </a:xfrm>
        </p:spPr>
        <p:txBody>
          <a:bodyPr/>
          <a:lstStyle/>
          <a:p>
            <a:pPr marL="457200" indent="-457200">
              <a:buFont typeface="Arial" panose="020B0604020202020204" pitchFamily="34" charset="0"/>
              <a:buChar char="•"/>
            </a:pPr>
            <a:r>
              <a:rPr lang="en-US" dirty="0"/>
              <a:t>The dolphins then had to learn the order.</a:t>
            </a:r>
          </a:p>
          <a:p>
            <a:pPr marL="457200" indent="-457200">
              <a:buFont typeface="Arial" panose="020B0604020202020204" pitchFamily="34" charset="0"/>
              <a:buChar char="•"/>
            </a:pPr>
            <a:r>
              <a:rPr lang="en-US" dirty="0"/>
              <a:t>The only way they would be rewarded was if Buzz pushed the correct button on his side of the pool first and Doris pushed the correct button on her side of the pool second.</a:t>
            </a:r>
          </a:p>
        </p:txBody>
      </p:sp>
      <p:pic>
        <p:nvPicPr>
          <p:cNvPr id="10" name="Picture Placeholder 11" descr="An illustration depicts the analysis of communication between two dolphins, Doris and Buzz. In the illustration, headlights with two signal buttons for each dolphin are placed on both ends of a pool. Two dolphins are facing in opposite directions toward the signals. Both Doris and Buzz push the left button, at the same time.">
            <a:extLst>
              <a:ext uri="{FF2B5EF4-FFF2-40B4-BE49-F238E27FC236}">
                <a16:creationId xmlns:a16="http://schemas.microsoft.com/office/drawing/2014/main" id="{6449739D-2822-45C0-8B41-AB85BCE125F1}"/>
              </a:ext>
            </a:extLst>
          </p:cNvPr>
          <p:cNvPicPr>
            <a:picLocks noGrp="1" noChangeAspect="1"/>
          </p:cNvPicPr>
          <p:nvPr>
            <p:ph type="pic" sz="quarter" idx="13"/>
          </p:nvPr>
        </p:nvPicPr>
        <p:blipFill>
          <a:blip r:embed="rId2"/>
          <a:stretch>
            <a:fillRect/>
          </a:stretch>
        </p:blipFill>
        <p:spPr>
          <a:xfrm>
            <a:off x="4532746" y="3710722"/>
            <a:ext cx="4141751" cy="2561873"/>
          </a:xfrm>
          <a:prstGeom prst="rect">
            <a:avLst/>
          </a:prstGeom>
        </p:spPr>
      </p:pic>
    </p:spTree>
    <p:extLst>
      <p:ext uri="{BB962C8B-B14F-4D97-AF65-F5344CB8AC3E}">
        <p14:creationId xmlns:p14="http://schemas.microsoft.com/office/powerpoint/2010/main" val="1559413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fontScale="90000"/>
          </a:bodyPr>
          <a:lstStyle/>
          <a:p>
            <a:r>
              <a:rPr lang="en-US" dirty="0"/>
              <a:t>Example 1.1: Step 3: Communicate! </a:t>
            </a:r>
            <a:r>
              <a:rPr lang="en-US" sz="2800" b="0" dirty="0"/>
              <a:t>(1 of 5)</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p:txBody>
          <a:bodyPr/>
          <a:lstStyle/>
          <a:p>
            <a:pPr marL="457200" indent="-457200">
              <a:buFont typeface="Arial" panose="020B0604020202020204" pitchFamily="34" charset="0"/>
              <a:buChar char="•"/>
            </a:pPr>
            <a:r>
              <a:rPr lang="en-US" dirty="0"/>
              <a:t>Next the dolphins were forced to communicate to earn their reward.</a:t>
            </a:r>
          </a:p>
          <a:p>
            <a:pPr marL="457200" indent="-457200">
              <a:buFont typeface="Arial" panose="020B0604020202020204" pitchFamily="34" charset="0"/>
              <a:buChar char="•"/>
            </a:pPr>
            <a:r>
              <a:rPr lang="en-US" dirty="0"/>
              <a:t>To do this, Buzz’s light was taken away.</a:t>
            </a:r>
          </a:p>
        </p:txBody>
      </p:sp>
      <p:pic>
        <p:nvPicPr>
          <p:cNvPr id="11" name="Picture Placeholder 17">
            <a:extLst>
              <a:ext uri="{FF2B5EF4-FFF2-40B4-BE49-F238E27FC236}">
                <a16:creationId xmlns:a16="http://schemas.microsoft.com/office/drawing/2014/main" id="{A6EFBEA4-8E7A-49BC-907E-547ECBE45298}"/>
              </a:ext>
              <a:ext uri="{C183D7F6-B498-43B3-948B-1728B52AA6E4}">
                <adec:decorative xmlns:adec="http://schemas.microsoft.com/office/drawing/2017/decorative" val="1"/>
              </a:ext>
            </a:extLst>
          </p:cNvPr>
          <p:cNvPicPr>
            <a:picLocks noGrp="1" noChangeAspect="1"/>
          </p:cNvPicPr>
          <p:nvPr>
            <p:ph type="pic" sz="quarter" idx="15"/>
          </p:nvPr>
        </p:nvPicPr>
        <p:blipFill>
          <a:blip r:embed="rId2"/>
          <a:stretch>
            <a:fillRect/>
          </a:stretch>
        </p:blipFill>
        <p:spPr>
          <a:xfrm>
            <a:off x="2301211" y="3293471"/>
            <a:ext cx="4693976" cy="2873168"/>
          </a:xfrm>
          <a:prstGeom prst="rect">
            <a:avLst/>
          </a:prstGeom>
        </p:spPr>
      </p:pic>
      <p:pic>
        <p:nvPicPr>
          <p:cNvPr id="9" name="Picture Placeholder 18" descr="An illustration depicts the analysis of communication between two dolphins, Doris and Buzz. In the illustration, a headlight and two signal buttons is placed on the left end of a pool. On the right end, there are only two signal buttons. Both dolphins are facing in opposite direction. Doris is facing headlight on the left. Buzz is facing two signal buttons on the right.">
            <a:extLst>
              <a:ext uri="{FF2B5EF4-FFF2-40B4-BE49-F238E27FC236}">
                <a16:creationId xmlns:a16="http://schemas.microsoft.com/office/drawing/2014/main" id="{F97EAC5D-52B8-4257-8EA0-45963B5F7755}"/>
              </a:ext>
            </a:extLst>
          </p:cNvPr>
          <p:cNvPicPr>
            <a:picLocks noGrp="1" noChangeAspect="1"/>
          </p:cNvPicPr>
          <p:nvPr>
            <p:ph type="pic" sz="quarter" idx="13"/>
          </p:nvPr>
        </p:nvPicPr>
        <p:blipFill>
          <a:blip r:embed="rId3"/>
          <a:stretch>
            <a:fillRect/>
          </a:stretch>
        </p:blipFill>
        <p:spPr>
          <a:xfrm>
            <a:off x="2301472" y="3311920"/>
            <a:ext cx="4693976" cy="2876954"/>
          </a:xfrm>
          <a:prstGeom prst="rect">
            <a:avLst/>
          </a:prstGeom>
        </p:spPr>
      </p:pic>
    </p:spTree>
    <p:extLst>
      <p:ext uri="{BB962C8B-B14F-4D97-AF65-F5344CB8AC3E}">
        <p14:creationId xmlns:p14="http://schemas.microsoft.com/office/powerpoint/2010/main" val="210940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fontScale="90000"/>
          </a:bodyPr>
          <a:lstStyle/>
          <a:p>
            <a:r>
              <a:rPr lang="en-US" dirty="0"/>
              <a:t>Example 1.1: Step 3: Communicate! </a:t>
            </a:r>
            <a:r>
              <a:rPr lang="en-US" sz="2800" b="0" dirty="0"/>
              <a:t>(2 of 5)</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0"/>
            <a:ext cx="8534400" cy="1669439"/>
          </a:xfrm>
        </p:spPr>
        <p:txBody>
          <a:bodyPr/>
          <a:lstStyle/>
          <a:p>
            <a:pPr marL="457200" indent="-457200">
              <a:buFont typeface="Arial" panose="020B0604020202020204" pitchFamily="34" charset="0"/>
              <a:buChar char="•"/>
            </a:pPr>
            <a:r>
              <a:rPr lang="en-US" dirty="0"/>
              <a:t>A thick canvas curtain was placed down the middle of the pool.</a:t>
            </a:r>
          </a:p>
          <a:p>
            <a:pPr marL="457200" indent="-457200">
              <a:buFont typeface="Arial" panose="020B0604020202020204" pitchFamily="34" charset="0"/>
              <a:buChar char="•"/>
            </a:pPr>
            <a:r>
              <a:rPr lang="en-US" dirty="0"/>
              <a:t>Buzz couldn’t see Doris’s light and his was gone. </a:t>
            </a:r>
          </a:p>
        </p:txBody>
      </p:sp>
      <p:pic>
        <p:nvPicPr>
          <p:cNvPr id="10" name="Content Placeholder 19" descr="An illustration depicts the analysis of communication between two dolphins, Doris and Buzz. In the illustration, two dolphins have a canvas curtain in between, and are facing in opposite directions. Doris is facing headlight with two signal buttons, on the left. Buzz is facing two signal buttons on the right and has no headlight.">
            <a:extLst>
              <a:ext uri="{FF2B5EF4-FFF2-40B4-BE49-F238E27FC236}">
                <a16:creationId xmlns:a16="http://schemas.microsoft.com/office/drawing/2014/main" id="{37365C9A-8DFC-4EC0-BEB3-85D72EE7B98E}"/>
              </a:ext>
            </a:extLst>
          </p:cNvPr>
          <p:cNvPicPr>
            <a:picLocks noGrp="1" noChangeAspect="1"/>
          </p:cNvPicPr>
          <p:nvPr>
            <p:ph type="pic" sz="quarter" idx="13"/>
          </p:nvPr>
        </p:nvPicPr>
        <p:blipFill>
          <a:blip r:embed="rId2"/>
          <a:stretch>
            <a:fillRect/>
          </a:stretch>
        </p:blipFill>
        <p:spPr>
          <a:xfrm>
            <a:off x="4216060" y="3334544"/>
            <a:ext cx="4575071" cy="2807766"/>
          </a:xfrm>
          <a:prstGeom prst="rect">
            <a:avLst/>
          </a:prstGeom>
        </p:spPr>
      </p:pic>
    </p:spTree>
    <p:extLst>
      <p:ext uri="{BB962C8B-B14F-4D97-AF65-F5344CB8AC3E}">
        <p14:creationId xmlns:p14="http://schemas.microsoft.com/office/powerpoint/2010/main" val="528963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fontScale="90000"/>
          </a:bodyPr>
          <a:lstStyle/>
          <a:p>
            <a:r>
              <a:rPr lang="en-US" dirty="0"/>
              <a:t>Example 1.1: Step 3: Communicate! </a:t>
            </a:r>
            <a:r>
              <a:rPr lang="en-US" sz="2800" b="0" dirty="0"/>
              <a:t>(3 of 5)</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34400" cy="1365860"/>
          </a:xfrm>
        </p:spPr>
        <p:txBody>
          <a:bodyPr/>
          <a:lstStyle/>
          <a:p>
            <a:pPr marL="457200" indent="-457200">
              <a:buFont typeface="Arial" panose="020B0604020202020204" pitchFamily="34" charset="0"/>
              <a:buChar char="•"/>
            </a:pPr>
            <a:r>
              <a:rPr lang="en-US" dirty="0"/>
              <a:t>The light is flashing, but Doris is waiting for Buzz to push his button first. </a:t>
            </a:r>
          </a:p>
          <a:p>
            <a:pPr marL="457200" indent="-457200">
              <a:buFont typeface="Arial" panose="020B0604020202020204" pitchFamily="34" charset="0"/>
              <a:buChar char="•"/>
            </a:pPr>
            <a:r>
              <a:rPr lang="en-US" dirty="0"/>
              <a:t>However, Buzz does not see any light.</a:t>
            </a:r>
          </a:p>
        </p:txBody>
      </p:sp>
      <p:pic>
        <p:nvPicPr>
          <p:cNvPr id="9" name="Content Placeholder 19" descr="An illustration depicts the analysis of communication between two dolphins, Doris and Buzz. In the illustration, two dolphins have a canvas curtain in between, and are facing in opposite directions. Doris is facing headlight with two signal buttons on the left. Buzz is facing two signal buttons on the right and has no headlight.">
            <a:extLst>
              <a:ext uri="{FF2B5EF4-FFF2-40B4-BE49-F238E27FC236}">
                <a16:creationId xmlns:a16="http://schemas.microsoft.com/office/drawing/2014/main" id="{CE1727B1-2839-4F20-A0C4-95337EE9897C}"/>
              </a:ext>
            </a:extLst>
          </p:cNvPr>
          <p:cNvPicPr>
            <a:picLocks noGrp="1" noChangeAspect="1"/>
          </p:cNvPicPr>
          <p:nvPr>
            <p:ph type="pic" sz="quarter" idx="13"/>
          </p:nvPr>
        </p:nvPicPr>
        <p:blipFill>
          <a:blip r:embed="rId2"/>
          <a:stretch>
            <a:fillRect/>
          </a:stretch>
        </p:blipFill>
        <p:spPr>
          <a:xfrm>
            <a:off x="4344315" y="3277210"/>
            <a:ext cx="4693976" cy="2880739"/>
          </a:xfrm>
          <a:prstGeom prst="rect">
            <a:avLst/>
          </a:prstGeom>
        </p:spPr>
      </p:pic>
    </p:spTree>
    <p:extLst>
      <p:ext uri="{BB962C8B-B14F-4D97-AF65-F5344CB8AC3E}">
        <p14:creationId xmlns:p14="http://schemas.microsoft.com/office/powerpoint/2010/main" val="10993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fontScale="90000"/>
          </a:bodyPr>
          <a:lstStyle/>
          <a:p>
            <a:r>
              <a:rPr lang="en-US" dirty="0"/>
              <a:t>Example 1.1: Step 3: Communicate! </a:t>
            </a:r>
            <a:r>
              <a:rPr lang="en-US" sz="2800" b="0" dirty="0"/>
              <a:t>(4 of 5)</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34400" cy="1365860"/>
          </a:xfrm>
        </p:spPr>
        <p:txBody>
          <a:bodyPr/>
          <a:lstStyle/>
          <a:p>
            <a:pPr marL="457200" indent="-457200">
              <a:buFont typeface="Arial" panose="020B0604020202020204" pitchFamily="34" charset="0"/>
              <a:buChar char="•"/>
            </a:pPr>
            <a:r>
              <a:rPr lang="en-US" dirty="0"/>
              <a:t>Doris swims over to the canvas curtain and squeaks something to Buzz.</a:t>
            </a:r>
          </a:p>
          <a:p>
            <a:pPr marL="457200" indent="-457200">
              <a:buFont typeface="Arial" panose="020B0604020202020204" pitchFamily="34" charset="0"/>
              <a:buChar char="•"/>
            </a:pPr>
            <a:r>
              <a:rPr lang="en-US" dirty="0"/>
              <a:t>Buzz hears it and pushes his button on the left.</a:t>
            </a:r>
          </a:p>
        </p:txBody>
      </p:sp>
      <p:pic>
        <p:nvPicPr>
          <p:cNvPr id="5" name="Content Placeholder 21">
            <a:extLst>
              <a:ext uri="{FF2B5EF4-FFF2-40B4-BE49-F238E27FC236}">
                <a16:creationId xmlns:a16="http://schemas.microsoft.com/office/drawing/2014/main" id="{20373350-5F20-4AA2-8CF4-A7C6D496EDC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61260" y="3332849"/>
            <a:ext cx="4572000" cy="2835388"/>
          </a:xfrm>
          <a:prstGeom prst="rect">
            <a:avLst/>
          </a:prstGeom>
        </p:spPr>
      </p:pic>
      <p:pic>
        <p:nvPicPr>
          <p:cNvPr id="10" name="Content Placeholder 22" descr="An illustration depicts the analysis of communication between two dolphins, Doris and Buzz. In the illustration, two dolphins have a canvas curtain in between, and are facing on the right side. On the left end, there is a head light with two signal buttons and on the right end are two signal buttons with no headlight. Doris at the left is facing the canvas curtain. A thought bubble from Doris reads, Left Exclamation mark. Buzz, is facing two buttons on the right and pushing the left button.">
            <a:extLst>
              <a:ext uri="{FF2B5EF4-FFF2-40B4-BE49-F238E27FC236}">
                <a16:creationId xmlns:a16="http://schemas.microsoft.com/office/drawing/2014/main" id="{406BA9B8-8D9C-4CBA-AB45-14D3A1B9073F}"/>
              </a:ext>
            </a:extLst>
          </p:cNvPr>
          <p:cNvPicPr>
            <a:picLocks noGrp="1" noChangeAspect="1"/>
          </p:cNvPicPr>
          <p:nvPr>
            <p:ph type="pic" sz="quarter" idx="13"/>
          </p:nvPr>
        </p:nvPicPr>
        <p:blipFill>
          <a:blip r:embed="rId3"/>
          <a:stretch>
            <a:fillRect/>
          </a:stretch>
        </p:blipFill>
        <p:spPr>
          <a:xfrm>
            <a:off x="3654026" y="3331776"/>
            <a:ext cx="4647501" cy="2923429"/>
          </a:xfrm>
          <a:prstGeom prst="rect">
            <a:avLst/>
          </a:prstGeom>
        </p:spPr>
      </p:pic>
    </p:spTree>
    <p:extLst>
      <p:ext uri="{BB962C8B-B14F-4D97-AF65-F5344CB8AC3E}">
        <p14:creationId xmlns:p14="http://schemas.microsoft.com/office/powerpoint/2010/main" val="118263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t>Example 1.1: Step 3: Communicate! </a:t>
            </a:r>
            <a:r>
              <a:rPr lang="en-US" sz="2800" b="0" dirty="0"/>
              <a:t>(5 of 5)</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457200" indent="-457200">
              <a:lnSpc>
                <a:spcPct val="100000"/>
              </a:lnSpc>
              <a:buFont typeface="Arial" panose="020B0604020202020204" pitchFamily="34" charset="0"/>
              <a:buChar char="•"/>
            </a:pPr>
            <a:r>
              <a:rPr lang="en-US" dirty="0"/>
              <a:t>It appears as though Doris has successfully communicated the idea of pushing the button on the left to Buzz.</a:t>
            </a:r>
          </a:p>
          <a:p>
            <a:pPr marL="457200" indent="-457200">
              <a:lnSpc>
                <a:spcPct val="100000"/>
              </a:lnSpc>
              <a:buFont typeface="Arial" panose="020B0604020202020204" pitchFamily="34" charset="0"/>
              <a:buChar char="•"/>
            </a:pPr>
            <a:r>
              <a:rPr lang="en-US" dirty="0"/>
              <a:t>Now we need to test to see whether this was just a fluke or that Doris and Buzz are really communicating.</a:t>
            </a:r>
          </a:p>
          <a:p>
            <a:pPr marL="457200" indent="-457200">
              <a:lnSpc>
                <a:spcPct val="100000"/>
              </a:lnSpc>
              <a:buFont typeface="Arial" panose="020B0604020202020204" pitchFamily="34" charset="0"/>
              <a:buChar char="•"/>
            </a:pPr>
            <a:r>
              <a:rPr lang="en-US" dirty="0"/>
              <a:t>Dr. Bastian tested them on many different sets of trials.</a:t>
            </a:r>
          </a:p>
          <a:p>
            <a:pPr marL="457200" indent="-457200">
              <a:lnSpc>
                <a:spcPct val="100000"/>
              </a:lnSpc>
              <a:buFont typeface="Arial" panose="020B0604020202020204" pitchFamily="34" charset="0"/>
              <a:buChar char="•"/>
            </a:pPr>
            <a:r>
              <a:rPr lang="en-US" dirty="0"/>
              <a:t>We will focus on one set of trials, in particular.</a:t>
            </a:r>
          </a:p>
        </p:txBody>
      </p:sp>
    </p:spTree>
    <p:extLst>
      <p:ext uri="{BB962C8B-B14F-4D97-AF65-F5344CB8AC3E}">
        <p14:creationId xmlns:p14="http://schemas.microsoft.com/office/powerpoint/2010/main" val="3315496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The Statistic</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1289965"/>
          </a:xfrm>
          <a:prstGeom prst="rect">
            <a:avLst/>
          </a:prstGeom>
        </p:spPr>
        <p:txBody>
          <a:bodyPr/>
          <a:lstStyle/>
          <a:p>
            <a:pPr marL="292608" indent="-292608">
              <a:lnSpc>
                <a:spcPct val="100000"/>
              </a:lnSpc>
              <a:buClr>
                <a:schemeClr val="accent2"/>
              </a:buClr>
              <a:buFont typeface="Arial" panose="020B0604020202020204" pitchFamily="34" charset="0"/>
              <a:buChar char="•"/>
            </a:pPr>
            <a:r>
              <a:rPr lang="en-US" dirty="0"/>
              <a:t>In one set of trials, Buzz chose the correct button 15 out of 16 times.</a:t>
            </a:r>
          </a:p>
          <a:p>
            <a:pPr marL="292608" indent="-292608">
              <a:lnSpc>
                <a:spcPct val="100000"/>
              </a:lnSpc>
              <a:buClr>
                <a:schemeClr val="accent2"/>
              </a:buClr>
              <a:buFont typeface="Arial" panose="020B0604020202020204" pitchFamily="34" charset="0"/>
              <a:buChar char="•"/>
            </a:pPr>
            <a:r>
              <a:rPr lang="en-US" dirty="0"/>
              <a:t>So our sample proportion is</a:t>
            </a:r>
          </a:p>
        </p:txBody>
      </p:sp>
      <p:graphicFrame>
        <p:nvGraphicFramePr>
          <p:cNvPr id="6" name="Object 10" descr="start frac 15 over 16 end frac equals 0.9375 full stop">
            <a:extLst>
              <a:ext uri="{FF2B5EF4-FFF2-40B4-BE49-F238E27FC236}">
                <a16:creationId xmlns:a16="http://schemas.microsoft.com/office/drawing/2014/main" id="{9A3C85EB-84E4-4361-8CF8-CE55713172B1}"/>
              </a:ext>
            </a:extLst>
          </p:cNvPr>
          <p:cNvGraphicFramePr>
            <a:graphicFrameLocks noChangeAspect="1"/>
          </p:cNvGraphicFramePr>
          <p:nvPr>
            <p:extLst>
              <p:ext uri="{D42A27DB-BD31-4B8C-83A1-F6EECF244321}">
                <p14:modId xmlns:p14="http://schemas.microsoft.com/office/powerpoint/2010/main" val="4169800572"/>
              </p:ext>
            </p:extLst>
          </p:nvPr>
        </p:nvGraphicFramePr>
        <p:xfrm>
          <a:off x="4448418" y="2657044"/>
          <a:ext cx="1515347" cy="699391"/>
        </p:xfrm>
        <a:graphic>
          <a:graphicData uri="http://schemas.openxmlformats.org/presentationml/2006/ole">
            <mc:AlternateContent xmlns:mc="http://schemas.openxmlformats.org/markup-compatibility/2006">
              <mc:Choice xmlns:v="urn:schemas-microsoft-com:vml" Requires="v">
                <p:oleObj name="Equation" r:id="rId2" imgW="1815840" imgH="838080" progId="Equation.DSMT4">
                  <p:embed/>
                </p:oleObj>
              </mc:Choice>
              <mc:Fallback>
                <p:oleObj name="Equation" r:id="rId2" imgW="1815840" imgH="838080" progId="Equation.DSMT4">
                  <p:embed/>
                  <p:pic>
                    <p:nvPicPr>
                      <p:cNvPr id="12" name="Content Placeholder 10" descr="15 sixteenths = 0.9375.">
                        <a:extLst>
                          <a:ext uri="{FF2B5EF4-FFF2-40B4-BE49-F238E27FC236}">
                            <a16:creationId xmlns:a16="http://schemas.microsoft.com/office/drawing/2014/main" id="{A00DC611-1389-4A8D-B673-5D5A662AC80C}"/>
                          </a:ext>
                        </a:extLst>
                      </p:cNvPr>
                      <p:cNvPicPr/>
                      <p:nvPr/>
                    </p:nvPicPr>
                    <p:blipFill>
                      <a:blip r:embed="rId3"/>
                      <a:stretch>
                        <a:fillRect/>
                      </a:stretch>
                    </p:blipFill>
                    <p:spPr>
                      <a:xfrm>
                        <a:off x="4448418" y="2657044"/>
                        <a:ext cx="1515347" cy="699391"/>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D5EA2518-A0E3-485F-B982-FD60134A69A1}"/>
              </a:ext>
            </a:extLst>
          </p:cNvPr>
          <p:cNvSpPr>
            <a:spLocks noGrp="1"/>
          </p:cNvSpPr>
          <p:nvPr>
            <p:ph sz="quarter" idx="13"/>
          </p:nvPr>
        </p:nvSpPr>
        <p:spPr>
          <a:xfrm>
            <a:off x="304800" y="3277210"/>
            <a:ext cx="8534400" cy="1442005"/>
          </a:xfrm>
        </p:spPr>
        <p:txBody>
          <a:bodyPr/>
          <a:lstStyle/>
          <a:p>
            <a:pPr marL="291600" indent="-291600">
              <a:lnSpc>
                <a:spcPct val="100000"/>
              </a:lnSpc>
              <a:buClr>
                <a:schemeClr val="accent2"/>
              </a:buClr>
              <a:buFont typeface="Arial" panose="020B0604020202020204" pitchFamily="34" charset="0"/>
              <a:buChar char="•"/>
            </a:pPr>
            <a:r>
              <a:rPr lang="en-US" sz="2600" dirty="0"/>
              <a:t>Based on the results, do you think Buzz knew which button to push or was he guessing?</a:t>
            </a:r>
          </a:p>
          <a:p>
            <a:pPr marL="291600" indent="-291600">
              <a:lnSpc>
                <a:spcPct val="100000"/>
              </a:lnSpc>
              <a:buClr>
                <a:schemeClr val="accent2"/>
              </a:buClr>
              <a:buFont typeface="Arial" panose="020B0604020202020204" pitchFamily="34" charset="0"/>
              <a:buChar char="•"/>
            </a:pPr>
            <a:r>
              <a:rPr lang="en-US" sz="2600" dirty="0"/>
              <a:t>Why do you think so?</a:t>
            </a:r>
          </a:p>
        </p:txBody>
      </p:sp>
    </p:spTree>
    <p:extLst>
      <p:ext uri="{BB962C8B-B14F-4D97-AF65-F5344CB8AC3E}">
        <p14:creationId xmlns:p14="http://schemas.microsoft.com/office/powerpoint/2010/main" val="1981793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Possible Explanations</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lnSpc>
                <a:spcPct val="100000"/>
              </a:lnSpc>
              <a:buClr>
                <a:schemeClr val="accent2"/>
              </a:buClr>
              <a:buFont typeface="Arial" panose="020B0604020202020204" pitchFamily="34" charset="0"/>
              <a:buChar char="•"/>
            </a:pPr>
            <a:r>
              <a:rPr lang="en-US" dirty="0"/>
              <a:t>There are two possible reasons why Buzz chose the correct button so many times.</a:t>
            </a:r>
          </a:p>
          <a:p>
            <a:pPr lvl="1">
              <a:lnSpc>
                <a:spcPct val="100000"/>
              </a:lnSpc>
              <a:buClr>
                <a:schemeClr val="accent2"/>
              </a:buClr>
            </a:pPr>
            <a:r>
              <a:rPr lang="en-US" dirty="0"/>
              <a:t>He is just randomly guessing and got 15 out of 16 correct just by chance.</a:t>
            </a:r>
          </a:p>
          <a:p>
            <a:pPr lvl="1">
              <a:lnSpc>
                <a:spcPct val="100000"/>
              </a:lnSpc>
              <a:buClr>
                <a:schemeClr val="accent2"/>
              </a:buClr>
            </a:pPr>
            <a:r>
              <a:rPr lang="en-US" dirty="0"/>
              <a:t>He was doing something other than just guessing and was understanding what Doris was telling him.</a:t>
            </a:r>
          </a:p>
          <a:p>
            <a:pPr marL="292608" indent="-292608">
              <a:lnSpc>
                <a:spcPct val="100000"/>
              </a:lnSpc>
              <a:buClr>
                <a:schemeClr val="accent2"/>
              </a:buClr>
              <a:buFont typeface="Arial" panose="020B0604020202020204" pitchFamily="34" charset="0"/>
              <a:buChar char="•"/>
            </a:pPr>
            <a:r>
              <a:rPr lang="en-US" dirty="0"/>
              <a:t>We want to model randomly guessing and see how Buzz’s result fit in this model.</a:t>
            </a:r>
          </a:p>
          <a:p>
            <a:pPr marL="292608" indent="-292608">
              <a:lnSpc>
                <a:spcPct val="100000"/>
              </a:lnSpc>
              <a:buClr>
                <a:schemeClr val="accent2"/>
              </a:buClr>
              <a:buFont typeface="Arial" panose="020B0604020202020204" pitchFamily="34" charset="0"/>
              <a:buChar char="•"/>
            </a:pPr>
            <a:r>
              <a:rPr lang="en-US" b="1" dirty="0"/>
              <a:t>How might we model the situation where Buzz is just guessing (our chance model)?</a:t>
            </a:r>
          </a:p>
        </p:txBody>
      </p:sp>
    </p:spTree>
    <p:extLst>
      <p:ext uri="{BB962C8B-B14F-4D97-AF65-F5344CB8AC3E}">
        <p14:creationId xmlns:p14="http://schemas.microsoft.com/office/powerpoint/2010/main" val="4061909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69C2-6C45-4E7C-982E-611D859D7098}"/>
              </a:ext>
            </a:extLst>
          </p:cNvPr>
          <p:cNvSpPr>
            <a:spLocks noGrp="1"/>
          </p:cNvSpPr>
          <p:nvPr>
            <p:ph type="title"/>
          </p:nvPr>
        </p:nvSpPr>
        <p:spPr/>
        <p:txBody>
          <a:bodyPr>
            <a:normAutofit fontScale="90000"/>
          </a:bodyPr>
          <a:lstStyle/>
          <a:p>
            <a:r>
              <a:rPr lang="en-US" dirty="0"/>
              <a:t>Example 1.1: Simulation vs. Real Study</a:t>
            </a:r>
          </a:p>
        </p:txBody>
      </p:sp>
      <p:sp>
        <p:nvSpPr>
          <p:cNvPr id="8" name="Content Placeholder 7">
            <a:extLst>
              <a:ext uri="{FF2B5EF4-FFF2-40B4-BE49-F238E27FC236}">
                <a16:creationId xmlns:a16="http://schemas.microsoft.com/office/drawing/2014/main" id="{DE8E21D4-2EE8-4CE9-B3A1-5B51406BC1E9}"/>
              </a:ext>
            </a:extLst>
          </p:cNvPr>
          <p:cNvSpPr>
            <a:spLocks noGrp="1"/>
          </p:cNvSpPr>
          <p:nvPr>
            <p:ph sz="quarter" idx="12"/>
          </p:nvPr>
        </p:nvSpPr>
        <p:spPr>
          <a:xfrm>
            <a:off x="304800" y="1911350"/>
            <a:ext cx="8534400" cy="531015"/>
          </a:xfrm>
        </p:spPr>
        <p:txBody>
          <a:bodyPr/>
          <a:lstStyle/>
          <a:p>
            <a:pPr marL="0" indent="0">
              <a:buNone/>
            </a:pPr>
            <a:r>
              <a:rPr lang="en-US" b="1" dirty="0"/>
              <a:t>Table:</a:t>
            </a:r>
            <a:r>
              <a:rPr lang="en-US" dirty="0"/>
              <a:t> Parallels between real study and physical simulation</a:t>
            </a:r>
          </a:p>
        </p:txBody>
      </p:sp>
      <p:graphicFrame>
        <p:nvGraphicFramePr>
          <p:cNvPr id="3" name="Object 2" descr="matrix Element 1 1 Coin flip  Element 2 1 = Element 3 1 guess by Buzz Element 1 2 Heads Element 2 2 = Element 3 2 correct guess Element 1 3 Tails Element 2 3 = Element 3 3 wrong guess Element 1 4 Chance of heads Element 2 4 = Element 3 4 matrix Element 1 1 start frac 1 over 2 end frac , probability of pushing the correct button Element 1 2  when Buzz is just guessing Element 1 5 One repetition Element 2 5 = Element 3 5 one set of 16 simulated attempts by Buzz">
            <a:extLst>
              <a:ext uri="{FF2B5EF4-FFF2-40B4-BE49-F238E27FC236}">
                <a16:creationId xmlns:a16="http://schemas.microsoft.com/office/drawing/2014/main" id="{5AB0F345-8053-47A4-803B-00F4F16F48B1}"/>
              </a:ext>
            </a:extLst>
          </p:cNvPr>
          <p:cNvGraphicFramePr>
            <a:graphicFrameLocks noChangeAspect="1"/>
          </p:cNvGraphicFramePr>
          <p:nvPr>
            <p:extLst>
              <p:ext uri="{D42A27DB-BD31-4B8C-83A1-F6EECF244321}">
                <p14:modId xmlns:p14="http://schemas.microsoft.com/office/powerpoint/2010/main" val="839413892"/>
              </p:ext>
            </p:extLst>
          </p:nvPr>
        </p:nvGraphicFramePr>
        <p:xfrm>
          <a:off x="479137" y="2803978"/>
          <a:ext cx="8185727" cy="2678545"/>
        </p:xfrm>
        <a:graphic>
          <a:graphicData uri="http://schemas.openxmlformats.org/presentationml/2006/ole">
            <mc:AlternateContent xmlns:mc="http://schemas.openxmlformats.org/markup-compatibility/2006">
              <mc:Choice xmlns:v="urn:schemas-microsoft-com:vml" Requires="v">
                <p:oleObj name="Equation" r:id="rId2" imgW="9003960" imgH="2946240" progId="Equation.DSMT4">
                  <p:embed/>
                </p:oleObj>
              </mc:Choice>
              <mc:Fallback>
                <p:oleObj name="Equation" r:id="rId2" imgW="9003960" imgH="2946240" progId="Equation.DSMT4">
                  <p:embed/>
                  <p:pic>
                    <p:nvPicPr>
                      <p:cNvPr id="0" name=""/>
                      <p:cNvPicPr/>
                      <p:nvPr/>
                    </p:nvPicPr>
                    <p:blipFill>
                      <a:blip r:embed="rId3"/>
                      <a:stretch>
                        <a:fillRect/>
                      </a:stretch>
                    </p:blipFill>
                    <p:spPr>
                      <a:xfrm>
                        <a:off x="479137" y="2803978"/>
                        <a:ext cx="8185727" cy="2678545"/>
                      </a:xfrm>
                      <a:prstGeom prst="rect">
                        <a:avLst/>
                      </a:prstGeom>
                    </p:spPr>
                  </p:pic>
                </p:oleObj>
              </mc:Fallback>
            </mc:AlternateContent>
          </a:graphicData>
        </a:graphic>
      </p:graphicFrame>
    </p:spTree>
    <p:extLst>
      <p:ext uri="{BB962C8B-B14F-4D97-AF65-F5344CB8AC3E}">
        <p14:creationId xmlns:p14="http://schemas.microsoft.com/office/powerpoint/2010/main" val="1881219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AF74D-562C-44D4-999F-11E7E50A4C4E}"/>
              </a:ext>
            </a:extLst>
          </p:cNvPr>
          <p:cNvSpPr>
            <a:spLocks noGrp="1"/>
          </p:cNvSpPr>
          <p:nvPr>
            <p:ph type="title"/>
          </p:nvPr>
        </p:nvSpPr>
        <p:spPr/>
        <p:txBody>
          <a:bodyPr>
            <a:normAutofit fontScale="90000"/>
          </a:bodyPr>
          <a:lstStyle/>
          <a:p>
            <a:r>
              <a:rPr lang="en-US" dirty="0"/>
              <a:t>Example 1.1: Modeling Doris and Buzz</a:t>
            </a:r>
          </a:p>
        </p:txBody>
      </p:sp>
      <p:sp>
        <p:nvSpPr>
          <p:cNvPr id="3" name="Content Placeholder 2">
            <a:extLst>
              <a:ext uri="{FF2B5EF4-FFF2-40B4-BE49-F238E27FC236}">
                <a16:creationId xmlns:a16="http://schemas.microsoft.com/office/drawing/2014/main" id="{2DBD49E3-372F-4387-A210-8F5E390AED5E}"/>
              </a:ext>
            </a:extLst>
          </p:cNvPr>
          <p:cNvSpPr>
            <a:spLocks noGrp="1"/>
          </p:cNvSpPr>
          <p:nvPr>
            <p:ph sz="quarter" idx="12"/>
          </p:nvPr>
        </p:nvSpPr>
        <p:spPr>
          <a:xfrm>
            <a:off x="304800" y="1683416"/>
            <a:ext cx="8534400" cy="3187590"/>
          </a:xfrm>
        </p:spPr>
        <p:txBody>
          <a:bodyPr/>
          <a:lstStyle/>
          <a:p>
            <a:pPr marL="292608" indent="-292608">
              <a:buClr>
                <a:schemeClr val="accent2"/>
              </a:buClr>
              <a:buFont typeface="Arial" panose="020B0604020202020204" pitchFamily="34" charset="0"/>
              <a:buChar char="•"/>
            </a:pPr>
            <a:r>
              <a:rPr lang="en-US" dirty="0"/>
              <a:t>Do the simulation by flipping coins and putting results on the board.</a:t>
            </a:r>
          </a:p>
          <a:p>
            <a:pPr marL="292608" indent="-292608">
              <a:buClr>
                <a:schemeClr val="accent2"/>
              </a:buClr>
              <a:buFont typeface="Arial" panose="020B0604020202020204" pitchFamily="34" charset="0"/>
              <a:buChar char="•"/>
            </a:pPr>
            <a:r>
              <a:rPr lang="en-US" dirty="0"/>
              <a:t>Where does 15 out of 16 lie in the distribution that was produced?</a:t>
            </a:r>
          </a:p>
          <a:p>
            <a:pPr marL="292608" indent="-292608">
              <a:buClr>
                <a:schemeClr val="accent2"/>
              </a:buClr>
              <a:buFont typeface="Arial" panose="020B0604020202020204" pitchFamily="34" charset="0"/>
              <a:buChar char="•"/>
            </a:pPr>
            <a:r>
              <a:rPr lang="en-US" dirty="0"/>
              <a:t>Then use the </a:t>
            </a:r>
            <a:r>
              <a:rPr lang="en-US" b="1" dirty="0"/>
              <a:t>One Proportion </a:t>
            </a:r>
            <a:r>
              <a:rPr lang="en-US" dirty="0"/>
              <a:t>applet to get a distribution of results that could have happened by chance if Buzz was just guessing.</a:t>
            </a:r>
          </a:p>
        </p:txBody>
      </p:sp>
      <p:pic>
        <p:nvPicPr>
          <p:cNvPr id="6" name="Content Placeholder 2" descr="An illustration depicts the analysis of communication between two dolphins, Buzz and Doris. In the illustration, two dolphins have a canvas curtain in between, and are facing in opposite directions. Buzz is facing two signal buttons on the left. A thought bubble from Buzz has a question mark symbol. Doris is facing a shining headlight on the right. A thought bubble from Doris reads, Left Exclamation mark.">
            <a:extLst>
              <a:ext uri="{FF2B5EF4-FFF2-40B4-BE49-F238E27FC236}">
                <a16:creationId xmlns:a16="http://schemas.microsoft.com/office/drawing/2014/main" id="{CC262BE7-B3D5-41A0-B2B0-A40ED3A908E3}"/>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tretch>
            <a:fillRect/>
          </a:stretch>
        </p:blipFill>
        <p:spPr bwMode="auto">
          <a:xfrm>
            <a:off x="4841865" y="4458340"/>
            <a:ext cx="3782598" cy="1769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742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Three S Strategy</a:t>
            </a:r>
            <a:endParaRPr lang="en-US" strike="sngStrike"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buClr>
                <a:schemeClr val="accent2"/>
              </a:buClr>
              <a:buFont typeface="Arial" panose="020B0604020202020204" pitchFamily="34" charset="0"/>
              <a:buChar char="•"/>
            </a:pPr>
            <a:r>
              <a:rPr lang="en-US" b="1" dirty="0"/>
              <a:t>Statistic: </a:t>
            </a:r>
            <a:r>
              <a:rPr lang="en-US" dirty="0"/>
              <a:t>Compute the statistic from the observed data.</a:t>
            </a:r>
          </a:p>
          <a:p>
            <a:pPr marL="292608" indent="-292608">
              <a:buClr>
                <a:schemeClr val="accent2"/>
              </a:buClr>
              <a:buFont typeface="Arial" panose="020B0604020202020204" pitchFamily="34" charset="0"/>
              <a:buChar char="•"/>
            </a:pPr>
            <a:r>
              <a:rPr lang="en-US" b="1" dirty="0"/>
              <a:t>Simulate</a:t>
            </a:r>
            <a:r>
              <a:rPr lang="en-US" dirty="0"/>
              <a:t>: Identify a model that represents a chance explanation. Repeatedly simulate values of the statistic that could have happened when the chance model is true and form a distribution.</a:t>
            </a:r>
          </a:p>
          <a:p>
            <a:pPr marL="292608" indent="-292608">
              <a:buClr>
                <a:schemeClr val="accent2"/>
              </a:buClr>
              <a:buFont typeface="Arial" panose="020B0604020202020204" pitchFamily="34" charset="0"/>
              <a:buChar char="•"/>
            </a:pPr>
            <a:r>
              <a:rPr lang="en-US" b="1" dirty="0"/>
              <a:t>Strength of evidence</a:t>
            </a:r>
            <a:r>
              <a:rPr lang="en-US" dirty="0"/>
              <a:t>: Consider whether the value of the observed statistic is unlikely to occur when the chance model is true.</a:t>
            </a:r>
          </a:p>
        </p:txBody>
      </p:sp>
    </p:spTree>
    <p:extLst>
      <p:ext uri="{BB962C8B-B14F-4D97-AF65-F5344CB8AC3E}">
        <p14:creationId xmlns:p14="http://schemas.microsoft.com/office/powerpoint/2010/main" val="154677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Terminology</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2428390"/>
          </a:xfrm>
          <a:prstGeom prst="rect">
            <a:avLst/>
          </a:prstGeom>
        </p:spPr>
        <p:txBody>
          <a:bodyPr/>
          <a:lstStyle/>
          <a:p>
            <a:pPr marL="280988" indent="-280988">
              <a:buClr>
                <a:schemeClr val="accent2"/>
              </a:buClr>
              <a:buFont typeface="Arial" panose="020B0604020202020204" pitchFamily="34" charset="0"/>
              <a:buChar char="•"/>
            </a:pPr>
            <a:r>
              <a:rPr lang="en-US" dirty="0"/>
              <a:t>What are the </a:t>
            </a:r>
            <a:r>
              <a:rPr lang="en-US" b="1" dirty="0"/>
              <a:t>observational units </a:t>
            </a:r>
            <a:r>
              <a:rPr lang="en-US" dirty="0"/>
              <a:t>in the Buzz and Doris Experiment? How many are there?</a:t>
            </a:r>
          </a:p>
          <a:p>
            <a:pPr marL="280988" indent="-280988">
              <a:buClr>
                <a:schemeClr val="accent2"/>
              </a:buClr>
              <a:buFont typeface="Arial" panose="020B0604020202020204" pitchFamily="34" charset="0"/>
              <a:buChar char="•"/>
            </a:pPr>
            <a:r>
              <a:rPr lang="en-US" dirty="0"/>
              <a:t>What is the </a:t>
            </a:r>
            <a:r>
              <a:rPr lang="en-US" b="1" dirty="0"/>
              <a:t>variable</a:t>
            </a:r>
            <a:r>
              <a:rPr lang="en-US" dirty="0"/>
              <a:t>? Is it categorical or quantitative?</a:t>
            </a:r>
          </a:p>
          <a:p>
            <a:pPr marL="280988" indent="-280988">
              <a:spcAft>
                <a:spcPts val="500"/>
              </a:spcAft>
              <a:buClr>
                <a:schemeClr val="accent2"/>
              </a:buClr>
              <a:buFont typeface="Arial" panose="020B0604020202020204" pitchFamily="34" charset="0"/>
              <a:buChar char="•"/>
            </a:pPr>
            <a:r>
              <a:rPr lang="en-US" dirty="0"/>
              <a:t>The </a:t>
            </a:r>
            <a:r>
              <a:rPr lang="en-US" b="1" dirty="0"/>
              <a:t>statistic</a:t>
            </a:r>
            <a:r>
              <a:rPr lang="en-US" dirty="0"/>
              <a:t> is the number of times Buzz pushed the correct button in 16 attempts.</a:t>
            </a:r>
          </a:p>
        </p:txBody>
      </p:sp>
      <p:sp>
        <p:nvSpPr>
          <p:cNvPr id="7" name="Content Placeholder 6">
            <a:extLst>
              <a:ext uri="{FF2B5EF4-FFF2-40B4-BE49-F238E27FC236}">
                <a16:creationId xmlns:a16="http://schemas.microsoft.com/office/drawing/2014/main" id="{A1409BC2-1744-4B32-AB84-BA7AD1EBE28C}"/>
              </a:ext>
            </a:extLst>
          </p:cNvPr>
          <p:cNvSpPr>
            <a:spLocks noGrp="1"/>
          </p:cNvSpPr>
          <p:nvPr>
            <p:ph sz="quarter" idx="13"/>
          </p:nvPr>
        </p:nvSpPr>
        <p:spPr>
          <a:xfrm>
            <a:off x="304800" y="4187950"/>
            <a:ext cx="8534400" cy="910740"/>
          </a:xfrm>
        </p:spPr>
        <p:txBody>
          <a:bodyPr/>
          <a:lstStyle/>
          <a:p>
            <a:pPr>
              <a:buClr>
                <a:srgbClr val="911B21"/>
              </a:buCl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parameter</a:t>
            </a:r>
            <a:r>
              <a:rPr lang="en-US" dirty="0">
                <a:latin typeface="Times New Roman" panose="02020603050405020304" pitchFamily="18" charset="0"/>
                <a:cs typeface="Times New Roman" panose="02020603050405020304" pitchFamily="18" charset="0"/>
              </a:rPr>
              <a:t> is Buzz’s probability (long-run proportion) of choosing the correct button.</a:t>
            </a:r>
          </a:p>
        </p:txBody>
      </p:sp>
    </p:spTree>
    <p:extLst>
      <p:ext uri="{BB962C8B-B14F-4D97-AF65-F5344CB8AC3E}">
        <p14:creationId xmlns:p14="http://schemas.microsoft.com/office/powerpoint/2010/main" val="3436439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Doris and Buzz Redo</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buClr>
                <a:schemeClr val="accent2"/>
              </a:buClr>
              <a:buFont typeface="Arial" panose="020B0604020202020204" pitchFamily="34" charset="0"/>
              <a:buChar char="•"/>
            </a:pPr>
            <a:r>
              <a:rPr lang="en-US" dirty="0"/>
              <a:t>Instead of a canvas curtain, Dr. Bastian constructed a wooden barrier between Buzz and Doris.</a:t>
            </a:r>
          </a:p>
          <a:p>
            <a:pPr marL="292608" indent="-292608">
              <a:buClr>
                <a:schemeClr val="accent2"/>
              </a:buClr>
              <a:buFont typeface="Arial" panose="020B0604020202020204" pitchFamily="34" charset="0"/>
              <a:buChar char="•"/>
            </a:pPr>
            <a:r>
              <a:rPr lang="en-US" dirty="0"/>
              <a:t>When tested, Buzz pushed the correct button only 16 out of 28 times.</a:t>
            </a:r>
          </a:p>
          <a:p>
            <a:pPr marL="292608" indent="-292608">
              <a:buClr>
                <a:schemeClr val="accent2"/>
              </a:buClr>
              <a:buFont typeface="Arial" panose="020B0604020202020204" pitchFamily="34" charset="0"/>
              <a:buChar char="•"/>
            </a:pPr>
            <a:r>
              <a:rPr lang="en-US" dirty="0"/>
              <a:t>Are these results statistically significant?</a:t>
            </a:r>
          </a:p>
          <a:p>
            <a:pPr marL="292608" indent="-292608">
              <a:buClr>
                <a:schemeClr val="accent2"/>
              </a:buClr>
              <a:buFont typeface="Arial" panose="020B0604020202020204" pitchFamily="34" charset="0"/>
              <a:buChar char="•"/>
            </a:pPr>
            <a:r>
              <a:rPr lang="en-US" dirty="0"/>
              <a:t>Is it plausible Buzz is just guessing?</a:t>
            </a:r>
          </a:p>
          <a:p>
            <a:pPr marL="292608" indent="-292608">
              <a:buClr>
                <a:schemeClr val="accent2"/>
              </a:buClr>
              <a:buFont typeface="Arial" panose="020B0604020202020204" pitchFamily="34" charset="0"/>
              <a:buChar char="•"/>
            </a:pPr>
            <a:r>
              <a:rPr lang="en-US" dirty="0"/>
              <a:t>Let’s go to the applet to check this out.</a:t>
            </a:r>
          </a:p>
          <a:p>
            <a:pPr marL="292608" indent="-292608">
              <a:buClr>
                <a:schemeClr val="accent2"/>
              </a:buClr>
              <a:buFont typeface="Arial" panose="020B0604020202020204" pitchFamily="34" charset="0"/>
              <a:buChar char="•"/>
            </a:pPr>
            <a:r>
              <a:rPr lang="en-US" dirty="0"/>
              <a:t>Doris and Buzz Music Video (</a:t>
            </a:r>
            <a:r>
              <a:rPr lang="en-US" dirty="0">
                <a:solidFill>
                  <a:srgbClr val="00007F"/>
                </a:solidFill>
                <a:hlinkClick r:id="rId2"/>
              </a:rPr>
              <a:t>Music Video</a:t>
            </a:r>
            <a:r>
              <a:rPr lang="en-US" dirty="0"/>
              <a:t>)</a:t>
            </a:r>
          </a:p>
        </p:txBody>
      </p:sp>
    </p:spTree>
    <p:extLst>
      <p:ext uri="{BB962C8B-B14F-4D97-AF65-F5344CB8AC3E}">
        <p14:creationId xmlns:p14="http://schemas.microsoft.com/office/powerpoint/2010/main" val="612613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t>Learning Objectives for Section 1.1 </a:t>
            </a:r>
            <a:r>
              <a:rPr lang="en-US" sz="2200" b="0" dirty="0"/>
              <a:t>(1 of 2)</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buClr>
                <a:schemeClr val="accent2"/>
              </a:buClr>
              <a:buFont typeface="Arial" panose="020B0604020202020204" pitchFamily="34" charset="0"/>
              <a:buChar char="•"/>
            </a:pPr>
            <a:r>
              <a:rPr lang="en-US" dirty="0"/>
              <a:t>Recognize the difference between parameters and statistics.</a:t>
            </a:r>
          </a:p>
          <a:p>
            <a:pPr marL="292608" indent="-292608">
              <a:buClr>
                <a:schemeClr val="accent2"/>
              </a:buClr>
              <a:buFont typeface="Arial" panose="020B0604020202020204" pitchFamily="34" charset="0"/>
              <a:buChar char="•"/>
            </a:pPr>
            <a:r>
              <a:rPr lang="en-US" dirty="0"/>
              <a:t>Describe how to use coin tossing to simulate outcomes from a chance model of the random choice between two events.</a:t>
            </a:r>
          </a:p>
          <a:p>
            <a:pPr marL="292608" indent="-292608">
              <a:buClr>
                <a:schemeClr val="accent2"/>
              </a:buClr>
              <a:buFont typeface="Arial" panose="020B0604020202020204" pitchFamily="34" charset="0"/>
              <a:buChar char="•"/>
            </a:pPr>
            <a:r>
              <a:rPr lang="en-US" dirty="0"/>
              <a:t>Use the One Proportion applet to carry out the coin tossing simulation.</a:t>
            </a:r>
          </a:p>
        </p:txBody>
      </p:sp>
    </p:spTree>
    <p:extLst>
      <p:ext uri="{BB962C8B-B14F-4D97-AF65-F5344CB8AC3E}">
        <p14:creationId xmlns:p14="http://schemas.microsoft.com/office/powerpoint/2010/main" val="1670517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t>Learning Objectives for Section 1.1 </a:t>
            </a:r>
            <a:r>
              <a:rPr lang="en-US" sz="2200" b="0" dirty="0"/>
              <a:t>(2 of 2)</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buClr>
                <a:schemeClr val="accent2"/>
              </a:buClr>
              <a:buFont typeface="Arial" panose="020B0604020202020204" pitchFamily="34" charset="0"/>
              <a:buChar char="•"/>
            </a:pPr>
            <a:r>
              <a:rPr lang="en-US" dirty="0"/>
              <a:t>Identify whether or not study results are statistically significant and whether or not the chance model is a plausible explanation for the data.</a:t>
            </a:r>
          </a:p>
          <a:p>
            <a:pPr marL="292608" indent="-292608">
              <a:buClr>
                <a:schemeClr val="accent2"/>
              </a:buClr>
              <a:buFont typeface="Arial" panose="020B0604020202020204" pitchFamily="34" charset="0"/>
              <a:buChar char="•"/>
            </a:pPr>
            <a:r>
              <a:rPr lang="en-US" dirty="0"/>
              <a:t>Implement the 3S strategy: find a statistic, simulate results from a chance model, and comment on strength of evidence against observed study results happening by chance alone.</a:t>
            </a:r>
          </a:p>
          <a:p>
            <a:pPr marL="292608" indent="-292608">
              <a:buClr>
                <a:schemeClr val="accent2"/>
              </a:buClr>
              <a:buFont typeface="Arial" panose="020B0604020202020204" pitchFamily="34" charset="0"/>
              <a:buChar char="•"/>
            </a:pPr>
            <a:r>
              <a:rPr lang="en-US" dirty="0"/>
              <a:t>Differentiate between saying the chance model is plausible and the chance model is the correct explanation for the observed data.</a:t>
            </a:r>
          </a:p>
        </p:txBody>
      </p:sp>
    </p:spTree>
    <p:extLst>
      <p:ext uri="{BB962C8B-B14F-4D97-AF65-F5344CB8AC3E}">
        <p14:creationId xmlns:p14="http://schemas.microsoft.com/office/powerpoint/2010/main" val="1982180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cf8aa8fa7fd8e837bfc97e1ceb5351635cb40"/>
</p:tagLst>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Custom Desig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5F10621752DDA45BBA1A9E0C777CF7F" ma:contentTypeVersion="9" ma:contentTypeDescription="Create a new document." ma:contentTypeScope="" ma:versionID="efa1ede8a83401231b78670a05c64e0e">
  <xsd:schema xmlns:xsd="http://www.w3.org/2001/XMLSchema" xmlns:xs="http://www.w3.org/2001/XMLSchema" xmlns:p="http://schemas.microsoft.com/office/2006/metadata/properties" xmlns:ns2="8315d039-e8c3-459d-8509-28d69709fdd9" targetNamespace="http://schemas.microsoft.com/office/2006/metadata/properties" ma:root="true" ma:fieldsID="77c17fb807b6633b81d5adc987d26445" ns2:_="">
    <xsd:import namespace="8315d039-e8c3-459d-8509-28d69709fdd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15d039-e8c3-459d-8509-28d69709fd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3F815B-6E6B-437C-95EA-B6C979BFBC91}">
  <ds:schemaRefs>
    <ds:schemaRef ds:uri="http://schemas.microsoft.com/sharepoint/v3/contenttype/forms"/>
  </ds:schemaRefs>
</ds:datastoreItem>
</file>

<file path=customXml/itemProps2.xml><?xml version="1.0" encoding="utf-8"?>
<ds:datastoreItem xmlns:ds="http://schemas.openxmlformats.org/officeDocument/2006/customXml" ds:itemID="{6936CF6A-C1C3-4ABA-ACA7-1D450D43CCA9}">
  <ds:schemaRefs>
    <ds:schemaRef ds:uri="http://schemas.microsoft.com/office/2006/metadata/properties"/>
    <ds:schemaRef ds:uri="http://purl.org/dc/terms/"/>
    <ds:schemaRef ds:uri="http://schemas.openxmlformats.org/package/2006/metadata/core-properties"/>
    <ds:schemaRef ds:uri="8315d039-e8c3-459d-8509-28d69709fdd9"/>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customXml/itemProps3.xml><?xml version="1.0" encoding="utf-8"?>
<ds:datastoreItem xmlns:ds="http://schemas.openxmlformats.org/officeDocument/2006/customXml" ds:itemID="{DD4CCD45-0D72-4690-AA7C-A10B8BAB52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15d039-e8c3-459d-8509-28d69709fd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19590</TotalTime>
  <Words>1274</Words>
  <Application>Microsoft Macintosh PowerPoint</Application>
  <PresentationFormat>On-screen Show (4:3)</PresentationFormat>
  <Paragraphs>100</Paragraphs>
  <Slides>24</Slides>
  <Notes>2</Notes>
  <HiddenSlides>0</HiddenSlides>
  <MMClips>0</MMClips>
  <ScaleCrop>false</ScaleCrop>
  <HeadingPairs>
    <vt:vector size="8" baseType="variant">
      <vt:variant>
        <vt:lpstr>Fonts Used</vt:lpstr>
      </vt:variant>
      <vt:variant>
        <vt:i4>8</vt:i4>
      </vt:variant>
      <vt:variant>
        <vt:lpstr>Theme</vt:lpstr>
      </vt:variant>
      <vt:variant>
        <vt:i4>8</vt:i4>
      </vt:variant>
      <vt:variant>
        <vt:lpstr>Embedded OLE Servers</vt:lpstr>
      </vt:variant>
      <vt:variant>
        <vt:i4>1</vt:i4>
      </vt:variant>
      <vt:variant>
        <vt:lpstr>Slide Titles</vt:lpstr>
      </vt:variant>
      <vt:variant>
        <vt:i4>24</vt:i4>
      </vt:variant>
    </vt:vector>
  </HeadingPairs>
  <TitlesOfParts>
    <vt:vector size="41" baseType="lpstr">
      <vt:lpstr>Arial</vt:lpstr>
      <vt:lpstr>Calibri</vt:lpstr>
      <vt:lpstr>Calibri Light</vt:lpstr>
      <vt:lpstr>Courier New</vt:lpstr>
      <vt:lpstr>Source Sans Pro</vt:lpstr>
      <vt:lpstr>STIX</vt:lpstr>
      <vt:lpstr>Times New Roman</vt:lpstr>
      <vt:lpstr>Wingdings</vt:lpstr>
      <vt:lpstr>Opener</vt:lpstr>
      <vt:lpstr>Chapter Outline</vt:lpstr>
      <vt:lpstr>Learning Objectives</vt:lpstr>
      <vt:lpstr>Concept Check Question</vt:lpstr>
      <vt:lpstr>Key Term</vt:lpstr>
      <vt:lpstr>Image Slide Master</vt:lpstr>
      <vt:lpstr>1_Custom Design</vt:lpstr>
      <vt:lpstr>Custom Design</vt:lpstr>
      <vt:lpstr>Equation</vt:lpstr>
      <vt:lpstr>Introduction to Statistical Investigations</vt:lpstr>
      <vt:lpstr>Unit 1 Overview</vt:lpstr>
      <vt:lpstr>Chapter 1</vt:lpstr>
      <vt:lpstr>Section 1.1: Introduction to Chance Models</vt:lpstr>
      <vt:lpstr>Example 1.1</vt:lpstr>
      <vt:lpstr>Example 1.1: U.S. Navy Marine Mammal Program</vt:lpstr>
      <vt:lpstr>Example 1.1: Can Dolphins Communicate Abstract Ideas?</vt:lpstr>
      <vt:lpstr>Example 1.1: Step 1: Learn the Signals (1 of 2)</vt:lpstr>
      <vt:lpstr>Example 1.1: Step 1: Learn the Signals (2 of 2)</vt:lpstr>
      <vt:lpstr>Example 1.1: Step 2: Learn the Order</vt:lpstr>
      <vt:lpstr>Example 1.1: Step 3: Communicate! (1 of 5)</vt:lpstr>
      <vt:lpstr>Example 1.1: Step 3: Communicate! (2 of 5)</vt:lpstr>
      <vt:lpstr>Example 1.1: Step 3: Communicate! (3 of 5)</vt:lpstr>
      <vt:lpstr>Example 1.1: Step 3: Communicate! (4 of 5)</vt:lpstr>
      <vt:lpstr>Example 1.1: Step 3: Communicate! (5 of 5)</vt:lpstr>
      <vt:lpstr>Example 1.1: The Statistic</vt:lpstr>
      <vt:lpstr>Example 1.1: Possible Explanations</vt:lpstr>
      <vt:lpstr>Example 1.1: Simulation vs. Real Study</vt:lpstr>
      <vt:lpstr>Example 1.1: Modeling Doris and Buzz</vt:lpstr>
      <vt:lpstr>Example 1.1: Three S Strategy</vt:lpstr>
      <vt:lpstr>Example 1.1: Terminology</vt:lpstr>
      <vt:lpstr>Example 1.1: Doris and Buzz Redo</vt:lpstr>
      <vt:lpstr>Learning Objectives for Section 1.1 (1 of 2)</vt:lpstr>
      <vt:lpstr>Learning Objectives for Section 1.1 (2 of 2)</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Significance: How Strong is the Evidence?</dc:title>
  <dc:subject>Statistics</dc:subject>
  <dc:creator>Tintle</dc:creator>
  <cp:lastModifiedBy>Sarah R Roscoe</cp:lastModifiedBy>
  <cp:revision>2112</cp:revision>
  <cp:lastPrinted>2017-04-26T13:25:47Z</cp:lastPrinted>
  <dcterms:created xsi:type="dcterms:W3CDTF">2017-04-21T14:49:46Z</dcterms:created>
  <dcterms:modified xsi:type="dcterms:W3CDTF">2026-02-12T19:20:42Z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0x01010045F10621752DDA45BBA1A9E0C777CF7F</vt:lpwstr>
  </property>
</Properties>
</file>